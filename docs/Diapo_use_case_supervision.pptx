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4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4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3" r:id="rId6"/>
  </p:sldMasterIdLst>
  <p:notesMasterIdLst>
    <p:notesMasterId r:id="rId7"/>
  </p:notesMasterIdLst>
  <p:sldIdLst>
    <p:sldId id="298" r:id="rId57"/>
  </p:sldIdLst>
  <p:sldSz cy="6858000" cx="12192000"/>
  <p:notesSz cx="6858000" cy="12192000"/>
  <p:embeddedFontLst>
    <p:embeddedFont>
      <p:font typeface="Sora"/>
      <p:regular r:id="rId37"/>
      <p:bold r:id="rId38"/>
    </p:embeddedFont>
    <p:embeddedFont>
      <p:font typeface="DM Sans"/>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3" roundtripDataSignature="AMtx7mgw+XJJYjX9oEtzHzcteUKfSoJj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709B6FF-CDFB-4AB1-8E42-484B63002EFC}">
  <a:tblStyle styleId="{2709B6FF-CDFB-4AB1-8E42-484B63002EFC}"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37" Type="http://schemas.openxmlformats.org/officeDocument/2006/relationships/font" Target="fonts/Sora-regular.fntdata"/><Relationship Id="rId38" Type="http://schemas.openxmlformats.org/officeDocument/2006/relationships/font" Target="fonts/Sora-bold.fntdata"/><Relationship Id="rId39" Type="http://schemas.openxmlformats.org/officeDocument/2006/relationships/font" Target="fonts/DMSans-regular.fntdata"/><Relationship Id="rId40" Type="http://schemas.openxmlformats.org/officeDocument/2006/relationships/font" Target="fonts/DMSans-bold.fntdata"/><Relationship Id="rId41" Type="http://schemas.openxmlformats.org/officeDocument/2006/relationships/font" Target="fonts/DMSans-italic.fntdata"/><Relationship Id="rId42" Type="http://schemas.openxmlformats.org/officeDocument/2006/relationships/font" Target="fonts/DMSans-boldItalic.fntdata"/><Relationship Id="rId43" Type="http://customschemas.google.com/relationships/presentationmetadata" Target="metadata"/><Relationship Id="rId57" Type="http://schemas.openxmlformats.org/officeDocument/2006/relationships/slide" Target="slides/slide4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Description du use case. Aujourd’hui, Workly exécute seul sa chaîne de nuit, mais personne n’est prévenu si elle échoue ou si elle ne tourne pas, par exemple parce que le PC est éteint : Workly ne peut pas signaler sa propre absence, et le contrôle du journal reste manuel. Le use case ajoute une supervision automatique : chaque matin, la plateforme lit la route de bilan, deux agents analysent et rédigent, et un message part sur Slack. La cible Bottom line est proposée par l’équipe : toutes les nuits supervisées sans action manuelle, une panne détectée en six heures au plus, et une meilleure prise en charge des alertes. Les valeurs de départ viennent de l’onglet Bottom line du livrable 2 (alertes traitées 28 %, prise en charge 18,3 h) et de la nuit mesurée du 7 octobre (2,7 h de temps manuel évité). Les cibles restent à valider.</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4F6FB"/>
        </a:solidFill>
      </p:bgPr>
    </p:bg>
    <p:spTree>
      <p:nvGrpSpPr>
        <p:cNvPr id="10" name="Shape 10"/>
        <p:cNvGrpSpPr/>
        <p:nvPr/>
      </p:nvGrpSpPr>
      <p:grpSpPr>
        <a:xfrm>
          <a:off x="0" y="0"/>
          <a:ext cx="0" cy="0"/>
          <a:chOff x="0" y="0"/>
          <a:chExt cx="0" cy="0"/>
        </a:xfrm>
      </p:grpSpPr>
      <p:sp>
        <p:nvSpPr>
          <p:cNvPr id="11" name="Google Shape;11;p33"/>
          <p:cNvSpPr txBox="1"/>
          <p:nvPr>
            <p:ph type="title"/>
          </p:nvPr>
        </p:nvSpPr>
        <p:spPr>
          <a:xfrm>
            <a:off x="698500" y="919481"/>
            <a:ext cx="10795000" cy="64008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B2A4A"/>
              </a:buClr>
              <a:buSzPts val="2100"/>
              <a:buFont typeface="Sora"/>
              <a:buNone/>
              <a:defRPr sz="2100">
                <a:solidFill>
                  <a:srgbClr val="1B2A4A"/>
                </a:solidFill>
                <a:latin typeface="Sora"/>
                <a:ea typeface="Sora"/>
                <a:cs typeface="Sora"/>
                <a:sym typeface="Sora"/>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 name="Google Shape;12;p33"/>
          <p:cNvSpPr txBox="1"/>
          <p:nvPr>
            <p:ph idx="1" type="body"/>
          </p:nvPr>
        </p:nvSpPr>
        <p:spPr>
          <a:xfrm>
            <a:off x="698500" y="1864361"/>
            <a:ext cx="10680700" cy="418083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B2A4A"/>
              </a:buClr>
              <a:buSzPts val="1600"/>
              <a:buNone/>
              <a:defRPr sz="1600">
                <a:solidFill>
                  <a:srgbClr val="1B2A4A"/>
                </a:solidFill>
                <a:latin typeface="DM Sans"/>
                <a:ea typeface="DM Sans"/>
                <a:cs typeface="DM Sans"/>
                <a:sym typeface="DM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3" name="Shape 1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p:cSld name="CONTENU">
    <p:bg>
      <p:bgPr>
        <a:solidFill>
          <a:srgbClr val="FFFFFF"/>
        </a:solidFill>
      </p:bgPr>
    </p:bg>
    <p:spTree>
      <p:nvGrpSpPr>
        <p:cNvPr id="16" name="Shape 16"/>
        <p:cNvGrpSpPr/>
        <p:nvPr/>
      </p:nvGrpSpPr>
      <p:grpSpPr>
        <a:xfrm>
          <a:off x="0" y="0"/>
          <a:ext cx="0" cy="0"/>
          <a:chOff x="0" y="0"/>
          <a:chExt cx="0" cy="0"/>
        </a:xfrm>
      </p:grpSpPr>
      <p:sp>
        <p:nvSpPr>
          <p:cNvPr id="17" name="Google Shape;17;p35"/>
          <p:cNvSpPr txBox="1"/>
          <p:nvPr>
            <p:ph type="title"/>
          </p:nvPr>
        </p:nvSpPr>
        <p:spPr>
          <a:xfrm>
            <a:off x="548640" y="365760"/>
            <a:ext cx="11094415" cy="10515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dk2"/>
              </a:buClr>
              <a:buSzPts val="3400"/>
              <a:buFont typeface="Cambria"/>
              <a:buNone/>
              <a:defRPr b="1" i="0" sz="3400" u="none" cap="none" strike="noStrike">
                <a:solidFill>
                  <a:schemeClr val="dk2"/>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8" name="Google Shape;18;p35"/>
          <p:cNvSpPr txBox="1"/>
          <p:nvPr>
            <p:ph idx="12"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sz="1100">
                <a:solidFill>
                  <a:schemeClr val="accent4"/>
                </a:solidFill>
                <a:latin typeface="Calibri"/>
                <a:ea typeface="Calibri"/>
                <a:cs typeface="Calibri"/>
                <a:sym typeface="Calibri"/>
              </a:defRPr>
            </a:lvl1pPr>
            <a:lvl2pPr indent="0" lvl="1" marL="0" marR="0" algn="l">
              <a:spcBef>
                <a:spcPts val="0"/>
              </a:spcBef>
              <a:buNone/>
              <a:defRPr b="0" sz="1100">
                <a:solidFill>
                  <a:schemeClr val="accent4"/>
                </a:solidFill>
                <a:latin typeface="Calibri"/>
                <a:ea typeface="Calibri"/>
                <a:cs typeface="Calibri"/>
                <a:sym typeface="Calibri"/>
              </a:defRPr>
            </a:lvl2pPr>
            <a:lvl3pPr indent="0" lvl="2" marL="0" marR="0" algn="l">
              <a:spcBef>
                <a:spcPts val="0"/>
              </a:spcBef>
              <a:buNone/>
              <a:defRPr b="0" sz="1100">
                <a:solidFill>
                  <a:schemeClr val="accent4"/>
                </a:solidFill>
                <a:latin typeface="Calibri"/>
                <a:ea typeface="Calibri"/>
                <a:cs typeface="Calibri"/>
                <a:sym typeface="Calibri"/>
              </a:defRPr>
            </a:lvl3pPr>
            <a:lvl4pPr indent="0" lvl="3" marL="0" marR="0" algn="l">
              <a:spcBef>
                <a:spcPts val="0"/>
              </a:spcBef>
              <a:buNone/>
              <a:defRPr b="0" sz="1100">
                <a:solidFill>
                  <a:schemeClr val="accent4"/>
                </a:solidFill>
                <a:latin typeface="Calibri"/>
                <a:ea typeface="Calibri"/>
                <a:cs typeface="Calibri"/>
                <a:sym typeface="Calibri"/>
              </a:defRPr>
            </a:lvl4pPr>
            <a:lvl5pPr indent="0" lvl="4" marL="0" marR="0" algn="l">
              <a:spcBef>
                <a:spcPts val="0"/>
              </a:spcBef>
              <a:buNone/>
              <a:defRPr b="0" sz="1100">
                <a:solidFill>
                  <a:schemeClr val="accent4"/>
                </a:solidFill>
                <a:latin typeface="Calibri"/>
                <a:ea typeface="Calibri"/>
                <a:cs typeface="Calibri"/>
                <a:sym typeface="Calibri"/>
              </a:defRPr>
            </a:lvl5pPr>
            <a:lvl6pPr indent="0" lvl="5" marL="0" marR="0" algn="l">
              <a:spcBef>
                <a:spcPts val="0"/>
              </a:spcBef>
              <a:buNone/>
              <a:defRPr b="0" sz="1100">
                <a:solidFill>
                  <a:schemeClr val="accent4"/>
                </a:solidFill>
                <a:latin typeface="Calibri"/>
                <a:ea typeface="Calibri"/>
                <a:cs typeface="Calibri"/>
                <a:sym typeface="Calibri"/>
              </a:defRPr>
            </a:lvl6pPr>
            <a:lvl7pPr indent="0" lvl="6" marL="0" marR="0" algn="l">
              <a:spcBef>
                <a:spcPts val="0"/>
              </a:spcBef>
              <a:buNone/>
              <a:defRPr b="0" sz="1100">
                <a:solidFill>
                  <a:schemeClr val="accent4"/>
                </a:solidFill>
                <a:latin typeface="Calibri"/>
                <a:ea typeface="Calibri"/>
                <a:cs typeface="Calibri"/>
                <a:sym typeface="Calibri"/>
              </a:defRPr>
            </a:lvl7pPr>
            <a:lvl8pPr indent="0" lvl="7" marL="0" marR="0" algn="l">
              <a:spcBef>
                <a:spcPts val="0"/>
              </a:spcBef>
              <a:buNone/>
              <a:defRPr b="0" sz="1100">
                <a:solidFill>
                  <a:schemeClr val="accent4"/>
                </a:solidFill>
                <a:latin typeface="Calibri"/>
                <a:ea typeface="Calibri"/>
                <a:cs typeface="Calibri"/>
                <a:sym typeface="Calibri"/>
              </a:defRPr>
            </a:lvl8pPr>
            <a:lvl9pPr indent="0" lvl="8" marL="0" marR="0" algn="l">
              <a:spcBef>
                <a:spcPts val="0"/>
              </a:spcBef>
              <a:buNone/>
              <a:defRPr b="0" sz="1100">
                <a:solidFill>
                  <a:schemeClr val="accent4"/>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9" name="Shape 19"/>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p:cSld name="TITRE">
    <p:bg>
      <p:bgPr>
        <a:solidFill>
          <a:srgbClr val="0E2A47"/>
        </a:solidFill>
      </p:bgPr>
    </p:bg>
    <p:spTree>
      <p:nvGrpSpPr>
        <p:cNvPr id="20" name="Shape 20"/>
        <p:cNvGrpSpPr/>
        <p:nvPr/>
      </p:nvGrpSpPr>
      <p:grpSpPr>
        <a:xfrm>
          <a:off x="0" y="0"/>
          <a:ext cx="0" cy="0"/>
          <a:chOff x="0" y="0"/>
          <a:chExt cx="0" cy="0"/>
        </a:xfrm>
      </p:grpSpPr>
      <p:sp>
        <p:nvSpPr>
          <p:cNvPr id="21" name="Google Shape;21;p38"/>
          <p:cNvSpPr txBox="1"/>
          <p:nvPr>
            <p:ph type="title"/>
          </p:nvPr>
        </p:nvSpPr>
        <p:spPr>
          <a:xfrm>
            <a:off x="548640" y="2011680"/>
            <a:ext cx="6583680" cy="173736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4800"/>
              <a:buFont typeface="Cambria"/>
              <a:buNone/>
              <a:defRPr b="1" i="0" sz="48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2" name="Google Shape;22;p38"/>
          <p:cNvSpPr txBox="1"/>
          <p:nvPr>
            <p:ph idx="1" type="body"/>
          </p:nvPr>
        </p:nvSpPr>
        <p:spPr>
          <a:xfrm>
            <a:off x="548640" y="3931920"/>
            <a:ext cx="6400800" cy="100584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chemeClr val="lt2"/>
              </a:buClr>
              <a:buSzPts val="2000"/>
              <a:buFont typeface="Arial"/>
              <a:buNone/>
              <a:defRPr b="0" i="0" sz="2000" u="none" cap="none" strike="noStrike">
                <a:solidFill>
                  <a:schemeClr val="lt2"/>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CLUSION">
  <p:cSld name="CONCLUSION">
    <p:bg>
      <p:bgPr>
        <a:solidFill>
          <a:srgbClr val="0E2A47"/>
        </a:solidFill>
      </p:bgPr>
    </p:bg>
    <p:spTree>
      <p:nvGrpSpPr>
        <p:cNvPr id="23" name="Shape 23"/>
        <p:cNvGrpSpPr/>
        <p:nvPr/>
      </p:nvGrpSpPr>
      <p:grpSpPr>
        <a:xfrm>
          <a:off x="0" y="0"/>
          <a:ext cx="0" cy="0"/>
          <a:chOff x="0" y="0"/>
          <a:chExt cx="0" cy="0"/>
        </a:xfrm>
      </p:grpSpPr>
      <p:sp>
        <p:nvSpPr>
          <p:cNvPr id="24" name="Google Shape;24;p39"/>
          <p:cNvSpPr txBox="1"/>
          <p:nvPr>
            <p:ph type="title"/>
          </p:nvPr>
        </p:nvSpPr>
        <p:spPr>
          <a:xfrm>
            <a:off x="548640" y="457200"/>
            <a:ext cx="11094415" cy="9144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Clr>
                <a:schemeClr val="lt1"/>
              </a:buClr>
              <a:buSzPts val="3800"/>
              <a:buFont typeface="Cambria"/>
              <a:buNone/>
              <a:defRPr b="1" i="0" sz="3800" u="none" cap="none" strike="noStrike">
                <a:solidFill>
                  <a:schemeClr val="lt1"/>
                </a:solidFill>
                <a:latin typeface="Cambria"/>
                <a:ea typeface="Cambria"/>
                <a:cs typeface="Cambria"/>
                <a:sym typeface="Cambri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6FB"/>
        </a:solidFill>
      </p:bgPr>
    </p:bg>
    <p:spTree>
      <p:nvGrpSpPr>
        <p:cNvPr id="7" name="Shape 7"/>
        <p:cNvGrpSpPr/>
        <p:nvPr/>
      </p:nvGrpSpPr>
      <p:grpSpPr>
        <a:xfrm>
          <a:off x="0" y="0"/>
          <a:ext cx="0" cy="0"/>
          <a:chOff x="0" y="0"/>
          <a:chExt cx="0" cy="0"/>
        </a:xfrm>
      </p:grpSpPr>
      <p:sp>
        <p:nvSpPr>
          <p:cNvPr id="8" name="Google Shape;8;p32"/>
          <p:cNvSpPr txBox="1"/>
          <p:nvPr>
            <p:ph type="title"/>
          </p:nvPr>
        </p:nvSpPr>
        <p:spPr>
          <a:xfrm>
            <a:off x="698500" y="919481"/>
            <a:ext cx="10795000" cy="64008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B2A4A"/>
              </a:buClr>
              <a:buSzPts val="2100"/>
              <a:buFont typeface="Sora"/>
              <a:buNone/>
              <a:defRPr b="0" i="0" sz="2100" u="none" cap="none" strike="noStrike">
                <a:solidFill>
                  <a:srgbClr val="1B2A4A"/>
                </a:solidFill>
                <a:latin typeface="Sora"/>
                <a:ea typeface="Sora"/>
                <a:cs typeface="Sora"/>
                <a:sym typeface="Sor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32"/>
          <p:cNvSpPr txBox="1"/>
          <p:nvPr>
            <p:ph idx="1" type="body"/>
          </p:nvPr>
        </p:nvSpPr>
        <p:spPr>
          <a:xfrm>
            <a:off x="698500" y="1864361"/>
            <a:ext cx="10680700" cy="418083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B2A4A"/>
              </a:buClr>
              <a:buSzPts val="1600"/>
              <a:buFont typeface="Arial"/>
              <a:buNone/>
              <a:defRPr b="0" i="0" sz="1600" u="none" cap="none" strike="noStrike">
                <a:solidFill>
                  <a:srgbClr val="1B2A4A"/>
                </a:solidFill>
                <a:latin typeface="DM Sans"/>
                <a:ea typeface="DM Sans"/>
                <a:cs typeface="DM Sans"/>
                <a:sym typeface="DM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DM Sans"/>
                <a:ea typeface="DM Sans"/>
                <a:cs typeface="DM Sans"/>
                <a:sym typeface="DM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DM Sans"/>
                <a:ea typeface="DM Sans"/>
                <a:cs typeface="DM Sans"/>
                <a:sym typeface="DM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DM Sans"/>
                <a:ea typeface="DM Sans"/>
                <a:cs typeface="DM Sans"/>
                <a:sym typeface="DM Sans"/>
              </a:defRPr>
            </a:lvl9pPr>
          </a:lstStyle>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 name="Shape 14"/>
        <p:cNvGrpSpPr/>
        <p:nvPr/>
      </p:nvGrpSpPr>
      <p:grpSpPr>
        <a:xfrm>
          <a:off x="0" y="0"/>
          <a:ext cx="0" cy="0"/>
          <a:chOff x="0" y="0"/>
          <a:chExt cx="0" cy="0"/>
        </a:xfrm>
      </p:grpSpPr>
      <p:sp>
        <p:nvSpPr>
          <p:cNvPr id="15" name="Google Shape;15;p34"/>
          <p:cNvSpPr txBox="1"/>
          <p:nvPr>
            <p:ph idx="12" type="sldNum"/>
          </p:nvPr>
        </p:nvSpPr>
        <p:spPr>
          <a:xfrm>
            <a:off x="11185855" y="6400800"/>
            <a:ext cx="457200" cy="27432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sz="1100">
                <a:solidFill>
                  <a:schemeClr val="accent4"/>
                </a:solidFill>
                <a:latin typeface="Calibri"/>
                <a:ea typeface="Calibri"/>
                <a:cs typeface="Calibri"/>
                <a:sym typeface="Calibri"/>
              </a:defRPr>
            </a:lvl1pPr>
            <a:lvl2pPr indent="0" lvl="1" marL="0" marR="0" rtl="0" algn="l">
              <a:spcBef>
                <a:spcPts val="0"/>
              </a:spcBef>
              <a:buNone/>
              <a:defRPr b="0" sz="1100">
                <a:solidFill>
                  <a:schemeClr val="accent4"/>
                </a:solidFill>
                <a:latin typeface="Calibri"/>
                <a:ea typeface="Calibri"/>
                <a:cs typeface="Calibri"/>
                <a:sym typeface="Calibri"/>
              </a:defRPr>
            </a:lvl2pPr>
            <a:lvl3pPr indent="0" lvl="2" marL="0" marR="0" rtl="0" algn="l">
              <a:spcBef>
                <a:spcPts val="0"/>
              </a:spcBef>
              <a:buNone/>
              <a:defRPr b="0" sz="1100">
                <a:solidFill>
                  <a:schemeClr val="accent4"/>
                </a:solidFill>
                <a:latin typeface="Calibri"/>
                <a:ea typeface="Calibri"/>
                <a:cs typeface="Calibri"/>
                <a:sym typeface="Calibri"/>
              </a:defRPr>
            </a:lvl3pPr>
            <a:lvl4pPr indent="0" lvl="3" marL="0" marR="0" rtl="0" algn="l">
              <a:spcBef>
                <a:spcPts val="0"/>
              </a:spcBef>
              <a:buNone/>
              <a:defRPr b="0" sz="1100">
                <a:solidFill>
                  <a:schemeClr val="accent4"/>
                </a:solidFill>
                <a:latin typeface="Calibri"/>
                <a:ea typeface="Calibri"/>
                <a:cs typeface="Calibri"/>
                <a:sym typeface="Calibri"/>
              </a:defRPr>
            </a:lvl4pPr>
            <a:lvl5pPr indent="0" lvl="4" marL="0" marR="0" rtl="0" algn="l">
              <a:spcBef>
                <a:spcPts val="0"/>
              </a:spcBef>
              <a:buNone/>
              <a:defRPr b="0" sz="1100">
                <a:solidFill>
                  <a:schemeClr val="accent4"/>
                </a:solidFill>
                <a:latin typeface="Calibri"/>
                <a:ea typeface="Calibri"/>
                <a:cs typeface="Calibri"/>
                <a:sym typeface="Calibri"/>
              </a:defRPr>
            </a:lvl5pPr>
            <a:lvl6pPr indent="0" lvl="5" marL="0" marR="0" rtl="0" algn="l">
              <a:spcBef>
                <a:spcPts val="0"/>
              </a:spcBef>
              <a:buNone/>
              <a:defRPr b="0" sz="1100">
                <a:solidFill>
                  <a:schemeClr val="accent4"/>
                </a:solidFill>
                <a:latin typeface="Calibri"/>
                <a:ea typeface="Calibri"/>
                <a:cs typeface="Calibri"/>
                <a:sym typeface="Calibri"/>
              </a:defRPr>
            </a:lvl6pPr>
            <a:lvl7pPr indent="0" lvl="6" marL="0" marR="0" rtl="0" algn="l">
              <a:spcBef>
                <a:spcPts val="0"/>
              </a:spcBef>
              <a:buNone/>
              <a:defRPr b="0" sz="1100">
                <a:solidFill>
                  <a:schemeClr val="accent4"/>
                </a:solidFill>
                <a:latin typeface="Calibri"/>
                <a:ea typeface="Calibri"/>
                <a:cs typeface="Calibri"/>
                <a:sym typeface="Calibri"/>
              </a:defRPr>
            </a:lvl7pPr>
            <a:lvl8pPr indent="0" lvl="7" marL="0" marR="0" rtl="0" algn="l">
              <a:spcBef>
                <a:spcPts val="0"/>
              </a:spcBef>
              <a:buNone/>
              <a:defRPr b="0" sz="1100">
                <a:solidFill>
                  <a:schemeClr val="accent4"/>
                </a:solidFill>
                <a:latin typeface="Calibri"/>
                <a:ea typeface="Calibri"/>
                <a:cs typeface="Calibri"/>
                <a:sym typeface="Calibri"/>
              </a:defRPr>
            </a:lvl8pPr>
            <a:lvl9pPr indent="0" lvl="8" marL="0" marR="0" rtl="0" algn="l">
              <a:spcBef>
                <a:spcPts val="0"/>
              </a:spcBef>
              <a:buNone/>
              <a:defRPr b="0" sz="1100">
                <a:solidFill>
                  <a:schemeClr val="accent4"/>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4F6FB"/>
        </a:solidFill>
      </p:bgPr>
    </p:bg>
    <p:spTree>
      <p:nvGrpSpPr>
        <p:cNvPr id="1" name=""/>
        <p:cNvGrpSpPr/>
        <p:nvPr/>
      </p:nvGrpSpPr>
      <p:grpSpPr/>
      <p:sp>
        <p:nvSpPr>
          <p:cNvPr id="85" name="Google Shape;85;p3"/>
          <p:cNvSpPr/>
          <p:nvPr/>
        </p:nvSpPr>
        <p:spPr>
          <a:xfrm>
            <a:off x="10502900" y="571500"/>
            <a:ext cx="177800" cy="177800"/>
          </a:xfrm>
          <a:prstGeom prst="rect">
            <a:avLst/>
          </a:prstGeom>
          <a:solidFill>
            <a:srgbClr val="6B3FA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6" name="Google Shape;86;p3"/>
          <p:cNvSpPr/>
          <p:nvPr/>
        </p:nvSpPr>
        <p:spPr>
          <a:xfrm>
            <a:off x="10744200" y="571500"/>
            <a:ext cx="177800" cy="177800"/>
          </a:xfrm>
          <a:prstGeom prst="rect">
            <a:avLst/>
          </a:prstGeom>
          <a:solidFill>
            <a:srgbClr val="4A9BE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7" name="Google Shape;87;p3"/>
          <p:cNvSpPr/>
          <p:nvPr/>
        </p:nvSpPr>
        <p:spPr>
          <a:xfrm>
            <a:off x="10985500" y="571500"/>
            <a:ext cx="177800" cy="177800"/>
          </a:xfrm>
          <a:prstGeom prst="rect">
            <a:avLst/>
          </a:prstGeom>
          <a:solidFill>
            <a:srgbClr val="7ACF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8" name="Google Shape;88;p3"/>
          <p:cNvSpPr/>
          <p:nvPr/>
        </p:nvSpPr>
        <p:spPr>
          <a:xfrm>
            <a:off x="11226800" y="571500"/>
            <a:ext cx="177800" cy="177800"/>
          </a:xfrm>
          <a:prstGeom prst="rect">
            <a:avLst/>
          </a:prstGeom>
          <a:solidFill>
            <a:srgbClr val="B39DD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DM Sans"/>
              <a:ea typeface="DM Sans"/>
              <a:cs typeface="DM Sans"/>
              <a:sym typeface="DM Sans"/>
            </a:endParaRPr>
          </a:p>
        </p:txBody>
      </p:sp>
      <p:sp>
        <p:nvSpPr>
          <p:cNvPr id="89" name="Google Shape;89;p3"/>
          <p:cNvSpPr/>
          <p:nvPr/>
        </p:nvSpPr>
        <p:spPr>
          <a:xfrm>
            <a:off x="698500" y="533400"/>
            <a:ext cx="899160" cy="284480"/>
          </a:xfrm>
          <a:prstGeom prst="roundRect">
            <a:avLst>
              <a:gd fmla="val 50000" name="adj"/>
            </a:avLst>
          </a:prstGeom>
          <a:solidFill>
            <a:srgbClr val="1B2A4A"/>
          </a:solidFill>
          <a:ln>
            <a:noFill/>
          </a:ln>
        </p:spPr>
        <p:txBody>
          <a:bodyPr anchorCtr="0" anchor="ctr" bIns="0" lIns="0" spcFirstLastPara="1" rIns="0" wrap="square" tIns="0">
            <a:normAutofit/>
          </a:bodyPr>
          <a:lstStyle/>
          <a:p>
            <a:pPr indent="0" lvl="0" marL="0" marR="0" rtl="0" algn="ctr">
              <a:lnSpc>
                <a:spcPct val="120000"/>
              </a:lnSpc>
              <a:spcBef>
                <a:spcPts val="0"/>
              </a:spcBef>
              <a:spcAft>
                <a:spcPts val="0"/>
              </a:spcAft>
              <a:buClr>
                <a:srgbClr val="FFFFFF"/>
              </a:buClr>
              <a:buSzPts val="1200"/>
              <a:buFont typeface="DM Sans"/>
              <a:buNone/>
            </a:pPr>
            <a:r>
              <a:rPr b="1" lang="en-US" sz="1200">
                <a:solidFill>
                  <a:srgbClr val="FFFFFF"/>
                </a:solidFill>
                <a:latin typeface="DM Sans"/>
                <a:ea typeface="DM Sans"/>
                <a:cs typeface="DM Sans"/>
                <a:sym typeface="DM Sans"/>
              </a:rPr>
              <a:t>USE CASE</a:t>
            </a:r>
            <a:endParaRPr sz="1200">
              <a:solidFill>
                <a:schemeClr val="dk1"/>
              </a:solidFill>
              <a:latin typeface="DM Sans"/>
              <a:ea typeface="DM Sans"/>
              <a:cs typeface="DM Sans"/>
              <a:sym typeface="DM Sans"/>
            </a:endParaRPr>
          </a:p>
        </p:txBody>
      </p:sp>
      <p:sp>
        <p:nvSpPr>
          <p:cNvPr id="90" name="Google Shape;90;p3"/>
          <p:cNvSpPr txBox="1"/>
          <p:nvPr>
            <p:ph type="title"/>
          </p:nvPr>
        </p:nvSpPr>
        <p:spPr>
          <a:xfrm>
            <a:off x="698500" y="919480"/>
            <a:ext cx="11493500" cy="345440"/>
          </a:xfrm>
          <a:prstGeom prst="rect">
            <a:avLst/>
          </a:prstGeom>
          <a:noFill/>
          <a:ln>
            <a:noFill/>
          </a:ln>
        </p:spPr>
        <p:txBody>
          <a:bodyPr anchorCtr="0" anchor="t" bIns="0" lIns="0" spcFirstLastPara="1" rIns="0" wrap="square" tIns="0">
            <a:normAutofit/>
          </a:bodyPr>
          <a:lstStyle/>
          <a:p>
            <a:pPr indent="0" lvl="0" marL="0" rtl="0" algn="l">
              <a:lnSpc>
                <a:spcPct val="120000"/>
              </a:lnSpc>
              <a:spcBef>
                <a:spcPts val="0"/>
              </a:spcBef>
              <a:spcAft>
                <a:spcPts val="0"/>
              </a:spcAft>
              <a:buClr>
                <a:srgbClr val="1B2A4A"/>
              </a:buClr>
              <a:buSzPts val="2100"/>
              <a:buFont typeface="Sora"/>
              <a:buNone/>
            </a:pPr>
            <a:r>
              <a:rPr b="1" i="0" lang="en-US" sz="2100">
                <a:solidFill>
                  <a:srgbClr val="1B2A4A"/>
                </a:solidFill>
                <a:latin typeface="Sora"/>
                <a:ea typeface="Sora"/>
                <a:cs typeface="Sora"/>
                <a:sym typeface="Sora"/>
              </a:rPr>
              <a:t>Use case : superviser la chaîne de nuit pour détecter une panne avant la journée de travail</a:t>
            </a:r>
            <a:endParaRPr sz="2100"/>
          </a:p>
        </p:txBody>
      </p:sp>
      <p:sp>
        <p:nvSpPr>
          <p:cNvPr id="108" name="Google Shape;108;p3"/>
          <p:cNvSpPr/>
          <p:nvPr/>
        </p:nvSpPr>
        <p:spPr>
          <a:xfrm>
            <a:off x="10680700" y="6344920"/>
            <a:ext cx="812800" cy="208280"/>
          </a:xfrm>
          <a:prstGeom prst="rect">
            <a:avLst/>
          </a:prstGeom>
          <a:noFill/>
          <a:ln>
            <a:noFill/>
          </a:ln>
        </p:spPr>
        <p:txBody>
          <a:bodyPr anchorCtr="0" anchor="t" bIns="0" lIns="0" spcFirstLastPara="1" rIns="0" wrap="square" tIns="0">
            <a:normAutofit/>
          </a:bodyPr>
          <a:lstStyle/>
          <a:p>
            <a:pPr indent="0" lvl="0" marL="0" marR="0" rtl="0" algn="r">
              <a:lnSpc>
                <a:spcPct val="120000"/>
              </a:lnSpc>
              <a:spcBef>
                <a:spcPts val="0"/>
              </a:spcBef>
              <a:spcAft>
                <a:spcPts val="0"/>
              </a:spcAft>
              <a:buClr>
                <a:srgbClr val="1B2A4A"/>
              </a:buClr>
              <a:buSzPts val="1200"/>
              <a:buFont typeface="Sora"/>
              <a:buNone/>
            </a:pPr>
            <a:r>
              <a:rPr b="1" lang="en-US" sz="1200">
                <a:solidFill>
                  <a:srgbClr val="1B2A4A"/>
                </a:solidFill>
                <a:latin typeface="Sora"/>
                <a:ea typeface="Sora"/>
                <a:cs typeface="Sora"/>
                <a:sym typeface="Sora"/>
              </a:rPr>
              <a:t>1</a:t>
            </a:r>
            <a:endParaRPr sz="1200">
              <a:solidFill>
                <a:schemeClr val="dk1"/>
              </a:solidFill>
              <a:latin typeface="DM Sans"/>
              <a:ea typeface="DM Sans"/>
              <a:cs typeface="DM Sans"/>
              <a:sym typeface="DM Sans"/>
            </a:endParaRPr>
          </a:p>
        </p:txBody>
      </p:sp>
      <p:sp>
        <p:nvSpPr>
          <p:cNvPr id="109" name="Rectangle 108"/>
          <p:cNvSpPr/>
          <p:nvPr/>
        </p:nvSpPr>
        <p:spPr>
          <a:xfrm>
            <a:off x="0" y="0"/>
            <a:ext cx="155448" cy="1714500"/>
          </a:xfrm>
          <a:prstGeom prst="rect">
            <a:avLst/>
          </a:prstGeom>
          <a:solidFill>
            <a:srgbClr val="6B3FA0"/>
          </a:solidFill>
          <a:ln>
            <a:noFill/>
          </a:ln>
        </p:spPr>
        <p:txBody>
          <a:bodyPr rtlCol="0" anchor="ctr"/>
          <a:lstStyle/>
          <a:p>
            <a:pPr algn="ctr"/>
          </a:p>
        </p:txBody>
      </p:sp>
      <p:sp>
        <p:nvSpPr>
          <p:cNvPr id="110" name="Rectangle 109"/>
          <p:cNvSpPr/>
          <p:nvPr/>
        </p:nvSpPr>
        <p:spPr>
          <a:xfrm>
            <a:off x="0" y="1714500"/>
            <a:ext cx="155448" cy="1714500"/>
          </a:xfrm>
          <a:prstGeom prst="rect">
            <a:avLst/>
          </a:prstGeom>
          <a:solidFill>
            <a:srgbClr val="4A9BE0"/>
          </a:solidFill>
          <a:ln>
            <a:noFill/>
          </a:ln>
        </p:spPr>
        <p:txBody>
          <a:bodyPr rtlCol="0" anchor="ctr"/>
          <a:lstStyle/>
          <a:p>
            <a:pPr algn="ctr"/>
          </a:p>
        </p:txBody>
      </p:sp>
      <p:sp>
        <p:nvSpPr>
          <p:cNvPr id="111" name="Rectangle 110"/>
          <p:cNvSpPr/>
          <p:nvPr/>
        </p:nvSpPr>
        <p:spPr>
          <a:xfrm>
            <a:off x="0" y="3429000"/>
            <a:ext cx="155448" cy="1714500"/>
          </a:xfrm>
          <a:prstGeom prst="rect">
            <a:avLst/>
          </a:prstGeom>
          <a:solidFill>
            <a:srgbClr val="7ACFC0"/>
          </a:solidFill>
          <a:ln>
            <a:noFill/>
          </a:ln>
        </p:spPr>
        <p:txBody>
          <a:bodyPr rtlCol="0" anchor="ctr"/>
          <a:lstStyle/>
          <a:p>
            <a:pPr algn="ctr"/>
          </a:p>
        </p:txBody>
      </p:sp>
      <p:sp>
        <p:nvSpPr>
          <p:cNvPr id="112" name="Rectangle 111"/>
          <p:cNvSpPr/>
          <p:nvPr/>
        </p:nvSpPr>
        <p:spPr>
          <a:xfrm>
            <a:off x="0" y="5143500"/>
            <a:ext cx="155448" cy="1714500"/>
          </a:xfrm>
          <a:prstGeom prst="rect">
            <a:avLst/>
          </a:prstGeom>
          <a:solidFill>
            <a:srgbClr val="B39DDB"/>
          </a:solidFill>
          <a:ln>
            <a:noFill/>
          </a:ln>
        </p:spPr>
        <p:txBody>
          <a:bodyPr rtlCol="0" anchor="ctr"/>
          <a:lstStyle/>
          <a:p>
            <a:pPr algn="ctr"/>
          </a:p>
        </p:txBody>
      </p:sp>
      <p:sp>
        <p:nvSpPr>
          <p:cNvPr id="113" name="Rounded Rectangle 112"/>
          <p:cNvSpPr/>
          <p:nvPr/>
        </p:nvSpPr>
        <p:spPr>
          <a:xfrm>
            <a:off x="694944" y="1737360"/>
            <a:ext cx="10799064" cy="658368"/>
          </a:xfrm>
          <a:prstGeom prst="roundRect">
            <a:avLst>
              <a:gd name="adj" fmla="val 16666"/>
            </a:avLst>
          </a:prstGeom>
          <a:solidFill>
            <a:srgbClr val="1B2A4A"/>
          </a:solidFill>
          <a:ln>
            <a:noFill/>
          </a:ln>
        </p:spPr>
        <p:txBody>
          <a:bodyPr rtlCol="0" anchor="ctr"/>
          <a:lstStyle/>
          <a:p>
            <a:pPr algn="ctr"/>
          </a:p>
        </p:txBody>
      </p:sp>
      <p:sp>
        <p:nvSpPr>
          <p:cNvPr id="114" name="TextBox 113"/>
          <p:cNvSpPr txBox="1"/>
          <p:nvPr/>
        </p:nvSpPr>
        <p:spPr>
          <a:xfrm>
            <a:off x="987552" y="1737360"/>
            <a:ext cx="10241280" cy="658368"/>
          </a:xfrm>
          <a:prstGeom prst="rect">
            <a:avLst/>
          </a:prstGeom>
          <a:noFill/>
        </p:spPr>
        <p:txBody>
          <a:bodyPr wrap="square" lIns="0" tIns="0" rIns="0" bIns="0" anchor="ctr">
            <a:noAutofit/>
          </a:bodyPr>
          <a:lstStyle/>
          <a:p>
            <a:pPr algn="l">
              <a:lnSpc>
                <a:spcPct val="112000"/>
              </a:lnSpc>
              <a:spcBef>
                <a:spcPts val="0"/>
              </a:spcBef>
              <a:spcAft>
                <a:spcPts val="0"/>
              </a:spcAft>
            </a:pPr>
            <a:r>
              <a:rPr sz="1400" b="1" i="0">
                <a:solidFill>
                  <a:srgbClr val="7ACFC0"/>
                </a:solidFill>
                <a:latin typeface="DM Sans"/>
              </a:rPr>
              <a:t>Description : </a:t>
            </a:r>
            <a:r>
              <a:rPr sz="1400" b="0" i="0">
                <a:solidFill>
                  <a:srgbClr val="FFFFFF"/>
                </a:solidFill>
                <a:latin typeface="DM Sans"/>
              </a:rPr>
              <a:t>chaque matin, Workly signale seul l’état de sa chaîne de nuit ; une panne ou une nuit non exécutée est détectée avant la journée de travail, sans que personne ouvre le journal.</a:t>
            </a:r>
          </a:p>
        </p:txBody>
      </p:sp>
      <p:sp>
        <p:nvSpPr>
          <p:cNvPr id="115" name="Rounded Rectangle 114"/>
          <p:cNvSpPr/>
          <p:nvPr/>
        </p:nvSpPr>
        <p:spPr>
          <a:xfrm>
            <a:off x="694944" y="2560320"/>
            <a:ext cx="3520440" cy="3639312"/>
          </a:xfrm>
          <a:prstGeom prst="roundRect">
            <a:avLst>
              <a:gd name="adj" fmla="val 4329"/>
            </a:avLst>
          </a:prstGeom>
          <a:solidFill>
            <a:srgbClr val="FFFFFF"/>
          </a:solidFill>
          <a:ln>
            <a:noFill/>
          </a:ln>
        </p:spPr>
        <p:txBody>
          <a:bodyPr rtlCol="0" anchor="ctr"/>
          <a:lstStyle/>
          <a:p>
            <a:pPr algn="ctr"/>
          </a:p>
        </p:txBody>
      </p:sp>
      <p:sp>
        <p:nvSpPr>
          <p:cNvPr id="116" name="Rectangle 115"/>
          <p:cNvSpPr/>
          <p:nvPr/>
        </p:nvSpPr>
        <p:spPr>
          <a:xfrm>
            <a:off x="694944" y="2560320"/>
            <a:ext cx="3520440" cy="3639312"/>
          </a:xfrm>
          <a:custGeom>
            <a:rect b="b" l="l" r="r" t="t"/>
            <a:pathLst>
              <a:path extrusionOk="0" h="3639312" w="3520440">
                <a:moveTo>
                  <a:pt x="0" y="152400"/>
                </a:moveTo>
                <a:cubicBezTo>
                  <a:pt x="0" y="68229"/>
                  <a:pt x="68229" y="0"/>
                  <a:pt x="152400" y="0"/>
                </a:cubicBezTo>
                <a:lnTo>
                  <a:pt x="3368040" y="0"/>
                </a:lnTo>
                <a:cubicBezTo>
                  <a:pt x="3452210" y="0"/>
                  <a:pt x="3520440" y="68229"/>
                  <a:pt x="3520440" y="152400"/>
                </a:cubicBezTo>
                <a:cubicBezTo>
                  <a:pt x="3520440" y="103311"/>
                  <a:pt x="3452211" y="63500"/>
                  <a:pt x="3368040" y="63500"/>
                </a:cubicBezTo>
                <a:lnTo>
                  <a:pt x="152400" y="63500"/>
                </a:lnTo>
                <a:cubicBezTo>
                  <a:pt x="68229" y="63500"/>
                  <a:pt x="0" y="103311"/>
                  <a:pt x="0" y="152400"/>
                </a:cubicBezTo>
                <a:close/>
              </a:path>
            </a:pathLst>
          </a:custGeom>
          <a:solidFill>
            <a:srgbClr val="4A9BE0"/>
          </a:solidFill>
          <a:ln>
            <a:noFill/>
          </a:ln>
        </p:spPr>
        <p:txBody>
          <a:bodyPr rtlCol="0" anchor="ctr"/>
          <a:lstStyle/>
          <a:p>
            <a:pPr algn="ctr"/>
          </a:p>
        </p:txBody>
      </p:sp>
      <p:sp>
        <p:nvSpPr>
          <p:cNvPr id="117" name="Oval 116"/>
          <p:cNvSpPr/>
          <p:nvPr/>
        </p:nvSpPr>
        <p:spPr>
          <a:xfrm>
            <a:off x="896112" y="2779776"/>
            <a:ext cx="329184" cy="329184"/>
          </a:xfrm>
          <a:prstGeom prst="ellipse">
            <a:avLst/>
          </a:prstGeom>
          <a:solidFill>
            <a:srgbClr val="4A9BE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1</a:t>
            </a:r>
          </a:p>
        </p:txBody>
      </p:sp>
      <p:sp>
        <p:nvSpPr>
          <p:cNvPr id="118" name="TextBox 117"/>
          <p:cNvSpPr txBox="1"/>
          <p:nvPr/>
        </p:nvSpPr>
        <p:spPr>
          <a:xfrm>
            <a:off x="1335024" y="2779776"/>
            <a:ext cx="2697480" cy="329184"/>
          </a:xfrm>
          <a:prstGeom prst="rect">
            <a:avLst/>
          </a:prstGeom>
          <a:noFill/>
        </p:spPr>
        <p:txBody>
          <a:bodyPr wrap="square" lIns="0" tIns="0" rIns="0" bIns="0" anchor="ctr">
            <a:noAutofit/>
          </a:bodyPr>
          <a:lstStyle/>
          <a:p>
            <a:pPr algn="l">
              <a:lnSpc>
                <a:spcPct val="115000"/>
              </a:lnSpc>
              <a:spcBef>
                <a:spcPts val="0"/>
              </a:spcBef>
              <a:spcAft>
                <a:spcPts val="0"/>
              </a:spcAft>
            </a:pPr>
            <a:r>
              <a:rPr sz="1300" b="1" i="0">
                <a:solidFill>
                  <a:srgbClr val="1B2A4A"/>
                </a:solidFill>
                <a:latin typeface="Sora"/>
              </a:rPr>
              <a:t>PROCESSUS</a:t>
            </a:r>
          </a:p>
        </p:txBody>
      </p:sp>
      <p:sp>
        <p:nvSpPr>
          <p:cNvPr id="119" name="Rounded Rectangle 118"/>
          <p:cNvSpPr/>
          <p:nvPr/>
        </p:nvSpPr>
        <p:spPr>
          <a:xfrm>
            <a:off x="4334256" y="2560320"/>
            <a:ext cx="3520440" cy="3639312"/>
          </a:xfrm>
          <a:prstGeom prst="roundRect">
            <a:avLst>
              <a:gd name="adj" fmla="val 4329"/>
            </a:avLst>
          </a:prstGeom>
          <a:solidFill>
            <a:srgbClr val="FFFFFF"/>
          </a:solidFill>
          <a:ln>
            <a:noFill/>
          </a:ln>
        </p:spPr>
        <p:txBody>
          <a:bodyPr rtlCol="0" anchor="ctr"/>
          <a:lstStyle/>
          <a:p>
            <a:pPr algn="ctr"/>
          </a:p>
        </p:txBody>
      </p:sp>
      <p:sp>
        <p:nvSpPr>
          <p:cNvPr id="120" name="Rectangle 119"/>
          <p:cNvSpPr/>
          <p:nvPr/>
        </p:nvSpPr>
        <p:spPr>
          <a:xfrm>
            <a:off x="4334256" y="2560320"/>
            <a:ext cx="3520440" cy="3639312"/>
          </a:xfrm>
          <a:custGeom>
            <a:rect b="b" l="l" r="r" t="t"/>
            <a:pathLst>
              <a:path extrusionOk="0" h="3639312" w="3520440">
                <a:moveTo>
                  <a:pt x="0" y="152400"/>
                </a:moveTo>
                <a:cubicBezTo>
                  <a:pt x="0" y="68229"/>
                  <a:pt x="68229" y="0"/>
                  <a:pt x="152400" y="0"/>
                </a:cubicBezTo>
                <a:lnTo>
                  <a:pt x="3368040" y="0"/>
                </a:lnTo>
                <a:cubicBezTo>
                  <a:pt x="3452210" y="0"/>
                  <a:pt x="3520440" y="68229"/>
                  <a:pt x="3520440" y="152400"/>
                </a:cubicBezTo>
                <a:cubicBezTo>
                  <a:pt x="3520440" y="103311"/>
                  <a:pt x="3452211" y="63500"/>
                  <a:pt x="3368040" y="63500"/>
                </a:cubicBezTo>
                <a:lnTo>
                  <a:pt x="152400" y="63500"/>
                </a:lnTo>
                <a:cubicBezTo>
                  <a:pt x="68229" y="63500"/>
                  <a:pt x="0" y="103311"/>
                  <a:pt x="0" y="152400"/>
                </a:cubicBezTo>
                <a:close/>
              </a:path>
            </a:pathLst>
          </a:custGeom>
          <a:solidFill>
            <a:srgbClr val="B39DDB"/>
          </a:solidFill>
          <a:ln>
            <a:noFill/>
          </a:ln>
        </p:spPr>
        <p:txBody>
          <a:bodyPr rtlCol="0" anchor="ctr"/>
          <a:lstStyle/>
          <a:p>
            <a:pPr algn="ctr"/>
          </a:p>
        </p:txBody>
      </p:sp>
      <p:sp>
        <p:nvSpPr>
          <p:cNvPr id="121" name="Oval 120"/>
          <p:cNvSpPr/>
          <p:nvPr/>
        </p:nvSpPr>
        <p:spPr>
          <a:xfrm>
            <a:off x="4535424" y="2779776"/>
            <a:ext cx="329184" cy="329184"/>
          </a:xfrm>
          <a:prstGeom prst="ellipse">
            <a:avLst/>
          </a:prstGeom>
          <a:solidFill>
            <a:srgbClr val="B39DDB"/>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2</a:t>
            </a:r>
          </a:p>
        </p:txBody>
      </p:sp>
      <p:sp>
        <p:nvSpPr>
          <p:cNvPr id="122" name="TextBox 121"/>
          <p:cNvSpPr txBox="1"/>
          <p:nvPr/>
        </p:nvSpPr>
        <p:spPr>
          <a:xfrm>
            <a:off x="4974336" y="2779776"/>
            <a:ext cx="2697480" cy="329184"/>
          </a:xfrm>
          <a:prstGeom prst="rect">
            <a:avLst/>
          </a:prstGeom>
          <a:noFill/>
        </p:spPr>
        <p:txBody>
          <a:bodyPr wrap="square" lIns="0" tIns="0" rIns="0" bIns="0" anchor="ctr">
            <a:noAutofit/>
          </a:bodyPr>
          <a:lstStyle/>
          <a:p>
            <a:pPr algn="l">
              <a:lnSpc>
                <a:spcPct val="115000"/>
              </a:lnSpc>
              <a:spcBef>
                <a:spcPts val="0"/>
              </a:spcBef>
              <a:spcAft>
                <a:spcPts val="0"/>
              </a:spcAft>
            </a:pPr>
            <a:r>
              <a:rPr sz="1300" b="1" i="0">
                <a:solidFill>
                  <a:srgbClr val="1B2A4A"/>
                </a:solidFill>
                <a:latin typeface="Sora"/>
              </a:rPr>
              <a:t>OPPORTUNITÉ DÉTECTÉE</a:t>
            </a:r>
          </a:p>
        </p:txBody>
      </p:sp>
      <p:sp>
        <p:nvSpPr>
          <p:cNvPr id="123" name="Rounded Rectangle 122"/>
          <p:cNvSpPr/>
          <p:nvPr/>
        </p:nvSpPr>
        <p:spPr>
          <a:xfrm>
            <a:off x="7973568" y="2560320"/>
            <a:ext cx="3520440" cy="3639312"/>
          </a:xfrm>
          <a:prstGeom prst="roundRect">
            <a:avLst>
              <a:gd name="adj" fmla="val 4329"/>
            </a:avLst>
          </a:prstGeom>
          <a:solidFill>
            <a:srgbClr val="FFFFFF"/>
          </a:solidFill>
          <a:ln>
            <a:noFill/>
          </a:ln>
        </p:spPr>
        <p:txBody>
          <a:bodyPr rtlCol="0" anchor="ctr"/>
          <a:lstStyle/>
          <a:p>
            <a:pPr algn="ctr"/>
          </a:p>
        </p:txBody>
      </p:sp>
      <p:sp>
        <p:nvSpPr>
          <p:cNvPr id="124" name="Rectangle 123"/>
          <p:cNvSpPr/>
          <p:nvPr/>
        </p:nvSpPr>
        <p:spPr>
          <a:xfrm>
            <a:off x="7973568" y="2560320"/>
            <a:ext cx="3520440" cy="3639312"/>
          </a:xfrm>
          <a:custGeom>
            <a:rect b="b" l="l" r="r" t="t"/>
            <a:pathLst>
              <a:path extrusionOk="0" h="3639312" w="3520440">
                <a:moveTo>
                  <a:pt x="0" y="152400"/>
                </a:moveTo>
                <a:cubicBezTo>
                  <a:pt x="0" y="68229"/>
                  <a:pt x="68229" y="0"/>
                  <a:pt x="152400" y="0"/>
                </a:cubicBezTo>
                <a:lnTo>
                  <a:pt x="3368040" y="0"/>
                </a:lnTo>
                <a:cubicBezTo>
                  <a:pt x="3452210" y="0"/>
                  <a:pt x="3520440" y="68229"/>
                  <a:pt x="3520440" y="152400"/>
                </a:cubicBezTo>
                <a:cubicBezTo>
                  <a:pt x="3520440" y="103311"/>
                  <a:pt x="3452211" y="63500"/>
                  <a:pt x="3368040" y="63500"/>
                </a:cubicBezTo>
                <a:lnTo>
                  <a:pt x="152400" y="63500"/>
                </a:lnTo>
                <a:cubicBezTo>
                  <a:pt x="68229" y="63500"/>
                  <a:pt x="0" y="103311"/>
                  <a:pt x="0" y="152400"/>
                </a:cubicBezTo>
                <a:close/>
              </a:path>
            </a:pathLst>
          </a:custGeom>
          <a:solidFill>
            <a:srgbClr val="7ACFC0"/>
          </a:solidFill>
          <a:ln>
            <a:noFill/>
          </a:ln>
        </p:spPr>
        <p:txBody>
          <a:bodyPr rtlCol="0" anchor="ctr"/>
          <a:lstStyle/>
          <a:p>
            <a:pPr algn="ctr"/>
          </a:p>
        </p:txBody>
      </p:sp>
      <p:sp>
        <p:nvSpPr>
          <p:cNvPr id="125" name="Oval 124"/>
          <p:cNvSpPr/>
          <p:nvPr/>
        </p:nvSpPr>
        <p:spPr>
          <a:xfrm>
            <a:off x="8174736" y="2779776"/>
            <a:ext cx="329184" cy="329184"/>
          </a:xfrm>
          <a:prstGeom prst="ellipse">
            <a:avLst/>
          </a:prstGeom>
          <a:solidFill>
            <a:srgbClr val="7ACFC0"/>
          </a:solidFill>
          <a:ln>
            <a:noFill/>
          </a:ln>
        </p:spPr>
        <p:txBody>
          <a:bodyPr rtlCol="0" anchor="ctr" wrap="square" lIns="0" tIns="0" rIns="0" bIns="0">
            <a:noAutofit/>
          </a:bodyPr>
          <a:lstStyle/>
          <a:p>
            <a:pPr algn="ctr">
              <a:lnSpc>
                <a:spcPct val="100000"/>
              </a:lnSpc>
              <a:spcBef>
                <a:spcPts val="0"/>
              </a:spcBef>
              <a:spcAft>
                <a:spcPts val="0"/>
              </a:spcAft>
            </a:pPr>
            <a:r>
              <a:rPr sz="1300" b="1" i="0">
                <a:solidFill>
                  <a:srgbClr val="1B2A4A"/>
                </a:solidFill>
                <a:latin typeface="Sora"/>
              </a:rPr>
              <a:t>3</a:t>
            </a:r>
          </a:p>
        </p:txBody>
      </p:sp>
      <p:sp>
        <p:nvSpPr>
          <p:cNvPr id="126" name="TextBox 125"/>
          <p:cNvSpPr txBox="1"/>
          <p:nvPr/>
        </p:nvSpPr>
        <p:spPr>
          <a:xfrm>
            <a:off x="8613648" y="2779776"/>
            <a:ext cx="2697480" cy="329184"/>
          </a:xfrm>
          <a:prstGeom prst="rect">
            <a:avLst/>
          </a:prstGeom>
          <a:noFill/>
        </p:spPr>
        <p:txBody>
          <a:bodyPr wrap="square" lIns="0" tIns="0" rIns="0" bIns="0" anchor="ctr">
            <a:noAutofit/>
          </a:bodyPr>
          <a:lstStyle/>
          <a:p>
            <a:pPr algn="l">
              <a:lnSpc>
                <a:spcPct val="115000"/>
              </a:lnSpc>
              <a:spcBef>
                <a:spcPts val="0"/>
              </a:spcBef>
              <a:spcAft>
                <a:spcPts val="0"/>
              </a:spcAft>
            </a:pPr>
            <a:r>
              <a:rPr sz="1300" b="1" i="0">
                <a:solidFill>
                  <a:srgbClr val="1B2A4A"/>
                </a:solidFill>
                <a:latin typeface="Sora"/>
              </a:rPr>
              <a:t>CIBLE · BOTTOM LINE</a:t>
            </a:r>
          </a:p>
        </p:txBody>
      </p:sp>
      <p:sp>
        <p:nvSpPr>
          <p:cNvPr id="127" name="TextBox 126"/>
          <p:cNvSpPr txBox="1"/>
          <p:nvPr/>
        </p:nvSpPr>
        <p:spPr>
          <a:xfrm>
            <a:off x="923544" y="3310128"/>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6B7390"/>
                </a:solidFill>
                <a:latin typeface="Sora"/>
              </a:rPr>
              <a:t>AUJOURD’HUI</a:t>
            </a:r>
          </a:p>
        </p:txBody>
      </p:sp>
      <p:sp>
        <p:nvSpPr>
          <p:cNvPr id="128" name="Rounded Rectangle 127"/>
          <p:cNvSpPr/>
          <p:nvPr/>
        </p:nvSpPr>
        <p:spPr>
          <a:xfrm>
            <a:off x="923544" y="3602736"/>
            <a:ext cx="694944" cy="237744"/>
          </a:xfrm>
          <a:prstGeom prst="roundRect">
            <a:avLst>
              <a:gd name="adj" fmla="val 50000"/>
            </a:avLst>
          </a:prstGeom>
          <a:solidFill>
            <a:srgbClr val="CDEEE8"/>
          </a:solidFill>
          <a:ln>
            <a:noFill/>
          </a:ln>
        </p:spPr>
        <p:txBody>
          <a:bodyPr rtlCol="0" anchor="ctr" wrap="square" lIns="36576" tIns="0" rIns="36576" bIns="0">
            <a:noAutofit/>
          </a:bodyPr>
          <a:lstStyle/>
          <a:p>
            <a:pPr algn="ctr">
              <a:lnSpc>
                <a:spcPct val="100000"/>
              </a:lnSpc>
              <a:spcBef>
                <a:spcPts val="0"/>
              </a:spcBef>
              <a:spcAft>
                <a:spcPts val="0"/>
              </a:spcAft>
            </a:pPr>
            <a:r>
              <a:rPr sz="1000" b="1" i="0">
                <a:solidFill>
                  <a:srgbClr val="1B2A4A"/>
                </a:solidFill>
                <a:latin typeface="DM Sans"/>
              </a:rPr>
              <a:t>Auto</a:t>
            </a:r>
          </a:p>
        </p:txBody>
      </p:sp>
      <p:sp>
        <p:nvSpPr>
          <p:cNvPr id="129" name="TextBox 128"/>
          <p:cNvSpPr txBox="1"/>
          <p:nvPr/>
        </p:nvSpPr>
        <p:spPr>
          <a:xfrm>
            <a:off x="1709928" y="3584448"/>
            <a:ext cx="2276856" cy="237331"/>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00:30 UTC : 8 étapes de nuit</a:t>
            </a:r>
          </a:p>
        </p:txBody>
      </p:sp>
      <p:sp>
        <p:nvSpPr>
          <p:cNvPr id="130" name="Rounded Rectangle 129"/>
          <p:cNvSpPr/>
          <p:nvPr/>
        </p:nvSpPr>
        <p:spPr>
          <a:xfrm>
            <a:off x="923544" y="4005072"/>
            <a:ext cx="694944" cy="237744"/>
          </a:xfrm>
          <a:prstGeom prst="roundRect">
            <a:avLst>
              <a:gd name="adj" fmla="val 50000"/>
            </a:avLst>
          </a:prstGeom>
          <a:solidFill>
            <a:srgbClr val="E2D9F3"/>
          </a:solidFill>
          <a:ln>
            <a:noFill/>
          </a:ln>
        </p:spPr>
        <p:txBody>
          <a:bodyPr rtlCol="0" anchor="ctr" wrap="square" lIns="36576" tIns="0" rIns="36576" bIns="0">
            <a:noAutofit/>
          </a:bodyPr>
          <a:lstStyle/>
          <a:p>
            <a:pPr algn="ctr">
              <a:lnSpc>
                <a:spcPct val="100000"/>
              </a:lnSpc>
              <a:spcBef>
                <a:spcPts val="0"/>
              </a:spcBef>
              <a:spcAft>
                <a:spcPts val="0"/>
              </a:spcAft>
            </a:pPr>
            <a:r>
              <a:rPr sz="1000" b="1" i="0">
                <a:solidFill>
                  <a:srgbClr val="1B2A4A"/>
                </a:solidFill>
                <a:latin typeface="DM Sans"/>
              </a:rPr>
              <a:t>Manuel</a:t>
            </a:r>
          </a:p>
        </p:txBody>
      </p:sp>
      <p:sp>
        <p:nvSpPr>
          <p:cNvPr id="131" name="TextBox 130"/>
          <p:cNvSpPr txBox="1"/>
          <p:nvPr/>
        </p:nvSpPr>
        <p:spPr>
          <a:xfrm>
            <a:off x="1709928" y="3986784"/>
            <a:ext cx="2276856" cy="237331"/>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Matin : contrôle du journal</a:t>
            </a:r>
          </a:p>
        </p:txBody>
      </p:sp>
      <p:cxnSp>
        <p:nvCxnSpPr>
          <p:cNvPr id="132" name="Connector 131"/>
          <p:cNvCxnSpPr/>
          <p:nvPr/>
        </p:nvCxnSpPr>
        <p:spPr>
          <a:xfrm>
            <a:off x="923544" y="4407408"/>
            <a:ext cx="3063240" cy="0"/>
          </a:xfrm>
          <a:prstGeom prst="line">
            <a:avLst/>
          </a:prstGeom>
          <a:ln w="12700">
            <a:solidFill>
              <a:srgbClr val="D5DAE8"/>
            </a:solidFill>
          </a:ln>
        </p:spPr>
      </p:cxnSp>
      <p:sp>
        <p:nvSpPr>
          <p:cNvPr id="133" name="TextBox 132"/>
          <p:cNvSpPr txBox="1"/>
          <p:nvPr/>
        </p:nvSpPr>
        <p:spPr>
          <a:xfrm>
            <a:off x="923544" y="4572000"/>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100" b="1" i="0">
                <a:solidFill>
                  <a:srgbClr val="6B3FA0"/>
                </a:solidFill>
                <a:latin typeface="Sora"/>
              </a:rPr>
              <a:t>AVEC LE USE CASE</a:t>
            </a:r>
          </a:p>
        </p:txBody>
      </p:sp>
      <p:sp>
        <p:nvSpPr>
          <p:cNvPr id="134" name="Rounded Rectangle 133"/>
          <p:cNvSpPr/>
          <p:nvPr/>
        </p:nvSpPr>
        <p:spPr>
          <a:xfrm>
            <a:off x="923544" y="4864608"/>
            <a:ext cx="694944" cy="237744"/>
          </a:xfrm>
          <a:prstGeom prst="roundRect">
            <a:avLst>
              <a:gd name="adj" fmla="val 50000"/>
            </a:avLst>
          </a:prstGeom>
          <a:solidFill>
            <a:srgbClr val="CDEEE8"/>
          </a:solidFill>
          <a:ln>
            <a:noFill/>
          </a:ln>
        </p:spPr>
        <p:txBody>
          <a:bodyPr rtlCol="0" anchor="ctr" wrap="square" lIns="36576" tIns="0" rIns="36576" bIns="0">
            <a:noAutofit/>
          </a:bodyPr>
          <a:lstStyle/>
          <a:p>
            <a:pPr algn="ctr">
              <a:lnSpc>
                <a:spcPct val="100000"/>
              </a:lnSpc>
              <a:spcBef>
                <a:spcPts val="0"/>
              </a:spcBef>
              <a:spcAft>
                <a:spcPts val="0"/>
              </a:spcAft>
            </a:pPr>
            <a:r>
              <a:rPr sz="1000" b="1" i="0">
                <a:solidFill>
                  <a:srgbClr val="1B2A4A"/>
                </a:solidFill>
                <a:latin typeface="DM Sans"/>
              </a:rPr>
              <a:t>Auto</a:t>
            </a:r>
          </a:p>
        </p:txBody>
      </p:sp>
      <p:sp>
        <p:nvSpPr>
          <p:cNvPr id="135" name="TextBox 134"/>
          <p:cNvSpPr txBox="1"/>
          <p:nvPr/>
        </p:nvSpPr>
        <p:spPr>
          <a:xfrm>
            <a:off x="1709928" y="4846320"/>
            <a:ext cx="2276856" cy="237331"/>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06:00 UTC : bilan et 2 agents</a:t>
            </a:r>
          </a:p>
        </p:txBody>
      </p:sp>
      <p:sp>
        <p:nvSpPr>
          <p:cNvPr id="136" name="Rounded Rectangle 135"/>
          <p:cNvSpPr/>
          <p:nvPr/>
        </p:nvSpPr>
        <p:spPr>
          <a:xfrm>
            <a:off x="923544" y="5266944"/>
            <a:ext cx="694944" cy="237744"/>
          </a:xfrm>
          <a:prstGeom prst="roundRect">
            <a:avLst>
              <a:gd name="adj" fmla="val 50000"/>
            </a:avLst>
          </a:prstGeom>
          <a:solidFill>
            <a:srgbClr val="CDEEE8"/>
          </a:solidFill>
          <a:ln>
            <a:noFill/>
          </a:ln>
        </p:spPr>
        <p:txBody>
          <a:bodyPr rtlCol="0" anchor="ctr" wrap="square" lIns="36576" tIns="0" rIns="36576" bIns="0">
            <a:noAutofit/>
          </a:bodyPr>
          <a:lstStyle/>
          <a:p>
            <a:pPr algn="ctr">
              <a:lnSpc>
                <a:spcPct val="100000"/>
              </a:lnSpc>
              <a:spcBef>
                <a:spcPts val="0"/>
              </a:spcBef>
              <a:spcAft>
                <a:spcPts val="0"/>
              </a:spcAft>
            </a:pPr>
            <a:r>
              <a:rPr sz="1000" b="1" i="0">
                <a:solidFill>
                  <a:srgbClr val="1B2A4A"/>
                </a:solidFill>
                <a:latin typeface="DM Sans"/>
              </a:rPr>
              <a:t>Auto</a:t>
            </a:r>
          </a:p>
        </p:txBody>
      </p:sp>
      <p:sp>
        <p:nvSpPr>
          <p:cNvPr id="137" name="TextBox 136"/>
          <p:cNvSpPr txBox="1"/>
          <p:nvPr/>
        </p:nvSpPr>
        <p:spPr>
          <a:xfrm>
            <a:off x="1709928" y="5248656"/>
            <a:ext cx="2276856" cy="237331"/>
          </a:xfrm>
          <a:prstGeom prst="rect">
            <a:avLst/>
          </a:prstGeom>
          <a:noFill/>
        </p:spPr>
        <p:txBody>
          <a:bodyPr wrap="square" lIns="0" tIns="0" rIns="0" bIns="0" anchor="t">
            <a:noAutofit/>
          </a:bodyPr>
          <a:lstStyle/>
          <a:p>
            <a:pPr algn="l">
              <a:lnSpc>
                <a:spcPct val="112000"/>
              </a:lnSpc>
              <a:spcBef>
                <a:spcPts val="0"/>
              </a:spcBef>
              <a:spcAft>
                <a:spcPts val="0"/>
              </a:spcAft>
            </a:pPr>
            <a:r>
              <a:rPr sz="1250" b="0" i="0">
                <a:solidFill>
                  <a:srgbClr val="2B3350"/>
                </a:solidFill>
                <a:latin typeface="DM Sans"/>
              </a:rPr>
              <a:t>Message Slack chaque matin</a:t>
            </a:r>
          </a:p>
        </p:txBody>
      </p:sp>
      <p:sp>
        <p:nvSpPr>
          <p:cNvPr id="138" name="Rectangle 137"/>
          <p:cNvSpPr/>
          <p:nvPr/>
        </p:nvSpPr>
        <p:spPr>
          <a:xfrm>
            <a:off x="4562856" y="3374136"/>
            <a:ext cx="100584" cy="100584"/>
          </a:xfrm>
          <a:prstGeom prst="rect">
            <a:avLst/>
          </a:prstGeom>
          <a:solidFill>
            <a:srgbClr val="B39DDB"/>
          </a:solidFill>
          <a:ln>
            <a:noFill/>
          </a:ln>
        </p:spPr>
        <p:txBody>
          <a:bodyPr rtlCol="0" anchor="ctr"/>
          <a:lstStyle/>
          <a:p>
            <a:pPr algn="ctr"/>
          </a:p>
        </p:txBody>
      </p:sp>
      <p:sp>
        <p:nvSpPr>
          <p:cNvPr id="139" name="TextBox 138"/>
          <p:cNvSpPr txBox="1"/>
          <p:nvPr/>
        </p:nvSpPr>
        <p:spPr>
          <a:xfrm>
            <a:off x="4818888" y="3310128"/>
            <a:ext cx="2807208" cy="740474"/>
          </a:xfrm>
          <a:prstGeom prst="rect">
            <a:avLst/>
          </a:prstGeom>
          <a:noFill/>
        </p:spPr>
        <p:txBody>
          <a:bodyPr wrap="square" lIns="0" tIns="0" rIns="0" bIns="0" anchor="t">
            <a:noAutofit/>
          </a:bodyPr>
          <a:lstStyle/>
          <a:p>
            <a:pPr algn="l">
              <a:lnSpc>
                <a:spcPct val="112000"/>
              </a:lnSpc>
              <a:spcBef>
                <a:spcPts val="0"/>
              </a:spcBef>
              <a:spcAft>
                <a:spcPts val="0"/>
              </a:spcAft>
            </a:pPr>
            <a:r>
              <a:rPr sz="1300" b="1" i="0">
                <a:solidFill>
                  <a:srgbClr val="1B2A4A"/>
                </a:solidFill>
                <a:latin typeface="DM Sans"/>
              </a:rPr>
              <a:t>Un trou de supervision. </a:t>
            </a:r>
            <a:r>
              <a:rPr sz="1300" b="0" i="0">
                <a:solidFill>
                  <a:srgbClr val="2B3350"/>
                </a:solidFill>
                <a:latin typeface="DM Sans"/>
              </a:rPr>
              <a:t>Une nuit non exécutée (PC éteint, planificateur arrêté) ne déclenche aucune alerte.</a:t>
            </a:r>
          </a:p>
        </p:txBody>
      </p:sp>
      <p:sp>
        <p:nvSpPr>
          <p:cNvPr id="140" name="Rectangle 139"/>
          <p:cNvSpPr/>
          <p:nvPr/>
        </p:nvSpPr>
        <p:spPr>
          <a:xfrm>
            <a:off x="4562856" y="4315778"/>
            <a:ext cx="100584" cy="100584"/>
          </a:xfrm>
          <a:prstGeom prst="rect">
            <a:avLst/>
          </a:prstGeom>
          <a:solidFill>
            <a:srgbClr val="B39DDB"/>
          </a:solidFill>
          <a:ln>
            <a:noFill/>
          </a:ln>
        </p:spPr>
        <p:txBody>
          <a:bodyPr rtlCol="0" anchor="ctr"/>
          <a:lstStyle/>
          <a:p>
            <a:pPr algn="ctr"/>
          </a:p>
        </p:txBody>
      </p:sp>
      <p:sp>
        <p:nvSpPr>
          <p:cNvPr id="141" name="TextBox 140"/>
          <p:cNvSpPr txBox="1"/>
          <p:nvPr/>
        </p:nvSpPr>
        <p:spPr>
          <a:xfrm>
            <a:off x="4818888" y="4251770"/>
            <a:ext cx="2807208" cy="493649"/>
          </a:xfrm>
          <a:prstGeom prst="rect">
            <a:avLst/>
          </a:prstGeom>
          <a:noFill/>
        </p:spPr>
        <p:txBody>
          <a:bodyPr wrap="square" lIns="0" tIns="0" rIns="0" bIns="0" anchor="t">
            <a:noAutofit/>
          </a:bodyPr>
          <a:lstStyle/>
          <a:p>
            <a:pPr algn="l">
              <a:lnSpc>
                <a:spcPct val="112000"/>
              </a:lnSpc>
              <a:spcBef>
                <a:spcPts val="0"/>
              </a:spcBef>
              <a:spcAft>
                <a:spcPts val="0"/>
              </a:spcAft>
            </a:pPr>
            <a:r>
              <a:rPr sz="1300" b="1" i="0">
                <a:solidFill>
                  <a:srgbClr val="1B2A4A"/>
                </a:solidFill>
                <a:latin typeface="DM Sans"/>
              </a:rPr>
              <a:t>Un contrôle manuel. </a:t>
            </a:r>
            <a:r>
              <a:rPr sz="1300" b="0" i="0">
                <a:solidFill>
                  <a:srgbClr val="2B3350"/>
                </a:solidFill>
                <a:latin typeface="DM Sans"/>
              </a:rPr>
              <a:t>Le journal est vérifié à la main, sans mesure.</a:t>
            </a:r>
          </a:p>
        </p:txBody>
      </p:sp>
      <p:sp>
        <p:nvSpPr>
          <p:cNvPr id="142" name="Rectangle 141"/>
          <p:cNvSpPr/>
          <p:nvPr/>
        </p:nvSpPr>
        <p:spPr>
          <a:xfrm>
            <a:off x="4562856" y="5010594"/>
            <a:ext cx="100584" cy="100584"/>
          </a:xfrm>
          <a:prstGeom prst="rect">
            <a:avLst/>
          </a:prstGeom>
          <a:solidFill>
            <a:srgbClr val="B39DDB"/>
          </a:solidFill>
          <a:ln>
            <a:noFill/>
          </a:ln>
        </p:spPr>
        <p:txBody>
          <a:bodyPr rtlCol="0" anchor="ctr"/>
          <a:lstStyle/>
          <a:p>
            <a:pPr algn="ctr"/>
          </a:p>
        </p:txBody>
      </p:sp>
      <p:sp>
        <p:nvSpPr>
          <p:cNvPr id="143" name="TextBox 142"/>
          <p:cNvSpPr txBox="1"/>
          <p:nvPr/>
        </p:nvSpPr>
        <p:spPr>
          <a:xfrm>
            <a:off x="4818888" y="4946586"/>
            <a:ext cx="2807208" cy="493649"/>
          </a:xfrm>
          <a:prstGeom prst="rect">
            <a:avLst/>
          </a:prstGeom>
          <a:noFill/>
        </p:spPr>
        <p:txBody>
          <a:bodyPr wrap="square" lIns="0" tIns="0" rIns="0" bIns="0" anchor="t">
            <a:noAutofit/>
          </a:bodyPr>
          <a:lstStyle/>
          <a:p>
            <a:pPr algn="l">
              <a:lnSpc>
                <a:spcPct val="112000"/>
              </a:lnSpc>
              <a:spcBef>
                <a:spcPts val="0"/>
              </a:spcBef>
              <a:spcAft>
                <a:spcPts val="0"/>
              </a:spcAft>
            </a:pPr>
            <a:r>
              <a:rPr sz="1300" b="1" i="0">
                <a:solidFill>
                  <a:srgbClr val="1B2A4A"/>
                </a:solidFill>
                <a:latin typeface="DM Sans"/>
              </a:rPr>
              <a:t>Des alertes tardives. </a:t>
            </a:r>
            <a:r>
              <a:rPr sz="1300" b="0" i="0">
                <a:solidFill>
                  <a:srgbClr val="2B3350"/>
                </a:solidFill>
                <a:latin typeface="DM Sans"/>
              </a:rPr>
              <a:t>28 % traitées, 18,3 h de prise en charge (livrable 2).</a:t>
            </a:r>
          </a:p>
        </p:txBody>
      </p:sp>
      <p:sp>
        <p:nvSpPr>
          <p:cNvPr id="144" name="TextBox 143"/>
          <p:cNvSpPr txBox="1"/>
          <p:nvPr/>
        </p:nvSpPr>
        <p:spPr>
          <a:xfrm>
            <a:off x="8202168" y="3291840"/>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Nuits supervisées sans action manuelle</a:t>
            </a:r>
          </a:p>
        </p:txBody>
      </p:sp>
      <p:sp>
        <p:nvSpPr>
          <p:cNvPr id="145" name="TextBox 144"/>
          <p:cNvSpPr txBox="1"/>
          <p:nvPr/>
        </p:nvSpPr>
        <p:spPr>
          <a:xfrm>
            <a:off x="8202168" y="3529584"/>
            <a:ext cx="1234440" cy="310896"/>
          </a:xfrm>
          <a:prstGeom prst="rect">
            <a:avLst/>
          </a:prstGeom>
          <a:noFill/>
        </p:spPr>
        <p:txBody>
          <a:bodyPr wrap="square" lIns="0" tIns="0" rIns="0" bIns="0" anchor="ctr">
            <a:noAutofit/>
          </a:bodyPr>
          <a:lstStyle/>
          <a:p>
            <a:pPr algn="l">
              <a:lnSpc>
                <a:spcPct val="115000"/>
              </a:lnSpc>
              <a:spcBef>
                <a:spcPts val="0"/>
              </a:spcBef>
              <a:spcAft>
                <a:spcPts val="0"/>
              </a:spcAft>
            </a:pPr>
            <a:r>
              <a:rPr sz="1400" b="0" i="0">
                <a:solidFill>
                  <a:srgbClr val="6B7390"/>
                </a:solidFill>
                <a:latin typeface="Sora"/>
              </a:rPr>
              <a:t>0 %</a:t>
            </a:r>
          </a:p>
        </p:txBody>
      </p:sp>
      <p:cxnSp>
        <p:nvCxnSpPr>
          <p:cNvPr id="146" name="Connector 145"/>
          <p:cNvCxnSpPr/>
          <p:nvPr/>
        </p:nvCxnSpPr>
        <p:spPr>
          <a:xfrm>
            <a:off x="9482328" y="3685032"/>
            <a:ext cx="347472" cy="0"/>
          </a:xfrm>
          <a:prstGeom prst="line">
            <a:avLst/>
          </a:prstGeom>
          <a:ln w="22225">
            <a:solidFill>
              <a:srgbClr val="7ACFC0"/>
            </a:solidFill>
            <a:tailEnd type="triangle" w="med" len="med"/>
          </a:ln>
        </p:spPr>
      </p:cxnSp>
      <p:sp>
        <p:nvSpPr>
          <p:cNvPr id="147" name="TextBox 146"/>
          <p:cNvSpPr txBox="1"/>
          <p:nvPr/>
        </p:nvSpPr>
        <p:spPr>
          <a:xfrm>
            <a:off x="9939528" y="3511296"/>
            <a:ext cx="1325880" cy="347472"/>
          </a:xfrm>
          <a:prstGeom prst="rect">
            <a:avLst/>
          </a:prstGeom>
          <a:noFill/>
        </p:spPr>
        <p:txBody>
          <a:bodyPr wrap="square" lIns="0" tIns="0" rIns="0" bIns="0" anchor="ctr">
            <a:noAutofit/>
          </a:bodyPr>
          <a:lstStyle/>
          <a:p>
            <a:pPr algn="l">
              <a:lnSpc>
                <a:spcPct val="115000"/>
              </a:lnSpc>
              <a:spcBef>
                <a:spcPts val="0"/>
              </a:spcBef>
              <a:spcAft>
                <a:spcPts val="0"/>
              </a:spcAft>
            </a:pPr>
            <a:r>
              <a:rPr sz="1800" b="1" i="0">
                <a:solidFill>
                  <a:srgbClr val="6B3FA0"/>
                </a:solidFill>
                <a:latin typeface="Sora"/>
              </a:rPr>
              <a:t>100 %</a:t>
            </a:r>
          </a:p>
        </p:txBody>
      </p:sp>
      <p:sp>
        <p:nvSpPr>
          <p:cNvPr id="148" name="TextBox 147"/>
          <p:cNvSpPr txBox="1"/>
          <p:nvPr/>
        </p:nvSpPr>
        <p:spPr>
          <a:xfrm>
            <a:off x="8202168" y="3913632"/>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Détection d’une nuit en échec</a:t>
            </a:r>
          </a:p>
        </p:txBody>
      </p:sp>
      <p:sp>
        <p:nvSpPr>
          <p:cNvPr id="149" name="TextBox 148"/>
          <p:cNvSpPr txBox="1"/>
          <p:nvPr/>
        </p:nvSpPr>
        <p:spPr>
          <a:xfrm>
            <a:off x="8202168" y="4151376"/>
            <a:ext cx="1234440" cy="310896"/>
          </a:xfrm>
          <a:prstGeom prst="rect">
            <a:avLst/>
          </a:prstGeom>
          <a:noFill/>
        </p:spPr>
        <p:txBody>
          <a:bodyPr wrap="square" lIns="0" tIns="0" rIns="0" bIns="0" anchor="ctr">
            <a:noAutofit/>
          </a:bodyPr>
          <a:lstStyle/>
          <a:p>
            <a:pPr algn="l">
              <a:lnSpc>
                <a:spcPct val="115000"/>
              </a:lnSpc>
              <a:spcBef>
                <a:spcPts val="0"/>
              </a:spcBef>
              <a:spcAft>
                <a:spcPts val="0"/>
              </a:spcAft>
            </a:pPr>
            <a:r>
              <a:rPr sz="1400" b="0" i="0">
                <a:solidFill>
                  <a:srgbClr val="6B7390"/>
                </a:solidFill>
                <a:latin typeface="Sora"/>
              </a:rPr>
              <a:t>non mesurée</a:t>
            </a:r>
          </a:p>
        </p:txBody>
      </p:sp>
      <p:cxnSp>
        <p:nvCxnSpPr>
          <p:cNvPr id="150" name="Connector 149"/>
          <p:cNvCxnSpPr/>
          <p:nvPr/>
        </p:nvCxnSpPr>
        <p:spPr>
          <a:xfrm>
            <a:off x="9482328" y="4306824"/>
            <a:ext cx="347472" cy="0"/>
          </a:xfrm>
          <a:prstGeom prst="line">
            <a:avLst/>
          </a:prstGeom>
          <a:ln w="22225">
            <a:solidFill>
              <a:srgbClr val="7ACFC0"/>
            </a:solidFill>
            <a:tailEnd type="triangle" w="med" len="med"/>
          </a:ln>
        </p:spPr>
      </p:cxnSp>
      <p:sp>
        <p:nvSpPr>
          <p:cNvPr id="151" name="TextBox 150"/>
          <p:cNvSpPr txBox="1"/>
          <p:nvPr/>
        </p:nvSpPr>
        <p:spPr>
          <a:xfrm>
            <a:off x="9939528" y="4133088"/>
            <a:ext cx="1325880" cy="347472"/>
          </a:xfrm>
          <a:prstGeom prst="rect">
            <a:avLst/>
          </a:prstGeom>
          <a:noFill/>
        </p:spPr>
        <p:txBody>
          <a:bodyPr wrap="square" lIns="0" tIns="0" rIns="0" bIns="0" anchor="ctr">
            <a:noAutofit/>
          </a:bodyPr>
          <a:lstStyle/>
          <a:p>
            <a:pPr algn="l">
              <a:lnSpc>
                <a:spcPct val="115000"/>
              </a:lnSpc>
              <a:spcBef>
                <a:spcPts val="0"/>
              </a:spcBef>
              <a:spcAft>
                <a:spcPts val="0"/>
              </a:spcAft>
            </a:pPr>
            <a:r>
              <a:rPr sz="1800" b="1" i="0">
                <a:solidFill>
                  <a:srgbClr val="6B3FA0"/>
                </a:solidFill>
                <a:latin typeface="Sora"/>
              </a:rPr>
              <a:t>≤ 6 h</a:t>
            </a:r>
          </a:p>
        </p:txBody>
      </p:sp>
      <p:sp>
        <p:nvSpPr>
          <p:cNvPr id="152" name="TextBox 151"/>
          <p:cNvSpPr txBox="1"/>
          <p:nvPr/>
        </p:nvSpPr>
        <p:spPr>
          <a:xfrm>
            <a:off x="8202168" y="4535424"/>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Alertes traitées</a:t>
            </a:r>
          </a:p>
        </p:txBody>
      </p:sp>
      <p:sp>
        <p:nvSpPr>
          <p:cNvPr id="153" name="TextBox 152"/>
          <p:cNvSpPr txBox="1"/>
          <p:nvPr/>
        </p:nvSpPr>
        <p:spPr>
          <a:xfrm>
            <a:off x="8202168" y="4773168"/>
            <a:ext cx="1234440" cy="310896"/>
          </a:xfrm>
          <a:prstGeom prst="rect">
            <a:avLst/>
          </a:prstGeom>
          <a:noFill/>
        </p:spPr>
        <p:txBody>
          <a:bodyPr wrap="square" lIns="0" tIns="0" rIns="0" bIns="0" anchor="ctr">
            <a:noAutofit/>
          </a:bodyPr>
          <a:lstStyle/>
          <a:p>
            <a:pPr algn="l">
              <a:lnSpc>
                <a:spcPct val="115000"/>
              </a:lnSpc>
              <a:spcBef>
                <a:spcPts val="0"/>
              </a:spcBef>
              <a:spcAft>
                <a:spcPts val="0"/>
              </a:spcAft>
            </a:pPr>
            <a:r>
              <a:rPr sz="1400" b="0" i="0">
                <a:solidFill>
                  <a:srgbClr val="6B7390"/>
                </a:solidFill>
                <a:latin typeface="Sora"/>
              </a:rPr>
              <a:t>28 %</a:t>
            </a:r>
          </a:p>
        </p:txBody>
      </p:sp>
      <p:cxnSp>
        <p:nvCxnSpPr>
          <p:cNvPr id="154" name="Connector 153"/>
          <p:cNvCxnSpPr/>
          <p:nvPr/>
        </p:nvCxnSpPr>
        <p:spPr>
          <a:xfrm>
            <a:off x="9482328" y="4928616"/>
            <a:ext cx="347472" cy="0"/>
          </a:xfrm>
          <a:prstGeom prst="line">
            <a:avLst/>
          </a:prstGeom>
          <a:ln w="22225">
            <a:solidFill>
              <a:srgbClr val="7ACFC0"/>
            </a:solidFill>
            <a:tailEnd type="triangle" w="med" len="med"/>
          </a:ln>
        </p:spPr>
      </p:cxnSp>
      <p:sp>
        <p:nvSpPr>
          <p:cNvPr id="155" name="TextBox 154"/>
          <p:cNvSpPr txBox="1"/>
          <p:nvPr/>
        </p:nvSpPr>
        <p:spPr>
          <a:xfrm>
            <a:off x="9939528" y="4754880"/>
            <a:ext cx="1325880" cy="347472"/>
          </a:xfrm>
          <a:prstGeom prst="rect">
            <a:avLst/>
          </a:prstGeom>
          <a:noFill/>
        </p:spPr>
        <p:txBody>
          <a:bodyPr wrap="square" lIns="0" tIns="0" rIns="0" bIns="0" anchor="ctr">
            <a:noAutofit/>
          </a:bodyPr>
          <a:lstStyle/>
          <a:p>
            <a:pPr algn="l">
              <a:lnSpc>
                <a:spcPct val="115000"/>
              </a:lnSpc>
              <a:spcBef>
                <a:spcPts val="0"/>
              </a:spcBef>
              <a:spcAft>
                <a:spcPts val="0"/>
              </a:spcAft>
            </a:pPr>
            <a:r>
              <a:rPr sz="1800" b="1" i="0">
                <a:solidFill>
                  <a:srgbClr val="6B3FA0"/>
                </a:solidFill>
                <a:latin typeface="Sora"/>
              </a:rPr>
              <a:t>≥ 80 %</a:t>
            </a:r>
          </a:p>
        </p:txBody>
      </p:sp>
      <p:sp>
        <p:nvSpPr>
          <p:cNvPr id="156" name="TextBox 155"/>
          <p:cNvSpPr txBox="1"/>
          <p:nvPr/>
        </p:nvSpPr>
        <p:spPr>
          <a:xfrm>
            <a:off x="8202168" y="5157216"/>
            <a:ext cx="3063240" cy="219456"/>
          </a:xfrm>
          <a:prstGeom prst="rect">
            <a:avLst/>
          </a:prstGeom>
          <a:noFill/>
        </p:spPr>
        <p:txBody>
          <a:bodyPr wrap="square" lIns="0" tIns="0" rIns="0" bIns="0" anchor="t">
            <a:noAutofit/>
          </a:bodyPr>
          <a:lstStyle/>
          <a:p>
            <a:pPr algn="l">
              <a:lnSpc>
                <a:spcPct val="115000"/>
              </a:lnSpc>
              <a:spcBef>
                <a:spcPts val="0"/>
              </a:spcBef>
              <a:spcAft>
                <a:spcPts val="0"/>
              </a:spcAft>
            </a:pPr>
            <a:r>
              <a:rPr sz="1200" b="0" i="0">
                <a:solidFill>
                  <a:srgbClr val="6B7390"/>
                </a:solidFill>
                <a:latin typeface="DM Sans"/>
              </a:rPr>
              <a:t>Délai de prise en charge d’une alerte</a:t>
            </a:r>
          </a:p>
        </p:txBody>
      </p:sp>
      <p:sp>
        <p:nvSpPr>
          <p:cNvPr id="157" name="TextBox 156"/>
          <p:cNvSpPr txBox="1"/>
          <p:nvPr/>
        </p:nvSpPr>
        <p:spPr>
          <a:xfrm>
            <a:off x="8202168" y="5394960"/>
            <a:ext cx="1234440" cy="310896"/>
          </a:xfrm>
          <a:prstGeom prst="rect">
            <a:avLst/>
          </a:prstGeom>
          <a:noFill/>
        </p:spPr>
        <p:txBody>
          <a:bodyPr wrap="square" lIns="0" tIns="0" rIns="0" bIns="0" anchor="ctr">
            <a:noAutofit/>
          </a:bodyPr>
          <a:lstStyle/>
          <a:p>
            <a:pPr algn="l">
              <a:lnSpc>
                <a:spcPct val="115000"/>
              </a:lnSpc>
              <a:spcBef>
                <a:spcPts val="0"/>
              </a:spcBef>
              <a:spcAft>
                <a:spcPts val="0"/>
              </a:spcAft>
            </a:pPr>
            <a:r>
              <a:rPr sz="1400" b="0" i="0">
                <a:solidFill>
                  <a:srgbClr val="6B7390"/>
                </a:solidFill>
                <a:latin typeface="Sora"/>
              </a:rPr>
              <a:t>18,3 h</a:t>
            </a:r>
          </a:p>
        </p:txBody>
      </p:sp>
      <p:cxnSp>
        <p:nvCxnSpPr>
          <p:cNvPr id="158" name="Connector 157"/>
          <p:cNvCxnSpPr/>
          <p:nvPr/>
        </p:nvCxnSpPr>
        <p:spPr>
          <a:xfrm>
            <a:off x="9482328" y="5550408"/>
            <a:ext cx="347472" cy="0"/>
          </a:xfrm>
          <a:prstGeom prst="line">
            <a:avLst/>
          </a:prstGeom>
          <a:ln w="22225">
            <a:solidFill>
              <a:srgbClr val="7ACFC0"/>
            </a:solidFill>
            <a:tailEnd type="triangle" w="med" len="med"/>
          </a:ln>
        </p:spPr>
      </p:cxnSp>
      <p:sp>
        <p:nvSpPr>
          <p:cNvPr id="159" name="TextBox 158"/>
          <p:cNvSpPr txBox="1"/>
          <p:nvPr/>
        </p:nvSpPr>
        <p:spPr>
          <a:xfrm>
            <a:off x="9939528" y="5376672"/>
            <a:ext cx="1325880" cy="347472"/>
          </a:xfrm>
          <a:prstGeom prst="rect">
            <a:avLst/>
          </a:prstGeom>
          <a:noFill/>
        </p:spPr>
        <p:txBody>
          <a:bodyPr wrap="square" lIns="0" tIns="0" rIns="0" bIns="0" anchor="ctr">
            <a:noAutofit/>
          </a:bodyPr>
          <a:lstStyle/>
          <a:p>
            <a:pPr algn="l">
              <a:lnSpc>
                <a:spcPct val="115000"/>
              </a:lnSpc>
              <a:spcBef>
                <a:spcPts val="0"/>
              </a:spcBef>
              <a:spcAft>
                <a:spcPts val="0"/>
              </a:spcAft>
            </a:pPr>
            <a:r>
              <a:rPr sz="1800" b="1" i="0">
                <a:solidFill>
                  <a:srgbClr val="6B3FA0"/>
                </a:solidFill>
                <a:latin typeface="Sora"/>
              </a:rPr>
              <a:t>≤ 8 h</a:t>
            </a:r>
          </a:p>
        </p:txBody>
      </p:sp>
      <p:sp>
        <p:nvSpPr>
          <p:cNvPr id="160" name="Rounded Rectangle 159"/>
          <p:cNvSpPr/>
          <p:nvPr/>
        </p:nvSpPr>
        <p:spPr>
          <a:xfrm>
            <a:off x="8202168" y="5797296"/>
            <a:ext cx="3063240" cy="310896"/>
          </a:xfrm>
          <a:prstGeom prst="roundRect">
            <a:avLst>
              <a:gd name="adj" fmla="val 50000"/>
            </a:avLst>
          </a:prstGeom>
          <a:solidFill>
            <a:srgbClr val="CDEEE8"/>
          </a:solidFill>
          <a:ln>
            <a:noFill/>
          </a:ln>
        </p:spPr>
        <p:txBody>
          <a:bodyPr rtlCol="0" anchor="ctr" wrap="square" lIns="36576" tIns="0" rIns="36576" bIns="0">
            <a:noAutofit/>
          </a:bodyPr>
          <a:lstStyle/>
          <a:p>
            <a:pPr algn="ctr">
              <a:lnSpc>
                <a:spcPct val="100000"/>
              </a:lnSpc>
              <a:spcBef>
                <a:spcPts val="0"/>
              </a:spcBef>
              <a:spcAft>
                <a:spcPts val="0"/>
              </a:spcAft>
            </a:pPr>
            <a:r>
              <a:rPr sz="1150" b="1" i="0">
                <a:solidFill>
                  <a:srgbClr val="1B2A4A"/>
                </a:solidFill>
                <a:latin typeface="DM Sans"/>
              </a:rPr>
              <a:t>Temps manuel évité : 2,7 h par nuit</a:t>
            </a:r>
          </a:p>
        </p:txBody>
      </p:sp>
      <p:sp>
        <p:nvSpPr>
          <p:cNvPr id="161" name="TextBox 160"/>
          <p:cNvSpPr txBox="1"/>
          <p:nvPr/>
        </p:nvSpPr>
        <p:spPr>
          <a:xfrm>
            <a:off x="694944" y="6291072"/>
            <a:ext cx="9875520" cy="274320"/>
          </a:xfrm>
          <a:prstGeom prst="rect">
            <a:avLst/>
          </a:prstGeom>
          <a:noFill/>
        </p:spPr>
        <p:txBody>
          <a:bodyPr wrap="square" lIns="0" tIns="0" rIns="0" bIns="0" anchor="t">
            <a:noAutofit/>
          </a:bodyPr>
          <a:lstStyle/>
          <a:p>
            <a:pPr algn="l">
              <a:lnSpc>
                <a:spcPct val="115000"/>
              </a:lnSpc>
              <a:spcBef>
                <a:spcPts val="0"/>
              </a:spcBef>
              <a:spcAft>
                <a:spcPts val="0"/>
              </a:spcAft>
            </a:pPr>
            <a:r>
              <a:rPr sz="1150" b="0" i="0">
                <a:solidFill>
                  <a:srgbClr val="6B7390"/>
                </a:solidFill>
                <a:latin typeface="DM Sans"/>
              </a:rPr>
              <a:t>Valeurs de départ : onglet Bottom line (livrable 2) et nuit du 7 octobre (8 étapes × 20 min). Cibles proposées par l’équipe, à valider.</a:t>
            </a:r>
          </a:p>
        </p:txBody>
      </p:sp>
    </p:spTree>
  </p:cSld>
  <p:clrMapOvr>
    <a:masterClrMapping/>
  </p:clrMapOvr>
</p:sld>
</file>

<file path=ppt/theme/theme1.xml><?xml version="1.0" encoding="utf-8"?>
<a:theme xmlns:a="http://schemas.openxmlformats.org/drawingml/2006/main" xmlns:r="http://schemas.openxmlformats.org/officeDocument/2006/relationships" name="Workly Automation">
  <a:themeElements>
    <a:clrScheme name="Workly Automation">
      <a:dk1>
        <a:srgbClr val="14213D"/>
      </a:dk1>
      <a:lt1>
        <a:srgbClr val="FFFFFF"/>
      </a:lt1>
      <a:dk2>
        <a:srgbClr val="0E2A47"/>
      </a:dk2>
      <a:lt2>
        <a:srgbClr val="EEF2F7"/>
      </a:lt2>
      <a:accent1>
        <a:srgbClr val="2B5FD9"/>
      </a:accent1>
      <a:accent2>
        <a:srgbClr val="D9531E"/>
      </a:accent2>
      <a:accent3>
        <a:srgbClr val="1F8F7F"/>
      </a:accent3>
      <a:accent4>
        <a:srgbClr val="5B6875"/>
      </a:accent4>
      <a:accent5>
        <a:srgbClr val="B3261E"/>
      </a:accent5>
      <a:accent6>
        <a:srgbClr val="E3A81B"/>
      </a:accent6>
      <a:hlink>
        <a:srgbClr val="2B5FD9"/>
      </a:hlink>
      <a:folHlink>
        <a:srgbClr val="5B687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ORKLY : Modèles de prévision, validité et automatisation (2.3.3)">
  <a:themeElements>
    <a:clrScheme name="WORKLY : Modèles de prévision, validité et automatisation (2.3.3)">
      <a:dk1>
        <a:srgbClr val="1B2A4A"/>
      </a:dk1>
      <a:lt1>
        <a:srgbClr val="F4F6FB"/>
      </a:lt1>
      <a:dk2>
        <a:srgbClr val="515D76"/>
      </a:dk2>
      <a:lt2>
        <a:srgbClr val="DEE2E9"/>
      </a:lt2>
      <a:accent1>
        <a:srgbClr val="7ACFC0"/>
      </a:accent1>
      <a:accent2>
        <a:srgbClr val="6B3FA0"/>
      </a:accent2>
      <a:accent3>
        <a:srgbClr val="4A9BE0"/>
      </a:accent3>
      <a:accent4>
        <a:srgbClr val="B39DDB"/>
      </a:accent4>
      <a:accent5>
        <a:srgbClr val="A9B4D0"/>
      </a:accent5>
      <a:accent6>
        <a:srgbClr val="6B7390"/>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2026-10-02T20:17:43Z</dcterms:created>
</cp:coreProperties>
</file>