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3" r:id="rId6"/>
  </p:sldMasterIdLst>
  <p:notesMasterIdLst>
    <p:notesMasterId r:id="rId7"/>
  </p:notesMasterIdLst>
  <p:sldIdLst>
    <p:sldId id="298" r:id="rId57"/>
    <p:sldId id="299" r:id="rId58"/>
    <p:sldId id="300" r:id="rId59"/>
    <p:sldId id="301" r:id="rId60"/>
  </p:sldIdLst>
  <p:sldSz cy="6858000" cx="12192000"/>
  <p:notesSz cx="6858000" cy="12192000"/>
  <p:embeddedFontLst>
    <p:embeddedFont>
      <p:font typeface="Sora"/>
      <p:regular r:id="rId37"/>
      <p:bold r:id="rId38"/>
    </p:embeddedFont>
    <p:embeddedFont>
      <p:font typeface="DM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w+XJJYjX9oEtzHzcteUKfSoJj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09B6FF-CDFB-4AB1-8E42-484B63002EFC}">
  <a:tblStyle styleId="{2709B6FF-CDFB-4AB1-8E42-484B63002E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37" Type="http://schemas.openxmlformats.org/officeDocument/2006/relationships/font" Target="fonts/Sora-regular.fntdata"/><Relationship Id="rId38" Type="http://schemas.openxmlformats.org/officeDocument/2006/relationships/font" Target="fonts/Sora-bold.fntdata"/><Relationship Id="rId39" Type="http://schemas.openxmlformats.org/officeDocument/2006/relationships/font" Target="fonts/DMSans-regular.fntdata"/><Relationship Id="rId40" Type="http://schemas.openxmlformats.org/officeDocument/2006/relationships/font" Target="fonts/DMSans-bold.fntdata"/><Relationship Id="rId41" Type="http://schemas.openxmlformats.org/officeDocument/2006/relationships/font" Target="fonts/DMSans-italic.fntdata"/><Relationship Id="rId42" Type="http://schemas.openxmlformats.org/officeDocument/2006/relationships/font" Target="fonts/DMSans-boldItalic.fntdata"/><Relationship Id="rId43" Type="http://customschemas.google.com/relationships/presentationmetadata" Target="metadata"/><Relationship Id="rId57" Type="http://schemas.openxmlformats.org/officeDocument/2006/relationships/slide" Target="slides/slide43.xml"/><Relationship Id="rId58" Type="http://schemas.openxmlformats.org/officeDocument/2006/relationships/slide" Target="slides/slide44.xml"/><Relationship Id="rId59" Type="http://schemas.openxmlformats.org/officeDocument/2006/relationships/slide" Target="slides/slide45.xml"/><Relationship Id="rId60"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Point d’avancement de la partie 5. Le planificateur de Workly exécute seul les huit étapes de nuit, la route de bilan résume l’état de la nuit, deux agents analysent et rédigent, et un message Slack arrive chaque matin. Cette semaine s’y ajoutent un outil RAG, qui donne aux agents une base de connaissances d’exploitation, la connexion à Odoo et un mode de simulation de panne pour tester sans attendre la nuit. Il reste à activer le déclenchement quotidien, à ajouter l’alerte quand Workly ne répond pas et à importer les commandes d’Odoo.</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RAG suit trois étapes. Recherche : à partir des pannes du bilan, Workly construit une question et retrouve les passages les plus proches dans la base de connaissances, classés avec l’algorithme BM25. Augmentation : ces passages sont ajoutés au bilan, puis donnés à l’agent avec le prompt. Génération : l’agent Analyste écrit son analyse en s’appuyant sur ces passages et cite la section utilisée, puis le Rédacteur rédige le message. La base compte 27 sections tirées du code de Workly : statuts du bilan, douze tâches, erreurs courantes, flux, ngrok, Odoo.</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flux Agentic AI reste le même, avec une seule différence : l’API Request appelle la route de bilan avec le paramètre connaissances. Workly renvoie alors le bilan et, quand il y a une panne, les passages de la base de connaissances les plus proches. Le Prompt Template les donne à l’Analyste, qui répond en JSON avec la cause probable, l’action et la source. Le Rédacteur transforme cette analyse en message, envoyé sur Slack. Quand la nuit est réussie, aucun passage n’est ajouté.</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Premier constat : pour la même situation, une nuit incomplète, le message sans RAG restait générique, vérifier le planificateur ou les services, alors que le message avec RAG donne la cause probable, un PC éteint ou en veille à 00:30 UTC, et la procédure exacte de reprise. Deuxième constat : le flux produit trois messages différents selon l’état de la nuit. Pour une panne simulée de la sauvegarde, il indique que pg_dump est introuvable et comment le renseigner ; pour une nuit non exécutée, il propose de relancer le planificateur ; quand tout va bien, il le dit en deux lignes.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4F6FB"/>
        </a:solidFill>
      </p:bgPr>
    </p:bg>
    <p:spTree>
      <p:nvGrpSpPr>
        <p:cNvPr id="10" name="Shape 10"/>
        <p:cNvGrpSpPr/>
        <p:nvPr/>
      </p:nvGrpSpPr>
      <p:grpSpPr>
        <a:xfrm>
          <a:off x="0" y="0"/>
          <a:ext cx="0" cy="0"/>
          <a:chOff x="0" y="0"/>
          <a:chExt cx="0" cy="0"/>
        </a:xfrm>
      </p:grpSpPr>
      <p:sp>
        <p:nvSpPr>
          <p:cNvPr id="11" name="Google Shape;11;p33"/>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B2A4A"/>
              </a:buClr>
              <a:buSzPts val="2100"/>
              <a:buFont typeface="Sora"/>
              <a:buNone/>
              <a:defRPr sz="2100">
                <a:solidFill>
                  <a:srgbClr val="1B2A4A"/>
                </a:solidFill>
                <a:latin typeface="Sora"/>
                <a:ea typeface="Sora"/>
                <a:cs typeface="Sora"/>
                <a:sym typeface="So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33"/>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B2A4A"/>
              </a:buClr>
              <a:buSzPts val="1600"/>
              <a:buNone/>
              <a:defRPr sz="1600">
                <a:solidFill>
                  <a:srgbClr val="1B2A4A"/>
                </a:solidFill>
                <a:latin typeface="DM Sans"/>
                <a:ea typeface="DM Sans"/>
                <a:cs typeface="DM Sans"/>
                <a:sym typeface="DM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cSld name="CONTENU">
    <p:bg>
      <p:bgPr>
        <a:solidFill>
          <a:srgbClr val="FFFFFF"/>
        </a:solidFill>
      </p:bgPr>
    </p:bg>
    <p:spTree>
      <p:nvGrpSpPr>
        <p:cNvPr id="16" name="Shape 16"/>
        <p:cNvGrpSpPr/>
        <p:nvPr/>
      </p:nvGrpSpPr>
      <p:grpSpPr>
        <a:xfrm>
          <a:off x="0" y="0"/>
          <a:ext cx="0" cy="0"/>
          <a:chOff x="0" y="0"/>
          <a:chExt cx="0" cy="0"/>
        </a:xfrm>
      </p:grpSpPr>
      <p:sp>
        <p:nvSpPr>
          <p:cNvPr id="17" name="Google Shape;17;p35"/>
          <p:cNvSpPr txBox="1"/>
          <p:nvPr>
            <p:ph type="title"/>
          </p:nvPr>
        </p:nvSpPr>
        <p:spPr>
          <a:xfrm>
            <a:off x="548640" y="365760"/>
            <a:ext cx="11094415" cy="1051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400"/>
              <a:buFont typeface="Cambria"/>
              <a:buNone/>
              <a:defRPr b="1" i="0" sz="34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35"/>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sz="1100">
                <a:solidFill>
                  <a:schemeClr val="accent4"/>
                </a:solidFill>
                <a:latin typeface="Calibri"/>
                <a:ea typeface="Calibri"/>
                <a:cs typeface="Calibri"/>
                <a:sym typeface="Calibri"/>
              </a:defRPr>
            </a:lvl1pPr>
            <a:lvl2pPr indent="0" lvl="1" marL="0" marR="0" algn="l">
              <a:spcBef>
                <a:spcPts val="0"/>
              </a:spcBef>
              <a:buNone/>
              <a:defRPr b="0" sz="1100">
                <a:solidFill>
                  <a:schemeClr val="accent4"/>
                </a:solidFill>
                <a:latin typeface="Calibri"/>
                <a:ea typeface="Calibri"/>
                <a:cs typeface="Calibri"/>
                <a:sym typeface="Calibri"/>
              </a:defRPr>
            </a:lvl2pPr>
            <a:lvl3pPr indent="0" lvl="2" marL="0" marR="0" algn="l">
              <a:spcBef>
                <a:spcPts val="0"/>
              </a:spcBef>
              <a:buNone/>
              <a:defRPr b="0" sz="1100">
                <a:solidFill>
                  <a:schemeClr val="accent4"/>
                </a:solidFill>
                <a:latin typeface="Calibri"/>
                <a:ea typeface="Calibri"/>
                <a:cs typeface="Calibri"/>
                <a:sym typeface="Calibri"/>
              </a:defRPr>
            </a:lvl3pPr>
            <a:lvl4pPr indent="0" lvl="3" marL="0" marR="0" algn="l">
              <a:spcBef>
                <a:spcPts val="0"/>
              </a:spcBef>
              <a:buNone/>
              <a:defRPr b="0" sz="1100">
                <a:solidFill>
                  <a:schemeClr val="accent4"/>
                </a:solidFill>
                <a:latin typeface="Calibri"/>
                <a:ea typeface="Calibri"/>
                <a:cs typeface="Calibri"/>
                <a:sym typeface="Calibri"/>
              </a:defRPr>
            </a:lvl4pPr>
            <a:lvl5pPr indent="0" lvl="4" marL="0" marR="0" algn="l">
              <a:spcBef>
                <a:spcPts val="0"/>
              </a:spcBef>
              <a:buNone/>
              <a:defRPr b="0" sz="1100">
                <a:solidFill>
                  <a:schemeClr val="accent4"/>
                </a:solidFill>
                <a:latin typeface="Calibri"/>
                <a:ea typeface="Calibri"/>
                <a:cs typeface="Calibri"/>
                <a:sym typeface="Calibri"/>
              </a:defRPr>
            </a:lvl5pPr>
            <a:lvl6pPr indent="0" lvl="5" marL="0" marR="0" algn="l">
              <a:spcBef>
                <a:spcPts val="0"/>
              </a:spcBef>
              <a:buNone/>
              <a:defRPr b="0" sz="1100">
                <a:solidFill>
                  <a:schemeClr val="accent4"/>
                </a:solidFill>
                <a:latin typeface="Calibri"/>
                <a:ea typeface="Calibri"/>
                <a:cs typeface="Calibri"/>
                <a:sym typeface="Calibri"/>
              </a:defRPr>
            </a:lvl6pPr>
            <a:lvl7pPr indent="0" lvl="6" marL="0" marR="0" algn="l">
              <a:spcBef>
                <a:spcPts val="0"/>
              </a:spcBef>
              <a:buNone/>
              <a:defRPr b="0" sz="1100">
                <a:solidFill>
                  <a:schemeClr val="accent4"/>
                </a:solidFill>
                <a:latin typeface="Calibri"/>
                <a:ea typeface="Calibri"/>
                <a:cs typeface="Calibri"/>
                <a:sym typeface="Calibri"/>
              </a:defRPr>
            </a:lvl7pPr>
            <a:lvl8pPr indent="0" lvl="7" marL="0" marR="0" algn="l">
              <a:spcBef>
                <a:spcPts val="0"/>
              </a:spcBef>
              <a:buNone/>
              <a:defRPr b="0" sz="1100">
                <a:solidFill>
                  <a:schemeClr val="accent4"/>
                </a:solidFill>
                <a:latin typeface="Calibri"/>
                <a:ea typeface="Calibri"/>
                <a:cs typeface="Calibri"/>
                <a:sym typeface="Calibri"/>
              </a:defRPr>
            </a:lvl8pPr>
            <a:lvl9pPr indent="0" lvl="8" marL="0" marR="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p:cSld name="TITRE">
    <p:bg>
      <p:bgPr>
        <a:solidFill>
          <a:srgbClr val="0E2A47"/>
        </a:solidFill>
      </p:bgPr>
    </p:bg>
    <p:spTree>
      <p:nvGrpSpPr>
        <p:cNvPr id="20" name="Shape 20"/>
        <p:cNvGrpSpPr/>
        <p:nvPr/>
      </p:nvGrpSpPr>
      <p:grpSpPr>
        <a:xfrm>
          <a:off x="0" y="0"/>
          <a:ext cx="0" cy="0"/>
          <a:chOff x="0" y="0"/>
          <a:chExt cx="0" cy="0"/>
        </a:xfrm>
      </p:grpSpPr>
      <p:sp>
        <p:nvSpPr>
          <p:cNvPr id="21" name="Google Shape;21;p38"/>
          <p:cNvSpPr txBox="1"/>
          <p:nvPr>
            <p:ph type="title"/>
          </p:nvPr>
        </p:nvSpPr>
        <p:spPr>
          <a:xfrm>
            <a:off x="548640" y="2011680"/>
            <a:ext cx="6583680" cy="1737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800"/>
              <a:buFont typeface="Cambria"/>
              <a:buNone/>
              <a:defRPr b="1" i="0" sz="4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38"/>
          <p:cNvSpPr txBox="1"/>
          <p:nvPr>
            <p:ph idx="1" type="body"/>
          </p:nvPr>
        </p:nvSpPr>
        <p:spPr>
          <a:xfrm>
            <a:off x="548640" y="3931920"/>
            <a:ext cx="6400800" cy="10058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lt2"/>
              </a:buClr>
              <a:buSzPts val="2000"/>
              <a:buFont typeface="Arial"/>
              <a:buNone/>
              <a:defRPr b="0" i="0" sz="20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rgbClr val="0E2A47"/>
        </a:solidFill>
      </p:bgPr>
    </p:bg>
    <p:spTree>
      <p:nvGrpSpPr>
        <p:cNvPr id="23" name="Shape 23"/>
        <p:cNvGrpSpPr/>
        <p:nvPr/>
      </p:nvGrpSpPr>
      <p:grpSpPr>
        <a:xfrm>
          <a:off x="0" y="0"/>
          <a:ext cx="0" cy="0"/>
          <a:chOff x="0" y="0"/>
          <a:chExt cx="0" cy="0"/>
        </a:xfrm>
      </p:grpSpPr>
      <p:sp>
        <p:nvSpPr>
          <p:cNvPr id="24" name="Google Shape;24;p39"/>
          <p:cNvSpPr txBox="1"/>
          <p:nvPr>
            <p:ph type="title"/>
          </p:nvPr>
        </p:nvSpPr>
        <p:spPr>
          <a:xfrm>
            <a:off x="548640" y="457200"/>
            <a:ext cx="11094415"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800"/>
              <a:buFont typeface="Cambria"/>
              <a:buNone/>
              <a:defRPr b="1" i="0" sz="3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 name="Shape 7"/>
        <p:cNvGrpSpPr/>
        <p:nvPr/>
      </p:nvGrpSpPr>
      <p:grpSpPr>
        <a:xfrm>
          <a:off x="0" y="0"/>
          <a:ext cx="0" cy="0"/>
          <a:chOff x="0" y="0"/>
          <a:chExt cx="0" cy="0"/>
        </a:xfrm>
      </p:grpSpPr>
      <p:sp>
        <p:nvSpPr>
          <p:cNvPr id="8" name="Google Shape;8;p32"/>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B2A4A"/>
              </a:buClr>
              <a:buSzPts val="2100"/>
              <a:buFont typeface="Sora"/>
              <a:buNone/>
              <a:defRPr b="0" i="0" sz="2100" u="none" cap="none" strike="noStrike">
                <a:solidFill>
                  <a:srgbClr val="1B2A4A"/>
                </a:solidFill>
                <a:latin typeface="Sora"/>
                <a:ea typeface="Sora"/>
                <a:cs typeface="Sora"/>
                <a:sym typeface="Sor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32"/>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B2A4A"/>
              </a:buClr>
              <a:buSzPts val="1600"/>
              <a:buFont typeface="Arial"/>
              <a:buNone/>
              <a:defRPr b="0" i="0" sz="1600" u="none" cap="none" strike="noStrike">
                <a:solidFill>
                  <a:srgbClr val="1B2A4A"/>
                </a:solidFill>
                <a:latin typeface="DM Sans"/>
                <a:ea typeface="DM Sans"/>
                <a:cs typeface="DM Sans"/>
                <a:sym typeface="DM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DM Sans"/>
                <a:ea typeface="DM Sans"/>
                <a:cs typeface="DM Sans"/>
                <a:sym typeface="DM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DM Sans"/>
                <a:ea typeface="DM Sans"/>
                <a:cs typeface="DM Sans"/>
                <a:sym typeface="DM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 name="Shape 14"/>
        <p:cNvGrpSpPr/>
        <p:nvPr/>
      </p:nvGrpSpPr>
      <p:grpSpPr>
        <a:xfrm>
          <a:off x="0" y="0"/>
          <a:ext cx="0" cy="0"/>
          <a:chOff x="0" y="0"/>
          <a:chExt cx="0" cy="0"/>
        </a:xfrm>
      </p:grpSpPr>
      <p:sp>
        <p:nvSpPr>
          <p:cNvPr id="15" name="Google Shape;15;p34"/>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sz="1100">
                <a:solidFill>
                  <a:schemeClr val="accent4"/>
                </a:solidFill>
                <a:latin typeface="Calibri"/>
                <a:ea typeface="Calibri"/>
                <a:cs typeface="Calibri"/>
                <a:sym typeface="Calibri"/>
              </a:defRPr>
            </a:lvl1pPr>
            <a:lvl2pPr indent="0" lvl="1" marL="0" marR="0" rtl="0" algn="l">
              <a:spcBef>
                <a:spcPts val="0"/>
              </a:spcBef>
              <a:buNone/>
              <a:defRPr b="0" sz="1100">
                <a:solidFill>
                  <a:schemeClr val="accent4"/>
                </a:solidFill>
                <a:latin typeface="Calibri"/>
                <a:ea typeface="Calibri"/>
                <a:cs typeface="Calibri"/>
                <a:sym typeface="Calibri"/>
              </a:defRPr>
            </a:lvl2pPr>
            <a:lvl3pPr indent="0" lvl="2" marL="0" marR="0" rtl="0" algn="l">
              <a:spcBef>
                <a:spcPts val="0"/>
              </a:spcBef>
              <a:buNone/>
              <a:defRPr b="0" sz="1100">
                <a:solidFill>
                  <a:schemeClr val="accent4"/>
                </a:solidFill>
                <a:latin typeface="Calibri"/>
                <a:ea typeface="Calibri"/>
                <a:cs typeface="Calibri"/>
                <a:sym typeface="Calibri"/>
              </a:defRPr>
            </a:lvl3pPr>
            <a:lvl4pPr indent="0" lvl="3" marL="0" marR="0" rtl="0" algn="l">
              <a:spcBef>
                <a:spcPts val="0"/>
              </a:spcBef>
              <a:buNone/>
              <a:defRPr b="0" sz="1100">
                <a:solidFill>
                  <a:schemeClr val="accent4"/>
                </a:solidFill>
                <a:latin typeface="Calibri"/>
                <a:ea typeface="Calibri"/>
                <a:cs typeface="Calibri"/>
                <a:sym typeface="Calibri"/>
              </a:defRPr>
            </a:lvl4pPr>
            <a:lvl5pPr indent="0" lvl="4" marL="0" marR="0" rtl="0" algn="l">
              <a:spcBef>
                <a:spcPts val="0"/>
              </a:spcBef>
              <a:buNone/>
              <a:defRPr b="0" sz="1100">
                <a:solidFill>
                  <a:schemeClr val="accent4"/>
                </a:solidFill>
                <a:latin typeface="Calibri"/>
                <a:ea typeface="Calibri"/>
                <a:cs typeface="Calibri"/>
                <a:sym typeface="Calibri"/>
              </a:defRPr>
            </a:lvl5pPr>
            <a:lvl6pPr indent="0" lvl="5" marL="0" marR="0" rtl="0" algn="l">
              <a:spcBef>
                <a:spcPts val="0"/>
              </a:spcBef>
              <a:buNone/>
              <a:defRPr b="0" sz="1100">
                <a:solidFill>
                  <a:schemeClr val="accent4"/>
                </a:solidFill>
                <a:latin typeface="Calibri"/>
                <a:ea typeface="Calibri"/>
                <a:cs typeface="Calibri"/>
                <a:sym typeface="Calibri"/>
              </a:defRPr>
            </a:lvl6pPr>
            <a:lvl7pPr indent="0" lvl="6" marL="0" marR="0" rtl="0" algn="l">
              <a:spcBef>
                <a:spcPts val="0"/>
              </a:spcBef>
              <a:buNone/>
              <a:defRPr b="0" sz="1100">
                <a:solidFill>
                  <a:schemeClr val="accent4"/>
                </a:solidFill>
                <a:latin typeface="Calibri"/>
                <a:ea typeface="Calibri"/>
                <a:cs typeface="Calibri"/>
                <a:sym typeface="Calibri"/>
              </a:defRPr>
            </a:lvl7pPr>
            <a:lvl8pPr indent="0" lvl="7" marL="0" marR="0" rtl="0" algn="l">
              <a:spcBef>
                <a:spcPts val="0"/>
              </a:spcBef>
              <a:buNone/>
              <a:defRPr b="0" sz="1100">
                <a:solidFill>
                  <a:schemeClr val="accent4"/>
                </a:solidFill>
                <a:latin typeface="Calibri"/>
                <a:ea typeface="Calibri"/>
                <a:cs typeface="Calibri"/>
                <a:sym typeface="Calibri"/>
              </a:defRPr>
            </a:lvl8pPr>
            <a:lvl9pPr indent="0" lvl="8" marL="0" marR="0" rtl="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Avancement : la supervision automatique de Workly est en place, avec un outil RAG</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42</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4754880" cy="4315968"/>
          </a:xfrm>
          <a:prstGeom prst="roundRect">
            <a:avLst>
              <a:gd name="adj" fmla="val 3531"/>
            </a:avLst>
          </a:prstGeom>
          <a:solidFill>
            <a:srgbClr val="FFFFFF"/>
          </a:solidFill>
          <a:ln>
            <a:noFill/>
          </a:ln>
        </p:spPr>
        <p:txBody>
          <a:bodyPr rtlCol="0" anchor="ctr"/>
          <a:lstStyle/>
          <a:p>
            <a:pPr algn="ctr"/>
          </a:p>
        </p:txBody>
      </p:sp>
      <p:sp>
        <p:nvSpPr>
          <p:cNvPr id="114" name="Rectangle 113"/>
          <p:cNvSpPr/>
          <p:nvPr/>
        </p:nvSpPr>
        <p:spPr>
          <a:xfrm>
            <a:off x="694944" y="1773936"/>
            <a:ext cx="4754880" cy="4315968"/>
          </a:xfrm>
          <a:custGeom>
            <a:rect b="b" l="l" r="r" t="t"/>
            <a:pathLst>
              <a:path extrusionOk="0" h="4315968" w="4754880">
                <a:moveTo>
                  <a:pt x="0" y="152400"/>
                </a:moveTo>
                <a:cubicBezTo>
                  <a:pt x="0" y="68229"/>
                  <a:pt x="68229" y="0"/>
                  <a:pt x="152400" y="0"/>
                </a:cubicBezTo>
                <a:lnTo>
                  <a:pt x="4602480" y="0"/>
                </a:lnTo>
                <a:cubicBezTo>
                  <a:pt x="4686650" y="0"/>
                  <a:pt x="4754880" y="68229"/>
                  <a:pt x="4754880" y="152400"/>
                </a:cubicBezTo>
                <a:cubicBezTo>
                  <a:pt x="4754880" y="103311"/>
                  <a:pt x="4686651" y="63500"/>
                  <a:pt x="46024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15" name="Rounded Rectangle 114"/>
          <p:cNvSpPr/>
          <p:nvPr/>
        </p:nvSpPr>
        <p:spPr>
          <a:xfrm>
            <a:off x="923544" y="2011680"/>
            <a:ext cx="1371600" cy="274320"/>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FAIT</a:t>
            </a:r>
          </a:p>
        </p:txBody>
      </p:sp>
      <p:sp>
        <p:nvSpPr>
          <p:cNvPr id="116" name="Oval 115"/>
          <p:cNvSpPr/>
          <p:nvPr/>
        </p:nvSpPr>
        <p:spPr>
          <a:xfrm>
            <a:off x="923544" y="2596896"/>
            <a:ext cx="182880" cy="182880"/>
          </a:xfrm>
          <a:prstGeom prst="ellipse">
            <a:avLst/>
          </a:prstGeom>
          <a:solidFill>
            <a:srgbClr val="7ACFC0"/>
          </a:solidFill>
          <a:ln>
            <a:noFill/>
          </a:ln>
        </p:spPr>
        <p:txBody>
          <a:bodyPr rtlCol="0" anchor="ctr"/>
          <a:lstStyle/>
          <a:p>
            <a:pPr algn="ctr"/>
          </a:p>
        </p:txBody>
      </p:sp>
      <p:sp>
        <p:nvSpPr>
          <p:cNvPr id="117" name="TextBox 116"/>
          <p:cNvSpPr txBox="1"/>
          <p:nvPr/>
        </p:nvSpPr>
        <p:spPr>
          <a:xfrm>
            <a:off x="1261872" y="2542032"/>
            <a:ext cx="397764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Planificateur autonome : 8 étapes de nuit à 00:30 UTC</a:t>
            </a:r>
          </a:p>
        </p:txBody>
      </p:sp>
      <p:sp>
        <p:nvSpPr>
          <p:cNvPr id="118" name="Oval 117"/>
          <p:cNvSpPr/>
          <p:nvPr/>
        </p:nvSpPr>
        <p:spPr>
          <a:xfrm>
            <a:off x="923544" y="3242056"/>
            <a:ext cx="182880" cy="182880"/>
          </a:xfrm>
          <a:prstGeom prst="ellipse">
            <a:avLst/>
          </a:prstGeom>
          <a:solidFill>
            <a:srgbClr val="7ACFC0"/>
          </a:solidFill>
          <a:ln>
            <a:noFill/>
          </a:ln>
        </p:spPr>
        <p:txBody>
          <a:bodyPr rtlCol="0" anchor="ctr"/>
          <a:lstStyle/>
          <a:p>
            <a:pPr algn="ctr"/>
          </a:p>
        </p:txBody>
      </p:sp>
      <p:sp>
        <p:nvSpPr>
          <p:cNvPr id="119" name="TextBox 118"/>
          <p:cNvSpPr txBox="1"/>
          <p:nvPr/>
        </p:nvSpPr>
        <p:spPr>
          <a:xfrm>
            <a:off x="1261872" y="31871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Route GET /bilan : succès, incomplet ou échec</a:t>
            </a:r>
          </a:p>
        </p:txBody>
      </p:sp>
      <p:sp>
        <p:nvSpPr>
          <p:cNvPr id="120" name="Oval 119"/>
          <p:cNvSpPr/>
          <p:nvPr/>
        </p:nvSpPr>
        <p:spPr>
          <a:xfrm>
            <a:off x="923544" y="3699256"/>
            <a:ext cx="182880" cy="182880"/>
          </a:xfrm>
          <a:prstGeom prst="ellipse">
            <a:avLst/>
          </a:prstGeom>
          <a:solidFill>
            <a:srgbClr val="7ACFC0"/>
          </a:solidFill>
          <a:ln>
            <a:noFill/>
          </a:ln>
        </p:spPr>
        <p:txBody>
          <a:bodyPr rtlCol="0" anchor="ctr"/>
          <a:lstStyle/>
          <a:p>
            <a:pPr algn="ctr"/>
          </a:p>
        </p:txBody>
      </p:sp>
      <p:sp>
        <p:nvSpPr>
          <p:cNvPr id="121" name="TextBox 120"/>
          <p:cNvSpPr txBox="1"/>
          <p:nvPr/>
        </p:nvSpPr>
        <p:spPr>
          <a:xfrm>
            <a:off x="1261872" y="36443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Deux agents IA : Analyste et Rédacteur</a:t>
            </a:r>
          </a:p>
        </p:txBody>
      </p:sp>
      <p:sp>
        <p:nvSpPr>
          <p:cNvPr id="122" name="Oval 121"/>
          <p:cNvSpPr/>
          <p:nvPr/>
        </p:nvSpPr>
        <p:spPr>
          <a:xfrm>
            <a:off x="923544" y="4156456"/>
            <a:ext cx="182880" cy="182880"/>
          </a:xfrm>
          <a:prstGeom prst="ellipse">
            <a:avLst/>
          </a:prstGeom>
          <a:solidFill>
            <a:srgbClr val="7ACFC0"/>
          </a:solidFill>
          <a:ln>
            <a:noFill/>
          </a:ln>
        </p:spPr>
        <p:txBody>
          <a:bodyPr rtlCol="0" anchor="ctr"/>
          <a:lstStyle/>
          <a:p>
            <a:pPr algn="ctr"/>
          </a:p>
        </p:txBody>
      </p:sp>
      <p:sp>
        <p:nvSpPr>
          <p:cNvPr id="123" name="TextBox 122"/>
          <p:cNvSpPr txBox="1"/>
          <p:nvPr/>
        </p:nvSpPr>
        <p:spPr>
          <a:xfrm>
            <a:off x="1261872" y="41015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Message Slack chaque matin</a:t>
            </a:r>
          </a:p>
        </p:txBody>
      </p:sp>
      <p:sp>
        <p:nvSpPr>
          <p:cNvPr id="124" name="Oval 123"/>
          <p:cNvSpPr/>
          <p:nvPr/>
        </p:nvSpPr>
        <p:spPr>
          <a:xfrm>
            <a:off x="923544" y="4613656"/>
            <a:ext cx="182880" cy="182880"/>
          </a:xfrm>
          <a:prstGeom prst="ellipse">
            <a:avLst/>
          </a:prstGeom>
          <a:solidFill>
            <a:srgbClr val="7ACFC0"/>
          </a:solidFill>
          <a:ln>
            <a:noFill/>
          </a:ln>
        </p:spPr>
        <p:txBody>
          <a:bodyPr rtlCol="0" anchor="ctr"/>
          <a:lstStyle/>
          <a:p>
            <a:pPr algn="ctr"/>
          </a:p>
        </p:txBody>
      </p:sp>
      <p:sp>
        <p:nvSpPr>
          <p:cNvPr id="125" name="TextBox 124"/>
          <p:cNvSpPr txBox="1"/>
          <p:nvPr/>
        </p:nvSpPr>
        <p:spPr>
          <a:xfrm>
            <a:off x="1261872" y="45587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Outil RAG : base de connaissances d’exploitation</a:t>
            </a:r>
          </a:p>
        </p:txBody>
      </p:sp>
      <p:sp>
        <p:nvSpPr>
          <p:cNvPr id="126" name="Oval 125"/>
          <p:cNvSpPr/>
          <p:nvPr/>
        </p:nvSpPr>
        <p:spPr>
          <a:xfrm>
            <a:off x="923544" y="5070856"/>
            <a:ext cx="182880" cy="182880"/>
          </a:xfrm>
          <a:prstGeom prst="ellipse">
            <a:avLst/>
          </a:prstGeom>
          <a:solidFill>
            <a:srgbClr val="7ACFC0"/>
          </a:solidFill>
          <a:ln>
            <a:noFill/>
          </a:ln>
        </p:spPr>
        <p:txBody>
          <a:bodyPr rtlCol="0" anchor="ctr"/>
          <a:lstStyle/>
          <a:p>
            <a:pPr algn="ctr"/>
          </a:p>
        </p:txBody>
      </p:sp>
      <p:sp>
        <p:nvSpPr>
          <p:cNvPr id="127" name="TextBox 126"/>
          <p:cNvSpPr txBox="1"/>
          <p:nvPr/>
        </p:nvSpPr>
        <p:spPr>
          <a:xfrm>
            <a:off x="1261872" y="50159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Simulation de panne pour tester à la demande</a:t>
            </a:r>
          </a:p>
        </p:txBody>
      </p:sp>
      <p:sp>
        <p:nvSpPr>
          <p:cNvPr id="128" name="Oval 127"/>
          <p:cNvSpPr/>
          <p:nvPr/>
        </p:nvSpPr>
        <p:spPr>
          <a:xfrm>
            <a:off x="923544" y="5528056"/>
            <a:ext cx="182880" cy="182880"/>
          </a:xfrm>
          <a:prstGeom prst="ellipse">
            <a:avLst/>
          </a:prstGeom>
          <a:solidFill>
            <a:srgbClr val="7ACFC0"/>
          </a:solidFill>
          <a:ln>
            <a:noFill/>
          </a:ln>
        </p:spPr>
        <p:txBody>
          <a:bodyPr rtlCol="0" anchor="ctr"/>
          <a:lstStyle/>
          <a:p>
            <a:pPr algn="ctr"/>
          </a:p>
        </p:txBody>
      </p:sp>
      <p:sp>
        <p:nvSpPr>
          <p:cNvPr id="129" name="TextBox 128"/>
          <p:cNvSpPr txBox="1"/>
          <p:nvPr/>
        </p:nvSpPr>
        <p:spPr>
          <a:xfrm>
            <a:off x="1261872" y="5473192"/>
            <a:ext cx="39776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Connexion Odoo testée</a:t>
            </a:r>
          </a:p>
        </p:txBody>
      </p:sp>
      <p:sp>
        <p:nvSpPr>
          <p:cNvPr id="130" name="Rounded Rectangle 129"/>
          <p:cNvSpPr/>
          <p:nvPr/>
        </p:nvSpPr>
        <p:spPr>
          <a:xfrm>
            <a:off x="5591556" y="1773936"/>
            <a:ext cx="2880360" cy="4315968"/>
          </a:xfrm>
          <a:prstGeom prst="roundRect">
            <a:avLst>
              <a:gd name="adj" fmla="val 5292"/>
            </a:avLst>
          </a:prstGeom>
          <a:solidFill>
            <a:srgbClr val="FFFFFF"/>
          </a:solidFill>
          <a:ln>
            <a:noFill/>
          </a:ln>
        </p:spPr>
        <p:txBody>
          <a:bodyPr rtlCol="0" anchor="ctr"/>
          <a:lstStyle/>
          <a:p>
            <a:pPr algn="ctr"/>
          </a:p>
        </p:txBody>
      </p:sp>
      <p:sp>
        <p:nvSpPr>
          <p:cNvPr id="131" name="Rectangle 130"/>
          <p:cNvSpPr/>
          <p:nvPr/>
        </p:nvSpPr>
        <p:spPr>
          <a:xfrm>
            <a:off x="5591556" y="1773936"/>
            <a:ext cx="2880360" cy="4315968"/>
          </a:xfrm>
          <a:custGeom>
            <a:rect b="b" l="l" r="r" t="t"/>
            <a:pathLst>
              <a:path extrusionOk="0" h="4315968" w="2880360">
                <a:moveTo>
                  <a:pt x="0" y="152400"/>
                </a:moveTo>
                <a:cubicBezTo>
                  <a:pt x="0" y="68229"/>
                  <a:pt x="68229" y="0"/>
                  <a:pt x="152400" y="0"/>
                </a:cubicBezTo>
                <a:lnTo>
                  <a:pt x="2727960" y="0"/>
                </a:lnTo>
                <a:cubicBezTo>
                  <a:pt x="2812130" y="0"/>
                  <a:pt x="2880360" y="68229"/>
                  <a:pt x="2880360" y="152400"/>
                </a:cubicBezTo>
                <a:cubicBezTo>
                  <a:pt x="2880360" y="103311"/>
                  <a:pt x="2812131" y="63500"/>
                  <a:pt x="272796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32" name="Rounded Rectangle 131"/>
          <p:cNvSpPr/>
          <p:nvPr/>
        </p:nvSpPr>
        <p:spPr>
          <a:xfrm>
            <a:off x="5820156" y="2011680"/>
            <a:ext cx="1371600" cy="274320"/>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EN COURS</a:t>
            </a:r>
          </a:p>
        </p:txBody>
      </p:sp>
      <p:sp>
        <p:nvSpPr>
          <p:cNvPr id="133" name="Oval 132"/>
          <p:cNvSpPr/>
          <p:nvPr/>
        </p:nvSpPr>
        <p:spPr>
          <a:xfrm>
            <a:off x="5820156" y="2596896"/>
            <a:ext cx="182880" cy="182880"/>
          </a:xfrm>
          <a:prstGeom prst="ellipse">
            <a:avLst/>
          </a:prstGeom>
          <a:solidFill>
            <a:srgbClr val="4A9BE0"/>
          </a:solidFill>
          <a:ln>
            <a:noFill/>
          </a:ln>
        </p:spPr>
        <p:txBody>
          <a:bodyPr rtlCol="0" anchor="ctr"/>
          <a:lstStyle/>
          <a:p>
            <a:pPr algn="ctr"/>
          </a:p>
        </p:txBody>
      </p:sp>
      <p:sp>
        <p:nvSpPr>
          <p:cNvPr id="134" name="TextBox 133"/>
          <p:cNvSpPr txBox="1"/>
          <p:nvPr/>
        </p:nvSpPr>
        <p:spPr>
          <a:xfrm>
            <a:off x="6158484" y="2542032"/>
            <a:ext cx="210312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Déclenchement quotidien par Fusion à 06:00 UTC</a:t>
            </a:r>
          </a:p>
        </p:txBody>
      </p:sp>
      <p:sp>
        <p:nvSpPr>
          <p:cNvPr id="135" name="Oval 134"/>
          <p:cNvSpPr/>
          <p:nvPr/>
        </p:nvSpPr>
        <p:spPr>
          <a:xfrm>
            <a:off x="5820156" y="3242056"/>
            <a:ext cx="182880" cy="182880"/>
          </a:xfrm>
          <a:prstGeom prst="ellipse">
            <a:avLst/>
          </a:prstGeom>
          <a:solidFill>
            <a:srgbClr val="4A9BE0"/>
          </a:solidFill>
          <a:ln>
            <a:noFill/>
          </a:ln>
        </p:spPr>
        <p:txBody>
          <a:bodyPr rtlCol="0" anchor="ctr"/>
          <a:lstStyle/>
          <a:p>
            <a:pPr algn="ctr"/>
          </a:p>
        </p:txBody>
      </p:sp>
      <p:sp>
        <p:nvSpPr>
          <p:cNvPr id="136" name="TextBox 135"/>
          <p:cNvSpPr txBox="1"/>
          <p:nvPr/>
        </p:nvSpPr>
        <p:spPr>
          <a:xfrm>
            <a:off x="6158484" y="3187192"/>
            <a:ext cx="210312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Mesure de la fiabilité sur plusieurs nuits</a:t>
            </a:r>
          </a:p>
        </p:txBody>
      </p:sp>
      <p:sp>
        <p:nvSpPr>
          <p:cNvPr id="137" name="Rounded Rectangle 136"/>
          <p:cNvSpPr/>
          <p:nvPr/>
        </p:nvSpPr>
        <p:spPr>
          <a:xfrm>
            <a:off x="8613648" y="1773936"/>
            <a:ext cx="2880360" cy="4315968"/>
          </a:xfrm>
          <a:prstGeom prst="roundRect">
            <a:avLst>
              <a:gd name="adj" fmla="val 5292"/>
            </a:avLst>
          </a:prstGeom>
          <a:solidFill>
            <a:srgbClr val="FFFFFF"/>
          </a:solidFill>
          <a:ln>
            <a:noFill/>
          </a:ln>
        </p:spPr>
        <p:txBody>
          <a:bodyPr rtlCol="0" anchor="ctr"/>
          <a:lstStyle/>
          <a:p>
            <a:pPr algn="ctr"/>
          </a:p>
        </p:txBody>
      </p:sp>
      <p:sp>
        <p:nvSpPr>
          <p:cNvPr id="138" name="Rectangle 137"/>
          <p:cNvSpPr/>
          <p:nvPr/>
        </p:nvSpPr>
        <p:spPr>
          <a:xfrm>
            <a:off x="8613648" y="1773936"/>
            <a:ext cx="2880360" cy="4315968"/>
          </a:xfrm>
          <a:custGeom>
            <a:rect b="b" l="l" r="r" t="t"/>
            <a:pathLst>
              <a:path extrusionOk="0" h="4315968" w="2880360">
                <a:moveTo>
                  <a:pt x="0" y="152400"/>
                </a:moveTo>
                <a:cubicBezTo>
                  <a:pt x="0" y="68229"/>
                  <a:pt x="68229" y="0"/>
                  <a:pt x="152400" y="0"/>
                </a:cubicBezTo>
                <a:lnTo>
                  <a:pt x="2727960" y="0"/>
                </a:lnTo>
                <a:cubicBezTo>
                  <a:pt x="2812130" y="0"/>
                  <a:pt x="2880360" y="68229"/>
                  <a:pt x="2880360" y="152400"/>
                </a:cubicBezTo>
                <a:cubicBezTo>
                  <a:pt x="2880360" y="103311"/>
                  <a:pt x="2812131" y="63500"/>
                  <a:pt x="272796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39" name="Rounded Rectangle 138"/>
          <p:cNvSpPr/>
          <p:nvPr/>
        </p:nvSpPr>
        <p:spPr>
          <a:xfrm>
            <a:off x="8842248" y="2011680"/>
            <a:ext cx="2103120" cy="274320"/>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PROCHAINES ÉTAPES</a:t>
            </a:r>
          </a:p>
        </p:txBody>
      </p:sp>
      <p:sp>
        <p:nvSpPr>
          <p:cNvPr id="140" name="Oval 139"/>
          <p:cNvSpPr/>
          <p:nvPr/>
        </p:nvSpPr>
        <p:spPr>
          <a:xfrm>
            <a:off x="8842248" y="2596896"/>
            <a:ext cx="182880" cy="182880"/>
          </a:xfrm>
          <a:prstGeom prst="ellipse">
            <a:avLst/>
          </a:prstGeom>
          <a:solidFill>
            <a:srgbClr val="B39DDB"/>
          </a:solidFill>
          <a:ln>
            <a:noFill/>
          </a:ln>
        </p:spPr>
        <p:txBody>
          <a:bodyPr rtlCol="0" anchor="ctr"/>
          <a:lstStyle/>
          <a:p>
            <a:pPr algn="ctr"/>
          </a:p>
        </p:txBody>
      </p:sp>
      <p:sp>
        <p:nvSpPr>
          <p:cNvPr id="141" name="TextBox 140"/>
          <p:cNvSpPr txBox="1"/>
          <p:nvPr/>
        </p:nvSpPr>
        <p:spPr>
          <a:xfrm>
            <a:off x="9180576" y="2542032"/>
            <a:ext cx="210312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Alerte quand Workly ne répond pas</a:t>
            </a:r>
          </a:p>
        </p:txBody>
      </p:sp>
      <p:sp>
        <p:nvSpPr>
          <p:cNvPr id="142" name="Oval 141"/>
          <p:cNvSpPr/>
          <p:nvPr/>
        </p:nvSpPr>
        <p:spPr>
          <a:xfrm>
            <a:off x="8842248" y="3242056"/>
            <a:ext cx="182880" cy="182880"/>
          </a:xfrm>
          <a:prstGeom prst="ellipse">
            <a:avLst/>
          </a:prstGeom>
          <a:solidFill>
            <a:srgbClr val="B39DDB"/>
          </a:solidFill>
          <a:ln>
            <a:noFill/>
          </a:ln>
        </p:spPr>
        <p:txBody>
          <a:bodyPr rtlCol="0" anchor="ctr"/>
          <a:lstStyle/>
          <a:p>
            <a:pPr algn="ctr"/>
          </a:p>
        </p:txBody>
      </p:sp>
      <p:sp>
        <p:nvSpPr>
          <p:cNvPr id="143" name="TextBox 142"/>
          <p:cNvSpPr txBox="1"/>
          <p:nvPr/>
        </p:nvSpPr>
        <p:spPr>
          <a:xfrm>
            <a:off x="9180576" y="3187192"/>
            <a:ext cx="2103120" cy="69342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Import des commandes Odoo comme volumes prévus</a:t>
            </a:r>
          </a:p>
        </p:txBody>
      </p:sp>
      <p:sp>
        <p:nvSpPr>
          <p:cNvPr id="144" name="Oval 143"/>
          <p:cNvSpPr/>
          <p:nvPr/>
        </p:nvSpPr>
        <p:spPr>
          <a:xfrm>
            <a:off x="8842248" y="4118356"/>
            <a:ext cx="182880" cy="182880"/>
          </a:xfrm>
          <a:prstGeom prst="ellipse">
            <a:avLst/>
          </a:prstGeom>
          <a:solidFill>
            <a:srgbClr val="B39DDB"/>
          </a:solidFill>
          <a:ln>
            <a:noFill/>
          </a:ln>
        </p:spPr>
        <p:txBody>
          <a:bodyPr rtlCol="0" anchor="ctr"/>
          <a:lstStyle/>
          <a:p>
            <a:pPr algn="ctr"/>
          </a:p>
        </p:txBody>
      </p:sp>
      <p:sp>
        <p:nvSpPr>
          <p:cNvPr id="145" name="TextBox 144"/>
          <p:cNvSpPr txBox="1"/>
          <p:nvPr/>
        </p:nvSpPr>
        <p:spPr>
          <a:xfrm>
            <a:off x="9180576" y="4063492"/>
            <a:ext cx="210312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Hébergement permanent de Workly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L’outil RAG donne aux agents une base de connaissances pour expliquer les pannes</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43</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3483864" cy="2697480"/>
          </a:xfrm>
          <a:prstGeom prst="roundRect">
            <a:avLst>
              <a:gd name="adj" fmla="val 5650"/>
            </a:avLst>
          </a:prstGeom>
          <a:solidFill>
            <a:srgbClr val="FFFFFF"/>
          </a:solidFill>
          <a:ln>
            <a:noFill/>
          </a:ln>
        </p:spPr>
        <p:txBody>
          <a:bodyPr rtlCol="0" anchor="ctr"/>
          <a:lstStyle/>
          <a:p>
            <a:pPr algn="ctr"/>
          </a:p>
        </p:txBody>
      </p:sp>
      <p:sp>
        <p:nvSpPr>
          <p:cNvPr id="114" name="Rectangle 113"/>
          <p:cNvSpPr/>
          <p:nvPr/>
        </p:nvSpPr>
        <p:spPr>
          <a:xfrm>
            <a:off x="6949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5" name="Oval 114"/>
          <p:cNvSpPr/>
          <p:nvPr/>
        </p:nvSpPr>
        <p:spPr>
          <a:xfrm>
            <a:off x="923544" y="2029968"/>
            <a:ext cx="457200" cy="45720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1</a:t>
            </a:r>
          </a:p>
        </p:txBody>
      </p:sp>
      <p:sp>
        <p:nvSpPr>
          <p:cNvPr id="116" name="TextBox 115"/>
          <p:cNvSpPr txBox="1"/>
          <p:nvPr/>
        </p:nvSpPr>
        <p:spPr>
          <a:xfrm>
            <a:off x="1517904" y="2029968"/>
            <a:ext cx="2468880" cy="457200"/>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1B2A4A"/>
                </a:solidFill>
                <a:latin typeface="Sora"/>
              </a:rPr>
              <a:t>Recherche</a:t>
            </a:r>
          </a:p>
        </p:txBody>
      </p:sp>
      <p:sp>
        <p:nvSpPr>
          <p:cNvPr id="117" name="TextBox 116"/>
          <p:cNvSpPr txBox="1"/>
          <p:nvPr/>
        </p:nvSpPr>
        <p:spPr>
          <a:xfrm>
            <a:off x="923544" y="2724912"/>
            <a:ext cx="3063240" cy="16459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Workly construit une question à partir des pannes du bilan et retrouve les passages les plus proches dans la base de connaissances (classement BM25).</a:t>
            </a:r>
          </a:p>
        </p:txBody>
      </p:sp>
      <p:cxnSp>
        <p:nvCxnSpPr>
          <p:cNvPr id="118" name="Connector 117"/>
          <p:cNvCxnSpPr/>
          <p:nvPr/>
        </p:nvCxnSpPr>
        <p:spPr>
          <a:xfrm>
            <a:off x="4206240" y="3108960"/>
            <a:ext cx="137160" cy="0"/>
          </a:xfrm>
          <a:prstGeom prst="line">
            <a:avLst/>
          </a:prstGeom>
          <a:ln w="22225">
            <a:solidFill>
              <a:srgbClr val="1B2A4A"/>
            </a:solidFill>
            <a:tailEnd type="triangle" w="med" len="med"/>
          </a:ln>
        </p:spPr>
      </p:cxnSp>
      <p:sp>
        <p:nvSpPr>
          <p:cNvPr id="119" name="Rounded Rectangle 118"/>
          <p:cNvSpPr/>
          <p:nvPr/>
        </p:nvSpPr>
        <p:spPr>
          <a:xfrm>
            <a:off x="4352544" y="1773936"/>
            <a:ext cx="3483864" cy="2697480"/>
          </a:xfrm>
          <a:prstGeom prst="roundRect">
            <a:avLst>
              <a:gd name="adj" fmla="val 5650"/>
            </a:avLst>
          </a:prstGeom>
          <a:solidFill>
            <a:srgbClr val="FFFFFF"/>
          </a:solidFill>
          <a:ln>
            <a:noFill/>
          </a:ln>
        </p:spPr>
        <p:txBody>
          <a:bodyPr rtlCol="0" anchor="ctr"/>
          <a:lstStyle/>
          <a:p>
            <a:pPr algn="ctr"/>
          </a:p>
        </p:txBody>
      </p:sp>
      <p:sp>
        <p:nvSpPr>
          <p:cNvPr id="120" name="Rectangle 119"/>
          <p:cNvSpPr/>
          <p:nvPr/>
        </p:nvSpPr>
        <p:spPr>
          <a:xfrm>
            <a:off x="43525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1" name="Oval 120"/>
          <p:cNvSpPr/>
          <p:nvPr/>
        </p:nvSpPr>
        <p:spPr>
          <a:xfrm>
            <a:off x="4581144" y="2029968"/>
            <a:ext cx="457200" cy="45720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2</a:t>
            </a:r>
          </a:p>
        </p:txBody>
      </p:sp>
      <p:sp>
        <p:nvSpPr>
          <p:cNvPr id="122" name="TextBox 121"/>
          <p:cNvSpPr txBox="1"/>
          <p:nvPr/>
        </p:nvSpPr>
        <p:spPr>
          <a:xfrm>
            <a:off x="5175504" y="2029968"/>
            <a:ext cx="2468880" cy="457200"/>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1B2A4A"/>
                </a:solidFill>
                <a:latin typeface="Sora"/>
              </a:rPr>
              <a:t>Augmentation</a:t>
            </a:r>
          </a:p>
        </p:txBody>
      </p:sp>
      <p:sp>
        <p:nvSpPr>
          <p:cNvPr id="123" name="TextBox 122"/>
          <p:cNvSpPr txBox="1"/>
          <p:nvPr/>
        </p:nvSpPr>
        <p:spPr>
          <a:xfrm>
            <a:off x="4581144" y="2724912"/>
            <a:ext cx="3063240" cy="16459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Les passages retrouvés sont ajoutés au bilan, dans le champ « connaissances », puis donnés à l’agent avec le prompt.</a:t>
            </a:r>
          </a:p>
        </p:txBody>
      </p:sp>
      <p:cxnSp>
        <p:nvCxnSpPr>
          <p:cNvPr id="124" name="Connector 123"/>
          <p:cNvCxnSpPr/>
          <p:nvPr/>
        </p:nvCxnSpPr>
        <p:spPr>
          <a:xfrm>
            <a:off x="7863840" y="3108960"/>
            <a:ext cx="137160" cy="0"/>
          </a:xfrm>
          <a:prstGeom prst="line">
            <a:avLst/>
          </a:prstGeom>
          <a:ln w="22225">
            <a:solidFill>
              <a:srgbClr val="1B2A4A"/>
            </a:solidFill>
            <a:tailEnd type="triangle" w="med" len="med"/>
          </a:ln>
        </p:spPr>
      </p:cxnSp>
      <p:sp>
        <p:nvSpPr>
          <p:cNvPr id="125" name="Rounded Rectangle 124"/>
          <p:cNvSpPr/>
          <p:nvPr/>
        </p:nvSpPr>
        <p:spPr>
          <a:xfrm>
            <a:off x="8010144" y="1773936"/>
            <a:ext cx="3483864" cy="2697480"/>
          </a:xfrm>
          <a:prstGeom prst="roundRect">
            <a:avLst>
              <a:gd name="adj" fmla="val 5650"/>
            </a:avLst>
          </a:prstGeom>
          <a:solidFill>
            <a:srgbClr val="FFFFFF"/>
          </a:solidFill>
          <a:ln>
            <a:noFill/>
          </a:ln>
        </p:spPr>
        <p:txBody>
          <a:bodyPr rtlCol="0" anchor="ctr"/>
          <a:lstStyle/>
          <a:p>
            <a:pPr algn="ctr"/>
          </a:p>
        </p:txBody>
      </p:sp>
      <p:sp>
        <p:nvSpPr>
          <p:cNvPr id="126" name="Rectangle 125"/>
          <p:cNvSpPr/>
          <p:nvPr/>
        </p:nvSpPr>
        <p:spPr>
          <a:xfrm>
            <a:off x="80101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7" name="Oval 126"/>
          <p:cNvSpPr/>
          <p:nvPr/>
        </p:nvSpPr>
        <p:spPr>
          <a:xfrm>
            <a:off x="8238744" y="2029968"/>
            <a:ext cx="457200" cy="45720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3</a:t>
            </a:r>
          </a:p>
        </p:txBody>
      </p:sp>
      <p:sp>
        <p:nvSpPr>
          <p:cNvPr id="128" name="TextBox 127"/>
          <p:cNvSpPr txBox="1"/>
          <p:nvPr/>
        </p:nvSpPr>
        <p:spPr>
          <a:xfrm>
            <a:off x="8833104" y="2029968"/>
            <a:ext cx="2468880" cy="457200"/>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1B2A4A"/>
                </a:solidFill>
                <a:latin typeface="Sora"/>
              </a:rPr>
              <a:t>Génération</a:t>
            </a:r>
          </a:p>
        </p:txBody>
      </p:sp>
      <p:sp>
        <p:nvSpPr>
          <p:cNvPr id="129" name="TextBox 128"/>
          <p:cNvSpPr txBox="1"/>
          <p:nvPr/>
        </p:nvSpPr>
        <p:spPr>
          <a:xfrm>
            <a:off x="8238744" y="2724912"/>
            <a:ext cx="3063240" cy="16459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L’Analyste écrit son analyse à partir de ces passages et cite la section utilisée ; le Rédacteur en fait le message du matin.</a:t>
            </a:r>
          </a:p>
        </p:txBody>
      </p:sp>
      <p:sp>
        <p:nvSpPr>
          <p:cNvPr id="130" name="Rounded Rectangle 129"/>
          <p:cNvSpPr/>
          <p:nvPr/>
        </p:nvSpPr>
        <p:spPr>
          <a:xfrm>
            <a:off x="694944" y="4681728"/>
            <a:ext cx="10799064" cy="1417320"/>
          </a:xfrm>
          <a:prstGeom prst="roundRect">
            <a:avLst>
              <a:gd name="adj" fmla="val 7741"/>
            </a:avLst>
          </a:prstGeom>
          <a:solidFill>
            <a:srgbClr val="1B2A4A"/>
          </a:solidFill>
          <a:ln>
            <a:noFill/>
          </a:ln>
        </p:spPr>
        <p:txBody>
          <a:bodyPr rtlCol="0" anchor="ctr"/>
          <a:lstStyle/>
          <a:p>
            <a:pPr algn="ctr"/>
          </a:p>
        </p:txBody>
      </p:sp>
      <p:sp>
        <p:nvSpPr>
          <p:cNvPr id="131" name="TextBox 130"/>
          <p:cNvSpPr txBox="1"/>
          <p:nvPr/>
        </p:nvSpPr>
        <p:spPr>
          <a:xfrm>
            <a:off x="987552" y="4828032"/>
            <a:ext cx="1024128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BASE DE CONNAISSANCES D’EXPLOITATION</a:t>
            </a:r>
          </a:p>
        </p:txBody>
      </p:sp>
      <p:sp>
        <p:nvSpPr>
          <p:cNvPr id="132" name="TextBox 131"/>
          <p:cNvSpPr txBox="1"/>
          <p:nvPr/>
        </p:nvSpPr>
        <p:spPr>
          <a:xfrm>
            <a:off x="987552" y="5157216"/>
            <a:ext cx="10241280" cy="86868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FFFFFF"/>
                </a:solidFill>
                <a:latin typeface="DM Sans"/>
              </a:rPr>
              <a:t>27 sections</a:t>
            </a:r>
            <a:r>
              <a:rPr sz="1350" b="0" i="0">
                <a:solidFill>
                  <a:srgbClr val="E4E9F5"/>
                </a:solidFill>
                <a:latin typeface="DM Sans"/>
              </a:rPr>
              <a:t> tirées du code de Workly : statuts du bilan, douze tâches et leurs échecs connus, erreurs courantes (401, 404, 409, délai), flux Agentic AI, ngrok, Odoo. La recherche est faite par Workly (bibliothèque standard, sans service externe) ; le document est un fichier texte du dépôt, facile à relire et à compléter.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Le RAG s’insère dans le flux : le bilan arrive déjà accompagné des passages utiles</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44</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TextBox 251"/>
          <p:cNvSpPr txBox="1"/>
          <p:nvPr/>
        </p:nvSpPr>
        <p:spPr>
          <a:xfrm>
            <a:off x="694944" y="1783080"/>
            <a:ext cx="1078992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A9B4D0"/>
                </a:solidFill>
                <a:latin typeface="DM Sans"/>
              </a:rPr>
              <a:t>Cron Fusion à 06:00 UTC  →  nœud HTTP  →  flux Agentic AI</a:t>
            </a:r>
          </a:p>
        </p:txBody>
      </p:sp>
      <p:sp>
        <p:nvSpPr>
          <p:cNvPr id="253" name="Rounded Rectangle 252"/>
          <p:cNvSpPr/>
          <p:nvPr/>
        </p:nvSpPr>
        <p:spPr>
          <a:xfrm>
            <a:off x="694944" y="2194560"/>
            <a:ext cx="1554480" cy="1234440"/>
          </a:xfrm>
          <a:prstGeom prst="roundRect">
            <a:avLst>
              <a:gd name="adj" fmla="val 12348"/>
            </a:avLst>
          </a:prstGeom>
          <a:solidFill>
            <a:srgbClr val="24375F"/>
          </a:solidFill>
          <a:ln>
            <a:noFill/>
          </a:ln>
        </p:spPr>
        <p:txBody>
          <a:bodyPr rtlCol="0" anchor="ctr"/>
          <a:lstStyle/>
          <a:p>
            <a:pPr algn="ctr"/>
          </a:p>
        </p:txBody>
      </p:sp>
      <p:sp>
        <p:nvSpPr>
          <p:cNvPr id="254" name="Rectangle 253"/>
          <p:cNvSpPr/>
          <p:nvPr/>
        </p:nvSpPr>
        <p:spPr>
          <a:xfrm>
            <a:off x="694944"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55" name="TextBox 254"/>
          <p:cNvSpPr txBox="1"/>
          <p:nvPr/>
        </p:nvSpPr>
        <p:spPr>
          <a:xfrm>
            <a:off x="804672"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API Request</a:t>
            </a:r>
          </a:p>
        </p:txBody>
      </p:sp>
      <p:sp>
        <p:nvSpPr>
          <p:cNvPr id="256" name="TextBox 255"/>
          <p:cNvSpPr txBox="1"/>
          <p:nvPr/>
        </p:nvSpPr>
        <p:spPr>
          <a:xfrm>
            <a:off x="804672"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GET /bilan?connaissances=1</a:t>
            </a:r>
          </a:p>
        </p:txBody>
      </p:sp>
      <p:cxnSp>
        <p:nvCxnSpPr>
          <p:cNvPr id="257" name="Connector 256"/>
          <p:cNvCxnSpPr/>
          <p:nvPr/>
        </p:nvCxnSpPr>
        <p:spPr>
          <a:xfrm>
            <a:off x="2267712" y="2807208"/>
            <a:ext cx="257861" cy="0"/>
          </a:xfrm>
          <a:prstGeom prst="line">
            <a:avLst/>
          </a:prstGeom>
          <a:ln w="22225">
            <a:solidFill>
              <a:srgbClr val="7ACFC0"/>
            </a:solidFill>
            <a:tailEnd type="triangle" w="med" len="med"/>
          </a:ln>
        </p:spPr>
      </p:cxnSp>
      <p:sp>
        <p:nvSpPr>
          <p:cNvPr id="258" name="Rounded Rectangle 257"/>
          <p:cNvSpPr/>
          <p:nvPr/>
        </p:nvSpPr>
        <p:spPr>
          <a:xfrm>
            <a:off x="2543861" y="2194560"/>
            <a:ext cx="1554480" cy="1234440"/>
          </a:xfrm>
          <a:prstGeom prst="roundRect">
            <a:avLst>
              <a:gd name="adj" fmla="val 12348"/>
            </a:avLst>
          </a:prstGeom>
          <a:solidFill>
            <a:srgbClr val="24375F"/>
          </a:solidFill>
          <a:ln>
            <a:noFill/>
          </a:ln>
        </p:spPr>
        <p:txBody>
          <a:bodyPr rtlCol="0" anchor="ctr"/>
          <a:lstStyle/>
          <a:p>
            <a:pPr algn="ctr"/>
          </a:p>
        </p:txBody>
      </p:sp>
      <p:sp>
        <p:nvSpPr>
          <p:cNvPr id="259" name="Rectangle 258"/>
          <p:cNvSpPr/>
          <p:nvPr/>
        </p:nvSpPr>
        <p:spPr>
          <a:xfrm>
            <a:off x="2543861"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60" name="TextBox 259"/>
          <p:cNvSpPr txBox="1"/>
          <p:nvPr/>
        </p:nvSpPr>
        <p:spPr>
          <a:xfrm>
            <a:off x="2653589"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Parser</a:t>
            </a:r>
          </a:p>
        </p:txBody>
      </p:sp>
      <p:sp>
        <p:nvSpPr>
          <p:cNvPr id="261" name="TextBox 260"/>
          <p:cNvSpPr txBox="1"/>
          <p:nvPr/>
        </p:nvSpPr>
        <p:spPr>
          <a:xfrm>
            <a:off x="2653589"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JSON en texte</a:t>
            </a:r>
          </a:p>
        </p:txBody>
      </p:sp>
      <p:cxnSp>
        <p:nvCxnSpPr>
          <p:cNvPr id="262" name="Connector 261"/>
          <p:cNvCxnSpPr/>
          <p:nvPr/>
        </p:nvCxnSpPr>
        <p:spPr>
          <a:xfrm>
            <a:off x="4116629" y="2807208"/>
            <a:ext cx="257861" cy="0"/>
          </a:xfrm>
          <a:prstGeom prst="line">
            <a:avLst/>
          </a:prstGeom>
          <a:ln w="22225">
            <a:solidFill>
              <a:srgbClr val="7ACFC0"/>
            </a:solidFill>
            <a:tailEnd type="triangle" w="med" len="med"/>
          </a:ln>
        </p:spPr>
      </p:cxnSp>
      <p:sp>
        <p:nvSpPr>
          <p:cNvPr id="263" name="Rounded Rectangle 262"/>
          <p:cNvSpPr/>
          <p:nvPr/>
        </p:nvSpPr>
        <p:spPr>
          <a:xfrm>
            <a:off x="4392778" y="2194560"/>
            <a:ext cx="1554480" cy="1234440"/>
          </a:xfrm>
          <a:prstGeom prst="roundRect">
            <a:avLst>
              <a:gd name="adj" fmla="val 12348"/>
            </a:avLst>
          </a:prstGeom>
          <a:solidFill>
            <a:srgbClr val="24375F"/>
          </a:solidFill>
          <a:ln>
            <a:noFill/>
          </a:ln>
        </p:spPr>
        <p:txBody>
          <a:bodyPr rtlCol="0" anchor="ctr"/>
          <a:lstStyle/>
          <a:p>
            <a:pPr algn="ctr"/>
          </a:p>
        </p:txBody>
      </p:sp>
      <p:sp>
        <p:nvSpPr>
          <p:cNvPr id="264" name="Rectangle 263"/>
          <p:cNvSpPr/>
          <p:nvPr/>
        </p:nvSpPr>
        <p:spPr>
          <a:xfrm>
            <a:off x="4392778"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65" name="TextBox 264"/>
          <p:cNvSpPr txBox="1"/>
          <p:nvPr/>
        </p:nvSpPr>
        <p:spPr>
          <a:xfrm>
            <a:off x="4502506"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Prompt Template</a:t>
            </a:r>
          </a:p>
        </p:txBody>
      </p:sp>
      <p:sp>
        <p:nvSpPr>
          <p:cNvPr id="266" name="TextBox 265"/>
          <p:cNvSpPr txBox="1"/>
          <p:nvPr/>
        </p:nvSpPr>
        <p:spPr>
          <a:xfrm>
            <a:off x="4502506"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{bilan}</a:t>
            </a:r>
          </a:p>
        </p:txBody>
      </p:sp>
      <p:cxnSp>
        <p:nvCxnSpPr>
          <p:cNvPr id="267" name="Connector 266"/>
          <p:cNvCxnSpPr/>
          <p:nvPr/>
        </p:nvCxnSpPr>
        <p:spPr>
          <a:xfrm>
            <a:off x="5965546" y="2807208"/>
            <a:ext cx="257860" cy="0"/>
          </a:xfrm>
          <a:prstGeom prst="line">
            <a:avLst/>
          </a:prstGeom>
          <a:ln w="22225">
            <a:solidFill>
              <a:srgbClr val="7ACFC0"/>
            </a:solidFill>
            <a:tailEnd type="triangle" w="med" len="med"/>
          </a:ln>
        </p:spPr>
      </p:cxnSp>
      <p:sp>
        <p:nvSpPr>
          <p:cNvPr id="268" name="Rounded Rectangle 267"/>
          <p:cNvSpPr/>
          <p:nvPr/>
        </p:nvSpPr>
        <p:spPr>
          <a:xfrm>
            <a:off x="6241694" y="2194560"/>
            <a:ext cx="1554480" cy="1234440"/>
          </a:xfrm>
          <a:prstGeom prst="roundRect">
            <a:avLst>
              <a:gd name="adj" fmla="val 12348"/>
            </a:avLst>
          </a:prstGeom>
          <a:solidFill>
            <a:srgbClr val="24375F"/>
          </a:solidFill>
          <a:ln>
            <a:noFill/>
          </a:ln>
        </p:spPr>
        <p:txBody>
          <a:bodyPr rtlCol="0" anchor="ctr"/>
          <a:lstStyle/>
          <a:p>
            <a:pPr algn="ctr"/>
          </a:p>
        </p:txBody>
      </p:sp>
      <p:sp>
        <p:nvSpPr>
          <p:cNvPr id="269" name="Rectangle 268"/>
          <p:cNvSpPr/>
          <p:nvPr/>
        </p:nvSpPr>
        <p:spPr>
          <a:xfrm>
            <a:off x="6241694"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70" name="TextBox 269"/>
          <p:cNvSpPr txBox="1"/>
          <p:nvPr/>
        </p:nvSpPr>
        <p:spPr>
          <a:xfrm>
            <a:off x="6351422"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Agent Analyste</a:t>
            </a:r>
          </a:p>
        </p:txBody>
      </p:sp>
      <p:sp>
        <p:nvSpPr>
          <p:cNvPr id="271" name="TextBox 270"/>
          <p:cNvSpPr txBox="1"/>
          <p:nvPr/>
        </p:nvSpPr>
        <p:spPr>
          <a:xfrm>
            <a:off x="6351422"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gravité, cause, action, source</a:t>
            </a:r>
          </a:p>
        </p:txBody>
      </p:sp>
      <p:cxnSp>
        <p:nvCxnSpPr>
          <p:cNvPr id="272" name="Connector 271"/>
          <p:cNvCxnSpPr/>
          <p:nvPr/>
        </p:nvCxnSpPr>
        <p:spPr>
          <a:xfrm>
            <a:off x="7814462" y="2807208"/>
            <a:ext cx="257861" cy="0"/>
          </a:xfrm>
          <a:prstGeom prst="line">
            <a:avLst/>
          </a:prstGeom>
          <a:ln w="22225">
            <a:solidFill>
              <a:srgbClr val="7ACFC0"/>
            </a:solidFill>
            <a:tailEnd type="triangle" w="med" len="med"/>
          </a:ln>
        </p:spPr>
      </p:cxnSp>
      <p:sp>
        <p:nvSpPr>
          <p:cNvPr id="273" name="Rounded Rectangle 272"/>
          <p:cNvSpPr/>
          <p:nvPr/>
        </p:nvSpPr>
        <p:spPr>
          <a:xfrm>
            <a:off x="8090611" y="2194560"/>
            <a:ext cx="1554480" cy="1234440"/>
          </a:xfrm>
          <a:prstGeom prst="roundRect">
            <a:avLst>
              <a:gd name="adj" fmla="val 12348"/>
            </a:avLst>
          </a:prstGeom>
          <a:solidFill>
            <a:srgbClr val="24375F"/>
          </a:solidFill>
          <a:ln>
            <a:noFill/>
          </a:ln>
        </p:spPr>
        <p:txBody>
          <a:bodyPr rtlCol="0" anchor="ctr"/>
          <a:lstStyle/>
          <a:p>
            <a:pPr algn="ctr"/>
          </a:p>
        </p:txBody>
      </p:sp>
      <p:sp>
        <p:nvSpPr>
          <p:cNvPr id="274" name="Rectangle 273"/>
          <p:cNvSpPr/>
          <p:nvPr/>
        </p:nvSpPr>
        <p:spPr>
          <a:xfrm>
            <a:off x="8090611"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75" name="TextBox 274"/>
          <p:cNvSpPr txBox="1"/>
          <p:nvPr/>
        </p:nvSpPr>
        <p:spPr>
          <a:xfrm>
            <a:off x="8200339"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Agent Rédacteur</a:t>
            </a:r>
          </a:p>
        </p:txBody>
      </p:sp>
      <p:sp>
        <p:nvSpPr>
          <p:cNvPr id="276" name="TextBox 275"/>
          <p:cNvSpPr txBox="1"/>
          <p:nvPr/>
        </p:nvSpPr>
        <p:spPr>
          <a:xfrm>
            <a:off x="8200339"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message du matin</a:t>
            </a:r>
          </a:p>
        </p:txBody>
      </p:sp>
      <p:cxnSp>
        <p:nvCxnSpPr>
          <p:cNvPr id="277" name="Connector 276"/>
          <p:cNvCxnSpPr/>
          <p:nvPr/>
        </p:nvCxnSpPr>
        <p:spPr>
          <a:xfrm>
            <a:off x="9663379" y="2807208"/>
            <a:ext cx="257861" cy="0"/>
          </a:xfrm>
          <a:prstGeom prst="line">
            <a:avLst/>
          </a:prstGeom>
          <a:ln w="22225">
            <a:solidFill>
              <a:srgbClr val="7ACFC0"/>
            </a:solidFill>
            <a:tailEnd type="triangle" w="med" len="med"/>
          </a:ln>
        </p:spPr>
      </p:cxnSp>
      <p:sp>
        <p:nvSpPr>
          <p:cNvPr id="278" name="Rounded Rectangle 277"/>
          <p:cNvSpPr/>
          <p:nvPr/>
        </p:nvSpPr>
        <p:spPr>
          <a:xfrm>
            <a:off x="9939528" y="2194560"/>
            <a:ext cx="1554480" cy="1234440"/>
          </a:xfrm>
          <a:prstGeom prst="roundRect">
            <a:avLst>
              <a:gd name="adj" fmla="val 12348"/>
            </a:avLst>
          </a:prstGeom>
          <a:solidFill>
            <a:srgbClr val="24375F"/>
          </a:solidFill>
          <a:ln>
            <a:noFill/>
          </a:ln>
        </p:spPr>
        <p:txBody>
          <a:bodyPr rtlCol="0" anchor="ctr"/>
          <a:lstStyle/>
          <a:p>
            <a:pPr algn="ctr"/>
          </a:p>
        </p:txBody>
      </p:sp>
      <p:sp>
        <p:nvSpPr>
          <p:cNvPr id="279" name="Rectangle 278"/>
          <p:cNvSpPr/>
          <p:nvPr/>
        </p:nvSpPr>
        <p:spPr>
          <a:xfrm>
            <a:off x="9939528" y="2194560"/>
            <a:ext cx="1554480" cy="1234440"/>
          </a:xfrm>
          <a:custGeom>
            <a:rect b="b" l="l" r="r" t="t"/>
            <a:pathLst>
              <a:path extrusionOk="0" h="123444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80" name="TextBox 279"/>
          <p:cNvSpPr txBox="1"/>
          <p:nvPr/>
        </p:nvSpPr>
        <p:spPr>
          <a:xfrm>
            <a:off x="10049256" y="2395728"/>
            <a:ext cx="1335024" cy="457200"/>
          </a:xfrm>
          <a:prstGeom prst="rect">
            <a:avLst/>
          </a:prstGeom>
          <a:noFill/>
        </p:spPr>
        <p:txBody>
          <a:bodyPr wrap="square" lIns="0" tIns="0" rIns="0" bIns="0" anchor="t">
            <a:noAutofit/>
          </a:bodyPr>
          <a:lstStyle/>
          <a:p>
            <a:pPr algn="l">
              <a:lnSpc>
                <a:spcPct val="105000"/>
              </a:lnSpc>
              <a:spcBef>
                <a:spcPts val="0"/>
              </a:spcBef>
              <a:spcAft>
                <a:spcPts val="0"/>
              </a:spcAft>
            </a:pPr>
            <a:r>
              <a:rPr sz="1350" b="1" i="0">
                <a:solidFill>
                  <a:srgbClr val="FFFFFF"/>
                </a:solidFill>
                <a:latin typeface="Sora"/>
              </a:rPr>
              <a:t>Slack</a:t>
            </a:r>
          </a:p>
        </p:txBody>
      </p:sp>
      <p:sp>
        <p:nvSpPr>
          <p:cNvPr id="281" name="TextBox 280"/>
          <p:cNvSpPr txBox="1"/>
          <p:nvPr/>
        </p:nvSpPr>
        <p:spPr>
          <a:xfrm>
            <a:off x="10049256" y="2907792"/>
            <a:ext cx="1335024" cy="457200"/>
          </a:xfrm>
          <a:prstGeom prst="rect">
            <a:avLst/>
          </a:prstGeom>
          <a:noFill/>
        </p:spPr>
        <p:txBody>
          <a:bodyPr wrap="square" lIns="0" tIns="0" rIns="0" bIns="0" anchor="t">
            <a:noAutofit/>
          </a:bodyPr>
          <a:lstStyle/>
          <a:p>
            <a:pPr algn="l">
              <a:lnSpc>
                <a:spcPct val="110000"/>
              </a:lnSpc>
              <a:spcBef>
                <a:spcPts val="0"/>
              </a:spcBef>
              <a:spcAft>
                <a:spcPts val="0"/>
              </a:spcAft>
            </a:pPr>
            <a:r>
              <a:rPr sz="1100" b="0" i="0">
                <a:solidFill>
                  <a:srgbClr val="C9D1E8"/>
                </a:solidFill>
                <a:latin typeface="DM Sans"/>
              </a:rPr>
              <a:t>webhook</a:t>
            </a:r>
          </a:p>
        </p:txBody>
      </p:sp>
      <p:sp>
        <p:nvSpPr>
          <p:cNvPr id="282" name="Rounded Rectangle 281"/>
          <p:cNvSpPr/>
          <p:nvPr/>
        </p:nvSpPr>
        <p:spPr>
          <a:xfrm>
            <a:off x="694944" y="3840480"/>
            <a:ext cx="4937760" cy="2286000"/>
          </a:xfrm>
          <a:prstGeom prst="roundRect">
            <a:avLst>
              <a:gd name="adj" fmla="val 6667"/>
            </a:avLst>
          </a:prstGeom>
          <a:solidFill>
            <a:srgbClr val="24375F"/>
          </a:solidFill>
          <a:ln>
            <a:noFill/>
          </a:ln>
        </p:spPr>
        <p:txBody>
          <a:bodyPr rtlCol="0" anchor="ctr"/>
          <a:lstStyle/>
          <a:p>
            <a:pPr algn="ctr"/>
          </a:p>
        </p:txBody>
      </p:sp>
      <p:sp>
        <p:nvSpPr>
          <p:cNvPr id="283" name="Rectangle 282"/>
          <p:cNvSpPr/>
          <p:nvPr/>
        </p:nvSpPr>
        <p:spPr>
          <a:xfrm>
            <a:off x="694944" y="3840480"/>
            <a:ext cx="4937760" cy="2286000"/>
          </a:xfrm>
          <a:custGeom>
            <a:rect b="b" l="l" r="r" t="t"/>
            <a:pathLst>
              <a:path extrusionOk="0" h="2286000" w="4937760">
                <a:moveTo>
                  <a:pt x="0" y="152400"/>
                </a:moveTo>
                <a:cubicBezTo>
                  <a:pt x="0" y="68229"/>
                  <a:pt x="68229" y="0"/>
                  <a:pt x="152400" y="0"/>
                </a:cubicBezTo>
                <a:lnTo>
                  <a:pt x="4785360" y="0"/>
                </a:lnTo>
                <a:cubicBezTo>
                  <a:pt x="4869530" y="0"/>
                  <a:pt x="4937760" y="68229"/>
                  <a:pt x="4937760" y="152400"/>
                </a:cubicBezTo>
                <a:cubicBezTo>
                  <a:pt x="4937760" y="103311"/>
                  <a:pt x="4869531" y="63500"/>
                  <a:pt x="478536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284" name="TextBox 283"/>
          <p:cNvSpPr txBox="1"/>
          <p:nvPr/>
        </p:nvSpPr>
        <p:spPr>
          <a:xfrm>
            <a:off x="914400" y="4023360"/>
            <a:ext cx="457200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Workly</a:t>
            </a:r>
          </a:p>
        </p:txBody>
      </p:sp>
      <p:sp>
        <p:nvSpPr>
          <p:cNvPr id="285" name="Rounded Rectangle 284"/>
          <p:cNvSpPr/>
          <p:nvPr/>
        </p:nvSpPr>
        <p:spPr>
          <a:xfrm>
            <a:off x="914400" y="4480560"/>
            <a:ext cx="2103120" cy="822960"/>
          </a:xfrm>
          <a:prstGeom prst="roundRect">
            <a:avLst>
              <a:gd name="adj" fmla="val 11111"/>
            </a:avLst>
          </a:prstGeom>
          <a:solidFill>
            <a:srgbClr val="142040"/>
          </a:solidFill>
          <a:ln>
            <a:noFill/>
          </a:ln>
        </p:spPr>
        <p:txBody>
          <a:bodyPr rtlCol="0" anchor="ctr"/>
          <a:lstStyle/>
          <a:p>
            <a:pPr algn="ctr"/>
          </a:p>
        </p:txBody>
      </p:sp>
      <p:sp>
        <p:nvSpPr>
          <p:cNvPr id="286" name="TextBox 285"/>
          <p:cNvSpPr txBox="1"/>
          <p:nvPr/>
        </p:nvSpPr>
        <p:spPr>
          <a:xfrm>
            <a:off x="1005840" y="4480560"/>
            <a:ext cx="1920240" cy="822960"/>
          </a:xfrm>
          <a:prstGeom prst="rect">
            <a:avLst/>
          </a:prstGeom>
          <a:noFill/>
        </p:spPr>
        <p:txBody>
          <a:bodyPr wrap="square" lIns="0" tIns="0" rIns="0" bIns="0" anchor="ctr">
            <a:noAutofit/>
          </a:bodyPr>
          <a:lstStyle/>
          <a:p>
            <a:pPr algn="l">
              <a:lnSpc>
                <a:spcPct val="110000"/>
              </a:lnSpc>
              <a:spcBef>
                <a:spcPts val="0"/>
              </a:spcBef>
              <a:spcAft>
                <a:spcPts val="0"/>
              </a:spcAft>
            </a:pPr>
            <a:r>
              <a:rPr sz="1200" b="0" i="0">
                <a:solidFill>
                  <a:srgbClr val="E4E9F5"/>
                </a:solidFill>
                <a:latin typeface="DM Sans"/>
              </a:rPr>
              <a:t>Journal des tâches</a:t>
            </a:r>
          </a:p>
          <a:p>
            <a:pPr algn="l">
              <a:lnSpc>
                <a:spcPct val="110000"/>
              </a:lnSpc>
              <a:spcBef>
                <a:spcPts val="0"/>
              </a:spcBef>
              <a:spcAft>
                <a:spcPts val="0"/>
              </a:spcAft>
            </a:pPr>
            <a:r>
              <a:rPr sz="1200" b="0" i="0">
                <a:solidFill>
                  <a:srgbClr val="E4E9F5"/>
                </a:solidFill>
                <a:latin typeface="DM Sans"/>
              </a:rPr>
              <a:t>→ statut du bilan</a:t>
            </a:r>
          </a:p>
        </p:txBody>
      </p:sp>
      <p:sp>
        <p:nvSpPr>
          <p:cNvPr id="287" name="Rounded Rectangle 286"/>
          <p:cNvSpPr/>
          <p:nvPr/>
        </p:nvSpPr>
        <p:spPr>
          <a:xfrm>
            <a:off x="3200400" y="4480560"/>
            <a:ext cx="2194560" cy="822960"/>
          </a:xfrm>
          <a:prstGeom prst="roundRect">
            <a:avLst>
              <a:gd name="adj" fmla="val 11111"/>
            </a:avLst>
          </a:prstGeom>
          <a:solidFill>
            <a:srgbClr val="142040"/>
          </a:solidFill>
          <a:ln>
            <a:noFill/>
          </a:ln>
        </p:spPr>
        <p:txBody>
          <a:bodyPr rtlCol="0" anchor="ctr"/>
          <a:lstStyle/>
          <a:p>
            <a:pPr algn="ctr"/>
          </a:p>
        </p:txBody>
      </p:sp>
      <p:sp>
        <p:nvSpPr>
          <p:cNvPr id="288" name="TextBox 287"/>
          <p:cNvSpPr txBox="1"/>
          <p:nvPr/>
        </p:nvSpPr>
        <p:spPr>
          <a:xfrm>
            <a:off x="3291840" y="4480560"/>
            <a:ext cx="2011680" cy="822960"/>
          </a:xfrm>
          <a:prstGeom prst="rect">
            <a:avLst/>
          </a:prstGeom>
          <a:noFill/>
        </p:spPr>
        <p:txBody>
          <a:bodyPr wrap="square" lIns="0" tIns="0" rIns="0" bIns="0" anchor="ctr">
            <a:noAutofit/>
          </a:bodyPr>
          <a:lstStyle/>
          <a:p>
            <a:pPr algn="l">
              <a:lnSpc>
                <a:spcPct val="110000"/>
              </a:lnSpc>
              <a:spcBef>
                <a:spcPts val="0"/>
              </a:spcBef>
              <a:spcAft>
                <a:spcPts val="0"/>
              </a:spcAft>
            </a:pPr>
            <a:r>
              <a:rPr sz="1200" b="0" i="0">
                <a:solidFill>
                  <a:srgbClr val="E4E9F5"/>
                </a:solidFill>
                <a:latin typeface="DM Sans"/>
              </a:rPr>
              <a:t>Base de connaissances</a:t>
            </a:r>
          </a:p>
          <a:p>
            <a:pPr algn="l">
              <a:lnSpc>
                <a:spcPct val="110000"/>
              </a:lnSpc>
              <a:spcBef>
                <a:spcPts val="0"/>
              </a:spcBef>
              <a:spcAft>
                <a:spcPts val="0"/>
              </a:spcAft>
            </a:pPr>
            <a:r>
              <a:rPr sz="1200" b="0" i="0">
                <a:solidFill>
                  <a:srgbClr val="E4E9F5"/>
                </a:solidFill>
                <a:latin typeface="DM Sans"/>
              </a:rPr>
              <a:t>→ passages (RAG)</a:t>
            </a:r>
          </a:p>
        </p:txBody>
      </p:sp>
      <p:sp>
        <p:nvSpPr>
          <p:cNvPr id="289" name="TextBox 288"/>
          <p:cNvSpPr txBox="1"/>
          <p:nvPr/>
        </p:nvSpPr>
        <p:spPr>
          <a:xfrm>
            <a:off x="914400" y="5440680"/>
            <a:ext cx="4572000" cy="548640"/>
          </a:xfrm>
          <a:prstGeom prst="rect">
            <a:avLst/>
          </a:prstGeom>
          <a:noFill/>
        </p:spPr>
        <p:txBody>
          <a:bodyPr wrap="square" lIns="0" tIns="0" rIns="0" bIns="0" anchor="t">
            <a:noAutofit/>
          </a:bodyPr>
          <a:lstStyle/>
          <a:p>
            <a:pPr algn="l">
              <a:lnSpc>
                <a:spcPct val="112000"/>
              </a:lnSpc>
              <a:spcBef>
                <a:spcPts val="0"/>
              </a:spcBef>
              <a:spcAft>
                <a:spcPts val="0"/>
              </a:spcAft>
            </a:pPr>
            <a:r>
              <a:rPr sz="1200" b="0" i="0">
                <a:solidFill>
                  <a:srgbClr val="C9D1E8"/>
                </a:solidFill>
                <a:latin typeface="DM Sans"/>
              </a:rPr>
              <a:t>Retrieval et augmentation se font ici : les passages sont ajoutés au bilan avant l’envoi.</a:t>
            </a:r>
          </a:p>
        </p:txBody>
      </p:sp>
      <p:cxnSp>
        <p:nvCxnSpPr>
          <p:cNvPr id="290" name="Connector 289"/>
          <p:cNvCxnSpPr/>
          <p:nvPr/>
        </p:nvCxnSpPr>
        <p:spPr>
          <a:xfrm flipV="1">
            <a:off x="1472184" y="3456432"/>
            <a:ext cx="0" cy="365760"/>
          </a:xfrm>
          <a:prstGeom prst="line">
            <a:avLst/>
          </a:prstGeom>
          <a:ln w="25400">
            <a:solidFill>
              <a:srgbClr val="7ACFC0"/>
            </a:solidFill>
            <a:tailEnd type="triangle" w="med" len="med"/>
          </a:ln>
        </p:spPr>
      </p:cxnSp>
      <p:sp>
        <p:nvSpPr>
          <p:cNvPr id="291" name="Rounded Rectangle 290"/>
          <p:cNvSpPr/>
          <p:nvPr/>
        </p:nvSpPr>
        <p:spPr>
          <a:xfrm>
            <a:off x="5852160" y="3840480"/>
            <a:ext cx="5641848" cy="2286000"/>
          </a:xfrm>
          <a:prstGeom prst="roundRect">
            <a:avLst>
              <a:gd name="adj" fmla="val 4800"/>
            </a:avLst>
          </a:prstGeom>
          <a:solidFill>
            <a:srgbClr val="142040"/>
          </a:solidFill>
          <a:ln>
            <a:noFill/>
          </a:ln>
        </p:spPr>
        <p:txBody>
          <a:bodyPr rtlCol="0" anchor="ctr"/>
          <a:lstStyle/>
          <a:p>
            <a:pPr algn="ctr"/>
          </a:p>
        </p:txBody>
      </p:sp>
      <p:sp>
        <p:nvSpPr>
          <p:cNvPr id="292" name="TextBox 291"/>
          <p:cNvSpPr txBox="1"/>
          <p:nvPr/>
        </p:nvSpPr>
        <p:spPr>
          <a:xfrm>
            <a:off x="6080760" y="3968496"/>
            <a:ext cx="52120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CE QUE REÇOIT, PUIS RENVOIE, L’ANALYSTE</a:t>
            </a:r>
          </a:p>
        </p:txBody>
      </p:sp>
      <p:sp>
        <p:nvSpPr>
          <p:cNvPr id="293" name="TextBox 292"/>
          <p:cNvSpPr txBox="1"/>
          <p:nvPr/>
        </p:nvSpPr>
        <p:spPr>
          <a:xfrm>
            <a:off x="6080760" y="4297680"/>
            <a:ext cx="5303520" cy="173736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A9B4D0"/>
                </a:solidFill>
                <a:latin typeface="Consolas"/>
              </a:rPr>
              <a:t>reçoit :</a:t>
            </a:r>
          </a:p>
          <a:p>
            <a:pPr algn="l">
              <a:lnSpc>
                <a:spcPct val="115000"/>
              </a:lnSpc>
              <a:spcBef>
                <a:spcPts val="0"/>
              </a:spcBef>
              <a:spcAft>
                <a:spcPts val="0"/>
              </a:spcAft>
            </a:pPr>
            <a:r>
              <a:rPr sz="1200" b="0" i="0">
                <a:solidFill>
                  <a:srgbClr val="FFFFFF"/>
                </a:solidFill>
                <a:latin typeface="Consolas"/>
              </a:rPr>
              <a:t>  statut_global, etapes_nuit_manquantes,</a:t>
            </a:r>
          </a:p>
          <a:p>
            <a:pPr algn="l">
              <a:lnSpc>
                <a:spcPct val="115000"/>
              </a:lnSpc>
              <a:spcBef>
                <a:spcPts val="0"/>
              </a:spcBef>
              <a:spcAft>
                <a:spcPts val="0"/>
              </a:spcAft>
            </a:pPr>
            <a:r>
              <a:rPr sz="1200" b="0" i="0">
                <a:solidFill>
                  <a:srgbClr val="FFFFFF"/>
                </a:solidFill>
                <a:latin typeface="Consolas"/>
              </a:rPr>
              <a:t>  echecs_recents, </a:t>
            </a:r>
            <a:r>
              <a:rPr sz="1200" b="1" i="0">
                <a:solidFill>
                  <a:srgbClr val="7ACFC0"/>
                </a:solidFill>
                <a:latin typeface="Consolas"/>
              </a:rPr>
              <a:t>connaissances</a:t>
            </a:r>
            <a:r>
              <a:rPr sz="1200" b="0" i="0">
                <a:solidFill>
                  <a:srgbClr val="FFFFFF"/>
                </a:solidFill>
                <a:latin typeface="Consolas"/>
              </a:rPr>
              <a:t> [ section, texte ]</a:t>
            </a:r>
          </a:p>
          <a:p>
            <a:pPr algn="l">
              <a:lnSpc>
                <a:spcPct val="115000"/>
              </a:lnSpc>
              <a:spcBef>
                <a:spcPts val="0"/>
              </a:spcBef>
              <a:spcAft>
                <a:spcPts val="0"/>
              </a:spcAft>
            </a:pPr>
            <a:r>
              <a:rPr sz="1200" b="0" i="0">
                <a:solidFill>
                  <a:srgbClr val="A9B4D0"/>
                </a:solidFill>
                <a:latin typeface="Consolas"/>
              </a:rPr>
              <a:t>renvoie :</a:t>
            </a:r>
          </a:p>
          <a:p>
            <a:pPr algn="l">
              <a:lnSpc>
                <a:spcPct val="115000"/>
              </a:lnSpc>
              <a:spcBef>
                <a:spcPts val="0"/>
              </a:spcBef>
              <a:spcAft>
                <a:spcPts val="0"/>
              </a:spcAft>
            </a:pPr>
            <a:r>
              <a:rPr sz="1200" b="0" i="0">
                <a:solidFill>
                  <a:srgbClr val="FFFFFF"/>
                </a:solidFill>
                <a:latin typeface="Consolas"/>
              </a:rPr>
              <a:t>  gravite, resume,</a:t>
            </a:r>
          </a:p>
          <a:p>
            <a:pPr algn="l">
              <a:lnSpc>
                <a:spcPct val="115000"/>
              </a:lnSpc>
              <a:spcBef>
                <a:spcPts val="0"/>
              </a:spcBef>
              <a:spcAft>
                <a:spcPts val="0"/>
              </a:spcAft>
            </a:pPr>
            <a:r>
              <a:rPr sz="1200" b="0" i="0">
                <a:solidFill>
                  <a:srgbClr val="FFFFFF"/>
                </a:solidFill>
                <a:latin typeface="Consolas"/>
              </a:rPr>
              <a:t>  problemes [ tache, cause_probable, action, </a:t>
            </a:r>
            <a:r>
              <a:rPr sz="1200" b="1" i="0">
                <a:solidFill>
                  <a:srgbClr val="7ACFC0"/>
                </a:solidFill>
                <a:latin typeface="Consolas"/>
              </a:rPr>
              <a:t>source</a:t>
            </a:r>
            <a:r>
              <a:rPr sz="1200" b="0" i="0">
                <a:solidFill>
                  <a:srgbClr val="FFFFFF"/>
                </a:solidFill>
                <a:latin typeface="Consolas"/>
              </a:rPr>
              <a:t>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Résultats : les messages citent la cause et l’action de la base de connaissances</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45</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5312664" cy="1965960"/>
          </a:xfrm>
          <a:prstGeom prst="roundRect">
            <a:avLst>
              <a:gd name="adj" fmla="val 7753"/>
            </a:avLst>
          </a:prstGeom>
          <a:solidFill>
            <a:srgbClr val="FFFFFF"/>
          </a:solidFill>
          <a:ln>
            <a:noFill/>
          </a:ln>
        </p:spPr>
        <p:txBody>
          <a:bodyPr rtlCol="0" anchor="ctr"/>
          <a:lstStyle/>
          <a:p>
            <a:pPr algn="ctr"/>
          </a:p>
        </p:txBody>
      </p:sp>
      <p:sp>
        <p:nvSpPr>
          <p:cNvPr id="114" name="Rectangle 113"/>
          <p:cNvSpPr/>
          <p:nvPr/>
        </p:nvSpPr>
        <p:spPr>
          <a:xfrm>
            <a:off x="694944" y="1773936"/>
            <a:ext cx="5312664" cy="1965960"/>
          </a:xfrm>
          <a:custGeom>
            <a:rect b="b" l="l" r="r" t="t"/>
            <a:pathLst>
              <a:path extrusionOk="0" h="196596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15" name="Rounded Rectangle 114"/>
          <p:cNvSpPr/>
          <p:nvPr/>
        </p:nvSpPr>
        <p:spPr>
          <a:xfrm>
            <a:off x="923544" y="1993392"/>
            <a:ext cx="1188720" cy="256032"/>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SANS RAG</a:t>
            </a:r>
          </a:p>
        </p:txBody>
      </p:sp>
      <p:sp>
        <p:nvSpPr>
          <p:cNvPr id="116" name="TextBox 115"/>
          <p:cNvSpPr txBox="1"/>
          <p:nvPr/>
        </p:nvSpPr>
        <p:spPr>
          <a:xfrm>
            <a:off x="923544" y="2377440"/>
            <a:ext cx="4892040" cy="128016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 Actions requises : 1. Vérifier le planificateur de tâches ou les services d’automatisation. 2. Relancer manuellement les étapes manquantes. »</a:t>
            </a:r>
          </a:p>
        </p:txBody>
      </p:sp>
      <p:sp>
        <p:nvSpPr>
          <p:cNvPr id="117" name="Rounded Rectangle 116"/>
          <p:cNvSpPr/>
          <p:nvPr/>
        </p:nvSpPr>
        <p:spPr>
          <a:xfrm>
            <a:off x="6181344" y="1773936"/>
            <a:ext cx="5312664" cy="1965960"/>
          </a:xfrm>
          <a:prstGeom prst="roundRect">
            <a:avLst>
              <a:gd name="adj" fmla="val 7753"/>
            </a:avLst>
          </a:prstGeom>
          <a:solidFill>
            <a:srgbClr val="FFFFFF"/>
          </a:solidFill>
          <a:ln>
            <a:noFill/>
          </a:ln>
        </p:spPr>
        <p:txBody>
          <a:bodyPr rtlCol="0" anchor="ctr"/>
          <a:lstStyle/>
          <a:p>
            <a:pPr algn="ctr"/>
          </a:p>
        </p:txBody>
      </p:sp>
      <p:sp>
        <p:nvSpPr>
          <p:cNvPr id="118" name="Rectangle 117"/>
          <p:cNvSpPr/>
          <p:nvPr/>
        </p:nvSpPr>
        <p:spPr>
          <a:xfrm>
            <a:off x="6181344" y="1773936"/>
            <a:ext cx="5312664" cy="1965960"/>
          </a:xfrm>
          <a:custGeom>
            <a:rect b="b" l="l" r="r" t="t"/>
            <a:pathLst>
              <a:path extrusionOk="0" h="196596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19" name="Rounded Rectangle 118"/>
          <p:cNvSpPr/>
          <p:nvPr/>
        </p:nvSpPr>
        <p:spPr>
          <a:xfrm>
            <a:off x="6409944" y="1993392"/>
            <a:ext cx="1188720" cy="256032"/>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AVEC RAG</a:t>
            </a:r>
          </a:p>
        </p:txBody>
      </p:sp>
      <p:sp>
        <p:nvSpPr>
          <p:cNvPr id="120" name="TextBox 119"/>
          <p:cNvSpPr txBox="1"/>
          <p:nvPr/>
        </p:nvSpPr>
        <p:spPr>
          <a:xfrm>
            <a:off x="6409944" y="2377440"/>
            <a:ext cx="4892040" cy="128016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 Cause probable : le PC était éteint ou en veille à 00:30 UTC, ou le planificateur était arrêté. Action : relancer le planificateur (scripts/demarrer_workly.ps1 -Planifier), puis exécuter la chaîne manquante. »</a:t>
            </a:r>
          </a:p>
        </p:txBody>
      </p:sp>
      <p:sp>
        <p:nvSpPr>
          <p:cNvPr id="121" name="TextBox 120"/>
          <p:cNvSpPr txBox="1"/>
          <p:nvPr/>
        </p:nvSpPr>
        <p:spPr>
          <a:xfrm>
            <a:off x="694944" y="3858768"/>
            <a:ext cx="10789920" cy="256032"/>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Même situation : nuit incomplète.</a:t>
            </a:r>
          </a:p>
        </p:txBody>
      </p:sp>
      <p:sp>
        <p:nvSpPr>
          <p:cNvPr id="122" name="Rounded Rectangle 121"/>
          <p:cNvSpPr/>
          <p:nvPr/>
        </p:nvSpPr>
        <p:spPr>
          <a:xfrm>
            <a:off x="694944" y="4251960"/>
            <a:ext cx="3483864" cy="1828800"/>
          </a:xfrm>
          <a:prstGeom prst="roundRect">
            <a:avLst>
              <a:gd name="adj" fmla="val 8335"/>
            </a:avLst>
          </a:prstGeom>
          <a:solidFill>
            <a:srgbClr val="FFFFFF"/>
          </a:solidFill>
          <a:ln>
            <a:noFill/>
          </a:ln>
        </p:spPr>
        <p:txBody>
          <a:bodyPr rtlCol="0" anchor="ctr"/>
          <a:lstStyle/>
          <a:p>
            <a:pPr algn="ctr"/>
          </a:p>
        </p:txBody>
      </p:sp>
      <p:sp>
        <p:nvSpPr>
          <p:cNvPr id="123" name="Rectangle 122"/>
          <p:cNvSpPr/>
          <p:nvPr/>
        </p:nvSpPr>
        <p:spPr>
          <a:xfrm>
            <a:off x="6949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24" name="TextBox 123"/>
          <p:cNvSpPr txBox="1"/>
          <p:nvPr/>
        </p:nvSpPr>
        <p:spPr>
          <a:xfrm>
            <a:off x="8961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Panne simulée de la sauvegarde</a:t>
            </a:r>
          </a:p>
        </p:txBody>
      </p:sp>
      <p:sp>
        <p:nvSpPr>
          <p:cNvPr id="125" name="Rounded Rectangle 124"/>
          <p:cNvSpPr/>
          <p:nvPr/>
        </p:nvSpPr>
        <p:spPr>
          <a:xfrm>
            <a:off x="8961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critique</a:t>
            </a:r>
          </a:p>
        </p:txBody>
      </p:sp>
      <p:sp>
        <p:nvSpPr>
          <p:cNvPr id="126" name="TextBox 125"/>
          <p:cNvSpPr txBox="1"/>
          <p:nvPr/>
        </p:nvSpPr>
        <p:spPr>
          <a:xfrm>
            <a:off x="8961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pg_dump est introuvable : installer les outils PostgreSQL ou renseigner WORKLY_PG_DUMP.</a:t>
            </a:r>
          </a:p>
        </p:txBody>
      </p:sp>
      <p:sp>
        <p:nvSpPr>
          <p:cNvPr id="127" name="Rounded Rectangle 126"/>
          <p:cNvSpPr/>
          <p:nvPr/>
        </p:nvSpPr>
        <p:spPr>
          <a:xfrm>
            <a:off x="4352544" y="4251960"/>
            <a:ext cx="3483864" cy="1828800"/>
          </a:xfrm>
          <a:prstGeom prst="roundRect">
            <a:avLst>
              <a:gd name="adj" fmla="val 8335"/>
            </a:avLst>
          </a:prstGeom>
          <a:solidFill>
            <a:srgbClr val="FFFFFF"/>
          </a:solidFill>
          <a:ln>
            <a:noFill/>
          </a:ln>
        </p:spPr>
        <p:txBody>
          <a:bodyPr rtlCol="0" anchor="ctr"/>
          <a:lstStyle/>
          <a:p>
            <a:pPr algn="ctr"/>
          </a:p>
        </p:txBody>
      </p:sp>
      <p:sp>
        <p:nvSpPr>
          <p:cNvPr id="128" name="Rectangle 127"/>
          <p:cNvSpPr/>
          <p:nvPr/>
        </p:nvSpPr>
        <p:spPr>
          <a:xfrm>
            <a:off x="43525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29" name="TextBox 128"/>
          <p:cNvSpPr txBox="1"/>
          <p:nvPr/>
        </p:nvSpPr>
        <p:spPr>
          <a:xfrm>
            <a:off x="45537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Nuit non exécutée (PC éteint)</a:t>
            </a:r>
          </a:p>
        </p:txBody>
      </p:sp>
      <p:sp>
        <p:nvSpPr>
          <p:cNvPr id="130" name="Rounded Rectangle 129"/>
          <p:cNvSpPr/>
          <p:nvPr/>
        </p:nvSpPr>
        <p:spPr>
          <a:xfrm>
            <a:off x="45537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attention</a:t>
            </a:r>
          </a:p>
        </p:txBody>
      </p:sp>
      <p:sp>
        <p:nvSpPr>
          <p:cNvPr id="131" name="TextBox 130"/>
          <p:cNvSpPr txBox="1"/>
          <p:nvPr/>
        </p:nvSpPr>
        <p:spPr>
          <a:xfrm>
            <a:off x="45537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Relancer le planificateur, puis exécuter la chaîne manquante.</a:t>
            </a:r>
          </a:p>
        </p:txBody>
      </p:sp>
      <p:sp>
        <p:nvSpPr>
          <p:cNvPr id="132" name="Rounded Rectangle 131"/>
          <p:cNvSpPr/>
          <p:nvPr/>
        </p:nvSpPr>
        <p:spPr>
          <a:xfrm>
            <a:off x="8010144" y="4251960"/>
            <a:ext cx="3483864" cy="1828800"/>
          </a:xfrm>
          <a:prstGeom prst="roundRect">
            <a:avLst>
              <a:gd name="adj" fmla="val 8335"/>
            </a:avLst>
          </a:prstGeom>
          <a:solidFill>
            <a:srgbClr val="FFFFFF"/>
          </a:solidFill>
          <a:ln>
            <a:noFill/>
          </a:ln>
        </p:spPr>
        <p:txBody>
          <a:bodyPr rtlCol="0" anchor="ctr"/>
          <a:lstStyle/>
          <a:p>
            <a:pPr algn="ctr"/>
          </a:p>
        </p:txBody>
      </p:sp>
      <p:sp>
        <p:nvSpPr>
          <p:cNvPr id="133" name="Rectangle 132"/>
          <p:cNvSpPr/>
          <p:nvPr/>
        </p:nvSpPr>
        <p:spPr>
          <a:xfrm>
            <a:off x="80101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34" name="TextBox 133"/>
          <p:cNvSpPr txBox="1"/>
          <p:nvPr/>
        </p:nvSpPr>
        <p:spPr>
          <a:xfrm>
            <a:off x="82113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Nuit réussie</a:t>
            </a:r>
          </a:p>
        </p:txBody>
      </p:sp>
      <p:sp>
        <p:nvSpPr>
          <p:cNvPr id="135" name="Rounded Rectangle 134"/>
          <p:cNvSpPr/>
          <p:nvPr/>
        </p:nvSpPr>
        <p:spPr>
          <a:xfrm>
            <a:off x="82113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ok</a:t>
            </a:r>
          </a:p>
        </p:txBody>
      </p:sp>
      <p:sp>
        <p:nvSpPr>
          <p:cNvPr id="136" name="TextBox 135"/>
          <p:cNvSpPr txBox="1"/>
          <p:nvPr/>
        </p:nvSpPr>
        <p:spPr>
          <a:xfrm>
            <a:off x="82113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Situation nominale : aucune action corrective requise.</a:t>
            </a:r>
          </a:p>
        </p:txBody>
      </p:sp>
      <p:sp>
        <p:nvSpPr>
          <p:cNvPr id="137" name="TextBox 136"/>
          <p:cNvSpPr txBox="1"/>
          <p:nvPr/>
        </p:nvSpPr>
        <p:spPr>
          <a:xfrm>
            <a:off x="694944" y="6345936"/>
            <a:ext cx="9875520" cy="22860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exécutions réelles du flux Agentic AI, octobre 2026.</a:t>
            </a:r>
          </a:p>
        </p:txBody>
      </p:sp>
    </p:spTree>
  </p:cSld>
  <p:clrMapOvr>
    <a:masterClrMapping/>
  </p:clrMapOvr>
</p:sld>
</file>

<file path=ppt/theme/theme1.xml><?xml version="1.0" encoding="utf-8"?>
<a:theme xmlns:a="http://schemas.openxmlformats.org/drawingml/2006/main" xmlns:r="http://schemas.openxmlformats.org/officeDocument/2006/relationships" name="Workly Automation">
  <a:themeElements>
    <a:clrScheme name="Workly Automation">
      <a:dk1>
        <a:srgbClr val="14213D"/>
      </a:dk1>
      <a:lt1>
        <a:srgbClr val="FFFFFF"/>
      </a:lt1>
      <a:dk2>
        <a:srgbClr val="0E2A47"/>
      </a:dk2>
      <a:lt2>
        <a:srgbClr val="EEF2F7"/>
      </a:lt2>
      <a:accent1>
        <a:srgbClr val="2B5FD9"/>
      </a:accent1>
      <a:accent2>
        <a:srgbClr val="D9531E"/>
      </a:accent2>
      <a:accent3>
        <a:srgbClr val="1F8F7F"/>
      </a:accent3>
      <a:accent4>
        <a:srgbClr val="5B6875"/>
      </a:accent4>
      <a:accent5>
        <a:srgbClr val="B3261E"/>
      </a:accent5>
      <a:accent6>
        <a:srgbClr val="E3A81B"/>
      </a:accent6>
      <a:hlink>
        <a:srgbClr val="2B5FD9"/>
      </a:hlink>
      <a:folHlink>
        <a:srgbClr val="5B68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LY : Modèles de prévision, validité et automatisation (2.3.3)">
  <a:themeElements>
    <a:clrScheme name="WORKLY : Modèles de prévision, validité et automatisation (2.3.3)">
      <a:dk1>
        <a:srgbClr val="1B2A4A"/>
      </a:dk1>
      <a:lt1>
        <a:srgbClr val="F4F6FB"/>
      </a:lt1>
      <a:dk2>
        <a:srgbClr val="515D76"/>
      </a:dk2>
      <a:lt2>
        <a:srgbClr val="DEE2E9"/>
      </a:lt2>
      <a:accent1>
        <a:srgbClr val="7ACFC0"/>
      </a:accent1>
      <a:accent2>
        <a:srgbClr val="6B3FA0"/>
      </a:accent2>
      <a:accent3>
        <a:srgbClr val="4A9BE0"/>
      </a:accent3>
      <a:accent4>
        <a:srgbClr val="B39DDB"/>
      </a:accent4>
      <a:accent5>
        <a:srgbClr val="A9B4D0"/>
      </a:accent5>
      <a:accent6>
        <a:srgbClr val="6B739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2026-10-02T20:17:43Z</dcterms:created>
</cp:coreProperties>
</file>