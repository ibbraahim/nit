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 id="2147483653" r:id="rId6"/>
  </p:sldMasterIdLst>
  <p:notesMasterIdLst>
    <p:notesMasterId r:id="rId7"/>
  </p:notesMasterIdLst>
  <p:sldIdLst>
    <p:sldId id="298" r:id="rId57"/>
    <p:sldId id="299" r:id="rId58"/>
    <p:sldId id="300" r:id="rId59"/>
    <p:sldId id="301" r:id="rId60"/>
    <p:sldId id="302" r:id="rId61"/>
    <p:sldId id="303" r:id="rId62"/>
  </p:sldIdLst>
  <p:sldSz cy="6858000" cx="12192000"/>
  <p:notesSz cx="6858000" cy="12192000"/>
  <p:embeddedFontLst>
    <p:embeddedFont>
      <p:font typeface="Sora"/>
      <p:regular r:id="rId37"/>
      <p:bold r:id="rId38"/>
    </p:embeddedFont>
    <p:embeddedFont>
      <p:font typeface="DM Sans"/>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3" roundtripDataSignature="AMtx7mgw+XJJYjX9oEtzHzcteUKfSoJj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709B6FF-CDFB-4AB1-8E42-484B63002EFC}">
  <a:tblStyle styleId="{2709B6FF-CDFB-4AB1-8E42-484B63002EF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37" Type="http://schemas.openxmlformats.org/officeDocument/2006/relationships/font" Target="fonts/Sora-regular.fntdata"/><Relationship Id="rId38" Type="http://schemas.openxmlformats.org/officeDocument/2006/relationships/font" Target="fonts/Sora-bold.fntdata"/><Relationship Id="rId39" Type="http://schemas.openxmlformats.org/officeDocument/2006/relationships/font" Target="fonts/DMSans-regular.fntdata"/><Relationship Id="rId40" Type="http://schemas.openxmlformats.org/officeDocument/2006/relationships/font" Target="fonts/DMSans-bold.fntdata"/><Relationship Id="rId41" Type="http://schemas.openxmlformats.org/officeDocument/2006/relationships/font" Target="fonts/DMSans-italic.fntdata"/><Relationship Id="rId42" Type="http://schemas.openxmlformats.org/officeDocument/2006/relationships/font" Target="fonts/DMSans-boldItalic.fntdata"/><Relationship Id="rId43" Type="http://customschemas.google.com/relationships/presentationmetadata" Target="metadata"/><Relationship Id="rId57" Type="http://schemas.openxmlformats.org/officeDocument/2006/relationships/slide" Target="slides/slide43.xml"/><Relationship Id="rId58" Type="http://schemas.openxmlformats.org/officeDocument/2006/relationships/slide" Target="slides/slide44.xml"/><Relationship Id="rId59" Type="http://schemas.openxmlformats.org/officeDocument/2006/relationships/slide" Target="slides/slide45.xml"/><Relationship Id="rId60" Type="http://schemas.openxmlformats.org/officeDocument/2006/relationships/slide" Target="slides/slide46.xml"/><Relationship Id="rId61" Type="http://schemas.openxmlformats.org/officeDocument/2006/relationships/slide" Target="slides/slide47.xml"/><Relationship Id="rId62"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Nous partons de la définition de référence du CSCMP, le Council of Supply Chain Management Professionals. Le supply chain management englobe la planification et la gestion de toutes les activités d’achat, de transformation et de logistique, et la coordination avec les partenaires : fournisseurs, intermédiaires, prestataires et clients. En substance, il intègre l’offre et la demande. Trois mots-clés en résultent : planifier, coordonner, intégrer. C’est le premier qui nous concerne. Original : « Supply chain management encompasses the planning and management of all activities involved in sourcing and procurement, conversion, and all logistics management activities. Importantly, it also includes coordination and collaboration with channel partners, which can be suppliers, intermediaries, third party service providers, and customers. In essence, supply chain management integrates supply and demand management within and across companies. »</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Voici la cartographie de la supply chain, lue d’un coup d’œil. Au centre, le flux physique : les fournisseurs, puis l’achat et l’approvisionnement, la production et les opérations, la gestion de stock et d’entrepôt, enfin les clients. Au-dessus, trois métiers pilotent ce flux : la prévision et la planification, le service client, le transport et la distribution. En dessous, trois métiers le prolongent ou l’encadrent : la logistique inverse, le contrôle qualité et la supply chain durable. Au total, neuf métiers, trente-sept sous-métiers et cinquante-cinq sous-processus.</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Clarifions deux notions. Un processus est un ensemble d’activités liées qui transforment des éléments d’entrée en un résultat attendu : c’est la définition de la norme ISO 9000, ici reformulée. Un sous-processus est une partie d’un processus : un groupe d’activités plus fin, avec ses propres entrées et son propre résultat. Dans la cartographie CSCMP, trois niveaux s’emboîtent : les métiers, qui sont les grands processus, les sous-métiers, et les sous-processus, qui décrivent les activités élémentaires. Notre exemple : le métier 2, Prévision et planification, contient le sous-métier 2.3, Planification des capacités, qui contient le sous-processus 2.3.3, Ressources humaines et équipements.</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Voici la cartographie CSCMP complète, avec ses neuf métiers et ses cinquante-cinq sous-processus. Tout est atténué, sauf l’endroit qui nous intéresse. Il se trouve dans le métier 2, Prévision et planification, dans le sous-métier 2.3, Planification des capacités. Ce sous-métier compte trois sous-processus : les capacités d’entreposage, les capacités de transport, et le 2.3.3, Ressources humaines et équipements, qui est le nôtre. Il transforme une prévision de volume en heures de main-d’œuvre, en effectif et en équipements, par zone et par jour.</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Un objectif est un résultat à atteindre, que l’on formule de façon précise et mesurable : c’est la définition de la norme ISO 9000, ici reformulée. Notre application, qui porte sur le sous-processus 2.3.3, poursuit quatre objectifs. Prévoir et planifier les besoins en main-d’œuvre et en équipements, avec des alertes à l’avance. Suivre la performance par des KPI comparés à des cibles. Comparer les modèles de prévision au réel, avec les mesures MAE, RMSE, MAPE et biais. Restituer les résultats par des tableaux de bord et des rapports automatiques.</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 diagramme de cas d’utilisation montre ce que fait l’application et qui l’utilise. Six acteurs : quatre utilisateurs humains, le planificateur, le responsable d’exploitation, la direction et l’administrateur, qui héritent tous d’un utilisateur abstrait, et deux acteurs techniques, le système source, WMS ou SIRH, qui fournit les données, et le planificateur de tâches, qui lance les traitements automatiques. Vingt-quatre cas d’utilisation sont regroupés en sept paquets, un par grande fonction. La relation include désigne une étape toujours exécutée, la relation extend une étape sous condition.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4F6FB"/>
        </a:solidFill>
      </p:bgPr>
    </p:bg>
    <p:spTree>
      <p:nvGrpSpPr>
        <p:cNvPr id="10" name="Shape 10"/>
        <p:cNvGrpSpPr/>
        <p:nvPr/>
      </p:nvGrpSpPr>
      <p:grpSpPr>
        <a:xfrm>
          <a:off x="0" y="0"/>
          <a:ext cx="0" cy="0"/>
          <a:chOff x="0" y="0"/>
          <a:chExt cx="0" cy="0"/>
        </a:xfrm>
      </p:grpSpPr>
      <p:sp>
        <p:nvSpPr>
          <p:cNvPr id="11" name="Google Shape;11;p33"/>
          <p:cNvSpPr txBox="1"/>
          <p:nvPr>
            <p:ph type="title"/>
          </p:nvPr>
        </p:nvSpPr>
        <p:spPr>
          <a:xfrm>
            <a:off x="698500" y="919481"/>
            <a:ext cx="10795000" cy="64008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B2A4A"/>
              </a:buClr>
              <a:buSzPts val="2100"/>
              <a:buFont typeface="Sora"/>
              <a:buNone/>
              <a:defRPr sz="2100">
                <a:solidFill>
                  <a:srgbClr val="1B2A4A"/>
                </a:solidFill>
                <a:latin typeface="Sora"/>
                <a:ea typeface="Sora"/>
                <a:cs typeface="Sora"/>
                <a:sym typeface="Sor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p33"/>
          <p:cNvSpPr txBox="1"/>
          <p:nvPr>
            <p:ph idx="1" type="body"/>
          </p:nvPr>
        </p:nvSpPr>
        <p:spPr>
          <a:xfrm>
            <a:off x="698500" y="1864361"/>
            <a:ext cx="10680700" cy="4180839"/>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B2A4A"/>
              </a:buClr>
              <a:buSzPts val="1600"/>
              <a:buNone/>
              <a:defRPr sz="1600">
                <a:solidFill>
                  <a:srgbClr val="1B2A4A"/>
                </a:solidFill>
                <a:latin typeface="DM Sans"/>
                <a:ea typeface="DM Sans"/>
                <a:cs typeface="DM Sans"/>
                <a:sym typeface="DM Sans"/>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3" name="Shape 1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p:cSld name="CONTENU">
    <p:bg>
      <p:bgPr>
        <a:solidFill>
          <a:srgbClr val="FFFFFF"/>
        </a:solidFill>
      </p:bgPr>
    </p:bg>
    <p:spTree>
      <p:nvGrpSpPr>
        <p:cNvPr id="16" name="Shape 16"/>
        <p:cNvGrpSpPr/>
        <p:nvPr/>
      </p:nvGrpSpPr>
      <p:grpSpPr>
        <a:xfrm>
          <a:off x="0" y="0"/>
          <a:ext cx="0" cy="0"/>
          <a:chOff x="0" y="0"/>
          <a:chExt cx="0" cy="0"/>
        </a:xfrm>
      </p:grpSpPr>
      <p:sp>
        <p:nvSpPr>
          <p:cNvPr id="17" name="Google Shape;17;p35"/>
          <p:cNvSpPr txBox="1"/>
          <p:nvPr>
            <p:ph type="title"/>
          </p:nvPr>
        </p:nvSpPr>
        <p:spPr>
          <a:xfrm>
            <a:off x="548640" y="365760"/>
            <a:ext cx="11094415" cy="10515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3400"/>
              <a:buFont typeface="Cambria"/>
              <a:buNone/>
              <a:defRPr b="1" i="0" sz="3400" u="none" cap="none" strike="noStrike">
                <a:solidFill>
                  <a:schemeClr val="dk2"/>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 name="Google Shape;18;p35"/>
          <p:cNvSpPr txBox="1"/>
          <p:nvPr>
            <p:ph idx="12" type="sldNum"/>
          </p:nvPr>
        </p:nvSpPr>
        <p:spPr>
          <a:xfrm>
            <a:off x="11185855" y="6400800"/>
            <a:ext cx="457200" cy="274320"/>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sz="1100">
                <a:solidFill>
                  <a:schemeClr val="accent4"/>
                </a:solidFill>
                <a:latin typeface="Calibri"/>
                <a:ea typeface="Calibri"/>
                <a:cs typeface="Calibri"/>
                <a:sym typeface="Calibri"/>
              </a:defRPr>
            </a:lvl1pPr>
            <a:lvl2pPr indent="0" lvl="1" marL="0" marR="0" algn="l">
              <a:spcBef>
                <a:spcPts val="0"/>
              </a:spcBef>
              <a:buNone/>
              <a:defRPr b="0" sz="1100">
                <a:solidFill>
                  <a:schemeClr val="accent4"/>
                </a:solidFill>
                <a:latin typeface="Calibri"/>
                <a:ea typeface="Calibri"/>
                <a:cs typeface="Calibri"/>
                <a:sym typeface="Calibri"/>
              </a:defRPr>
            </a:lvl2pPr>
            <a:lvl3pPr indent="0" lvl="2" marL="0" marR="0" algn="l">
              <a:spcBef>
                <a:spcPts val="0"/>
              </a:spcBef>
              <a:buNone/>
              <a:defRPr b="0" sz="1100">
                <a:solidFill>
                  <a:schemeClr val="accent4"/>
                </a:solidFill>
                <a:latin typeface="Calibri"/>
                <a:ea typeface="Calibri"/>
                <a:cs typeface="Calibri"/>
                <a:sym typeface="Calibri"/>
              </a:defRPr>
            </a:lvl3pPr>
            <a:lvl4pPr indent="0" lvl="3" marL="0" marR="0" algn="l">
              <a:spcBef>
                <a:spcPts val="0"/>
              </a:spcBef>
              <a:buNone/>
              <a:defRPr b="0" sz="1100">
                <a:solidFill>
                  <a:schemeClr val="accent4"/>
                </a:solidFill>
                <a:latin typeface="Calibri"/>
                <a:ea typeface="Calibri"/>
                <a:cs typeface="Calibri"/>
                <a:sym typeface="Calibri"/>
              </a:defRPr>
            </a:lvl4pPr>
            <a:lvl5pPr indent="0" lvl="4" marL="0" marR="0" algn="l">
              <a:spcBef>
                <a:spcPts val="0"/>
              </a:spcBef>
              <a:buNone/>
              <a:defRPr b="0" sz="1100">
                <a:solidFill>
                  <a:schemeClr val="accent4"/>
                </a:solidFill>
                <a:latin typeface="Calibri"/>
                <a:ea typeface="Calibri"/>
                <a:cs typeface="Calibri"/>
                <a:sym typeface="Calibri"/>
              </a:defRPr>
            </a:lvl5pPr>
            <a:lvl6pPr indent="0" lvl="5" marL="0" marR="0" algn="l">
              <a:spcBef>
                <a:spcPts val="0"/>
              </a:spcBef>
              <a:buNone/>
              <a:defRPr b="0" sz="1100">
                <a:solidFill>
                  <a:schemeClr val="accent4"/>
                </a:solidFill>
                <a:latin typeface="Calibri"/>
                <a:ea typeface="Calibri"/>
                <a:cs typeface="Calibri"/>
                <a:sym typeface="Calibri"/>
              </a:defRPr>
            </a:lvl6pPr>
            <a:lvl7pPr indent="0" lvl="6" marL="0" marR="0" algn="l">
              <a:spcBef>
                <a:spcPts val="0"/>
              </a:spcBef>
              <a:buNone/>
              <a:defRPr b="0" sz="1100">
                <a:solidFill>
                  <a:schemeClr val="accent4"/>
                </a:solidFill>
                <a:latin typeface="Calibri"/>
                <a:ea typeface="Calibri"/>
                <a:cs typeface="Calibri"/>
                <a:sym typeface="Calibri"/>
              </a:defRPr>
            </a:lvl7pPr>
            <a:lvl8pPr indent="0" lvl="7" marL="0" marR="0" algn="l">
              <a:spcBef>
                <a:spcPts val="0"/>
              </a:spcBef>
              <a:buNone/>
              <a:defRPr b="0" sz="1100">
                <a:solidFill>
                  <a:schemeClr val="accent4"/>
                </a:solidFill>
                <a:latin typeface="Calibri"/>
                <a:ea typeface="Calibri"/>
                <a:cs typeface="Calibri"/>
                <a:sym typeface="Calibri"/>
              </a:defRPr>
            </a:lvl8pPr>
            <a:lvl9pPr indent="0" lvl="8" marL="0" marR="0" algn="l">
              <a:spcBef>
                <a:spcPts val="0"/>
              </a:spcBef>
              <a:buNone/>
              <a:defRPr b="0" sz="1100">
                <a:solidFill>
                  <a:schemeClr val="accent4"/>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9" name="Shape 19"/>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p:cSld name="TITRE">
    <p:bg>
      <p:bgPr>
        <a:solidFill>
          <a:srgbClr val="0E2A47"/>
        </a:solidFill>
      </p:bgPr>
    </p:bg>
    <p:spTree>
      <p:nvGrpSpPr>
        <p:cNvPr id="20" name="Shape 20"/>
        <p:cNvGrpSpPr/>
        <p:nvPr/>
      </p:nvGrpSpPr>
      <p:grpSpPr>
        <a:xfrm>
          <a:off x="0" y="0"/>
          <a:ext cx="0" cy="0"/>
          <a:chOff x="0" y="0"/>
          <a:chExt cx="0" cy="0"/>
        </a:xfrm>
      </p:grpSpPr>
      <p:sp>
        <p:nvSpPr>
          <p:cNvPr id="21" name="Google Shape;21;p38"/>
          <p:cNvSpPr txBox="1"/>
          <p:nvPr>
            <p:ph type="title"/>
          </p:nvPr>
        </p:nvSpPr>
        <p:spPr>
          <a:xfrm>
            <a:off x="548640" y="2011680"/>
            <a:ext cx="6583680" cy="17373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4800"/>
              <a:buFont typeface="Cambria"/>
              <a:buNone/>
              <a:defRPr b="1" i="0" sz="4800" u="none" cap="none" strike="noStrik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 name="Google Shape;22;p38"/>
          <p:cNvSpPr txBox="1"/>
          <p:nvPr>
            <p:ph idx="1" type="body"/>
          </p:nvPr>
        </p:nvSpPr>
        <p:spPr>
          <a:xfrm>
            <a:off x="548640" y="3931920"/>
            <a:ext cx="6400800" cy="100584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00"/>
              </a:spcBef>
              <a:spcAft>
                <a:spcPts val="0"/>
              </a:spcAft>
              <a:buClr>
                <a:schemeClr val="lt2"/>
              </a:buClr>
              <a:buSzPts val="2000"/>
              <a:buFont typeface="Arial"/>
              <a:buNone/>
              <a:defRPr b="0" i="0" sz="2000" u="none" cap="none" strike="noStrike">
                <a:solidFill>
                  <a:schemeClr val="lt2"/>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SION">
  <p:cSld name="CONCLUSION">
    <p:bg>
      <p:bgPr>
        <a:solidFill>
          <a:srgbClr val="0E2A47"/>
        </a:solidFill>
      </p:bgPr>
    </p:bg>
    <p:spTree>
      <p:nvGrpSpPr>
        <p:cNvPr id="23" name="Shape 23"/>
        <p:cNvGrpSpPr/>
        <p:nvPr/>
      </p:nvGrpSpPr>
      <p:grpSpPr>
        <a:xfrm>
          <a:off x="0" y="0"/>
          <a:ext cx="0" cy="0"/>
          <a:chOff x="0" y="0"/>
          <a:chExt cx="0" cy="0"/>
        </a:xfrm>
      </p:grpSpPr>
      <p:sp>
        <p:nvSpPr>
          <p:cNvPr id="24" name="Google Shape;24;p39"/>
          <p:cNvSpPr txBox="1"/>
          <p:nvPr>
            <p:ph type="title"/>
          </p:nvPr>
        </p:nvSpPr>
        <p:spPr>
          <a:xfrm>
            <a:off x="548640" y="457200"/>
            <a:ext cx="11094415" cy="914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3800"/>
              <a:buFont typeface="Cambria"/>
              <a:buNone/>
              <a:defRPr b="1" i="0" sz="3800" u="none" cap="none" strike="noStrik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7" name="Shape 7"/>
        <p:cNvGrpSpPr/>
        <p:nvPr/>
      </p:nvGrpSpPr>
      <p:grpSpPr>
        <a:xfrm>
          <a:off x="0" y="0"/>
          <a:ext cx="0" cy="0"/>
          <a:chOff x="0" y="0"/>
          <a:chExt cx="0" cy="0"/>
        </a:xfrm>
      </p:grpSpPr>
      <p:sp>
        <p:nvSpPr>
          <p:cNvPr id="8" name="Google Shape;8;p32"/>
          <p:cNvSpPr txBox="1"/>
          <p:nvPr>
            <p:ph type="title"/>
          </p:nvPr>
        </p:nvSpPr>
        <p:spPr>
          <a:xfrm>
            <a:off x="698500" y="919481"/>
            <a:ext cx="10795000" cy="64008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B2A4A"/>
              </a:buClr>
              <a:buSzPts val="2100"/>
              <a:buFont typeface="Sora"/>
              <a:buNone/>
              <a:defRPr b="0" i="0" sz="2100" u="none" cap="none" strike="noStrike">
                <a:solidFill>
                  <a:srgbClr val="1B2A4A"/>
                </a:solidFill>
                <a:latin typeface="Sora"/>
                <a:ea typeface="Sora"/>
                <a:cs typeface="Sora"/>
                <a:sym typeface="Sor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32"/>
          <p:cNvSpPr txBox="1"/>
          <p:nvPr>
            <p:ph idx="1" type="body"/>
          </p:nvPr>
        </p:nvSpPr>
        <p:spPr>
          <a:xfrm>
            <a:off x="698500" y="1864361"/>
            <a:ext cx="10680700" cy="4180839"/>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B2A4A"/>
              </a:buClr>
              <a:buSzPts val="1600"/>
              <a:buFont typeface="Arial"/>
              <a:buNone/>
              <a:defRPr b="0" i="0" sz="1600" u="none" cap="none" strike="noStrike">
                <a:solidFill>
                  <a:srgbClr val="1B2A4A"/>
                </a:solidFill>
                <a:latin typeface="DM Sans"/>
                <a:ea typeface="DM Sans"/>
                <a:cs typeface="DM Sans"/>
                <a:sym typeface="DM Sans"/>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DM Sans"/>
                <a:ea typeface="DM Sans"/>
                <a:cs typeface="DM Sans"/>
                <a:sym typeface="DM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DM Sans"/>
                <a:ea typeface="DM Sans"/>
                <a:cs typeface="DM Sans"/>
                <a:sym typeface="DM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 name="Shape 14"/>
        <p:cNvGrpSpPr/>
        <p:nvPr/>
      </p:nvGrpSpPr>
      <p:grpSpPr>
        <a:xfrm>
          <a:off x="0" y="0"/>
          <a:ext cx="0" cy="0"/>
          <a:chOff x="0" y="0"/>
          <a:chExt cx="0" cy="0"/>
        </a:xfrm>
      </p:grpSpPr>
      <p:sp>
        <p:nvSpPr>
          <p:cNvPr id="15" name="Google Shape;15;p34"/>
          <p:cNvSpPr txBox="1"/>
          <p:nvPr>
            <p:ph idx="12" type="sldNum"/>
          </p:nvPr>
        </p:nvSpPr>
        <p:spPr>
          <a:xfrm>
            <a:off x="11185855" y="6400800"/>
            <a:ext cx="457200" cy="27432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sz="1100">
                <a:solidFill>
                  <a:schemeClr val="accent4"/>
                </a:solidFill>
                <a:latin typeface="Calibri"/>
                <a:ea typeface="Calibri"/>
                <a:cs typeface="Calibri"/>
                <a:sym typeface="Calibri"/>
              </a:defRPr>
            </a:lvl1pPr>
            <a:lvl2pPr indent="0" lvl="1" marL="0" marR="0" rtl="0" algn="l">
              <a:spcBef>
                <a:spcPts val="0"/>
              </a:spcBef>
              <a:buNone/>
              <a:defRPr b="0" sz="1100">
                <a:solidFill>
                  <a:schemeClr val="accent4"/>
                </a:solidFill>
                <a:latin typeface="Calibri"/>
                <a:ea typeface="Calibri"/>
                <a:cs typeface="Calibri"/>
                <a:sym typeface="Calibri"/>
              </a:defRPr>
            </a:lvl2pPr>
            <a:lvl3pPr indent="0" lvl="2" marL="0" marR="0" rtl="0" algn="l">
              <a:spcBef>
                <a:spcPts val="0"/>
              </a:spcBef>
              <a:buNone/>
              <a:defRPr b="0" sz="1100">
                <a:solidFill>
                  <a:schemeClr val="accent4"/>
                </a:solidFill>
                <a:latin typeface="Calibri"/>
                <a:ea typeface="Calibri"/>
                <a:cs typeface="Calibri"/>
                <a:sym typeface="Calibri"/>
              </a:defRPr>
            </a:lvl3pPr>
            <a:lvl4pPr indent="0" lvl="3" marL="0" marR="0" rtl="0" algn="l">
              <a:spcBef>
                <a:spcPts val="0"/>
              </a:spcBef>
              <a:buNone/>
              <a:defRPr b="0" sz="1100">
                <a:solidFill>
                  <a:schemeClr val="accent4"/>
                </a:solidFill>
                <a:latin typeface="Calibri"/>
                <a:ea typeface="Calibri"/>
                <a:cs typeface="Calibri"/>
                <a:sym typeface="Calibri"/>
              </a:defRPr>
            </a:lvl4pPr>
            <a:lvl5pPr indent="0" lvl="4" marL="0" marR="0" rtl="0" algn="l">
              <a:spcBef>
                <a:spcPts val="0"/>
              </a:spcBef>
              <a:buNone/>
              <a:defRPr b="0" sz="1100">
                <a:solidFill>
                  <a:schemeClr val="accent4"/>
                </a:solidFill>
                <a:latin typeface="Calibri"/>
                <a:ea typeface="Calibri"/>
                <a:cs typeface="Calibri"/>
                <a:sym typeface="Calibri"/>
              </a:defRPr>
            </a:lvl5pPr>
            <a:lvl6pPr indent="0" lvl="5" marL="0" marR="0" rtl="0" algn="l">
              <a:spcBef>
                <a:spcPts val="0"/>
              </a:spcBef>
              <a:buNone/>
              <a:defRPr b="0" sz="1100">
                <a:solidFill>
                  <a:schemeClr val="accent4"/>
                </a:solidFill>
                <a:latin typeface="Calibri"/>
                <a:ea typeface="Calibri"/>
                <a:cs typeface="Calibri"/>
                <a:sym typeface="Calibri"/>
              </a:defRPr>
            </a:lvl6pPr>
            <a:lvl7pPr indent="0" lvl="6" marL="0" marR="0" rtl="0" algn="l">
              <a:spcBef>
                <a:spcPts val="0"/>
              </a:spcBef>
              <a:buNone/>
              <a:defRPr b="0" sz="1100">
                <a:solidFill>
                  <a:schemeClr val="accent4"/>
                </a:solidFill>
                <a:latin typeface="Calibri"/>
                <a:ea typeface="Calibri"/>
                <a:cs typeface="Calibri"/>
                <a:sym typeface="Calibri"/>
              </a:defRPr>
            </a:lvl7pPr>
            <a:lvl8pPr indent="0" lvl="7" marL="0" marR="0" rtl="0" algn="l">
              <a:spcBef>
                <a:spcPts val="0"/>
              </a:spcBef>
              <a:buNone/>
              <a:defRPr b="0" sz="1100">
                <a:solidFill>
                  <a:schemeClr val="accent4"/>
                </a:solidFill>
                <a:latin typeface="Calibri"/>
                <a:ea typeface="Calibri"/>
                <a:cs typeface="Calibri"/>
                <a:sym typeface="Calibri"/>
              </a:defRPr>
            </a:lvl8pPr>
            <a:lvl9pPr indent="0" lvl="8" marL="0" marR="0" rtl="0" algn="l">
              <a:spcBef>
                <a:spcPts val="0"/>
              </a:spcBef>
              <a:buNone/>
              <a:defRPr b="0" sz="1100">
                <a:solidFill>
                  <a:schemeClr val="accent4"/>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4" r:id="rId1"/>
    <p:sldLayoutId id="2147483655" r:id="rId2"/>
    <p:sldLayoutId id="2147483656" r:id="rId3"/>
    <p:sldLayoutId id="2147483657"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3.png"/></Relationships>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188887"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CONTEXTE</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Le CSCMP définit le supply chain management : planifier, coordonner, intégrer l’offre et la demande</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3</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sp>
        <p:nvSpPr>
          <p:cNvPr id="113" name="Rounded Rectangle 112"/>
          <p:cNvSpPr/>
          <p:nvPr/>
        </p:nvSpPr>
        <p:spPr>
          <a:xfrm>
            <a:off x="694944" y="1773936"/>
            <a:ext cx="6675120" cy="4315968"/>
          </a:xfrm>
          <a:prstGeom prst="roundRect">
            <a:avLst>
              <a:gd name="adj" fmla="val 2542"/>
            </a:avLst>
          </a:prstGeom>
          <a:solidFill>
            <a:srgbClr val="1B2A4A"/>
          </a:solidFill>
          <a:ln>
            <a:noFill/>
          </a:ln>
        </p:spPr>
        <p:txBody>
          <a:bodyPr rtlCol="0" anchor="ctr"/>
          <a:lstStyle/>
          <a:p>
            <a:pPr algn="ctr"/>
          </a:p>
        </p:txBody>
      </p:sp>
      <p:sp>
        <p:nvSpPr>
          <p:cNvPr id="114" name="TextBox 113"/>
          <p:cNvSpPr txBox="1"/>
          <p:nvPr/>
        </p:nvSpPr>
        <p:spPr>
          <a:xfrm>
            <a:off x="987552" y="1828800"/>
            <a:ext cx="914400" cy="822960"/>
          </a:xfrm>
          <a:prstGeom prst="rect">
            <a:avLst/>
          </a:prstGeom>
          <a:noFill/>
        </p:spPr>
        <p:txBody>
          <a:bodyPr wrap="square" lIns="0" tIns="0" rIns="0" bIns="0" anchor="t">
            <a:noAutofit/>
          </a:bodyPr>
          <a:lstStyle/>
          <a:p>
            <a:pPr algn="l">
              <a:lnSpc>
                <a:spcPct val="115000"/>
              </a:lnSpc>
              <a:spcBef>
                <a:spcPts val="0"/>
              </a:spcBef>
              <a:spcAft>
                <a:spcPts val="0"/>
              </a:spcAft>
            </a:pPr>
            <a:r>
              <a:rPr sz="6000" b="1" i="0">
                <a:solidFill>
                  <a:srgbClr val="7ACFC0"/>
                </a:solidFill>
                <a:latin typeface="Sora"/>
              </a:rPr>
              <a:t>“</a:t>
            </a:r>
          </a:p>
        </p:txBody>
      </p:sp>
      <p:sp>
        <p:nvSpPr>
          <p:cNvPr id="115" name="TextBox 114"/>
          <p:cNvSpPr txBox="1"/>
          <p:nvPr/>
        </p:nvSpPr>
        <p:spPr>
          <a:xfrm>
            <a:off x="987552" y="2606040"/>
            <a:ext cx="6080760" cy="2926080"/>
          </a:xfrm>
          <a:prstGeom prst="rect">
            <a:avLst/>
          </a:prstGeom>
          <a:noFill/>
        </p:spPr>
        <p:txBody>
          <a:bodyPr wrap="square" lIns="0" tIns="0" rIns="0" bIns="0" anchor="t">
            <a:noAutofit/>
          </a:bodyPr>
          <a:lstStyle/>
          <a:p>
            <a:pPr algn="l">
              <a:lnSpc>
                <a:spcPct val="120000"/>
              </a:lnSpc>
              <a:spcBef>
                <a:spcPts val="0"/>
              </a:spcBef>
              <a:spcAft>
                <a:spcPts val="900"/>
              </a:spcAft>
            </a:pPr>
            <a:r>
              <a:rPr sz="1500" b="0" i="0">
                <a:solidFill>
                  <a:srgbClr val="FFFFFF"/>
                </a:solidFill>
                <a:latin typeface="DM Sans"/>
              </a:rPr>
              <a:t>Le supply chain management englobe la planification et la gestion de toutes les activités liées au sourcing et aux achats, à la transformation, ainsi que de toutes les activités de gestion logistique.</a:t>
            </a:r>
          </a:p>
          <a:p>
            <a:pPr algn="l">
              <a:lnSpc>
                <a:spcPct val="120000"/>
              </a:lnSpc>
              <a:spcBef>
                <a:spcPts val="0"/>
              </a:spcBef>
              <a:spcAft>
                <a:spcPts val="900"/>
              </a:spcAft>
            </a:pPr>
            <a:r>
              <a:rPr sz="1500" b="0" i="0">
                <a:solidFill>
                  <a:srgbClr val="FFFFFF"/>
                </a:solidFill>
                <a:latin typeface="DM Sans"/>
              </a:rPr>
              <a:t>Il inclut aussi la coordination et la collaboration avec les partenaires du canal : fournisseurs, intermédiaires, prestataires de services et clients.</a:t>
            </a:r>
          </a:p>
          <a:p>
            <a:pPr algn="l">
              <a:lnSpc>
                <a:spcPct val="120000"/>
              </a:lnSpc>
              <a:spcBef>
                <a:spcPts val="0"/>
              </a:spcBef>
              <a:spcAft>
                <a:spcPts val="900"/>
              </a:spcAft>
            </a:pPr>
            <a:r>
              <a:rPr sz="1500" b="1" i="0">
                <a:solidFill>
                  <a:srgbClr val="7ACFC0"/>
                </a:solidFill>
                <a:latin typeface="DM Sans"/>
              </a:rPr>
              <a:t>En substance, il intègre la gestion de l’offre et de la demande au sein des entreprises et entre elles.</a:t>
            </a:r>
          </a:p>
        </p:txBody>
      </p:sp>
      <p:sp>
        <p:nvSpPr>
          <p:cNvPr id="116" name="TextBox 115"/>
          <p:cNvSpPr txBox="1"/>
          <p:nvPr/>
        </p:nvSpPr>
        <p:spPr>
          <a:xfrm>
            <a:off x="987552" y="5596128"/>
            <a:ext cx="6080760" cy="365760"/>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A9B4D0"/>
                </a:solidFill>
                <a:latin typeface="DM Sans"/>
              </a:rPr>
              <a:t>Source : CSCMP, SCM Definitions and Glossary of Terms. Traduction proposée.</a:t>
            </a:r>
          </a:p>
        </p:txBody>
      </p:sp>
      <p:sp>
        <p:nvSpPr>
          <p:cNvPr id="117" name="Rounded Rectangle 116"/>
          <p:cNvSpPr/>
          <p:nvPr/>
        </p:nvSpPr>
        <p:spPr>
          <a:xfrm>
            <a:off x="7589520" y="1773936"/>
            <a:ext cx="3904488" cy="1298448"/>
          </a:xfrm>
          <a:prstGeom prst="roundRect">
            <a:avLst>
              <a:gd name="adj" fmla="val 11739"/>
            </a:avLst>
          </a:prstGeom>
          <a:solidFill>
            <a:srgbClr val="FFFFFF"/>
          </a:solidFill>
          <a:ln>
            <a:noFill/>
          </a:ln>
        </p:spPr>
        <p:txBody>
          <a:bodyPr rtlCol="0" anchor="ctr"/>
          <a:lstStyle/>
          <a:p>
            <a:pPr algn="ctr"/>
          </a:p>
        </p:txBody>
      </p:sp>
      <p:sp>
        <p:nvSpPr>
          <p:cNvPr id="118" name="Rectangle 117"/>
          <p:cNvSpPr/>
          <p:nvPr/>
        </p:nvSpPr>
        <p:spPr>
          <a:xfrm>
            <a:off x="7589520" y="1773936"/>
            <a:ext cx="3904488" cy="1298448"/>
          </a:xfrm>
          <a:custGeom>
            <a:rect b="b" l="l" r="r" t="t"/>
            <a:pathLst>
              <a:path extrusionOk="0" h="1298448" w="3904488">
                <a:moveTo>
                  <a:pt x="0" y="152400"/>
                </a:moveTo>
                <a:cubicBezTo>
                  <a:pt x="0" y="68229"/>
                  <a:pt x="68229" y="0"/>
                  <a:pt x="152400" y="0"/>
                </a:cubicBezTo>
                <a:lnTo>
                  <a:pt x="3752088" y="0"/>
                </a:lnTo>
                <a:cubicBezTo>
                  <a:pt x="3836258" y="0"/>
                  <a:pt x="3904488" y="68229"/>
                  <a:pt x="3904488" y="152400"/>
                </a:cubicBezTo>
                <a:cubicBezTo>
                  <a:pt x="3904488" y="103311"/>
                  <a:pt x="3836259" y="63500"/>
                  <a:pt x="3752088"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19" name="TextBox 118"/>
          <p:cNvSpPr txBox="1"/>
          <p:nvPr/>
        </p:nvSpPr>
        <p:spPr>
          <a:xfrm>
            <a:off x="7818120" y="1993392"/>
            <a:ext cx="3474720" cy="310896"/>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1B2A4A"/>
                </a:solidFill>
                <a:latin typeface="Sora"/>
              </a:rPr>
              <a:t>Planifier</a:t>
            </a:r>
          </a:p>
        </p:txBody>
      </p:sp>
      <p:sp>
        <p:nvSpPr>
          <p:cNvPr id="120" name="TextBox 119"/>
          <p:cNvSpPr txBox="1"/>
          <p:nvPr/>
        </p:nvSpPr>
        <p:spPr>
          <a:xfrm>
            <a:off x="7818120" y="2432304"/>
            <a:ext cx="3474720" cy="548640"/>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Anticiper les besoins avant qu’ils ne se manifestent.</a:t>
            </a:r>
          </a:p>
        </p:txBody>
      </p:sp>
      <p:sp>
        <p:nvSpPr>
          <p:cNvPr id="121" name="Rounded Rectangle 120"/>
          <p:cNvSpPr/>
          <p:nvPr/>
        </p:nvSpPr>
        <p:spPr>
          <a:xfrm>
            <a:off x="7589520" y="3282696"/>
            <a:ext cx="3904488" cy="1298448"/>
          </a:xfrm>
          <a:prstGeom prst="roundRect">
            <a:avLst>
              <a:gd name="adj" fmla="val 11739"/>
            </a:avLst>
          </a:prstGeom>
          <a:solidFill>
            <a:srgbClr val="FFFFFF"/>
          </a:solidFill>
          <a:ln>
            <a:noFill/>
          </a:ln>
        </p:spPr>
        <p:txBody>
          <a:bodyPr rtlCol="0" anchor="ctr"/>
          <a:lstStyle/>
          <a:p>
            <a:pPr algn="ctr"/>
          </a:p>
        </p:txBody>
      </p:sp>
      <p:sp>
        <p:nvSpPr>
          <p:cNvPr id="122" name="Rectangle 121"/>
          <p:cNvSpPr/>
          <p:nvPr/>
        </p:nvSpPr>
        <p:spPr>
          <a:xfrm>
            <a:off x="7589520" y="3282696"/>
            <a:ext cx="3904488" cy="1298448"/>
          </a:xfrm>
          <a:custGeom>
            <a:rect b="b" l="l" r="r" t="t"/>
            <a:pathLst>
              <a:path extrusionOk="0" h="1298448" w="3904488">
                <a:moveTo>
                  <a:pt x="0" y="152400"/>
                </a:moveTo>
                <a:cubicBezTo>
                  <a:pt x="0" y="68229"/>
                  <a:pt x="68229" y="0"/>
                  <a:pt x="152400" y="0"/>
                </a:cubicBezTo>
                <a:lnTo>
                  <a:pt x="3752088" y="0"/>
                </a:lnTo>
                <a:cubicBezTo>
                  <a:pt x="3836258" y="0"/>
                  <a:pt x="3904488" y="68229"/>
                  <a:pt x="3904488" y="152400"/>
                </a:cubicBezTo>
                <a:cubicBezTo>
                  <a:pt x="3904488" y="103311"/>
                  <a:pt x="3836259" y="63500"/>
                  <a:pt x="3752088"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23" name="TextBox 122"/>
          <p:cNvSpPr txBox="1"/>
          <p:nvPr/>
        </p:nvSpPr>
        <p:spPr>
          <a:xfrm>
            <a:off x="7818120" y="3502152"/>
            <a:ext cx="3474720" cy="310896"/>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1B2A4A"/>
                </a:solidFill>
                <a:latin typeface="Sora"/>
              </a:rPr>
              <a:t>Coordonner</a:t>
            </a:r>
          </a:p>
        </p:txBody>
      </p:sp>
      <p:sp>
        <p:nvSpPr>
          <p:cNvPr id="124" name="TextBox 123"/>
          <p:cNvSpPr txBox="1"/>
          <p:nvPr/>
        </p:nvSpPr>
        <p:spPr>
          <a:xfrm>
            <a:off x="7818120" y="3941064"/>
            <a:ext cx="3474720" cy="548640"/>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Faire travailler ensemble les partenaires internes et externes.</a:t>
            </a:r>
          </a:p>
        </p:txBody>
      </p:sp>
      <p:sp>
        <p:nvSpPr>
          <p:cNvPr id="125" name="Rounded Rectangle 124"/>
          <p:cNvSpPr/>
          <p:nvPr/>
        </p:nvSpPr>
        <p:spPr>
          <a:xfrm>
            <a:off x="7589520" y="4791456"/>
            <a:ext cx="3904488" cy="1298448"/>
          </a:xfrm>
          <a:prstGeom prst="roundRect">
            <a:avLst>
              <a:gd name="adj" fmla="val 11739"/>
            </a:avLst>
          </a:prstGeom>
          <a:solidFill>
            <a:srgbClr val="FFFFFF"/>
          </a:solidFill>
          <a:ln>
            <a:noFill/>
          </a:ln>
        </p:spPr>
        <p:txBody>
          <a:bodyPr rtlCol="0" anchor="ctr"/>
          <a:lstStyle/>
          <a:p>
            <a:pPr algn="ctr"/>
          </a:p>
        </p:txBody>
      </p:sp>
      <p:sp>
        <p:nvSpPr>
          <p:cNvPr id="126" name="Rectangle 125"/>
          <p:cNvSpPr/>
          <p:nvPr/>
        </p:nvSpPr>
        <p:spPr>
          <a:xfrm>
            <a:off x="7589520" y="4791456"/>
            <a:ext cx="3904488" cy="1298448"/>
          </a:xfrm>
          <a:custGeom>
            <a:rect b="b" l="l" r="r" t="t"/>
            <a:pathLst>
              <a:path extrusionOk="0" h="1298448" w="3904488">
                <a:moveTo>
                  <a:pt x="0" y="152400"/>
                </a:moveTo>
                <a:cubicBezTo>
                  <a:pt x="0" y="68229"/>
                  <a:pt x="68229" y="0"/>
                  <a:pt x="152400" y="0"/>
                </a:cubicBezTo>
                <a:lnTo>
                  <a:pt x="3752088" y="0"/>
                </a:lnTo>
                <a:cubicBezTo>
                  <a:pt x="3836258" y="0"/>
                  <a:pt x="3904488" y="68229"/>
                  <a:pt x="3904488" y="152400"/>
                </a:cubicBezTo>
                <a:cubicBezTo>
                  <a:pt x="3904488" y="103311"/>
                  <a:pt x="3836259" y="63500"/>
                  <a:pt x="3752088"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27" name="TextBox 126"/>
          <p:cNvSpPr txBox="1"/>
          <p:nvPr/>
        </p:nvSpPr>
        <p:spPr>
          <a:xfrm>
            <a:off x="7818120" y="5010912"/>
            <a:ext cx="3474720" cy="310896"/>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1B2A4A"/>
                </a:solidFill>
                <a:latin typeface="Sora"/>
              </a:rPr>
              <a:t>Intégrer l’offre et la demande</a:t>
            </a:r>
          </a:p>
        </p:txBody>
      </p:sp>
      <p:sp>
        <p:nvSpPr>
          <p:cNvPr id="128" name="TextBox 127"/>
          <p:cNvSpPr txBox="1"/>
          <p:nvPr/>
        </p:nvSpPr>
        <p:spPr>
          <a:xfrm>
            <a:off x="7818120" y="5449824"/>
            <a:ext cx="3474720" cy="548640"/>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Ajuster les ressources disponibles aux volumes attendus.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188887"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CONTEXTE</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La cartographie organise la supply chain en 9 métiers autour du flux des fournisseurs aux clients</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4</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sp>
        <p:nvSpPr>
          <p:cNvPr id="113" name="Rounded Rectangle 112"/>
          <p:cNvSpPr/>
          <p:nvPr/>
        </p:nvSpPr>
        <p:spPr>
          <a:xfrm>
            <a:off x="694944" y="1773936"/>
            <a:ext cx="7818120" cy="420624"/>
          </a:xfrm>
          <a:prstGeom prst="roundRect">
            <a:avLst>
              <a:gd name="adj" fmla="val 13043"/>
            </a:avLst>
          </a:prstGeom>
          <a:solidFill>
            <a:srgbClr val="2D7C31"/>
          </a:solidFill>
          <a:ln>
            <a:noFill/>
          </a:ln>
        </p:spPr>
        <p:txBody>
          <a:bodyPr rtlCol="0" anchor="ctr"/>
          <a:lstStyle/>
          <a:p>
            <a:pPr algn="ctr"/>
          </a:p>
        </p:txBody>
      </p:sp>
      <p:sp>
        <p:nvSpPr>
          <p:cNvPr id="114" name="TextBox 113"/>
          <p:cNvSpPr txBox="1"/>
          <p:nvPr/>
        </p:nvSpPr>
        <p:spPr>
          <a:xfrm>
            <a:off x="914400" y="1773936"/>
            <a:ext cx="7452360" cy="420624"/>
          </a:xfrm>
          <a:prstGeom prst="rect">
            <a:avLst/>
          </a:prstGeom>
          <a:noFill/>
        </p:spPr>
        <p:txBody>
          <a:bodyPr wrap="square" lIns="0" tIns="0" rIns="0" bIns="0" anchor="ctr">
            <a:noAutofit/>
          </a:bodyPr>
          <a:lstStyle/>
          <a:p>
            <a:pPr algn="l">
              <a:lnSpc>
                <a:spcPct val="100000"/>
              </a:lnSpc>
              <a:spcBef>
                <a:spcPts val="0"/>
              </a:spcBef>
              <a:spcAft>
                <a:spcPts val="0"/>
              </a:spcAft>
            </a:pPr>
            <a:r>
              <a:rPr sz="1400" b="1" i="0">
                <a:solidFill>
                  <a:srgbClr val="FFFFFF"/>
                </a:solidFill>
                <a:latin typeface="Sora"/>
              </a:rPr>
              <a:t>2. Prévision et planification</a:t>
            </a:r>
          </a:p>
        </p:txBody>
      </p:sp>
      <p:sp>
        <p:nvSpPr>
          <p:cNvPr id="115" name="Rounded Rectangle 114"/>
          <p:cNvSpPr/>
          <p:nvPr/>
        </p:nvSpPr>
        <p:spPr>
          <a:xfrm>
            <a:off x="694944" y="2249424"/>
            <a:ext cx="7818120" cy="420624"/>
          </a:xfrm>
          <a:prstGeom prst="roundRect">
            <a:avLst>
              <a:gd name="adj" fmla="val 13043"/>
            </a:avLst>
          </a:prstGeom>
          <a:solidFill>
            <a:srgbClr val="0F756E"/>
          </a:solidFill>
          <a:ln>
            <a:noFill/>
          </a:ln>
        </p:spPr>
        <p:txBody>
          <a:bodyPr rtlCol="0" anchor="ctr"/>
          <a:lstStyle/>
          <a:p>
            <a:pPr algn="ctr"/>
          </a:p>
        </p:txBody>
      </p:sp>
      <p:sp>
        <p:nvSpPr>
          <p:cNvPr id="116" name="TextBox 115"/>
          <p:cNvSpPr txBox="1"/>
          <p:nvPr/>
        </p:nvSpPr>
        <p:spPr>
          <a:xfrm>
            <a:off x="914400" y="2249424"/>
            <a:ext cx="7452360" cy="420624"/>
          </a:xfrm>
          <a:prstGeom prst="rect">
            <a:avLst/>
          </a:prstGeom>
          <a:noFill/>
        </p:spPr>
        <p:txBody>
          <a:bodyPr wrap="square" lIns="0" tIns="0" rIns="0" bIns="0" anchor="ctr">
            <a:noAutofit/>
          </a:bodyPr>
          <a:lstStyle/>
          <a:p>
            <a:pPr algn="l">
              <a:lnSpc>
                <a:spcPct val="100000"/>
              </a:lnSpc>
              <a:spcBef>
                <a:spcPts val="0"/>
              </a:spcBef>
              <a:spcAft>
                <a:spcPts val="0"/>
              </a:spcAft>
            </a:pPr>
            <a:r>
              <a:rPr sz="1400" b="1" i="0">
                <a:solidFill>
                  <a:srgbClr val="FFFFFF"/>
                </a:solidFill>
                <a:latin typeface="Sora"/>
              </a:rPr>
              <a:t>6. Service client</a:t>
            </a:r>
          </a:p>
        </p:txBody>
      </p:sp>
      <p:sp>
        <p:nvSpPr>
          <p:cNvPr id="117" name="Rounded Rectangle 116"/>
          <p:cNvSpPr/>
          <p:nvPr/>
        </p:nvSpPr>
        <p:spPr>
          <a:xfrm>
            <a:off x="694944" y="2724912"/>
            <a:ext cx="7818120" cy="420624"/>
          </a:xfrm>
          <a:prstGeom prst="roundRect">
            <a:avLst>
              <a:gd name="adj" fmla="val 13043"/>
            </a:avLst>
          </a:prstGeom>
          <a:solidFill>
            <a:srgbClr val="B8850A"/>
          </a:solidFill>
          <a:ln>
            <a:noFill/>
          </a:ln>
        </p:spPr>
        <p:txBody>
          <a:bodyPr rtlCol="0" anchor="ctr"/>
          <a:lstStyle/>
          <a:p>
            <a:pPr algn="ctr"/>
          </a:p>
        </p:txBody>
      </p:sp>
      <p:sp>
        <p:nvSpPr>
          <p:cNvPr id="118" name="TextBox 117"/>
          <p:cNvSpPr txBox="1"/>
          <p:nvPr/>
        </p:nvSpPr>
        <p:spPr>
          <a:xfrm>
            <a:off x="914400" y="2724912"/>
            <a:ext cx="7452360" cy="420624"/>
          </a:xfrm>
          <a:prstGeom prst="rect">
            <a:avLst/>
          </a:prstGeom>
          <a:noFill/>
        </p:spPr>
        <p:txBody>
          <a:bodyPr wrap="square" lIns="0" tIns="0" rIns="0" bIns="0" anchor="ctr">
            <a:noAutofit/>
          </a:bodyPr>
          <a:lstStyle/>
          <a:p>
            <a:pPr algn="l">
              <a:lnSpc>
                <a:spcPct val="100000"/>
              </a:lnSpc>
              <a:spcBef>
                <a:spcPts val="0"/>
              </a:spcBef>
              <a:spcAft>
                <a:spcPts val="0"/>
              </a:spcAft>
            </a:pPr>
            <a:r>
              <a:rPr sz="1400" b="1" i="0">
                <a:solidFill>
                  <a:srgbClr val="FFFFFF"/>
                </a:solidFill>
                <a:latin typeface="Sora"/>
              </a:rPr>
              <a:t>5. Transport et distribution</a:t>
            </a:r>
          </a:p>
        </p:txBody>
      </p:sp>
      <p:sp>
        <p:nvSpPr>
          <p:cNvPr id="119" name="Rounded Rectangle 118"/>
          <p:cNvSpPr/>
          <p:nvPr/>
        </p:nvSpPr>
        <p:spPr>
          <a:xfrm>
            <a:off x="694944" y="3273552"/>
            <a:ext cx="1188720" cy="1005840"/>
          </a:xfrm>
          <a:prstGeom prst="roundRect">
            <a:avLst>
              <a:gd name="adj" fmla="val 7272"/>
            </a:avLst>
          </a:prstGeom>
          <a:solidFill>
            <a:srgbClr val="DDE2EE"/>
          </a:solidFill>
          <a:ln>
            <a:noFill/>
          </a:ln>
        </p:spPr>
        <p:txBody>
          <a:bodyPr rtlCol="0" anchor="ctr"/>
          <a:lstStyle/>
          <a:p>
            <a:pPr algn="ctr"/>
          </a:p>
        </p:txBody>
      </p:sp>
      <p:sp>
        <p:nvSpPr>
          <p:cNvPr id="120" name="TextBox 119"/>
          <p:cNvSpPr txBox="1"/>
          <p:nvPr/>
        </p:nvSpPr>
        <p:spPr>
          <a:xfrm>
            <a:off x="731520" y="3273552"/>
            <a:ext cx="1115568" cy="1005840"/>
          </a:xfrm>
          <a:prstGeom prst="rect">
            <a:avLst/>
          </a:prstGeom>
          <a:noFill/>
        </p:spPr>
        <p:txBody>
          <a:bodyPr wrap="square" lIns="0" tIns="0" rIns="0" bIns="0" anchor="ctr">
            <a:noAutofit/>
          </a:bodyPr>
          <a:lstStyle/>
          <a:p>
            <a:pPr algn="ctr">
              <a:lnSpc>
                <a:spcPct val="105000"/>
              </a:lnSpc>
              <a:spcBef>
                <a:spcPts val="0"/>
              </a:spcBef>
              <a:spcAft>
                <a:spcPts val="0"/>
              </a:spcAft>
            </a:pPr>
            <a:r>
              <a:rPr sz="1250" b="1" i="0">
                <a:solidFill>
                  <a:srgbClr val="1B2A4A"/>
                </a:solidFill>
                <a:latin typeface="Sora"/>
              </a:rPr>
              <a:t>Fournisseurs</a:t>
            </a:r>
          </a:p>
        </p:txBody>
      </p:sp>
      <p:cxnSp>
        <p:nvCxnSpPr>
          <p:cNvPr id="121" name="Connector 120"/>
          <p:cNvCxnSpPr/>
          <p:nvPr/>
        </p:nvCxnSpPr>
        <p:spPr>
          <a:xfrm>
            <a:off x="1920240" y="3776472"/>
            <a:ext cx="132588" cy="0"/>
          </a:xfrm>
          <a:prstGeom prst="line">
            <a:avLst/>
          </a:prstGeom>
          <a:ln w="28575">
            <a:solidFill>
              <a:srgbClr val="1B2A4A"/>
            </a:solidFill>
            <a:tailEnd type="triangle" w="med" len="med"/>
          </a:ln>
        </p:spPr>
      </p:cxnSp>
      <p:sp>
        <p:nvSpPr>
          <p:cNvPr id="122" name="Rounded Rectangle 121"/>
          <p:cNvSpPr/>
          <p:nvPr/>
        </p:nvSpPr>
        <p:spPr>
          <a:xfrm>
            <a:off x="2089404" y="3273552"/>
            <a:ext cx="1783080" cy="1005840"/>
          </a:xfrm>
          <a:prstGeom prst="roundRect">
            <a:avLst>
              <a:gd name="adj" fmla="val 7272"/>
            </a:avLst>
          </a:prstGeom>
          <a:solidFill>
            <a:srgbClr val="1F6E8A"/>
          </a:solidFill>
          <a:ln>
            <a:noFill/>
          </a:ln>
        </p:spPr>
        <p:txBody>
          <a:bodyPr rtlCol="0" anchor="ctr"/>
          <a:lstStyle/>
          <a:p>
            <a:pPr algn="ctr"/>
          </a:p>
        </p:txBody>
      </p:sp>
      <p:sp>
        <p:nvSpPr>
          <p:cNvPr id="123" name="TextBox 122"/>
          <p:cNvSpPr txBox="1"/>
          <p:nvPr/>
        </p:nvSpPr>
        <p:spPr>
          <a:xfrm>
            <a:off x="2162556" y="3273552"/>
            <a:ext cx="1636776" cy="1005840"/>
          </a:xfrm>
          <a:prstGeom prst="rect">
            <a:avLst/>
          </a:prstGeom>
          <a:noFill/>
        </p:spPr>
        <p:txBody>
          <a:bodyPr wrap="square" lIns="0" tIns="0" rIns="0" bIns="0" anchor="ctr">
            <a:noAutofit/>
          </a:bodyPr>
          <a:lstStyle/>
          <a:p>
            <a:pPr algn="ctr">
              <a:lnSpc>
                <a:spcPct val="105000"/>
              </a:lnSpc>
              <a:spcBef>
                <a:spcPts val="0"/>
              </a:spcBef>
              <a:spcAft>
                <a:spcPts val="0"/>
              </a:spcAft>
            </a:pPr>
            <a:r>
              <a:rPr sz="1150" b="1" i="0">
                <a:solidFill>
                  <a:srgbClr val="FFFFFF"/>
                </a:solidFill>
                <a:latin typeface="Sora"/>
              </a:rPr>
              <a:t>1. Achat et approvisionnement</a:t>
            </a:r>
          </a:p>
        </p:txBody>
      </p:sp>
      <p:cxnSp>
        <p:nvCxnSpPr>
          <p:cNvPr id="124" name="Connector 123"/>
          <p:cNvCxnSpPr/>
          <p:nvPr/>
        </p:nvCxnSpPr>
        <p:spPr>
          <a:xfrm>
            <a:off x="3909060" y="3776472"/>
            <a:ext cx="132588" cy="0"/>
          </a:xfrm>
          <a:prstGeom prst="line">
            <a:avLst/>
          </a:prstGeom>
          <a:ln w="28575">
            <a:solidFill>
              <a:srgbClr val="1B2A4A"/>
            </a:solidFill>
            <a:tailEnd type="triangle" w="med" len="med"/>
          </a:ln>
        </p:spPr>
      </p:cxnSp>
      <p:sp>
        <p:nvSpPr>
          <p:cNvPr id="125" name="Rounded Rectangle 124"/>
          <p:cNvSpPr/>
          <p:nvPr/>
        </p:nvSpPr>
        <p:spPr>
          <a:xfrm>
            <a:off x="4078224" y="3273552"/>
            <a:ext cx="1554480" cy="1005840"/>
          </a:xfrm>
          <a:prstGeom prst="roundRect">
            <a:avLst>
              <a:gd name="adj" fmla="val 7272"/>
            </a:avLst>
          </a:prstGeom>
          <a:solidFill>
            <a:srgbClr val="694B93"/>
          </a:solidFill>
          <a:ln>
            <a:noFill/>
          </a:ln>
        </p:spPr>
        <p:txBody>
          <a:bodyPr rtlCol="0" anchor="ctr"/>
          <a:lstStyle/>
          <a:p>
            <a:pPr algn="ctr"/>
          </a:p>
        </p:txBody>
      </p:sp>
      <p:sp>
        <p:nvSpPr>
          <p:cNvPr id="126" name="TextBox 125"/>
          <p:cNvSpPr txBox="1"/>
          <p:nvPr/>
        </p:nvSpPr>
        <p:spPr>
          <a:xfrm>
            <a:off x="4151376" y="3273552"/>
            <a:ext cx="1408176" cy="1005840"/>
          </a:xfrm>
          <a:prstGeom prst="rect">
            <a:avLst/>
          </a:prstGeom>
          <a:noFill/>
        </p:spPr>
        <p:txBody>
          <a:bodyPr wrap="square" lIns="0" tIns="0" rIns="0" bIns="0" anchor="ctr">
            <a:noAutofit/>
          </a:bodyPr>
          <a:lstStyle/>
          <a:p>
            <a:pPr algn="ctr">
              <a:lnSpc>
                <a:spcPct val="105000"/>
              </a:lnSpc>
              <a:spcBef>
                <a:spcPts val="0"/>
              </a:spcBef>
              <a:spcAft>
                <a:spcPts val="0"/>
              </a:spcAft>
            </a:pPr>
            <a:r>
              <a:rPr sz="1350" b="1" i="0">
                <a:solidFill>
                  <a:srgbClr val="FFFFFF"/>
                </a:solidFill>
                <a:latin typeface="Sora"/>
              </a:rPr>
              <a:t>3. Production et opérations</a:t>
            </a:r>
          </a:p>
        </p:txBody>
      </p:sp>
      <p:cxnSp>
        <p:nvCxnSpPr>
          <p:cNvPr id="127" name="Connector 126"/>
          <p:cNvCxnSpPr/>
          <p:nvPr/>
        </p:nvCxnSpPr>
        <p:spPr>
          <a:xfrm>
            <a:off x="5669280" y="3776472"/>
            <a:ext cx="132588" cy="0"/>
          </a:xfrm>
          <a:prstGeom prst="line">
            <a:avLst/>
          </a:prstGeom>
          <a:ln w="28575">
            <a:solidFill>
              <a:srgbClr val="1B2A4A"/>
            </a:solidFill>
            <a:tailEnd type="triangle" w="med" len="med"/>
          </a:ln>
        </p:spPr>
      </p:cxnSp>
      <p:sp>
        <p:nvSpPr>
          <p:cNvPr id="128" name="Rounded Rectangle 127"/>
          <p:cNvSpPr/>
          <p:nvPr/>
        </p:nvSpPr>
        <p:spPr>
          <a:xfrm>
            <a:off x="5838444" y="3273552"/>
            <a:ext cx="1600200" cy="1005840"/>
          </a:xfrm>
          <a:prstGeom prst="roundRect">
            <a:avLst>
              <a:gd name="adj" fmla="val 7272"/>
            </a:avLst>
          </a:prstGeom>
          <a:solidFill>
            <a:srgbClr val="C1410C"/>
          </a:solidFill>
          <a:ln>
            <a:noFill/>
          </a:ln>
        </p:spPr>
        <p:txBody>
          <a:bodyPr rtlCol="0" anchor="ctr"/>
          <a:lstStyle/>
          <a:p>
            <a:pPr algn="ctr"/>
          </a:p>
        </p:txBody>
      </p:sp>
      <p:sp>
        <p:nvSpPr>
          <p:cNvPr id="129" name="TextBox 128"/>
          <p:cNvSpPr txBox="1"/>
          <p:nvPr/>
        </p:nvSpPr>
        <p:spPr>
          <a:xfrm>
            <a:off x="5911596" y="3273552"/>
            <a:ext cx="1453896" cy="1005840"/>
          </a:xfrm>
          <a:prstGeom prst="rect">
            <a:avLst/>
          </a:prstGeom>
          <a:noFill/>
        </p:spPr>
        <p:txBody>
          <a:bodyPr wrap="square" lIns="0" tIns="0" rIns="0" bIns="0" anchor="ctr">
            <a:noAutofit/>
          </a:bodyPr>
          <a:lstStyle/>
          <a:p>
            <a:pPr algn="ctr">
              <a:lnSpc>
                <a:spcPct val="105000"/>
              </a:lnSpc>
              <a:spcBef>
                <a:spcPts val="0"/>
              </a:spcBef>
              <a:spcAft>
                <a:spcPts val="0"/>
              </a:spcAft>
            </a:pPr>
            <a:r>
              <a:rPr sz="1350" b="1" i="0">
                <a:solidFill>
                  <a:srgbClr val="FFFFFF"/>
                </a:solidFill>
                <a:latin typeface="Sora"/>
              </a:rPr>
              <a:t>4. Gestion de stock et entrepôt</a:t>
            </a:r>
          </a:p>
        </p:txBody>
      </p:sp>
      <p:cxnSp>
        <p:nvCxnSpPr>
          <p:cNvPr id="130" name="Connector 129"/>
          <p:cNvCxnSpPr/>
          <p:nvPr/>
        </p:nvCxnSpPr>
        <p:spPr>
          <a:xfrm>
            <a:off x="7475220" y="3776472"/>
            <a:ext cx="132588" cy="0"/>
          </a:xfrm>
          <a:prstGeom prst="line">
            <a:avLst/>
          </a:prstGeom>
          <a:ln w="28575">
            <a:solidFill>
              <a:srgbClr val="1B2A4A"/>
            </a:solidFill>
            <a:tailEnd type="triangle" w="med" len="med"/>
          </a:ln>
        </p:spPr>
      </p:cxnSp>
      <p:sp>
        <p:nvSpPr>
          <p:cNvPr id="131" name="Rounded Rectangle 130"/>
          <p:cNvSpPr/>
          <p:nvPr/>
        </p:nvSpPr>
        <p:spPr>
          <a:xfrm>
            <a:off x="7644384" y="3273552"/>
            <a:ext cx="868680" cy="1005840"/>
          </a:xfrm>
          <a:prstGeom prst="roundRect">
            <a:avLst>
              <a:gd name="adj" fmla="val 8421"/>
            </a:avLst>
          </a:prstGeom>
          <a:solidFill>
            <a:srgbClr val="DDE2EE"/>
          </a:solidFill>
          <a:ln>
            <a:noFill/>
          </a:ln>
        </p:spPr>
        <p:txBody>
          <a:bodyPr rtlCol="0" anchor="ctr"/>
          <a:lstStyle/>
          <a:p>
            <a:pPr algn="ctr"/>
          </a:p>
        </p:txBody>
      </p:sp>
      <p:sp>
        <p:nvSpPr>
          <p:cNvPr id="132" name="TextBox 131"/>
          <p:cNvSpPr txBox="1"/>
          <p:nvPr/>
        </p:nvSpPr>
        <p:spPr>
          <a:xfrm>
            <a:off x="7680960" y="3273552"/>
            <a:ext cx="795528" cy="1005840"/>
          </a:xfrm>
          <a:prstGeom prst="rect">
            <a:avLst/>
          </a:prstGeom>
          <a:noFill/>
        </p:spPr>
        <p:txBody>
          <a:bodyPr wrap="square" lIns="0" tIns="0" rIns="0" bIns="0" anchor="ctr">
            <a:noAutofit/>
          </a:bodyPr>
          <a:lstStyle/>
          <a:p>
            <a:pPr algn="ctr">
              <a:lnSpc>
                <a:spcPct val="105000"/>
              </a:lnSpc>
              <a:spcBef>
                <a:spcPts val="0"/>
              </a:spcBef>
              <a:spcAft>
                <a:spcPts val="0"/>
              </a:spcAft>
            </a:pPr>
            <a:r>
              <a:rPr sz="1350" b="1" i="0">
                <a:solidFill>
                  <a:srgbClr val="1B2A4A"/>
                </a:solidFill>
                <a:latin typeface="Sora"/>
              </a:rPr>
              <a:t>Clients</a:t>
            </a:r>
          </a:p>
        </p:txBody>
      </p:sp>
      <p:sp>
        <p:nvSpPr>
          <p:cNvPr id="133" name="Rounded Rectangle 132"/>
          <p:cNvSpPr/>
          <p:nvPr/>
        </p:nvSpPr>
        <p:spPr>
          <a:xfrm>
            <a:off x="694944" y="4425696"/>
            <a:ext cx="7818120" cy="420624"/>
          </a:xfrm>
          <a:prstGeom prst="roundRect">
            <a:avLst>
              <a:gd name="adj" fmla="val 13043"/>
            </a:avLst>
          </a:prstGeom>
          <a:solidFill>
            <a:srgbClr val="8C6E62"/>
          </a:solidFill>
          <a:ln>
            <a:noFill/>
          </a:ln>
        </p:spPr>
        <p:txBody>
          <a:bodyPr rtlCol="0" anchor="ctr"/>
          <a:lstStyle/>
          <a:p>
            <a:pPr algn="ctr"/>
          </a:p>
        </p:txBody>
      </p:sp>
      <p:sp>
        <p:nvSpPr>
          <p:cNvPr id="134" name="TextBox 133"/>
          <p:cNvSpPr txBox="1"/>
          <p:nvPr/>
        </p:nvSpPr>
        <p:spPr>
          <a:xfrm>
            <a:off x="914400" y="4425696"/>
            <a:ext cx="7452360" cy="420624"/>
          </a:xfrm>
          <a:prstGeom prst="rect">
            <a:avLst/>
          </a:prstGeom>
          <a:noFill/>
        </p:spPr>
        <p:txBody>
          <a:bodyPr wrap="square" lIns="0" tIns="0" rIns="0" bIns="0" anchor="ctr">
            <a:noAutofit/>
          </a:bodyPr>
          <a:lstStyle/>
          <a:p>
            <a:pPr algn="l">
              <a:lnSpc>
                <a:spcPct val="100000"/>
              </a:lnSpc>
              <a:spcBef>
                <a:spcPts val="0"/>
              </a:spcBef>
              <a:spcAft>
                <a:spcPts val="0"/>
              </a:spcAft>
            </a:pPr>
            <a:r>
              <a:rPr sz="1400" b="1" i="0">
                <a:solidFill>
                  <a:srgbClr val="FFFFFF"/>
                </a:solidFill>
                <a:latin typeface="Sora"/>
              </a:rPr>
              <a:t>7. Logistique inverse · flux retour</a:t>
            </a:r>
          </a:p>
        </p:txBody>
      </p:sp>
      <p:sp>
        <p:nvSpPr>
          <p:cNvPr id="135" name="Rounded Rectangle 134"/>
          <p:cNvSpPr/>
          <p:nvPr/>
        </p:nvSpPr>
        <p:spPr>
          <a:xfrm>
            <a:off x="694944" y="4901184"/>
            <a:ext cx="7818120" cy="420624"/>
          </a:xfrm>
          <a:prstGeom prst="roundRect">
            <a:avLst>
              <a:gd name="adj" fmla="val 13043"/>
            </a:avLst>
          </a:prstGeom>
          <a:solidFill>
            <a:srgbClr val="AC1356"/>
          </a:solidFill>
          <a:ln>
            <a:noFill/>
          </a:ln>
        </p:spPr>
        <p:txBody>
          <a:bodyPr rtlCol="0" anchor="ctr"/>
          <a:lstStyle/>
          <a:p>
            <a:pPr algn="ctr"/>
          </a:p>
        </p:txBody>
      </p:sp>
      <p:sp>
        <p:nvSpPr>
          <p:cNvPr id="136" name="TextBox 135"/>
          <p:cNvSpPr txBox="1"/>
          <p:nvPr/>
        </p:nvSpPr>
        <p:spPr>
          <a:xfrm>
            <a:off x="914400" y="4901184"/>
            <a:ext cx="7452360" cy="420624"/>
          </a:xfrm>
          <a:prstGeom prst="rect">
            <a:avLst/>
          </a:prstGeom>
          <a:noFill/>
        </p:spPr>
        <p:txBody>
          <a:bodyPr wrap="square" lIns="0" tIns="0" rIns="0" bIns="0" anchor="ctr">
            <a:noAutofit/>
          </a:bodyPr>
          <a:lstStyle/>
          <a:p>
            <a:pPr algn="l">
              <a:lnSpc>
                <a:spcPct val="100000"/>
              </a:lnSpc>
              <a:spcBef>
                <a:spcPts val="0"/>
              </a:spcBef>
              <a:spcAft>
                <a:spcPts val="0"/>
              </a:spcAft>
            </a:pPr>
            <a:r>
              <a:rPr sz="1400" b="1" i="0">
                <a:solidFill>
                  <a:srgbClr val="FFFFFF"/>
                </a:solidFill>
                <a:latin typeface="Sora"/>
              </a:rPr>
              <a:t>8. Contrôle qualité et conformité</a:t>
            </a:r>
          </a:p>
        </p:txBody>
      </p:sp>
      <p:sp>
        <p:nvSpPr>
          <p:cNvPr id="137" name="Rounded Rectangle 136"/>
          <p:cNvSpPr/>
          <p:nvPr/>
        </p:nvSpPr>
        <p:spPr>
          <a:xfrm>
            <a:off x="694944" y="5376672"/>
            <a:ext cx="7818120" cy="420624"/>
          </a:xfrm>
          <a:prstGeom prst="roundRect">
            <a:avLst>
              <a:gd name="adj" fmla="val 13043"/>
            </a:avLst>
          </a:prstGeom>
          <a:solidFill>
            <a:srgbClr val="3F6211"/>
          </a:solidFill>
          <a:ln>
            <a:noFill/>
          </a:ln>
        </p:spPr>
        <p:txBody>
          <a:bodyPr rtlCol="0" anchor="ctr"/>
          <a:lstStyle/>
          <a:p>
            <a:pPr algn="ctr"/>
          </a:p>
        </p:txBody>
      </p:sp>
      <p:sp>
        <p:nvSpPr>
          <p:cNvPr id="138" name="TextBox 137"/>
          <p:cNvSpPr txBox="1"/>
          <p:nvPr/>
        </p:nvSpPr>
        <p:spPr>
          <a:xfrm>
            <a:off x="914400" y="5376672"/>
            <a:ext cx="7452360" cy="420624"/>
          </a:xfrm>
          <a:prstGeom prst="rect">
            <a:avLst/>
          </a:prstGeom>
          <a:noFill/>
        </p:spPr>
        <p:txBody>
          <a:bodyPr wrap="square" lIns="0" tIns="0" rIns="0" bIns="0" anchor="ctr">
            <a:noAutofit/>
          </a:bodyPr>
          <a:lstStyle/>
          <a:p>
            <a:pPr algn="l">
              <a:lnSpc>
                <a:spcPct val="100000"/>
              </a:lnSpc>
              <a:spcBef>
                <a:spcPts val="0"/>
              </a:spcBef>
              <a:spcAft>
                <a:spcPts val="0"/>
              </a:spcAft>
            </a:pPr>
            <a:r>
              <a:rPr sz="1400" b="1" i="0">
                <a:solidFill>
                  <a:srgbClr val="FFFFFF"/>
                </a:solidFill>
                <a:latin typeface="Sora"/>
              </a:rPr>
              <a:t>9. Supply chain durable</a:t>
            </a:r>
          </a:p>
        </p:txBody>
      </p:sp>
      <p:sp>
        <p:nvSpPr>
          <p:cNvPr id="139" name="Rounded Rectangle 138"/>
          <p:cNvSpPr/>
          <p:nvPr/>
        </p:nvSpPr>
        <p:spPr>
          <a:xfrm>
            <a:off x="8796528" y="1773936"/>
            <a:ext cx="2697480" cy="1207008"/>
          </a:xfrm>
          <a:prstGeom prst="roundRect">
            <a:avLst>
              <a:gd name="adj" fmla="val 12628"/>
            </a:avLst>
          </a:prstGeom>
          <a:solidFill>
            <a:srgbClr val="FFFFFF"/>
          </a:solidFill>
          <a:ln>
            <a:noFill/>
          </a:ln>
        </p:spPr>
        <p:txBody>
          <a:bodyPr rtlCol="0" anchor="ctr"/>
          <a:lstStyle/>
          <a:p>
            <a:pPr algn="ctr"/>
          </a:p>
        </p:txBody>
      </p:sp>
      <p:sp>
        <p:nvSpPr>
          <p:cNvPr id="140" name="Rectangle 139"/>
          <p:cNvSpPr/>
          <p:nvPr/>
        </p:nvSpPr>
        <p:spPr>
          <a:xfrm>
            <a:off x="8796528" y="1773936"/>
            <a:ext cx="2697480" cy="1207008"/>
          </a:xfrm>
          <a:custGeom>
            <a:rect b="b" l="l" r="r" t="t"/>
            <a:pathLst>
              <a:path extrusionOk="0" h="1207008" w="2697480">
                <a:moveTo>
                  <a:pt x="0" y="152400"/>
                </a:moveTo>
                <a:cubicBezTo>
                  <a:pt x="0" y="68229"/>
                  <a:pt x="68229" y="0"/>
                  <a:pt x="152400" y="0"/>
                </a:cubicBezTo>
                <a:lnTo>
                  <a:pt x="2545080" y="0"/>
                </a:lnTo>
                <a:cubicBezTo>
                  <a:pt x="2629250" y="0"/>
                  <a:pt x="2697480" y="68229"/>
                  <a:pt x="2697480" y="152400"/>
                </a:cubicBezTo>
                <a:cubicBezTo>
                  <a:pt x="2697480" y="103311"/>
                  <a:pt x="2629251" y="63500"/>
                  <a:pt x="2545080"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41" name="TextBox 140"/>
          <p:cNvSpPr txBox="1"/>
          <p:nvPr/>
        </p:nvSpPr>
        <p:spPr>
          <a:xfrm>
            <a:off x="8997696" y="1956816"/>
            <a:ext cx="2377440" cy="274320"/>
          </a:xfrm>
          <a:prstGeom prst="rect">
            <a:avLst/>
          </a:prstGeom>
          <a:noFill/>
        </p:spPr>
        <p:txBody>
          <a:bodyPr wrap="square" lIns="0" tIns="0" rIns="0" bIns="0" anchor="t">
            <a:noAutofit/>
          </a:bodyPr>
          <a:lstStyle/>
          <a:p>
            <a:pPr algn="l">
              <a:lnSpc>
                <a:spcPct val="115000"/>
              </a:lnSpc>
              <a:spcBef>
                <a:spcPts val="0"/>
              </a:spcBef>
              <a:spcAft>
                <a:spcPts val="0"/>
              </a:spcAft>
            </a:pPr>
            <a:r>
              <a:rPr sz="1400" b="1" i="0">
                <a:solidFill>
                  <a:srgbClr val="1B2A4A"/>
                </a:solidFill>
                <a:latin typeface="Sora"/>
              </a:rPr>
              <a:t>Flux physique</a:t>
            </a:r>
          </a:p>
        </p:txBody>
      </p:sp>
      <p:sp>
        <p:nvSpPr>
          <p:cNvPr id="142" name="TextBox 141"/>
          <p:cNvSpPr txBox="1"/>
          <p:nvPr/>
        </p:nvSpPr>
        <p:spPr>
          <a:xfrm>
            <a:off x="8997696" y="2304288"/>
            <a:ext cx="2377440" cy="640080"/>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2B3350"/>
                </a:solidFill>
                <a:latin typeface="DM Sans"/>
              </a:rPr>
              <a:t>Les métiers 1, 3 et 4 suivent la marchandise, des fournisseurs aux clients.</a:t>
            </a:r>
          </a:p>
        </p:txBody>
      </p:sp>
      <p:sp>
        <p:nvSpPr>
          <p:cNvPr id="143" name="Rounded Rectangle 142"/>
          <p:cNvSpPr/>
          <p:nvPr/>
        </p:nvSpPr>
        <p:spPr>
          <a:xfrm>
            <a:off x="8796528" y="3145536"/>
            <a:ext cx="2697480" cy="1207008"/>
          </a:xfrm>
          <a:prstGeom prst="roundRect">
            <a:avLst>
              <a:gd name="adj" fmla="val 12628"/>
            </a:avLst>
          </a:prstGeom>
          <a:solidFill>
            <a:srgbClr val="FFFFFF"/>
          </a:solidFill>
          <a:ln>
            <a:noFill/>
          </a:ln>
        </p:spPr>
        <p:txBody>
          <a:bodyPr rtlCol="0" anchor="ctr"/>
          <a:lstStyle/>
          <a:p>
            <a:pPr algn="ctr"/>
          </a:p>
        </p:txBody>
      </p:sp>
      <p:sp>
        <p:nvSpPr>
          <p:cNvPr id="144" name="Rectangle 143"/>
          <p:cNvSpPr/>
          <p:nvPr/>
        </p:nvSpPr>
        <p:spPr>
          <a:xfrm>
            <a:off x="8796528" y="3145536"/>
            <a:ext cx="2697480" cy="1207008"/>
          </a:xfrm>
          <a:custGeom>
            <a:rect b="b" l="l" r="r" t="t"/>
            <a:pathLst>
              <a:path extrusionOk="0" h="1207008" w="2697480">
                <a:moveTo>
                  <a:pt x="0" y="152400"/>
                </a:moveTo>
                <a:cubicBezTo>
                  <a:pt x="0" y="68229"/>
                  <a:pt x="68229" y="0"/>
                  <a:pt x="152400" y="0"/>
                </a:cubicBezTo>
                <a:lnTo>
                  <a:pt x="2545080" y="0"/>
                </a:lnTo>
                <a:cubicBezTo>
                  <a:pt x="2629250" y="0"/>
                  <a:pt x="2697480" y="68229"/>
                  <a:pt x="2697480" y="152400"/>
                </a:cubicBezTo>
                <a:cubicBezTo>
                  <a:pt x="2697480" y="103311"/>
                  <a:pt x="2629251" y="63500"/>
                  <a:pt x="254508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45" name="TextBox 144"/>
          <p:cNvSpPr txBox="1"/>
          <p:nvPr/>
        </p:nvSpPr>
        <p:spPr>
          <a:xfrm>
            <a:off x="8997696" y="3328416"/>
            <a:ext cx="2377440" cy="274320"/>
          </a:xfrm>
          <a:prstGeom prst="rect">
            <a:avLst/>
          </a:prstGeom>
          <a:noFill/>
        </p:spPr>
        <p:txBody>
          <a:bodyPr wrap="square" lIns="0" tIns="0" rIns="0" bIns="0" anchor="t">
            <a:noAutofit/>
          </a:bodyPr>
          <a:lstStyle/>
          <a:p>
            <a:pPr algn="l">
              <a:lnSpc>
                <a:spcPct val="115000"/>
              </a:lnSpc>
              <a:spcBef>
                <a:spcPts val="0"/>
              </a:spcBef>
              <a:spcAft>
                <a:spcPts val="0"/>
              </a:spcAft>
            </a:pPr>
            <a:r>
              <a:rPr sz="1400" b="1" i="0">
                <a:solidFill>
                  <a:srgbClr val="1B2A4A"/>
                </a:solidFill>
                <a:latin typeface="Sora"/>
              </a:rPr>
              <a:t>Pilotage</a:t>
            </a:r>
          </a:p>
        </p:txBody>
      </p:sp>
      <p:sp>
        <p:nvSpPr>
          <p:cNvPr id="146" name="TextBox 145"/>
          <p:cNvSpPr txBox="1"/>
          <p:nvPr/>
        </p:nvSpPr>
        <p:spPr>
          <a:xfrm>
            <a:off x="8997696" y="3675888"/>
            <a:ext cx="2377440" cy="640080"/>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2B3350"/>
                </a:solidFill>
                <a:latin typeface="DM Sans"/>
              </a:rPr>
              <a:t>Les métiers 2, 6 et 5 orientent le flux sur toute sa largeur.</a:t>
            </a:r>
          </a:p>
        </p:txBody>
      </p:sp>
      <p:sp>
        <p:nvSpPr>
          <p:cNvPr id="147" name="Rounded Rectangle 146"/>
          <p:cNvSpPr/>
          <p:nvPr/>
        </p:nvSpPr>
        <p:spPr>
          <a:xfrm>
            <a:off x="8796528" y="4517136"/>
            <a:ext cx="2697480" cy="1207008"/>
          </a:xfrm>
          <a:prstGeom prst="roundRect">
            <a:avLst>
              <a:gd name="adj" fmla="val 12628"/>
            </a:avLst>
          </a:prstGeom>
          <a:solidFill>
            <a:srgbClr val="FFFFFF"/>
          </a:solidFill>
          <a:ln>
            <a:noFill/>
          </a:ln>
        </p:spPr>
        <p:txBody>
          <a:bodyPr rtlCol="0" anchor="ctr"/>
          <a:lstStyle/>
          <a:p>
            <a:pPr algn="ctr"/>
          </a:p>
        </p:txBody>
      </p:sp>
      <p:sp>
        <p:nvSpPr>
          <p:cNvPr id="148" name="Rectangle 147"/>
          <p:cNvSpPr/>
          <p:nvPr/>
        </p:nvSpPr>
        <p:spPr>
          <a:xfrm>
            <a:off x="8796528" y="4517136"/>
            <a:ext cx="2697480" cy="1207008"/>
          </a:xfrm>
          <a:custGeom>
            <a:rect b="b" l="l" r="r" t="t"/>
            <a:pathLst>
              <a:path extrusionOk="0" h="1207008" w="2697480">
                <a:moveTo>
                  <a:pt x="0" y="152400"/>
                </a:moveTo>
                <a:cubicBezTo>
                  <a:pt x="0" y="68229"/>
                  <a:pt x="68229" y="0"/>
                  <a:pt x="152400" y="0"/>
                </a:cubicBezTo>
                <a:lnTo>
                  <a:pt x="2545080" y="0"/>
                </a:lnTo>
                <a:cubicBezTo>
                  <a:pt x="2629250" y="0"/>
                  <a:pt x="2697480" y="68229"/>
                  <a:pt x="2697480" y="152400"/>
                </a:cubicBezTo>
                <a:cubicBezTo>
                  <a:pt x="2697480" y="103311"/>
                  <a:pt x="2629251" y="63500"/>
                  <a:pt x="2545080"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49" name="TextBox 148"/>
          <p:cNvSpPr txBox="1"/>
          <p:nvPr/>
        </p:nvSpPr>
        <p:spPr>
          <a:xfrm>
            <a:off x="8997696" y="4700016"/>
            <a:ext cx="2377440" cy="274320"/>
          </a:xfrm>
          <a:prstGeom prst="rect">
            <a:avLst/>
          </a:prstGeom>
          <a:noFill/>
        </p:spPr>
        <p:txBody>
          <a:bodyPr wrap="square" lIns="0" tIns="0" rIns="0" bIns="0" anchor="t">
            <a:noAutofit/>
          </a:bodyPr>
          <a:lstStyle/>
          <a:p>
            <a:pPr algn="l">
              <a:lnSpc>
                <a:spcPct val="115000"/>
              </a:lnSpc>
              <a:spcBef>
                <a:spcPts val="0"/>
              </a:spcBef>
              <a:spcAft>
                <a:spcPts val="0"/>
              </a:spcAft>
            </a:pPr>
            <a:r>
              <a:rPr sz="1400" b="1" i="0">
                <a:solidFill>
                  <a:srgbClr val="1B2A4A"/>
                </a:solidFill>
                <a:latin typeface="Sora"/>
              </a:rPr>
              <a:t>Soutien</a:t>
            </a:r>
          </a:p>
        </p:txBody>
      </p:sp>
      <p:sp>
        <p:nvSpPr>
          <p:cNvPr id="150" name="TextBox 149"/>
          <p:cNvSpPr txBox="1"/>
          <p:nvPr/>
        </p:nvSpPr>
        <p:spPr>
          <a:xfrm>
            <a:off x="8997696" y="5047488"/>
            <a:ext cx="2377440" cy="640080"/>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2B3350"/>
                </a:solidFill>
                <a:latin typeface="DM Sans"/>
              </a:rPr>
              <a:t>Les métiers 7, 8 et 9 prolongent le flux ou l’encadrent.</a:t>
            </a:r>
          </a:p>
        </p:txBody>
      </p:sp>
      <p:sp>
        <p:nvSpPr>
          <p:cNvPr id="151" name="TextBox 150"/>
          <p:cNvSpPr txBox="1"/>
          <p:nvPr/>
        </p:nvSpPr>
        <p:spPr>
          <a:xfrm>
            <a:off x="8796528" y="5760720"/>
            <a:ext cx="731520" cy="274320"/>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6B3FA0"/>
                </a:solidFill>
                <a:latin typeface="Sora"/>
              </a:rPr>
              <a:t>9</a:t>
            </a:r>
          </a:p>
        </p:txBody>
      </p:sp>
      <p:sp>
        <p:nvSpPr>
          <p:cNvPr id="152" name="TextBox 151"/>
          <p:cNvSpPr txBox="1"/>
          <p:nvPr/>
        </p:nvSpPr>
        <p:spPr>
          <a:xfrm>
            <a:off x="8796528" y="6053328"/>
            <a:ext cx="731520" cy="228600"/>
          </a:xfrm>
          <a:prstGeom prst="rect">
            <a:avLst/>
          </a:prstGeom>
          <a:noFill/>
        </p:spPr>
        <p:txBody>
          <a:bodyPr wrap="square" lIns="0" tIns="0" rIns="0" bIns="0" anchor="t">
            <a:noAutofit/>
          </a:bodyPr>
          <a:lstStyle/>
          <a:p>
            <a:pPr algn="l">
              <a:lnSpc>
                <a:spcPct val="115000"/>
              </a:lnSpc>
              <a:spcBef>
                <a:spcPts val="0"/>
              </a:spcBef>
              <a:spcAft>
                <a:spcPts val="0"/>
              </a:spcAft>
            </a:pPr>
            <a:r>
              <a:rPr sz="1000" b="0" i="0">
                <a:solidFill>
                  <a:srgbClr val="6B7390"/>
                </a:solidFill>
                <a:latin typeface="DM Sans"/>
              </a:rPr>
              <a:t>métiers</a:t>
            </a:r>
          </a:p>
        </p:txBody>
      </p:sp>
      <p:sp>
        <p:nvSpPr>
          <p:cNvPr id="153" name="TextBox 152"/>
          <p:cNvSpPr txBox="1"/>
          <p:nvPr/>
        </p:nvSpPr>
        <p:spPr>
          <a:xfrm>
            <a:off x="9528048" y="5760720"/>
            <a:ext cx="914400" cy="274320"/>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6B3FA0"/>
                </a:solidFill>
                <a:latin typeface="Sora"/>
              </a:rPr>
              <a:t>37</a:t>
            </a:r>
          </a:p>
        </p:txBody>
      </p:sp>
      <p:sp>
        <p:nvSpPr>
          <p:cNvPr id="154" name="TextBox 153"/>
          <p:cNvSpPr txBox="1"/>
          <p:nvPr/>
        </p:nvSpPr>
        <p:spPr>
          <a:xfrm>
            <a:off x="9528048" y="6053328"/>
            <a:ext cx="914400" cy="228600"/>
          </a:xfrm>
          <a:prstGeom prst="rect">
            <a:avLst/>
          </a:prstGeom>
          <a:noFill/>
        </p:spPr>
        <p:txBody>
          <a:bodyPr wrap="square" lIns="0" tIns="0" rIns="0" bIns="0" anchor="t">
            <a:noAutofit/>
          </a:bodyPr>
          <a:lstStyle/>
          <a:p>
            <a:pPr algn="l">
              <a:lnSpc>
                <a:spcPct val="115000"/>
              </a:lnSpc>
              <a:spcBef>
                <a:spcPts val="0"/>
              </a:spcBef>
              <a:spcAft>
                <a:spcPts val="0"/>
              </a:spcAft>
            </a:pPr>
            <a:r>
              <a:rPr sz="1000" b="0" i="0">
                <a:solidFill>
                  <a:srgbClr val="6B7390"/>
                </a:solidFill>
                <a:latin typeface="DM Sans"/>
              </a:rPr>
              <a:t>sous-métiers</a:t>
            </a:r>
          </a:p>
        </p:txBody>
      </p:sp>
      <p:sp>
        <p:nvSpPr>
          <p:cNvPr id="155" name="TextBox 154"/>
          <p:cNvSpPr txBox="1"/>
          <p:nvPr/>
        </p:nvSpPr>
        <p:spPr>
          <a:xfrm>
            <a:off x="10442448" y="5760720"/>
            <a:ext cx="1051560" cy="274320"/>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6B3FA0"/>
                </a:solidFill>
                <a:latin typeface="Sora"/>
              </a:rPr>
              <a:t>55</a:t>
            </a:r>
          </a:p>
        </p:txBody>
      </p:sp>
      <p:sp>
        <p:nvSpPr>
          <p:cNvPr id="156" name="TextBox 155"/>
          <p:cNvSpPr txBox="1"/>
          <p:nvPr/>
        </p:nvSpPr>
        <p:spPr>
          <a:xfrm>
            <a:off x="10442448" y="6053328"/>
            <a:ext cx="1051560" cy="228600"/>
          </a:xfrm>
          <a:prstGeom prst="rect">
            <a:avLst/>
          </a:prstGeom>
          <a:noFill/>
        </p:spPr>
        <p:txBody>
          <a:bodyPr wrap="square" lIns="0" tIns="0" rIns="0" bIns="0" anchor="t">
            <a:noAutofit/>
          </a:bodyPr>
          <a:lstStyle/>
          <a:p>
            <a:pPr algn="l">
              <a:lnSpc>
                <a:spcPct val="115000"/>
              </a:lnSpc>
              <a:spcBef>
                <a:spcPts val="0"/>
              </a:spcBef>
              <a:spcAft>
                <a:spcPts val="0"/>
              </a:spcAft>
            </a:pPr>
            <a:r>
              <a:rPr sz="1000" b="0" i="0">
                <a:solidFill>
                  <a:srgbClr val="6B7390"/>
                </a:solidFill>
                <a:latin typeface="DM Sans"/>
              </a:rPr>
              <a:t>sous-processus</a:t>
            </a:r>
          </a:p>
        </p:txBody>
      </p:sp>
      <p:sp>
        <p:nvSpPr>
          <p:cNvPr id="157" name="TextBox 156"/>
          <p:cNvSpPr txBox="1"/>
          <p:nvPr/>
        </p:nvSpPr>
        <p:spPr>
          <a:xfrm>
            <a:off x="694944" y="6345936"/>
            <a:ext cx="78638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Source : cartographie des processus logistiques, approche CSCMP (rapport de l’équipe 15).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188887"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CONTEXTE</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Un processus transforme des entrées en résultat ; un sous-processus en est une partie précise</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5</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sp>
        <p:nvSpPr>
          <p:cNvPr id="113" name="Rounded Rectangle 112"/>
          <p:cNvSpPr/>
          <p:nvPr/>
        </p:nvSpPr>
        <p:spPr>
          <a:xfrm>
            <a:off x="694944" y="1773936"/>
            <a:ext cx="5312664" cy="2011680"/>
          </a:xfrm>
          <a:prstGeom prst="roundRect">
            <a:avLst>
              <a:gd name="adj" fmla="val 7577"/>
            </a:avLst>
          </a:prstGeom>
          <a:solidFill>
            <a:srgbClr val="FFFFFF"/>
          </a:solidFill>
          <a:ln>
            <a:noFill/>
          </a:ln>
        </p:spPr>
        <p:txBody>
          <a:bodyPr rtlCol="0" anchor="ctr"/>
          <a:lstStyle/>
          <a:p>
            <a:pPr algn="ctr"/>
          </a:p>
        </p:txBody>
      </p:sp>
      <p:sp>
        <p:nvSpPr>
          <p:cNvPr id="114" name="Rectangle 113"/>
          <p:cNvSpPr/>
          <p:nvPr/>
        </p:nvSpPr>
        <p:spPr>
          <a:xfrm>
            <a:off x="694944" y="1773936"/>
            <a:ext cx="5312664" cy="2011680"/>
          </a:xfrm>
          <a:custGeom>
            <a:rect b="b" l="l" r="r" t="t"/>
            <a:pathLst>
              <a:path extrusionOk="0" h="2011680" w="5312664">
                <a:moveTo>
                  <a:pt x="0" y="152400"/>
                </a:moveTo>
                <a:cubicBezTo>
                  <a:pt x="0" y="68229"/>
                  <a:pt x="68229" y="0"/>
                  <a:pt x="152400" y="0"/>
                </a:cubicBezTo>
                <a:lnTo>
                  <a:pt x="5160264" y="0"/>
                </a:lnTo>
                <a:cubicBezTo>
                  <a:pt x="5244434" y="0"/>
                  <a:pt x="5312664" y="68229"/>
                  <a:pt x="5312664" y="152400"/>
                </a:cubicBezTo>
                <a:cubicBezTo>
                  <a:pt x="5312664" y="103311"/>
                  <a:pt x="5244435" y="63500"/>
                  <a:pt x="5160264"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15" name="TextBox 114"/>
          <p:cNvSpPr txBox="1"/>
          <p:nvPr/>
        </p:nvSpPr>
        <p:spPr>
          <a:xfrm>
            <a:off x="950976" y="1975104"/>
            <a:ext cx="4754880" cy="329184"/>
          </a:xfrm>
          <a:prstGeom prst="rect">
            <a:avLst/>
          </a:prstGeom>
          <a:noFill/>
        </p:spPr>
        <p:txBody>
          <a:bodyPr wrap="square" lIns="0" tIns="0" rIns="0" bIns="0" anchor="t">
            <a:noAutofit/>
          </a:bodyPr>
          <a:lstStyle/>
          <a:p>
            <a:pPr algn="l">
              <a:lnSpc>
                <a:spcPct val="115000"/>
              </a:lnSpc>
              <a:spcBef>
                <a:spcPts val="0"/>
              </a:spcBef>
              <a:spcAft>
                <a:spcPts val="0"/>
              </a:spcAft>
            </a:pPr>
            <a:r>
              <a:rPr sz="1800" b="1" i="0">
                <a:solidFill>
                  <a:srgbClr val="1B2A4A"/>
                </a:solidFill>
                <a:latin typeface="Sora"/>
              </a:rPr>
              <a:t>Processus</a:t>
            </a:r>
          </a:p>
        </p:txBody>
      </p:sp>
      <p:sp>
        <p:nvSpPr>
          <p:cNvPr id="116" name="TextBox 115"/>
          <p:cNvSpPr txBox="1"/>
          <p:nvPr/>
        </p:nvSpPr>
        <p:spPr>
          <a:xfrm>
            <a:off x="950976" y="2432304"/>
            <a:ext cx="4846320" cy="822960"/>
          </a:xfrm>
          <a:prstGeom prst="rect">
            <a:avLst/>
          </a:prstGeom>
          <a:noFill/>
        </p:spPr>
        <p:txBody>
          <a:bodyPr wrap="square" lIns="0" tIns="0" rIns="0" bIns="0" anchor="t">
            <a:noAutofit/>
          </a:bodyPr>
          <a:lstStyle/>
          <a:p>
            <a:pPr algn="l">
              <a:lnSpc>
                <a:spcPct val="115000"/>
              </a:lnSpc>
              <a:spcBef>
                <a:spcPts val="0"/>
              </a:spcBef>
              <a:spcAft>
                <a:spcPts val="0"/>
              </a:spcAft>
            </a:pPr>
            <a:r>
              <a:rPr sz="1400" b="0" i="0">
                <a:solidFill>
                  <a:srgbClr val="2B3350"/>
                </a:solidFill>
                <a:latin typeface="DM Sans"/>
              </a:rPr>
              <a:t>Ensemble d’activités liées qui transforment des éléments d’entrée en un résultat attendu.</a:t>
            </a:r>
          </a:p>
        </p:txBody>
      </p:sp>
      <p:sp>
        <p:nvSpPr>
          <p:cNvPr id="117" name="Rounded Rectangle 116"/>
          <p:cNvSpPr/>
          <p:nvPr/>
        </p:nvSpPr>
        <p:spPr>
          <a:xfrm>
            <a:off x="950976" y="3310128"/>
            <a:ext cx="4800600" cy="310896"/>
          </a:xfrm>
          <a:prstGeom prst="roundRect">
            <a:avLst>
              <a:gd name="adj" fmla="val 50000"/>
            </a:avLst>
          </a:prstGeom>
          <a:solidFill>
            <a:srgbClr val="E3F0FC"/>
          </a:solidFill>
          <a:ln>
            <a:noFill/>
          </a:ln>
        </p:spPr>
        <p:txBody>
          <a:bodyPr rtlCol="0" anchor="ctr" wrap="square" lIns="36576" tIns="0" rIns="36576" bIns="0">
            <a:noAutofit/>
          </a:bodyPr>
          <a:lstStyle/>
          <a:p>
            <a:pPr algn="ctr">
              <a:lnSpc>
                <a:spcPct val="100000"/>
              </a:lnSpc>
              <a:spcBef>
                <a:spcPts val="0"/>
              </a:spcBef>
              <a:spcAft>
                <a:spcPts val="0"/>
              </a:spcAft>
            </a:pPr>
            <a:r>
              <a:rPr sz="1250" b="1" i="0">
                <a:solidFill>
                  <a:srgbClr val="1B2A4A"/>
                </a:solidFill>
                <a:latin typeface="DM Sans"/>
              </a:rPr>
              <a:t>Exemple : 2. Prévision et planification</a:t>
            </a:r>
          </a:p>
        </p:txBody>
      </p:sp>
      <p:sp>
        <p:nvSpPr>
          <p:cNvPr id="118" name="Rounded Rectangle 117"/>
          <p:cNvSpPr/>
          <p:nvPr/>
        </p:nvSpPr>
        <p:spPr>
          <a:xfrm>
            <a:off x="6181344" y="1773936"/>
            <a:ext cx="5312664" cy="2011680"/>
          </a:xfrm>
          <a:prstGeom prst="roundRect">
            <a:avLst>
              <a:gd name="adj" fmla="val 7577"/>
            </a:avLst>
          </a:prstGeom>
          <a:solidFill>
            <a:srgbClr val="FFFFFF"/>
          </a:solidFill>
          <a:ln>
            <a:noFill/>
          </a:ln>
        </p:spPr>
        <p:txBody>
          <a:bodyPr rtlCol="0" anchor="ctr"/>
          <a:lstStyle/>
          <a:p>
            <a:pPr algn="ctr"/>
          </a:p>
        </p:txBody>
      </p:sp>
      <p:sp>
        <p:nvSpPr>
          <p:cNvPr id="119" name="Rectangle 118"/>
          <p:cNvSpPr/>
          <p:nvPr/>
        </p:nvSpPr>
        <p:spPr>
          <a:xfrm>
            <a:off x="6181344" y="1773936"/>
            <a:ext cx="5312664" cy="2011680"/>
          </a:xfrm>
          <a:custGeom>
            <a:rect b="b" l="l" r="r" t="t"/>
            <a:pathLst>
              <a:path extrusionOk="0" h="2011680" w="5312664">
                <a:moveTo>
                  <a:pt x="0" y="152400"/>
                </a:moveTo>
                <a:cubicBezTo>
                  <a:pt x="0" y="68229"/>
                  <a:pt x="68229" y="0"/>
                  <a:pt x="152400" y="0"/>
                </a:cubicBezTo>
                <a:lnTo>
                  <a:pt x="5160264" y="0"/>
                </a:lnTo>
                <a:cubicBezTo>
                  <a:pt x="5244434" y="0"/>
                  <a:pt x="5312664" y="68229"/>
                  <a:pt x="5312664" y="152400"/>
                </a:cubicBezTo>
                <a:cubicBezTo>
                  <a:pt x="5312664" y="103311"/>
                  <a:pt x="5244435" y="63500"/>
                  <a:pt x="5160264"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20" name="TextBox 119"/>
          <p:cNvSpPr txBox="1"/>
          <p:nvPr/>
        </p:nvSpPr>
        <p:spPr>
          <a:xfrm>
            <a:off x="6437376" y="1975104"/>
            <a:ext cx="4754880" cy="329184"/>
          </a:xfrm>
          <a:prstGeom prst="rect">
            <a:avLst/>
          </a:prstGeom>
          <a:noFill/>
        </p:spPr>
        <p:txBody>
          <a:bodyPr wrap="square" lIns="0" tIns="0" rIns="0" bIns="0" anchor="t">
            <a:noAutofit/>
          </a:bodyPr>
          <a:lstStyle/>
          <a:p>
            <a:pPr algn="l">
              <a:lnSpc>
                <a:spcPct val="115000"/>
              </a:lnSpc>
              <a:spcBef>
                <a:spcPts val="0"/>
              </a:spcBef>
              <a:spcAft>
                <a:spcPts val="0"/>
              </a:spcAft>
            </a:pPr>
            <a:r>
              <a:rPr sz="1800" b="1" i="0">
                <a:solidFill>
                  <a:srgbClr val="1B2A4A"/>
                </a:solidFill>
                <a:latin typeface="Sora"/>
              </a:rPr>
              <a:t>Sous-processus</a:t>
            </a:r>
          </a:p>
        </p:txBody>
      </p:sp>
      <p:sp>
        <p:nvSpPr>
          <p:cNvPr id="121" name="TextBox 120"/>
          <p:cNvSpPr txBox="1"/>
          <p:nvPr/>
        </p:nvSpPr>
        <p:spPr>
          <a:xfrm>
            <a:off x="6437376" y="2432304"/>
            <a:ext cx="4846320" cy="822960"/>
          </a:xfrm>
          <a:prstGeom prst="rect">
            <a:avLst/>
          </a:prstGeom>
          <a:noFill/>
        </p:spPr>
        <p:txBody>
          <a:bodyPr wrap="square" lIns="0" tIns="0" rIns="0" bIns="0" anchor="t">
            <a:noAutofit/>
          </a:bodyPr>
          <a:lstStyle/>
          <a:p>
            <a:pPr algn="l">
              <a:lnSpc>
                <a:spcPct val="115000"/>
              </a:lnSpc>
              <a:spcBef>
                <a:spcPts val="0"/>
              </a:spcBef>
              <a:spcAft>
                <a:spcPts val="0"/>
              </a:spcAft>
            </a:pPr>
            <a:r>
              <a:rPr sz="1400" b="0" i="0">
                <a:solidFill>
                  <a:srgbClr val="2B3350"/>
                </a:solidFill>
                <a:latin typeface="DM Sans"/>
              </a:rPr>
              <a:t>Partie d’un processus : un groupe d’activités plus fin, avec ses propres entrées et son propre résultat.</a:t>
            </a:r>
          </a:p>
        </p:txBody>
      </p:sp>
      <p:sp>
        <p:nvSpPr>
          <p:cNvPr id="122" name="Rounded Rectangle 121"/>
          <p:cNvSpPr/>
          <p:nvPr/>
        </p:nvSpPr>
        <p:spPr>
          <a:xfrm>
            <a:off x="6437376" y="3310128"/>
            <a:ext cx="4800600" cy="310896"/>
          </a:xfrm>
          <a:prstGeom prst="roundRect">
            <a:avLst>
              <a:gd name="adj" fmla="val 50000"/>
            </a:avLst>
          </a:prstGeom>
          <a:solidFill>
            <a:srgbClr val="E2D9F3"/>
          </a:solidFill>
          <a:ln>
            <a:noFill/>
          </a:ln>
        </p:spPr>
        <p:txBody>
          <a:bodyPr rtlCol="0" anchor="ctr" wrap="square" lIns="36576" tIns="0" rIns="36576" bIns="0">
            <a:noAutofit/>
          </a:bodyPr>
          <a:lstStyle/>
          <a:p>
            <a:pPr algn="ctr">
              <a:lnSpc>
                <a:spcPct val="100000"/>
              </a:lnSpc>
              <a:spcBef>
                <a:spcPts val="0"/>
              </a:spcBef>
              <a:spcAft>
                <a:spcPts val="0"/>
              </a:spcAft>
            </a:pPr>
            <a:r>
              <a:rPr sz="1250" b="1" i="0">
                <a:solidFill>
                  <a:srgbClr val="1B2A4A"/>
                </a:solidFill>
                <a:latin typeface="DM Sans"/>
              </a:rPr>
              <a:t>Exemple : 2.3.3 Ressources humaines et équipements</a:t>
            </a:r>
          </a:p>
        </p:txBody>
      </p:sp>
      <p:sp>
        <p:nvSpPr>
          <p:cNvPr id="123" name="TextBox 122"/>
          <p:cNvSpPr txBox="1"/>
          <p:nvPr/>
        </p:nvSpPr>
        <p:spPr>
          <a:xfrm>
            <a:off x="694944" y="4023360"/>
            <a:ext cx="10789920" cy="274320"/>
          </a:xfrm>
          <a:prstGeom prst="rect">
            <a:avLst/>
          </a:prstGeom>
          <a:noFill/>
        </p:spPr>
        <p:txBody>
          <a:bodyPr wrap="square" lIns="0" tIns="0" rIns="0" bIns="0" anchor="t">
            <a:noAutofit/>
          </a:bodyPr>
          <a:lstStyle/>
          <a:p>
            <a:pPr algn="l">
              <a:lnSpc>
                <a:spcPct val="115000"/>
              </a:lnSpc>
              <a:spcBef>
                <a:spcPts val="0"/>
              </a:spcBef>
              <a:spcAft>
                <a:spcPts val="0"/>
              </a:spcAft>
            </a:pPr>
            <a:r>
              <a:rPr sz="1200" b="1" i="0">
                <a:solidFill>
                  <a:srgbClr val="6B3FA0"/>
                </a:solidFill>
                <a:latin typeface="Sora"/>
              </a:rPr>
              <a:t>DANS LA CARTOGRAPHIE CSCMP : TROIS NIVEAUX EMBOÎTÉS</a:t>
            </a:r>
          </a:p>
        </p:txBody>
      </p:sp>
      <p:sp>
        <p:nvSpPr>
          <p:cNvPr id="124" name="Rounded Rectangle 123"/>
          <p:cNvSpPr/>
          <p:nvPr/>
        </p:nvSpPr>
        <p:spPr>
          <a:xfrm>
            <a:off x="694944" y="4434840"/>
            <a:ext cx="3246120" cy="1188720"/>
          </a:xfrm>
          <a:prstGeom prst="roundRect">
            <a:avLst>
              <a:gd name="adj" fmla="val 7692"/>
            </a:avLst>
          </a:prstGeom>
          <a:solidFill>
            <a:srgbClr val="2D7C31"/>
          </a:solidFill>
          <a:ln>
            <a:noFill/>
          </a:ln>
        </p:spPr>
        <p:txBody>
          <a:bodyPr rtlCol="0" anchor="ctr"/>
          <a:lstStyle/>
          <a:p>
            <a:pPr algn="ctr"/>
          </a:p>
        </p:txBody>
      </p:sp>
      <p:sp>
        <p:nvSpPr>
          <p:cNvPr id="125" name="TextBox 124"/>
          <p:cNvSpPr txBox="1"/>
          <p:nvPr/>
        </p:nvSpPr>
        <p:spPr>
          <a:xfrm>
            <a:off x="896112" y="4526280"/>
            <a:ext cx="2843784" cy="274320"/>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FFFFFF"/>
                </a:solidFill>
                <a:latin typeface="Sora"/>
              </a:rPr>
              <a:t>Métier · grand processus</a:t>
            </a:r>
          </a:p>
        </p:txBody>
      </p:sp>
      <p:sp>
        <p:nvSpPr>
          <p:cNvPr id="126" name="TextBox 125"/>
          <p:cNvSpPr txBox="1"/>
          <p:nvPr/>
        </p:nvSpPr>
        <p:spPr>
          <a:xfrm>
            <a:off x="896112" y="4864608"/>
            <a:ext cx="2843784" cy="685800"/>
          </a:xfrm>
          <a:prstGeom prst="rect">
            <a:avLst/>
          </a:prstGeom>
          <a:noFill/>
        </p:spPr>
        <p:txBody>
          <a:bodyPr wrap="square" lIns="0" tIns="0" rIns="0" bIns="0" anchor="t">
            <a:noAutofit/>
          </a:bodyPr>
          <a:lstStyle/>
          <a:p>
            <a:pPr algn="l">
              <a:lnSpc>
                <a:spcPct val="110000"/>
              </a:lnSpc>
              <a:spcBef>
                <a:spcPts val="0"/>
              </a:spcBef>
              <a:spcAft>
                <a:spcPts val="0"/>
              </a:spcAft>
            </a:pPr>
            <a:r>
              <a:rPr sz="1500" b="1" i="0">
                <a:solidFill>
                  <a:srgbClr val="FFFFFF"/>
                </a:solidFill>
                <a:latin typeface="Sora"/>
              </a:rPr>
              <a:t>2. Prévision et planification</a:t>
            </a:r>
          </a:p>
        </p:txBody>
      </p:sp>
      <p:sp>
        <p:nvSpPr>
          <p:cNvPr id="127" name="TextBox 126"/>
          <p:cNvSpPr txBox="1"/>
          <p:nvPr/>
        </p:nvSpPr>
        <p:spPr>
          <a:xfrm>
            <a:off x="694944" y="5715000"/>
            <a:ext cx="3246120" cy="365760"/>
          </a:xfrm>
          <a:prstGeom prst="rect">
            <a:avLst/>
          </a:prstGeom>
          <a:noFill/>
        </p:spPr>
        <p:txBody>
          <a:bodyPr wrap="square" lIns="0" tIns="0" rIns="0" bIns="0" anchor="t">
            <a:noAutofit/>
          </a:bodyPr>
          <a:lstStyle/>
          <a:p>
            <a:pPr algn="ctr">
              <a:lnSpc>
                <a:spcPct val="115000"/>
              </a:lnSpc>
              <a:spcBef>
                <a:spcPts val="0"/>
              </a:spcBef>
              <a:spcAft>
                <a:spcPts val="0"/>
              </a:spcAft>
            </a:pPr>
            <a:r>
              <a:rPr sz="1800" b="1" i="0">
                <a:solidFill>
                  <a:srgbClr val="6B3FA0"/>
                </a:solidFill>
                <a:latin typeface="Sora"/>
              </a:rPr>
              <a:t>9</a:t>
            </a:r>
            <a:r>
              <a:rPr sz="1200" b="0" i="0">
                <a:solidFill>
                  <a:srgbClr val="6B7390"/>
                </a:solidFill>
                <a:latin typeface="DM Sans"/>
              </a:rPr>
              <a:t> dans la cartographie</a:t>
            </a:r>
          </a:p>
        </p:txBody>
      </p:sp>
      <p:cxnSp>
        <p:nvCxnSpPr>
          <p:cNvPr id="128" name="Connector 127"/>
          <p:cNvCxnSpPr/>
          <p:nvPr/>
        </p:nvCxnSpPr>
        <p:spPr>
          <a:xfrm>
            <a:off x="3995928" y="5029200"/>
            <a:ext cx="420624" cy="0"/>
          </a:xfrm>
          <a:prstGeom prst="line">
            <a:avLst/>
          </a:prstGeom>
          <a:ln w="28575">
            <a:solidFill>
              <a:srgbClr val="1B2A4A"/>
            </a:solidFill>
            <a:tailEnd type="triangle" w="med" len="med"/>
          </a:ln>
        </p:spPr>
      </p:cxnSp>
      <p:sp>
        <p:nvSpPr>
          <p:cNvPr id="129" name="Rounded Rectangle 128"/>
          <p:cNvSpPr/>
          <p:nvPr/>
        </p:nvSpPr>
        <p:spPr>
          <a:xfrm>
            <a:off x="4471416" y="4434840"/>
            <a:ext cx="3246120" cy="1188720"/>
          </a:xfrm>
          <a:prstGeom prst="roundRect">
            <a:avLst>
              <a:gd name="adj" fmla="val 7692"/>
            </a:avLst>
          </a:prstGeom>
          <a:solidFill>
            <a:srgbClr val="6BA86F"/>
          </a:solidFill>
          <a:ln>
            <a:noFill/>
          </a:ln>
        </p:spPr>
        <p:txBody>
          <a:bodyPr rtlCol="0" anchor="ctr"/>
          <a:lstStyle/>
          <a:p>
            <a:pPr algn="ctr"/>
          </a:p>
        </p:txBody>
      </p:sp>
      <p:sp>
        <p:nvSpPr>
          <p:cNvPr id="130" name="TextBox 129"/>
          <p:cNvSpPr txBox="1"/>
          <p:nvPr/>
        </p:nvSpPr>
        <p:spPr>
          <a:xfrm>
            <a:off x="4672584" y="4526280"/>
            <a:ext cx="2843784" cy="274320"/>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FFFFFF"/>
                </a:solidFill>
                <a:latin typeface="Sora"/>
              </a:rPr>
              <a:t>Sous-métier · précision</a:t>
            </a:r>
          </a:p>
        </p:txBody>
      </p:sp>
      <p:sp>
        <p:nvSpPr>
          <p:cNvPr id="131" name="TextBox 130"/>
          <p:cNvSpPr txBox="1"/>
          <p:nvPr/>
        </p:nvSpPr>
        <p:spPr>
          <a:xfrm>
            <a:off x="4672584" y="4864608"/>
            <a:ext cx="2843784" cy="685800"/>
          </a:xfrm>
          <a:prstGeom prst="rect">
            <a:avLst/>
          </a:prstGeom>
          <a:noFill/>
        </p:spPr>
        <p:txBody>
          <a:bodyPr wrap="square" lIns="0" tIns="0" rIns="0" bIns="0" anchor="t">
            <a:noAutofit/>
          </a:bodyPr>
          <a:lstStyle/>
          <a:p>
            <a:pPr algn="l">
              <a:lnSpc>
                <a:spcPct val="110000"/>
              </a:lnSpc>
              <a:spcBef>
                <a:spcPts val="0"/>
              </a:spcBef>
              <a:spcAft>
                <a:spcPts val="0"/>
              </a:spcAft>
            </a:pPr>
            <a:r>
              <a:rPr sz="1500" b="1" i="0">
                <a:solidFill>
                  <a:srgbClr val="FFFFFF"/>
                </a:solidFill>
                <a:latin typeface="Sora"/>
              </a:rPr>
              <a:t>2.3 Planification des capacités</a:t>
            </a:r>
          </a:p>
        </p:txBody>
      </p:sp>
      <p:sp>
        <p:nvSpPr>
          <p:cNvPr id="132" name="TextBox 131"/>
          <p:cNvSpPr txBox="1"/>
          <p:nvPr/>
        </p:nvSpPr>
        <p:spPr>
          <a:xfrm>
            <a:off x="4471416" y="5715000"/>
            <a:ext cx="3246120" cy="365760"/>
          </a:xfrm>
          <a:prstGeom prst="rect">
            <a:avLst/>
          </a:prstGeom>
          <a:noFill/>
        </p:spPr>
        <p:txBody>
          <a:bodyPr wrap="square" lIns="0" tIns="0" rIns="0" bIns="0" anchor="t">
            <a:noAutofit/>
          </a:bodyPr>
          <a:lstStyle/>
          <a:p>
            <a:pPr algn="ctr">
              <a:lnSpc>
                <a:spcPct val="115000"/>
              </a:lnSpc>
              <a:spcBef>
                <a:spcPts val="0"/>
              </a:spcBef>
              <a:spcAft>
                <a:spcPts val="0"/>
              </a:spcAft>
            </a:pPr>
            <a:r>
              <a:rPr sz="1800" b="1" i="0">
                <a:solidFill>
                  <a:srgbClr val="6B3FA0"/>
                </a:solidFill>
                <a:latin typeface="Sora"/>
              </a:rPr>
              <a:t>37</a:t>
            </a:r>
            <a:r>
              <a:rPr sz="1200" b="0" i="0">
                <a:solidFill>
                  <a:srgbClr val="6B7390"/>
                </a:solidFill>
                <a:latin typeface="DM Sans"/>
              </a:rPr>
              <a:t> dans la cartographie</a:t>
            </a:r>
          </a:p>
        </p:txBody>
      </p:sp>
      <p:cxnSp>
        <p:nvCxnSpPr>
          <p:cNvPr id="133" name="Connector 132"/>
          <p:cNvCxnSpPr/>
          <p:nvPr/>
        </p:nvCxnSpPr>
        <p:spPr>
          <a:xfrm>
            <a:off x="7772400" y="5029200"/>
            <a:ext cx="420624" cy="0"/>
          </a:xfrm>
          <a:prstGeom prst="line">
            <a:avLst/>
          </a:prstGeom>
          <a:ln w="28575">
            <a:solidFill>
              <a:srgbClr val="1B2A4A"/>
            </a:solidFill>
            <a:tailEnd type="triangle" w="med" len="med"/>
          </a:ln>
        </p:spPr>
      </p:cxnSp>
      <p:sp>
        <p:nvSpPr>
          <p:cNvPr id="134" name="Rounded Rectangle 133"/>
          <p:cNvSpPr/>
          <p:nvPr/>
        </p:nvSpPr>
        <p:spPr>
          <a:xfrm>
            <a:off x="8247888" y="4434840"/>
            <a:ext cx="3246120" cy="1188720"/>
          </a:xfrm>
          <a:prstGeom prst="roundRect">
            <a:avLst>
              <a:gd name="adj" fmla="val 7692"/>
            </a:avLst>
          </a:prstGeom>
          <a:solidFill>
            <a:srgbClr val="FFB300"/>
          </a:solidFill>
          <a:ln>
            <a:noFill/>
          </a:ln>
        </p:spPr>
        <p:txBody>
          <a:bodyPr rtlCol="0" anchor="ctr"/>
          <a:lstStyle/>
          <a:p>
            <a:pPr algn="ctr"/>
          </a:p>
        </p:txBody>
      </p:sp>
      <p:sp>
        <p:nvSpPr>
          <p:cNvPr id="135" name="TextBox 134"/>
          <p:cNvSpPr txBox="1"/>
          <p:nvPr/>
        </p:nvSpPr>
        <p:spPr>
          <a:xfrm>
            <a:off x="8449056" y="4526280"/>
            <a:ext cx="2843784" cy="274320"/>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1B2A4A"/>
                </a:solidFill>
                <a:latin typeface="Sora"/>
              </a:rPr>
              <a:t>Sous-processus · activité</a:t>
            </a:r>
          </a:p>
        </p:txBody>
      </p:sp>
      <p:sp>
        <p:nvSpPr>
          <p:cNvPr id="136" name="TextBox 135"/>
          <p:cNvSpPr txBox="1"/>
          <p:nvPr/>
        </p:nvSpPr>
        <p:spPr>
          <a:xfrm>
            <a:off x="8449056" y="4864608"/>
            <a:ext cx="2843784" cy="685800"/>
          </a:xfrm>
          <a:prstGeom prst="rect">
            <a:avLst/>
          </a:prstGeom>
          <a:noFill/>
        </p:spPr>
        <p:txBody>
          <a:bodyPr wrap="square" lIns="0" tIns="0" rIns="0" bIns="0" anchor="t">
            <a:noAutofit/>
          </a:bodyPr>
          <a:lstStyle/>
          <a:p>
            <a:pPr algn="l">
              <a:lnSpc>
                <a:spcPct val="110000"/>
              </a:lnSpc>
              <a:spcBef>
                <a:spcPts val="0"/>
              </a:spcBef>
              <a:spcAft>
                <a:spcPts val="0"/>
              </a:spcAft>
            </a:pPr>
            <a:r>
              <a:rPr sz="1500" b="1" i="0">
                <a:solidFill>
                  <a:srgbClr val="1B2A4A"/>
                </a:solidFill>
                <a:latin typeface="Sora"/>
              </a:rPr>
              <a:t>2.3.3 Ressources humaines et équipements</a:t>
            </a:r>
          </a:p>
        </p:txBody>
      </p:sp>
      <p:sp>
        <p:nvSpPr>
          <p:cNvPr id="137" name="TextBox 136"/>
          <p:cNvSpPr txBox="1"/>
          <p:nvPr/>
        </p:nvSpPr>
        <p:spPr>
          <a:xfrm>
            <a:off x="8247888" y="5715000"/>
            <a:ext cx="3246120" cy="365760"/>
          </a:xfrm>
          <a:prstGeom prst="rect">
            <a:avLst/>
          </a:prstGeom>
          <a:noFill/>
        </p:spPr>
        <p:txBody>
          <a:bodyPr wrap="square" lIns="0" tIns="0" rIns="0" bIns="0" anchor="t">
            <a:noAutofit/>
          </a:bodyPr>
          <a:lstStyle/>
          <a:p>
            <a:pPr algn="ctr">
              <a:lnSpc>
                <a:spcPct val="115000"/>
              </a:lnSpc>
              <a:spcBef>
                <a:spcPts val="0"/>
              </a:spcBef>
              <a:spcAft>
                <a:spcPts val="0"/>
              </a:spcAft>
            </a:pPr>
            <a:r>
              <a:rPr sz="1800" b="1" i="0">
                <a:solidFill>
                  <a:srgbClr val="6B3FA0"/>
                </a:solidFill>
                <a:latin typeface="Sora"/>
              </a:rPr>
              <a:t>55</a:t>
            </a:r>
            <a:r>
              <a:rPr sz="1200" b="0" i="0">
                <a:solidFill>
                  <a:srgbClr val="6B7390"/>
                </a:solidFill>
                <a:latin typeface="DM Sans"/>
              </a:rPr>
              <a:t> dans la cartographie</a:t>
            </a:r>
          </a:p>
        </p:txBody>
      </p:sp>
      <p:sp>
        <p:nvSpPr>
          <p:cNvPr id="138" name="TextBox 137"/>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Définition du processus d’après ISO 9000 (reformulée) ; niveaux : cartographie CSCMP de l’équipe 15.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188887"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CONTEXTE</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Notre application porte sur le sous-processus 2.3.3 : ressources humaines et équipements</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6</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pic>
        <p:nvPicPr>
          <p:cNvPr id="113" name="Picture 112" descr="carto_pptx.png"/>
          <p:cNvPicPr>
            <a:picLocks noChangeAspect="1"/>
          </p:cNvPicPr>
          <p:nvPr/>
        </p:nvPicPr>
        <p:blipFill>
          <a:blip r:embed="rId3"/>
          <a:stretch>
            <a:fillRect/>
          </a:stretch>
        </p:blipFill>
        <p:spPr>
          <a:xfrm>
            <a:off x="694944" y="1764792"/>
            <a:ext cx="6091622" cy="4315968"/>
          </a:xfrm>
          <a:prstGeom prst="rect">
            <a:avLst/>
          </a:prstGeom>
          <a:ln w="9525">
            <a:solidFill>
              <a:srgbClr val="D5DAE8"/>
            </a:solidFill>
          </a:ln>
        </p:spPr>
      </p:pic>
      <p:sp>
        <p:nvSpPr>
          <p:cNvPr id="114" name="Rectangle 113"/>
          <p:cNvSpPr/>
          <p:nvPr/>
        </p:nvSpPr>
        <p:spPr>
          <a:xfrm>
            <a:off x="694944" y="1764792"/>
            <a:ext cx="6091622" cy="374632"/>
          </a:xfrm>
          <a:prstGeom prst="rect">
            <a:avLst/>
          </a:prstGeom>
          <a:solidFill>
            <a:srgbClr val="1B2A4A">
              <a:alpha val="48000"/>
            </a:srgbClr>
          </a:solidFill>
          <a:ln>
            <a:noFill/>
          </a:ln>
        </p:spPr>
        <p:txBody>
          <a:bodyPr rtlCol="0" anchor="ctr"/>
          <a:lstStyle/>
          <a:p>
            <a:pPr algn="ctr"/>
          </a:p>
        </p:txBody>
      </p:sp>
      <p:sp>
        <p:nvSpPr>
          <p:cNvPr id="115" name="Rectangle 114"/>
          <p:cNvSpPr/>
          <p:nvPr/>
        </p:nvSpPr>
        <p:spPr>
          <a:xfrm>
            <a:off x="694944" y="2549980"/>
            <a:ext cx="6091622" cy="3530780"/>
          </a:xfrm>
          <a:prstGeom prst="rect">
            <a:avLst/>
          </a:prstGeom>
          <a:solidFill>
            <a:srgbClr val="1B2A4A">
              <a:alpha val="48000"/>
            </a:srgbClr>
          </a:solidFill>
          <a:ln>
            <a:noFill/>
          </a:ln>
        </p:spPr>
        <p:txBody>
          <a:bodyPr rtlCol="0" anchor="ctr"/>
          <a:lstStyle/>
          <a:p>
            <a:pPr algn="ctr"/>
          </a:p>
        </p:txBody>
      </p:sp>
      <p:sp>
        <p:nvSpPr>
          <p:cNvPr id="116" name="Rectangle 115"/>
          <p:cNvSpPr/>
          <p:nvPr/>
        </p:nvSpPr>
        <p:spPr>
          <a:xfrm>
            <a:off x="694944" y="2139424"/>
            <a:ext cx="359236" cy="410556"/>
          </a:xfrm>
          <a:prstGeom prst="rect">
            <a:avLst/>
          </a:prstGeom>
          <a:solidFill>
            <a:srgbClr val="1B2A4A">
              <a:alpha val="48000"/>
            </a:srgbClr>
          </a:solidFill>
          <a:ln>
            <a:noFill/>
          </a:ln>
        </p:spPr>
        <p:txBody>
          <a:bodyPr rtlCol="0" anchor="ctr"/>
          <a:lstStyle/>
          <a:p>
            <a:pPr algn="ctr"/>
          </a:p>
        </p:txBody>
      </p:sp>
      <p:sp>
        <p:nvSpPr>
          <p:cNvPr id="117" name="Rectangle 116"/>
          <p:cNvSpPr/>
          <p:nvPr/>
        </p:nvSpPr>
        <p:spPr>
          <a:xfrm>
            <a:off x="1649486" y="2139424"/>
            <a:ext cx="2396620" cy="410556"/>
          </a:xfrm>
          <a:prstGeom prst="rect">
            <a:avLst/>
          </a:prstGeom>
          <a:solidFill>
            <a:srgbClr val="1B2A4A">
              <a:alpha val="48000"/>
            </a:srgbClr>
          </a:solidFill>
          <a:ln>
            <a:noFill/>
          </a:ln>
        </p:spPr>
        <p:txBody>
          <a:bodyPr rtlCol="0" anchor="ctr"/>
          <a:lstStyle/>
          <a:p>
            <a:pPr algn="ctr"/>
          </a:p>
        </p:txBody>
      </p:sp>
      <p:sp>
        <p:nvSpPr>
          <p:cNvPr id="118" name="Rectangle 117"/>
          <p:cNvSpPr/>
          <p:nvPr/>
        </p:nvSpPr>
        <p:spPr>
          <a:xfrm>
            <a:off x="5226454" y="2139424"/>
            <a:ext cx="1560112" cy="410556"/>
          </a:xfrm>
          <a:prstGeom prst="rect">
            <a:avLst/>
          </a:prstGeom>
          <a:solidFill>
            <a:srgbClr val="1B2A4A">
              <a:alpha val="48000"/>
            </a:srgbClr>
          </a:solidFill>
          <a:ln>
            <a:noFill/>
          </a:ln>
        </p:spPr>
        <p:txBody>
          <a:bodyPr rtlCol="0" anchor="ctr"/>
          <a:lstStyle/>
          <a:p>
            <a:pPr algn="ctr"/>
          </a:p>
        </p:txBody>
      </p:sp>
      <p:sp>
        <p:nvSpPr>
          <p:cNvPr id="119" name="Rectangle 118"/>
          <p:cNvSpPr/>
          <p:nvPr/>
        </p:nvSpPr>
        <p:spPr>
          <a:xfrm>
            <a:off x="4046106" y="2503792"/>
            <a:ext cx="1180348" cy="46188"/>
          </a:xfrm>
          <a:prstGeom prst="rect">
            <a:avLst/>
          </a:prstGeom>
          <a:solidFill>
            <a:srgbClr val="1B2A4A">
              <a:alpha val="48000"/>
            </a:srgbClr>
          </a:solidFill>
          <a:ln>
            <a:noFill/>
          </a:ln>
        </p:spPr>
        <p:txBody>
          <a:bodyPr rtlCol="0" anchor="ctr"/>
          <a:lstStyle/>
          <a:p>
            <a:pPr algn="ctr"/>
          </a:p>
        </p:txBody>
      </p:sp>
      <p:sp>
        <p:nvSpPr>
          <p:cNvPr id="120" name="Rectangle 119"/>
          <p:cNvSpPr/>
          <p:nvPr/>
        </p:nvSpPr>
        <p:spPr>
          <a:xfrm>
            <a:off x="1054180" y="2144556"/>
            <a:ext cx="595306" cy="405424"/>
          </a:xfrm>
          <a:prstGeom prst="rect">
            <a:avLst/>
          </a:prstGeom>
          <a:noFill/>
          <a:ln w="25400">
            <a:solidFill>
              <a:srgbClr val="2D7C31"/>
            </a:solidFill>
          </a:ln>
        </p:spPr>
        <p:txBody>
          <a:bodyPr rtlCol="0" anchor="ctr"/>
          <a:lstStyle/>
          <a:p>
            <a:pPr algn="ctr"/>
          </a:p>
        </p:txBody>
      </p:sp>
      <p:sp>
        <p:nvSpPr>
          <p:cNvPr id="121" name="Rectangle 120"/>
          <p:cNvSpPr/>
          <p:nvPr/>
        </p:nvSpPr>
        <p:spPr>
          <a:xfrm>
            <a:off x="4046106" y="2139424"/>
            <a:ext cx="1180348" cy="364368"/>
          </a:xfrm>
          <a:prstGeom prst="rect">
            <a:avLst/>
          </a:prstGeom>
          <a:noFill/>
          <a:ln w="25400">
            <a:solidFill>
              <a:srgbClr val="2D7C31"/>
            </a:solidFill>
          </a:ln>
        </p:spPr>
        <p:txBody>
          <a:bodyPr rtlCol="0" anchor="ctr"/>
          <a:lstStyle/>
          <a:p>
            <a:pPr algn="ctr"/>
          </a:p>
        </p:txBody>
      </p:sp>
      <p:sp>
        <p:nvSpPr>
          <p:cNvPr id="122" name="Rectangle 121"/>
          <p:cNvSpPr/>
          <p:nvPr/>
        </p:nvSpPr>
        <p:spPr>
          <a:xfrm>
            <a:off x="4082029" y="2406285"/>
            <a:ext cx="728737" cy="102639"/>
          </a:xfrm>
          <a:prstGeom prst="rect">
            <a:avLst/>
          </a:prstGeom>
          <a:solidFill>
            <a:srgbClr val="FFB300">
              <a:alpha val="45000"/>
            </a:srgbClr>
          </a:solidFill>
          <a:ln w="31750">
            <a:solidFill>
              <a:srgbClr val="FFB300"/>
            </a:solidFill>
          </a:ln>
        </p:spPr>
        <p:txBody>
          <a:bodyPr rtlCol="0" anchor="ctr"/>
          <a:lstStyle/>
          <a:p>
            <a:pPr algn="ctr"/>
          </a:p>
        </p:txBody>
      </p:sp>
      <p:sp>
        <p:nvSpPr>
          <p:cNvPr id="123" name="TextBox 122"/>
          <p:cNvSpPr txBox="1"/>
          <p:nvPr/>
        </p:nvSpPr>
        <p:spPr>
          <a:xfrm>
            <a:off x="7060886" y="1810512"/>
            <a:ext cx="4433122" cy="256032"/>
          </a:xfrm>
          <a:prstGeom prst="rect">
            <a:avLst/>
          </a:prstGeom>
          <a:noFill/>
        </p:spPr>
        <p:txBody>
          <a:bodyPr wrap="square" lIns="0" tIns="0" rIns="0" bIns="0" anchor="t">
            <a:noAutofit/>
          </a:bodyPr>
          <a:lstStyle/>
          <a:p>
            <a:pPr algn="l">
              <a:lnSpc>
                <a:spcPct val="115000"/>
              </a:lnSpc>
              <a:spcBef>
                <a:spcPts val="0"/>
              </a:spcBef>
              <a:spcAft>
                <a:spcPts val="0"/>
              </a:spcAft>
            </a:pPr>
            <a:r>
              <a:rPr sz="1200" b="1" i="0">
                <a:solidFill>
                  <a:srgbClr val="6B3FA0"/>
                </a:solidFill>
                <a:latin typeface="Sora"/>
              </a:rPr>
              <a:t>NOTRE SOUS-PROCESSUS</a:t>
            </a:r>
          </a:p>
        </p:txBody>
      </p:sp>
      <p:sp>
        <p:nvSpPr>
          <p:cNvPr id="124" name="Rounded Rectangle 123"/>
          <p:cNvSpPr/>
          <p:nvPr/>
        </p:nvSpPr>
        <p:spPr>
          <a:xfrm>
            <a:off x="7060886" y="2176272"/>
            <a:ext cx="4433122" cy="868680"/>
          </a:xfrm>
          <a:prstGeom prst="roundRect">
            <a:avLst>
              <a:gd name="adj" fmla="val 10526"/>
            </a:avLst>
          </a:prstGeom>
          <a:solidFill>
            <a:srgbClr val="2D7C31"/>
          </a:solidFill>
          <a:ln>
            <a:noFill/>
          </a:ln>
        </p:spPr>
        <p:txBody>
          <a:bodyPr rtlCol="0" anchor="ctr"/>
          <a:lstStyle/>
          <a:p>
            <a:pPr algn="ctr"/>
          </a:p>
        </p:txBody>
      </p:sp>
      <p:sp>
        <p:nvSpPr>
          <p:cNvPr id="125" name="TextBox 124"/>
          <p:cNvSpPr txBox="1"/>
          <p:nvPr/>
        </p:nvSpPr>
        <p:spPr>
          <a:xfrm>
            <a:off x="7243766" y="2286000"/>
            <a:ext cx="4067362" cy="256032"/>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FFFFFF"/>
                </a:solidFill>
                <a:latin typeface="Sora"/>
              </a:rPr>
              <a:t>Métier 2</a:t>
            </a:r>
          </a:p>
        </p:txBody>
      </p:sp>
      <p:sp>
        <p:nvSpPr>
          <p:cNvPr id="126" name="TextBox 125"/>
          <p:cNvSpPr txBox="1"/>
          <p:nvPr/>
        </p:nvSpPr>
        <p:spPr>
          <a:xfrm>
            <a:off x="7243766" y="2578608"/>
            <a:ext cx="4067362" cy="457200"/>
          </a:xfrm>
          <a:prstGeom prst="rect">
            <a:avLst/>
          </a:prstGeom>
          <a:noFill/>
        </p:spPr>
        <p:txBody>
          <a:bodyPr wrap="square" lIns="0" tIns="0" rIns="0" bIns="0" anchor="t">
            <a:noAutofit/>
          </a:bodyPr>
          <a:lstStyle/>
          <a:p>
            <a:pPr algn="l">
              <a:lnSpc>
                <a:spcPct val="105000"/>
              </a:lnSpc>
              <a:spcBef>
                <a:spcPts val="0"/>
              </a:spcBef>
              <a:spcAft>
                <a:spcPts val="0"/>
              </a:spcAft>
            </a:pPr>
            <a:r>
              <a:rPr sz="1400" b="1" i="0">
                <a:solidFill>
                  <a:srgbClr val="FFFFFF"/>
                </a:solidFill>
                <a:latin typeface="Sora"/>
              </a:rPr>
              <a:t>Prévision et planification</a:t>
            </a:r>
          </a:p>
        </p:txBody>
      </p:sp>
      <p:cxnSp>
        <p:nvCxnSpPr>
          <p:cNvPr id="127" name="Connector 126"/>
          <p:cNvCxnSpPr/>
          <p:nvPr/>
        </p:nvCxnSpPr>
        <p:spPr>
          <a:xfrm>
            <a:off x="9277447" y="3063240"/>
            <a:ext cx="0" cy="182880"/>
          </a:xfrm>
          <a:prstGeom prst="line">
            <a:avLst/>
          </a:prstGeom>
          <a:ln w="25400">
            <a:solidFill>
              <a:srgbClr val="1B2A4A"/>
            </a:solidFill>
            <a:tailEnd type="triangle" w="med" len="med"/>
          </a:ln>
        </p:spPr>
      </p:cxnSp>
      <p:sp>
        <p:nvSpPr>
          <p:cNvPr id="128" name="Rounded Rectangle 127"/>
          <p:cNvSpPr/>
          <p:nvPr/>
        </p:nvSpPr>
        <p:spPr>
          <a:xfrm>
            <a:off x="7060886" y="3273552"/>
            <a:ext cx="4433122" cy="868680"/>
          </a:xfrm>
          <a:prstGeom prst="roundRect">
            <a:avLst>
              <a:gd name="adj" fmla="val 10526"/>
            </a:avLst>
          </a:prstGeom>
          <a:solidFill>
            <a:srgbClr val="6BA86F"/>
          </a:solidFill>
          <a:ln>
            <a:noFill/>
          </a:ln>
        </p:spPr>
        <p:txBody>
          <a:bodyPr rtlCol="0" anchor="ctr"/>
          <a:lstStyle/>
          <a:p>
            <a:pPr algn="ctr"/>
          </a:p>
        </p:txBody>
      </p:sp>
      <p:sp>
        <p:nvSpPr>
          <p:cNvPr id="129" name="TextBox 128"/>
          <p:cNvSpPr txBox="1"/>
          <p:nvPr/>
        </p:nvSpPr>
        <p:spPr>
          <a:xfrm>
            <a:off x="7243766" y="3383280"/>
            <a:ext cx="4067362" cy="256032"/>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FFFFFF"/>
                </a:solidFill>
                <a:latin typeface="Sora"/>
              </a:rPr>
              <a:t>Sous-métier 2.3</a:t>
            </a:r>
          </a:p>
        </p:txBody>
      </p:sp>
      <p:sp>
        <p:nvSpPr>
          <p:cNvPr id="130" name="TextBox 129"/>
          <p:cNvSpPr txBox="1"/>
          <p:nvPr/>
        </p:nvSpPr>
        <p:spPr>
          <a:xfrm>
            <a:off x="7243766" y="3675888"/>
            <a:ext cx="4067362" cy="457200"/>
          </a:xfrm>
          <a:prstGeom prst="rect">
            <a:avLst/>
          </a:prstGeom>
          <a:noFill/>
        </p:spPr>
        <p:txBody>
          <a:bodyPr wrap="square" lIns="0" tIns="0" rIns="0" bIns="0" anchor="t">
            <a:noAutofit/>
          </a:bodyPr>
          <a:lstStyle/>
          <a:p>
            <a:pPr algn="l">
              <a:lnSpc>
                <a:spcPct val="105000"/>
              </a:lnSpc>
              <a:spcBef>
                <a:spcPts val="0"/>
              </a:spcBef>
              <a:spcAft>
                <a:spcPts val="0"/>
              </a:spcAft>
            </a:pPr>
            <a:r>
              <a:rPr sz="1400" b="1" i="0">
                <a:solidFill>
                  <a:srgbClr val="FFFFFF"/>
                </a:solidFill>
                <a:latin typeface="Sora"/>
              </a:rPr>
              <a:t>Planification des capacités</a:t>
            </a:r>
          </a:p>
        </p:txBody>
      </p:sp>
      <p:cxnSp>
        <p:nvCxnSpPr>
          <p:cNvPr id="131" name="Connector 130"/>
          <p:cNvCxnSpPr/>
          <p:nvPr/>
        </p:nvCxnSpPr>
        <p:spPr>
          <a:xfrm>
            <a:off x="9277447" y="4160520"/>
            <a:ext cx="0" cy="182880"/>
          </a:xfrm>
          <a:prstGeom prst="line">
            <a:avLst/>
          </a:prstGeom>
          <a:ln w="25400">
            <a:solidFill>
              <a:srgbClr val="1B2A4A"/>
            </a:solidFill>
            <a:tailEnd type="triangle" w="med" len="med"/>
          </a:ln>
        </p:spPr>
      </p:cxnSp>
      <p:sp>
        <p:nvSpPr>
          <p:cNvPr id="132" name="Rounded Rectangle 131"/>
          <p:cNvSpPr/>
          <p:nvPr/>
        </p:nvSpPr>
        <p:spPr>
          <a:xfrm>
            <a:off x="7060886" y="4370832"/>
            <a:ext cx="4433122" cy="868680"/>
          </a:xfrm>
          <a:prstGeom prst="roundRect">
            <a:avLst>
              <a:gd name="adj" fmla="val 10526"/>
            </a:avLst>
          </a:prstGeom>
          <a:solidFill>
            <a:srgbClr val="FFB300"/>
          </a:solidFill>
          <a:ln>
            <a:noFill/>
          </a:ln>
        </p:spPr>
        <p:txBody>
          <a:bodyPr rtlCol="0" anchor="ctr"/>
          <a:lstStyle/>
          <a:p>
            <a:pPr algn="ctr"/>
          </a:p>
        </p:txBody>
      </p:sp>
      <p:sp>
        <p:nvSpPr>
          <p:cNvPr id="133" name="TextBox 132"/>
          <p:cNvSpPr txBox="1"/>
          <p:nvPr/>
        </p:nvSpPr>
        <p:spPr>
          <a:xfrm>
            <a:off x="7243766" y="4480560"/>
            <a:ext cx="4067362" cy="256032"/>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1B2A4A"/>
                </a:solidFill>
                <a:latin typeface="Sora"/>
              </a:rPr>
              <a:t>Sous-processus 2.3.3</a:t>
            </a:r>
          </a:p>
        </p:txBody>
      </p:sp>
      <p:sp>
        <p:nvSpPr>
          <p:cNvPr id="134" name="TextBox 133"/>
          <p:cNvSpPr txBox="1"/>
          <p:nvPr/>
        </p:nvSpPr>
        <p:spPr>
          <a:xfrm>
            <a:off x="7243766" y="4773168"/>
            <a:ext cx="4067362" cy="457200"/>
          </a:xfrm>
          <a:prstGeom prst="rect">
            <a:avLst/>
          </a:prstGeom>
          <a:noFill/>
        </p:spPr>
        <p:txBody>
          <a:bodyPr wrap="square" lIns="0" tIns="0" rIns="0" bIns="0" anchor="t">
            <a:noAutofit/>
          </a:bodyPr>
          <a:lstStyle/>
          <a:p>
            <a:pPr algn="l">
              <a:lnSpc>
                <a:spcPct val="105000"/>
              </a:lnSpc>
              <a:spcBef>
                <a:spcPts val="0"/>
              </a:spcBef>
              <a:spcAft>
                <a:spcPts val="0"/>
              </a:spcAft>
            </a:pPr>
            <a:r>
              <a:rPr sz="1400" b="1" i="0">
                <a:solidFill>
                  <a:srgbClr val="1B2A4A"/>
                </a:solidFill>
                <a:latin typeface="Sora"/>
              </a:rPr>
              <a:t>Ressources humaines et équipements</a:t>
            </a:r>
          </a:p>
        </p:txBody>
      </p:sp>
      <p:sp>
        <p:nvSpPr>
          <p:cNvPr id="135" name="TextBox 134"/>
          <p:cNvSpPr txBox="1"/>
          <p:nvPr/>
        </p:nvSpPr>
        <p:spPr>
          <a:xfrm>
            <a:off x="7060886" y="5513832"/>
            <a:ext cx="4433122" cy="91440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2B3350"/>
                </a:solidFill>
                <a:latin typeface="DM Sans"/>
              </a:rPr>
              <a:t>Il transforme la prévision de volume en heures de main-d’œuvre, en effectif et en équipements, par zone et par jour.</a:t>
            </a:r>
          </a:p>
        </p:txBody>
      </p:sp>
      <p:cxnSp>
        <p:nvCxnSpPr>
          <p:cNvPr id="136" name="Connector 135"/>
          <p:cNvCxnSpPr/>
          <p:nvPr/>
        </p:nvCxnSpPr>
        <p:spPr>
          <a:xfrm flipH="1" flipV="1">
            <a:off x="4838198" y="2457605"/>
            <a:ext cx="2195256" cy="2347567"/>
          </a:xfrm>
          <a:prstGeom prst="line">
            <a:avLst/>
          </a:prstGeom>
          <a:ln w="28575">
            <a:solidFill>
              <a:srgbClr val="FFB300"/>
            </a:solidFill>
            <a:tailEnd type="triangle" w="med" len="med"/>
          </a:ln>
        </p:spPr>
      </p:cxnSp>
      <p:sp>
        <p:nvSpPr>
          <p:cNvPr id="137" name="TextBox 136"/>
          <p:cNvSpPr txBox="1"/>
          <p:nvPr/>
        </p:nvSpPr>
        <p:spPr>
          <a:xfrm>
            <a:off x="694944" y="6345936"/>
            <a:ext cx="822960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Source : cartographie des processus logistiques, approche CSCMP (rapport de l’équipe 15).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192673"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OBJECTIFS</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Un objectif est un résultat à atteindre : notre application en poursuit quatre</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7</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sp>
        <p:nvSpPr>
          <p:cNvPr id="113" name="Rounded Rectangle 112"/>
          <p:cNvSpPr/>
          <p:nvPr/>
        </p:nvSpPr>
        <p:spPr>
          <a:xfrm>
            <a:off x="694944" y="1773936"/>
            <a:ext cx="10799064" cy="749808"/>
          </a:xfrm>
          <a:prstGeom prst="roundRect">
            <a:avLst>
              <a:gd name="adj" fmla="val 14634"/>
            </a:avLst>
          </a:prstGeom>
          <a:solidFill>
            <a:srgbClr val="1B2A4A"/>
          </a:solidFill>
          <a:ln>
            <a:noFill/>
          </a:ln>
        </p:spPr>
        <p:txBody>
          <a:bodyPr rtlCol="0" anchor="ctr"/>
          <a:lstStyle/>
          <a:p>
            <a:pPr algn="ctr"/>
          </a:p>
        </p:txBody>
      </p:sp>
      <p:sp>
        <p:nvSpPr>
          <p:cNvPr id="114" name="TextBox 113"/>
          <p:cNvSpPr txBox="1"/>
          <p:nvPr/>
        </p:nvSpPr>
        <p:spPr>
          <a:xfrm>
            <a:off x="987552" y="1773936"/>
            <a:ext cx="10241280" cy="749808"/>
          </a:xfrm>
          <a:prstGeom prst="rect">
            <a:avLst/>
          </a:prstGeom>
          <a:noFill/>
        </p:spPr>
        <p:txBody>
          <a:bodyPr wrap="square" lIns="0" tIns="0" rIns="0" bIns="0" anchor="ctr">
            <a:noAutofit/>
          </a:bodyPr>
          <a:lstStyle/>
          <a:p>
            <a:pPr algn="l">
              <a:lnSpc>
                <a:spcPct val="115000"/>
              </a:lnSpc>
              <a:spcBef>
                <a:spcPts val="0"/>
              </a:spcBef>
              <a:spcAft>
                <a:spcPts val="0"/>
              </a:spcAft>
            </a:pPr>
            <a:r>
              <a:rPr sz="1700" b="1" i="0">
                <a:solidFill>
                  <a:srgbClr val="7ACFC0"/>
                </a:solidFill>
                <a:latin typeface="DM Sans"/>
              </a:rPr>
              <a:t>Objectif : </a:t>
            </a:r>
            <a:r>
              <a:rPr sz="1700" b="0" i="0">
                <a:solidFill>
                  <a:srgbClr val="FFFFFF"/>
                </a:solidFill>
                <a:latin typeface="DM Sans"/>
              </a:rPr>
              <a:t>résultat à atteindre, formulé de façon précise et mesurable.</a:t>
            </a:r>
          </a:p>
        </p:txBody>
      </p:sp>
      <p:sp>
        <p:nvSpPr>
          <p:cNvPr id="115" name="Rounded Rectangle 114"/>
          <p:cNvSpPr/>
          <p:nvPr/>
        </p:nvSpPr>
        <p:spPr>
          <a:xfrm>
            <a:off x="694944" y="2743200"/>
            <a:ext cx="2578608" cy="3310128"/>
          </a:xfrm>
          <a:prstGeom prst="roundRect">
            <a:avLst>
              <a:gd name="adj" fmla="val 5911"/>
            </a:avLst>
          </a:prstGeom>
          <a:solidFill>
            <a:srgbClr val="FFFFFF"/>
          </a:solidFill>
          <a:ln>
            <a:noFill/>
          </a:ln>
        </p:spPr>
        <p:txBody>
          <a:bodyPr rtlCol="0" anchor="ctr"/>
          <a:lstStyle/>
          <a:p>
            <a:pPr algn="ctr"/>
          </a:p>
        </p:txBody>
      </p:sp>
      <p:sp>
        <p:nvSpPr>
          <p:cNvPr id="116" name="Rectangle 115"/>
          <p:cNvSpPr/>
          <p:nvPr/>
        </p:nvSpPr>
        <p:spPr>
          <a:xfrm>
            <a:off x="694944" y="2743200"/>
            <a:ext cx="2578608" cy="3310128"/>
          </a:xfrm>
          <a:custGeom>
            <a:rect b="b" l="l" r="r" t="t"/>
            <a:pathLst>
              <a:path extrusionOk="0" h="3310128" w="2578608">
                <a:moveTo>
                  <a:pt x="0" y="152400"/>
                </a:moveTo>
                <a:cubicBezTo>
                  <a:pt x="0" y="68229"/>
                  <a:pt x="68229" y="0"/>
                  <a:pt x="152400" y="0"/>
                </a:cubicBezTo>
                <a:lnTo>
                  <a:pt x="2426208" y="0"/>
                </a:lnTo>
                <a:cubicBezTo>
                  <a:pt x="2510378" y="0"/>
                  <a:pt x="2578608" y="68229"/>
                  <a:pt x="2578608" y="152400"/>
                </a:cubicBezTo>
                <a:cubicBezTo>
                  <a:pt x="2578608" y="103311"/>
                  <a:pt x="2510379" y="63500"/>
                  <a:pt x="2426208"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17" name="Oval 116"/>
          <p:cNvSpPr/>
          <p:nvPr/>
        </p:nvSpPr>
        <p:spPr>
          <a:xfrm>
            <a:off x="923544" y="2999232"/>
            <a:ext cx="475488" cy="475488"/>
          </a:xfrm>
          <a:prstGeom prst="ellipse">
            <a:avLst/>
          </a:prstGeom>
          <a:solidFill>
            <a:srgbClr val="4A9BE0"/>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1B2A4A"/>
                </a:solidFill>
                <a:latin typeface="Sora"/>
              </a:rPr>
              <a:t>1</a:t>
            </a:r>
          </a:p>
        </p:txBody>
      </p:sp>
      <p:sp>
        <p:nvSpPr>
          <p:cNvPr id="118" name="TextBox 117"/>
          <p:cNvSpPr txBox="1"/>
          <p:nvPr/>
        </p:nvSpPr>
        <p:spPr>
          <a:xfrm>
            <a:off x="923544" y="3639312"/>
            <a:ext cx="2121408" cy="640080"/>
          </a:xfrm>
          <a:prstGeom prst="rect">
            <a:avLst/>
          </a:prstGeom>
          <a:noFill/>
        </p:spPr>
        <p:txBody>
          <a:bodyPr wrap="square" lIns="0" tIns="0" rIns="0" bIns="0" anchor="t">
            <a:noAutofit/>
          </a:bodyPr>
          <a:lstStyle/>
          <a:p>
            <a:pPr algn="l">
              <a:lnSpc>
                <a:spcPct val="105000"/>
              </a:lnSpc>
              <a:spcBef>
                <a:spcPts val="0"/>
              </a:spcBef>
              <a:spcAft>
                <a:spcPts val="0"/>
              </a:spcAft>
            </a:pPr>
            <a:r>
              <a:rPr sz="1650" b="1" i="0">
                <a:solidFill>
                  <a:srgbClr val="1B2A4A"/>
                </a:solidFill>
                <a:latin typeface="Sora"/>
              </a:rPr>
              <a:t>Prévoir et planifier</a:t>
            </a:r>
          </a:p>
        </p:txBody>
      </p:sp>
      <p:sp>
        <p:nvSpPr>
          <p:cNvPr id="119" name="TextBox 118"/>
          <p:cNvSpPr txBox="1"/>
          <p:nvPr/>
        </p:nvSpPr>
        <p:spPr>
          <a:xfrm>
            <a:off x="923544" y="4315968"/>
            <a:ext cx="2121408" cy="169164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2B3350"/>
                </a:solidFill>
                <a:latin typeface="DM Sans"/>
              </a:rPr>
              <a:t>Les besoins en main-d’œuvre et en équipements, par site, zone et jour, avec des alertes à l’avance en cas de sous-effectif ou de sureffectif.</a:t>
            </a:r>
          </a:p>
        </p:txBody>
      </p:sp>
      <p:sp>
        <p:nvSpPr>
          <p:cNvPr id="120" name="Rounded Rectangle 119"/>
          <p:cNvSpPr/>
          <p:nvPr/>
        </p:nvSpPr>
        <p:spPr>
          <a:xfrm>
            <a:off x="3435401" y="2743200"/>
            <a:ext cx="2578608" cy="3310128"/>
          </a:xfrm>
          <a:prstGeom prst="roundRect">
            <a:avLst>
              <a:gd name="adj" fmla="val 5911"/>
            </a:avLst>
          </a:prstGeom>
          <a:solidFill>
            <a:srgbClr val="FFFFFF"/>
          </a:solidFill>
          <a:ln>
            <a:noFill/>
          </a:ln>
        </p:spPr>
        <p:txBody>
          <a:bodyPr rtlCol="0" anchor="ctr"/>
          <a:lstStyle/>
          <a:p>
            <a:pPr algn="ctr"/>
          </a:p>
        </p:txBody>
      </p:sp>
      <p:sp>
        <p:nvSpPr>
          <p:cNvPr id="121" name="Rectangle 120"/>
          <p:cNvSpPr/>
          <p:nvPr/>
        </p:nvSpPr>
        <p:spPr>
          <a:xfrm>
            <a:off x="3435401" y="2743200"/>
            <a:ext cx="2578608" cy="3310128"/>
          </a:xfrm>
          <a:custGeom>
            <a:rect b="b" l="l" r="r" t="t"/>
            <a:pathLst>
              <a:path extrusionOk="0" h="3310128" w="2578608">
                <a:moveTo>
                  <a:pt x="0" y="152400"/>
                </a:moveTo>
                <a:cubicBezTo>
                  <a:pt x="0" y="68229"/>
                  <a:pt x="68229" y="0"/>
                  <a:pt x="152400" y="0"/>
                </a:cubicBezTo>
                <a:lnTo>
                  <a:pt x="2426208" y="0"/>
                </a:lnTo>
                <a:cubicBezTo>
                  <a:pt x="2510378" y="0"/>
                  <a:pt x="2578608" y="68229"/>
                  <a:pt x="2578608" y="152400"/>
                </a:cubicBezTo>
                <a:cubicBezTo>
                  <a:pt x="2578608" y="103311"/>
                  <a:pt x="2510379" y="63500"/>
                  <a:pt x="2426208"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22" name="Oval 121"/>
          <p:cNvSpPr/>
          <p:nvPr/>
        </p:nvSpPr>
        <p:spPr>
          <a:xfrm>
            <a:off x="3664001" y="2999232"/>
            <a:ext cx="475488" cy="475488"/>
          </a:xfrm>
          <a:prstGeom prst="ellipse">
            <a:avLst/>
          </a:prstGeom>
          <a:solidFill>
            <a:srgbClr val="B39DDB"/>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1B2A4A"/>
                </a:solidFill>
                <a:latin typeface="Sora"/>
              </a:rPr>
              <a:t>2</a:t>
            </a:r>
          </a:p>
        </p:txBody>
      </p:sp>
      <p:sp>
        <p:nvSpPr>
          <p:cNvPr id="123" name="TextBox 122"/>
          <p:cNvSpPr txBox="1"/>
          <p:nvPr/>
        </p:nvSpPr>
        <p:spPr>
          <a:xfrm>
            <a:off x="3664001" y="3639312"/>
            <a:ext cx="2121408" cy="640080"/>
          </a:xfrm>
          <a:prstGeom prst="rect">
            <a:avLst/>
          </a:prstGeom>
          <a:noFill/>
        </p:spPr>
        <p:txBody>
          <a:bodyPr wrap="square" lIns="0" tIns="0" rIns="0" bIns="0" anchor="t">
            <a:noAutofit/>
          </a:bodyPr>
          <a:lstStyle/>
          <a:p>
            <a:pPr algn="l">
              <a:lnSpc>
                <a:spcPct val="105000"/>
              </a:lnSpc>
              <a:spcBef>
                <a:spcPts val="0"/>
              </a:spcBef>
              <a:spcAft>
                <a:spcPts val="0"/>
              </a:spcAft>
            </a:pPr>
            <a:r>
              <a:rPr sz="1650" b="1" i="0">
                <a:solidFill>
                  <a:srgbClr val="1B2A4A"/>
                </a:solidFill>
                <a:latin typeface="Sora"/>
              </a:rPr>
              <a:t>Suivre la performance</a:t>
            </a:r>
          </a:p>
        </p:txBody>
      </p:sp>
      <p:sp>
        <p:nvSpPr>
          <p:cNvPr id="124" name="TextBox 123"/>
          <p:cNvSpPr txBox="1"/>
          <p:nvPr/>
        </p:nvSpPr>
        <p:spPr>
          <a:xfrm>
            <a:off x="3664001" y="4315968"/>
            <a:ext cx="2121408" cy="169164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2B3350"/>
                </a:solidFill>
                <a:latin typeface="DM Sans"/>
              </a:rPr>
              <a:t>Calculer les KPI, les comparer à des cibles et signaler les écarts en vert, orange ou rouge.</a:t>
            </a:r>
          </a:p>
        </p:txBody>
      </p:sp>
      <p:sp>
        <p:nvSpPr>
          <p:cNvPr id="125" name="Rounded Rectangle 124"/>
          <p:cNvSpPr/>
          <p:nvPr/>
        </p:nvSpPr>
        <p:spPr>
          <a:xfrm>
            <a:off x="6175858" y="2743200"/>
            <a:ext cx="2578608" cy="3310128"/>
          </a:xfrm>
          <a:prstGeom prst="roundRect">
            <a:avLst>
              <a:gd name="adj" fmla="val 5911"/>
            </a:avLst>
          </a:prstGeom>
          <a:solidFill>
            <a:srgbClr val="FFFFFF"/>
          </a:solidFill>
          <a:ln>
            <a:noFill/>
          </a:ln>
        </p:spPr>
        <p:txBody>
          <a:bodyPr rtlCol="0" anchor="ctr"/>
          <a:lstStyle/>
          <a:p>
            <a:pPr algn="ctr"/>
          </a:p>
        </p:txBody>
      </p:sp>
      <p:sp>
        <p:nvSpPr>
          <p:cNvPr id="126" name="Rectangle 125"/>
          <p:cNvSpPr/>
          <p:nvPr/>
        </p:nvSpPr>
        <p:spPr>
          <a:xfrm>
            <a:off x="6175858" y="2743200"/>
            <a:ext cx="2578608" cy="3310128"/>
          </a:xfrm>
          <a:custGeom>
            <a:rect b="b" l="l" r="r" t="t"/>
            <a:pathLst>
              <a:path extrusionOk="0" h="3310128" w="2578608">
                <a:moveTo>
                  <a:pt x="0" y="152400"/>
                </a:moveTo>
                <a:cubicBezTo>
                  <a:pt x="0" y="68229"/>
                  <a:pt x="68229" y="0"/>
                  <a:pt x="152400" y="0"/>
                </a:cubicBezTo>
                <a:lnTo>
                  <a:pt x="2426208" y="0"/>
                </a:lnTo>
                <a:cubicBezTo>
                  <a:pt x="2510378" y="0"/>
                  <a:pt x="2578608" y="68229"/>
                  <a:pt x="2578608" y="152400"/>
                </a:cubicBezTo>
                <a:cubicBezTo>
                  <a:pt x="2578608" y="103311"/>
                  <a:pt x="2510379" y="63500"/>
                  <a:pt x="2426208"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27" name="Oval 126"/>
          <p:cNvSpPr/>
          <p:nvPr/>
        </p:nvSpPr>
        <p:spPr>
          <a:xfrm>
            <a:off x="6404458" y="2999232"/>
            <a:ext cx="475488" cy="475488"/>
          </a:xfrm>
          <a:prstGeom prst="ellipse">
            <a:avLst/>
          </a:prstGeom>
          <a:solidFill>
            <a:srgbClr val="7ACFC0"/>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1B2A4A"/>
                </a:solidFill>
                <a:latin typeface="Sora"/>
              </a:rPr>
              <a:t>3</a:t>
            </a:r>
          </a:p>
        </p:txBody>
      </p:sp>
      <p:sp>
        <p:nvSpPr>
          <p:cNvPr id="128" name="TextBox 127"/>
          <p:cNvSpPr txBox="1"/>
          <p:nvPr/>
        </p:nvSpPr>
        <p:spPr>
          <a:xfrm>
            <a:off x="6404458" y="3639312"/>
            <a:ext cx="2121408" cy="640080"/>
          </a:xfrm>
          <a:prstGeom prst="rect">
            <a:avLst/>
          </a:prstGeom>
          <a:noFill/>
        </p:spPr>
        <p:txBody>
          <a:bodyPr wrap="square" lIns="0" tIns="0" rIns="0" bIns="0" anchor="t">
            <a:noAutofit/>
          </a:bodyPr>
          <a:lstStyle/>
          <a:p>
            <a:pPr algn="l">
              <a:lnSpc>
                <a:spcPct val="105000"/>
              </a:lnSpc>
              <a:spcBef>
                <a:spcPts val="0"/>
              </a:spcBef>
              <a:spcAft>
                <a:spcPts val="0"/>
              </a:spcAft>
            </a:pPr>
            <a:r>
              <a:rPr sz="1650" b="1" i="0">
                <a:solidFill>
                  <a:srgbClr val="1B2A4A"/>
                </a:solidFill>
                <a:latin typeface="Sora"/>
              </a:rPr>
              <a:t>Comparer les modèles</a:t>
            </a:r>
          </a:p>
        </p:txBody>
      </p:sp>
      <p:sp>
        <p:nvSpPr>
          <p:cNvPr id="129" name="TextBox 128"/>
          <p:cNvSpPr txBox="1"/>
          <p:nvPr/>
        </p:nvSpPr>
        <p:spPr>
          <a:xfrm>
            <a:off x="6404458" y="4315968"/>
            <a:ext cx="2121408" cy="169164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2B3350"/>
                </a:solidFill>
                <a:latin typeface="DM Sans"/>
              </a:rPr>
              <a:t>Confronter le réel aux prévisions des modèles pour savoir lequel est le plus fiable : MAE, RMSE, MAPE, biais.</a:t>
            </a:r>
          </a:p>
        </p:txBody>
      </p:sp>
      <p:sp>
        <p:nvSpPr>
          <p:cNvPr id="130" name="Rounded Rectangle 129"/>
          <p:cNvSpPr/>
          <p:nvPr/>
        </p:nvSpPr>
        <p:spPr>
          <a:xfrm>
            <a:off x="8916314" y="2743200"/>
            <a:ext cx="2578608" cy="3310128"/>
          </a:xfrm>
          <a:prstGeom prst="roundRect">
            <a:avLst>
              <a:gd name="adj" fmla="val 5911"/>
            </a:avLst>
          </a:prstGeom>
          <a:solidFill>
            <a:srgbClr val="FFFFFF"/>
          </a:solidFill>
          <a:ln>
            <a:noFill/>
          </a:ln>
        </p:spPr>
        <p:txBody>
          <a:bodyPr rtlCol="0" anchor="ctr"/>
          <a:lstStyle/>
          <a:p>
            <a:pPr algn="ctr"/>
          </a:p>
        </p:txBody>
      </p:sp>
      <p:sp>
        <p:nvSpPr>
          <p:cNvPr id="131" name="Rectangle 130"/>
          <p:cNvSpPr/>
          <p:nvPr/>
        </p:nvSpPr>
        <p:spPr>
          <a:xfrm>
            <a:off x="8916314" y="2743200"/>
            <a:ext cx="2578608" cy="3310128"/>
          </a:xfrm>
          <a:custGeom>
            <a:rect b="b" l="l" r="r" t="t"/>
            <a:pathLst>
              <a:path extrusionOk="0" h="3310128" w="2578608">
                <a:moveTo>
                  <a:pt x="0" y="152400"/>
                </a:moveTo>
                <a:cubicBezTo>
                  <a:pt x="0" y="68229"/>
                  <a:pt x="68229" y="0"/>
                  <a:pt x="152400" y="0"/>
                </a:cubicBezTo>
                <a:lnTo>
                  <a:pt x="2426208" y="0"/>
                </a:lnTo>
                <a:cubicBezTo>
                  <a:pt x="2510378" y="0"/>
                  <a:pt x="2578608" y="68229"/>
                  <a:pt x="2578608" y="152400"/>
                </a:cubicBezTo>
                <a:cubicBezTo>
                  <a:pt x="2578608" y="103311"/>
                  <a:pt x="2510379" y="63500"/>
                  <a:pt x="2426208" y="63500"/>
                </a:cubicBezTo>
                <a:lnTo>
                  <a:pt x="152400" y="63500"/>
                </a:lnTo>
                <a:cubicBezTo>
                  <a:pt x="68229" y="63500"/>
                  <a:pt x="0" y="103311"/>
                  <a:pt x="0" y="152400"/>
                </a:cubicBezTo>
                <a:close/>
              </a:path>
            </a:pathLst>
          </a:custGeom>
          <a:solidFill>
            <a:srgbClr val="6B3FA0"/>
          </a:solidFill>
          <a:ln>
            <a:noFill/>
          </a:ln>
        </p:spPr>
        <p:txBody>
          <a:bodyPr rtlCol="0" anchor="ctr"/>
          <a:lstStyle/>
          <a:p>
            <a:pPr algn="ctr"/>
          </a:p>
        </p:txBody>
      </p:sp>
      <p:sp>
        <p:nvSpPr>
          <p:cNvPr id="132" name="Oval 131"/>
          <p:cNvSpPr/>
          <p:nvPr/>
        </p:nvSpPr>
        <p:spPr>
          <a:xfrm>
            <a:off x="9144914" y="2999232"/>
            <a:ext cx="475488" cy="475488"/>
          </a:xfrm>
          <a:prstGeom prst="ellipse">
            <a:avLst/>
          </a:prstGeom>
          <a:solidFill>
            <a:srgbClr val="6B3FA0"/>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FFFFFF"/>
                </a:solidFill>
                <a:latin typeface="Sora"/>
              </a:rPr>
              <a:t>4</a:t>
            </a:r>
          </a:p>
        </p:txBody>
      </p:sp>
      <p:sp>
        <p:nvSpPr>
          <p:cNvPr id="133" name="TextBox 132"/>
          <p:cNvSpPr txBox="1"/>
          <p:nvPr/>
        </p:nvSpPr>
        <p:spPr>
          <a:xfrm>
            <a:off x="9144914" y="3639312"/>
            <a:ext cx="2121408" cy="640080"/>
          </a:xfrm>
          <a:prstGeom prst="rect">
            <a:avLst/>
          </a:prstGeom>
          <a:noFill/>
        </p:spPr>
        <p:txBody>
          <a:bodyPr wrap="square" lIns="0" tIns="0" rIns="0" bIns="0" anchor="t">
            <a:noAutofit/>
          </a:bodyPr>
          <a:lstStyle/>
          <a:p>
            <a:pPr algn="l">
              <a:lnSpc>
                <a:spcPct val="105000"/>
              </a:lnSpc>
              <a:spcBef>
                <a:spcPts val="0"/>
              </a:spcBef>
              <a:spcAft>
                <a:spcPts val="0"/>
              </a:spcAft>
            </a:pPr>
            <a:r>
              <a:rPr sz="1650" b="1" i="0">
                <a:solidFill>
                  <a:srgbClr val="1B2A4A"/>
                </a:solidFill>
                <a:latin typeface="Sora"/>
              </a:rPr>
              <a:t>Restituer</a:t>
            </a:r>
          </a:p>
        </p:txBody>
      </p:sp>
      <p:sp>
        <p:nvSpPr>
          <p:cNvPr id="134" name="TextBox 133"/>
          <p:cNvSpPr txBox="1"/>
          <p:nvPr/>
        </p:nvSpPr>
        <p:spPr>
          <a:xfrm>
            <a:off x="9144914" y="4315968"/>
            <a:ext cx="2121408" cy="169164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2B3350"/>
                </a:solidFill>
                <a:latin typeface="DM Sans"/>
              </a:rPr>
              <a:t>Des tableaux de bord et des rapports automatiques par jour, semaine, mois et année.</a:t>
            </a:r>
          </a:p>
        </p:txBody>
      </p:sp>
      <p:sp>
        <p:nvSpPr>
          <p:cNvPr id="135" name="TextBox 134"/>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Objectif au sens d’ISO 9000 : « résultat à atteindre ». Objectifs de l’application : rapport de l’équipe 15.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793200"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CAS D’UTILISATION</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24 cas d’utilisation, 7 paquets et 6 acteurs décrivent les fonctionnalités de l’application</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8</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pic>
        <p:nvPicPr>
          <p:cNvPr id="113" name="Picture 112" descr="uc-000.png"/>
          <p:cNvPicPr>
            <a:picLocks noChangeAspect="1"/>
          </p:cNvPicPr>
          <p:nvPr/>
        </p:nvPicPr>
        <p:blipFill>
          <a:blip r:embed="rId3"/>
          <a:stretch>
            <a:fillRect/>
          </a:stretch>
        </p:blipFill>
        <p:spPr>
          <a:xfrm>
            <a:off x="694944" y="1764792"/>
            <a:ext cx="7499377" cy="4315968"/>
          </a:xfrm>
          <a:prstGeom prst="rect">
            <a:avLst/>
          </a:prstGeom>
          <a:ln w="9525">
            <a:solidFill>
              <a:srgbClr val="D5DAE8"/>
            </a:solidFill>
          </a:ln>
        </p:spPr>
      </p:pic>
      <p:sp>
        <p:nvSpPr>
          <p:cNvPr id="114" name="Rounded Rectangle 113"/>
          <p:cNvSpPr/>
          <p:nvPr/>
        </p:nvSpPr>
        <p:spPr>
          <a:xfrm>
            <a:off x="8422921" y="1764792"/>
            <a:ext cx="3071087" cy="4315968"/>
          </a:xfrm>
          <a:prstGeom prst="roundRect">
            <a:avLst>
              <a:gd name="adj" fmla="val 4963"/>
            </a:avLst>
          </a:prstGeom>
          <a:solidFill>
            <a:srgbClr val="FFFFFF"/>
          </a:solidFill>
          <a:ln>
            <a:noFill/>
          </a:ln>
        </p:spPr>
        <p:txBody>
          <a:bodyPr rtlCol="0" anchor="ctr"/>
          <a:lstStyle/>
          <a:p>
            <a:pPr algn="ctr"/>
          </a:p>
        </p:txBody>
      </p:sp>
      <p:sp>
        <p:nvSpPr>
          <p:cNvPr id="115" name="Rectangle 114"/>
          <p:cNvSpPr/>
          <p:nvPr/>
        </p:nvSpPr>
        <p:spPr>
          <a:xfrm>
            <a:off x="8422921" y="1764792"/>
            <a:ext cx="3071087" cy="4315968"/>
          </a:xfrm>
          <a:custGeom>
            <a:rect b="b" l="l" r="r" t="t"/>
            <a:pathLst>
              <a:path extrusionOk="0" h="4315968" w="3071087">
                <a:moveTo>
                  <a:pt x="0" y="152400"/>
                </a:moveTo>
                <a:cubicBezTo>
                  <a:pt x="0" y="68229"/>
                  <a:pt x="68229" y="0"/>
                  <a:pt x="152400" y="0"/>
                </a:cubicBezTo>
                <a:lnTo>
                  <a:pt x="2918687" y="0"/>
                </a:lnTo>
                <a:cubicBezTo>
                  <a:pt x="3002857" y="0"/>
                  <a:pt x="3071087" y="68229"/>
                  <a:pt x="3071087" y="152400"/>
                </a:cubicBezTo>
                <a:cubicBezTo>
                  <a:pt x="3071087" y="103311"/>
                  <a:pt x="3002858" y="63500"/>
                  <a:pt x="2918687" y="63500"/>
                </a:cubicBezTo>
                <a:lnTo>
                  <a:pt x="152400" y="63500"/>
                </a:lnTo>
                <a:cubicBezTo>
                  <a:pt x="68229" y="63500"/>
                  <a:pt x="0" y="103311"/>
                  <a:pt x="0" y="152400"/>
                </a:cubicBezTo>
                <a:close/>
              </a:path>
            </a:pathLst>
          </a:custGeom>
          <a:solidFill>
            <a:srgbClr val="6B3FA0"/>
          </a:solidFill>
          <a:ln>
            <a:noFill/>
          </a:ln>
        </p:spPr>
        <p:txBody>
          <a:bodyPr rtlCol="0" anchor="ctr"/>
          <a:lstStyle/>
          <a:p>
            <a:pPr algn="ctr"/>
          </a:p>
        </p:txBody>
      </p:sp>
      <p:sp>
        <p:nvSpPr>
          <p:cNvPr id="116" name="TextBox 115"/>
          <p:cNvSpPr txBox="1"/>
          <p:nvPr/>
        </p:nvSpPr>
        <p:spPr>
          <a:xfrm>
            <a:off x="8624089" y="1965960"/>
            <a:ext cx="2705327" cy="256032"/>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6B3FA0"/>
                </a:solidFill>
                <a:latin typeface="Sora"/>
              </a:rPr>
              <a:t>6 ACTEURS</a:t>
            </a:r>
          </a:p>
        </p:txBody>
      </p:sp>
      <p:sp>
        <p:nvSpPr>
          <p:cNvPr id="117" name="TextBox 116"/>
          <p:cNvSpPr txBox="1"/>
          <p:nvPr/>
        </p:nvSpPr>
        <p:spPr>
          <a:xfrm>
            <a:off x="8624089" y="2276856"/>
            <a:ext cx="2705327" cy="914400"/>
          </a:xfrm>
          <a:prstGeom prst="rect">
            <a:avLst/>
          </a:prstGeom>
          <a:noFill/>
        </p:spPr>
        <p:txBody>
          <a:bodyPr wrap="square" lIns="0" tIns="0" rIns="0" bIns="0" anchor="t">
            <a:noAutofit/>
          </a:bodyPr>
          <a:lstStyle/>
          <a:p>
            <a:pPr algn="l">
              <a:lnSpc>
                <a:spcPct val="110000"/>
              </a:lnSpc>
              <a:spcBef>
                <a:spcPts val="0"/>
              </a:spcBef>
              <a:spcAft>
                <a:spcPts val="400"/>
              </a:spcAft>
            </a:pPr>
            <a:r>
              <a:rPr sz="1150" b="1" i="0">
                <a:solidFill>
                  <a:srgbClr val="1B2A4A"/>
                </a:solidFill>
                <a:latin typeface="DM Sans"/>
              </a:rPr>
              <a:t>4 humains : </a:t>
            </a:r>
            <a:r>
              <a:rPr sz="1150" b="0" i="0">
                <a:solidFill>
                  <a:srgbClr val="2B3350"/>
                </a:solidFill>
                <a:latin typeface="DM Sans"/>
              </a:rPr>
              <a:t>planificateur, responsable d’exploitation, direction, administrateur</a:t>
            </a:r>
          </a:p>
          <a:p>
            <a:pPr algn="l">
              <a:lnSpc>
                <a:spcPct val="110000"/>
              </a:lnSpc>
              <a:spcBef>
                <a:spcPts val="0"/>
              </a:spcBef>
              <a:spcAft>
                <a:spcPts val="400"/>
              </a:spcAft>
            </a:pPr>
            <a:r>
              <a:rPr sz="1150" b="1" i="0">
                <a:solidFill>
                  <a:srgbClr val="1B2A4A"/>
                </a:solidFill>
                <a:latin typeface="DM Sans"/>
              </a:rPr>
              <a:t>2 systèmes : </a:t>
            </a:r>
            <a:r>
              <a:rPr sz="1150" b="0" i="0">
                <a:solidFill>
                  <a:srgbClr val="2B3350"/>
                </a:solidFill>
                <a:latin typeface="DM Sans"/>
              </a:rPr>
              <a:t>système source (WMS / SIRH), planificateur de tâches</a:t>
            </a:r>
          </a:p>
        </p:txBody>
      </p:sp>
      <p:sp>
        <p:nvSpPr>
          <p:cNvPr id="118" name="TextBox 117"/>
          <p:cNvSpPr txBox="1"/>
          <p:nvPr/>
        </p:nvSpPr>
        <p:spPr>
          <a:xfrm>
            <a:off x="8624089" y="3392424"/>
            <a:ext cx="2705327" cy="256032"/>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6B3FA0"/>
                </a:solidFill>
                <a:latin typeface="Sora"/>
              </a:rPr>
              <a:t>7 PAQUETS</a:t>
            </a:r>
          </a:p>
        </p:txBody>
      </p:sp>
      <p:sp>
        <p:nvSpPr>
          <p:cNvPr id="119" name="TextBox 118"/>
          <p:cNvSpPr txBox="1"/>
          <p:nvPr/>
        </p:nvSpPr>
        <p:spPr>
          <a:xfrm>
            <a:off x="8624089" y="3685032"/>
            <a:ext cx="2705327" cy="1463040"/>
          </a:xfrm>
          <a:prstGeom prst="rect">
            <a:avLst/>
          </a:prstGeom>
          <a:noFill/>
        </p:spPr>
        <p:txBody>
          <a:bodyPr wrap="square" lIns="0" tIns="0" rIns="0" bIns="0" anchor="t">
            <a:noAutofit/>
          </a:bodyPr>
          <a:lstStyle/>
          <a:p>
            <a:pPr algn="l">
              <a:lnSpc>
                <a:spcPct val="105000"/>
              </a:lnSpc>
              <a:spcBef>
                <a:spcPts val="0"/>
              </a:spcBef>
              <a:spcAft>
                <a:spcPts val="100"/>
              </a:spcAft>
            </a:pPr>
            <a:r>
              <a:rPr sz="1100" b="0" i="0">
                <a:solidFill>
                  <a:srgbClr val="2B3350"/>
                </a:solidFill>
                <a:latin typeface="DM Sans"/>
              </a:rPr>
              <a:t>P1 Accès et administration</a:t>
            </a:r>
          </a:p>
          <a:p>
            <a:pPr algn="l">
              <a:lnSpc>
                <a:spcPct val="105000"/>
              </a:lnSpc>
              <a:spcBef>
                <a:spcPts val="0"/>
              </a:spcBef>
              <a:spcAft>
                <a:spcPts val="100"/>
              </a:spcAft>
            </a:pPr>
            <a:r>
              <a:rPr sz="1100" b="0" i="0">
                <a:solidFill>
                  <a:srgbClr val="2B3350"/>
                </a:solidFill>
                <a:latin typeface="DM Sans"/>
              </a:rPr>
              <a:t>P2 Données</a:t>
            </a:r>
          </a:p>
          <a:p>
            <a:pPr algn="l">
              <a:lnSpc>
                <a:spcPct val="105000"/>
              </a:lnSpc>
              <a:spcBef>
                <a:spcPts val="0"/>
              </a:spcBef>
              <a:spcAft>
                <a:spcPts val="100"/>
              </a:spcAft>
            </a:pPr>
            <a:r>
              <a:rPr sz="1100" b="0" i="0">
                <a:solidFill>
                  <a:srgbClr val="2B3350"/>
                </a:solidFill>
                <a:latin typeface="DM Sans"/>
              </a:rPr>
              <a:t>P3 Modèles de prévision</a:t>
            </a:r>
          </a:p>
          <a:p>
            <a:pPr algn="l">
              <a:lnSpc>
                <a:spcPct val="105000"/>
              </a:lnSpc>
              <a:spcBef>
                <a:spcPts val="0"/>
              </a:spcBef>
              <a:spcAft>
                <a:spcPts val="100"/>
              </a:spcAft>
            </a:pPr>
            <a:r>
              <a:rPr sz="1100" b="0" i="0">
                <a:solidFill>
                  <a:srgbClr val="2B3350"/>
                </a:solidFill>
                <a:latin typeface="DM Sans"/>
              </a:rPr>
              <a:t>P4 Prévision et planification</a:t>
            </a:r>
          </a:p>
          <a:p>
            <a:pPr algn="l">
              <a:lnSpc>
                <a:spcPct val="105000"/>
              </a:lnSpc>
              <a:spcBef>
                <a:spcPts val="0"/>
              </a:spcBef>
              <a:spcAft>
                <a:spcPts val="100"/>
              </a:spcAft>
            </a:pPr>
            <a:r>
              <a:rPr sz="1100" b="0" i="0">
                <a:solidFill>
                  <a:srgbClr val="2B3350"/>
                </a:solidFill>
                <a:latin typeface="DM Sans"/>
              </a:rPr>
              <a:t>P5 Cibles, KPI et alertes</a:t>
            </a:r>
          </a:p>
          <a:p>
            <a:pPr algn="l">
              <a:lnSpc>
                <a:spcPct val="105000"/>
              </a:lnSpc>
              <a:spcBef>
                <a:spcPts val="0"/>
              </a:spcBef>
              <a:spcAft>
                <a:spcPts val="100"/>
              </a:spcAft>
            </a:pPr>
            <a:r>
              <a:rPr sz="1100" b="0" i="0">
                <a:solidFill>
                  <a:srgbClr val="2B3350"/>
                </a:solidFill>
                <a:latin typeface="DM Sans"/>
              </a:rPr>
              <a:t>P6 Comparaison réel / prévu</a:t>
            </a:r>
          </a:p>
          <a:p>
            <a:pPr algn="l">
              <a:lnSpc>
                <a:spcPct val="105000"/>
              </a:lnSpc>
              <a:spcBef>
                <a:spcPts val="0"/>
              </a:spcBef>
              <a:spcAft>
                <a:spcPts val="100"/>
              </a:spcAft>
            </a:pPr>
            <a:r>
              <a:rPr sz="1100" b="0" i="0">
                <a:solidFill>
                  <a:srgbClr val="2B3350"/>
                </a:solidFill>
                <a:latin typeface="DM Sans"/>
              </a:rPr>
              <a:t>P7 Tableaux de bord et rapports</a:t>
            </a:r>
          </a:p>
        </p:txBody>
      </p:sp>
      <p:sp>
        <p:nvSpPr>
          <p:cNvPr id="120" name="TextBox 119"/>
          <p:cNvSpPr txBox="1"/>
          <p:nvPr/>
        </p:nvSpPr>
        <p:spPr>
          <a:xfrm>
            <a:off x="8624089" y="5166360"/>
            <a:ext cx="2705327" cy="256032"/>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6B3FA0"/>
                </a:solidFill>
                <a:latin typeface="Sora"/>
              </a:rPr>
              <a:t>RELATIONS</a:t>
            </a:r>
          </a:p>
        </p:txBody>
      </p:sp>
      <p:sp>
        <p:nvSpPr>
          <p:cNvPr id="121" name="TextBox 120"/>
          <p:cNvSpPr txBox="1"/>
          <p:nvPr/>
        </p:nvSpPr>
        <p:spPr>
          <a:xfrm>
            <a:off x="8624089" y="5440680"/>
            <a:ext cx="2705327" cy="640080"/>
          </a:xfrm>
          <a:prstGeom prst="rect">
            <a:avLst/>
          </a:prstGeom>
          <a:noFill/>
        </p:spPr>
        <p:txBody>
          <a:bodyPr wrap="square" lIns="0" tIns="0" rIns="0" bIns="0" anchor="t">
            <a:noAutofit/>
          </a:bodyPr>
          <a:lstStyle/>
          <a:p>
            <a:pPr algn="l">
              <a:lnSpc>
                <a:spcPct val="105000"/>
              </a:lnSpc>
              <a:spcBef>
                <a:spcPts val="0"/>
              </a:spcBef>
              <a:spcAft>
                <a:spcPts val="200"/>
              </a:spcAft>
            </a:pPr>
            <a:r>
              <a:rPr sz="1100" b="1" i="0">
                <a:solidFill>
                  <a:srgbClr val="1B2A4A"/>
                </a:solidFill>
                <a:latin typeface="DM Sans"/>
              </a:rPr>
              <a:t>« include » </a:t>
            </a:r>
            <a:r>
              <a:rPr sz="1100" b="0" i="0">
                <a:solidFill>
                  <a:srgbClr val="2B3350"/>
                </a:solidFill>
                <a:latin typeface="DM Sans"/>
              </a:rPr>
              <a:t>étape toujours exécutée</a:t>
            </a:r>
          </a:p>
          <a:p>
            <a:pPr algn="l">
              <a:lnSpc>
                <a:spcPct val="105000"/>
              </a:lnSpc>
              <a:spcBef>
                <a:spcPts val="0"/>
              </a:spcBef>
              <a:spcAft>
                <a:spcPts val="200"/>
              </a:spcAft>
            </a:pPr>
            <a:r>
              <a:rPr sz="1100" b="1" i="0">
                <a:solidFill>
                  <a:srgbClr val="1B2A4A"/>
                </a:solidFill>
                <a:latin typeface="DM Sans"/>
              </a:rPr>
              <a:t>« extend » </a:t>
            </a:r>
            <a:r>
              <a:rPr sz="1100" b="0" i="0">
                <a:solidFill>
                  <a:srgbClr val="2B3350"/>
                </a:solidFill>
                <a:latin typeface="DM Sans"/>
              </a:rPr>
              <a:t>étape sous condition</a:t>
            </a:r>
          </a:p>
        </p:txBody>
      </p:sp>
      <p:sp>
        <p:nvSpPr>
          <p:cNvPr id="122" name="TextBox 121"/>
          <p:cNvSpPr txBox="1"/>
          <p:nvPr/>
        </p:nvSpPr>
        <p:spPr>
          <a:xfrm>
            <a:off x="694944" y="6345936"/>
            <a:ext cx="768096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Source : diagramme de cas d’utilisation de l’application 2.3.3 (rapport de l’équipe 15).</a:t>
            </a:r>
          </a:p>
        </p:txBody>
      </p:sp>
    </p:spTree>
  </p:cSld>
  <p:clrMapOvr>
    <a:masterClrMapping/>
  </p:clrMapOvr>
</p:sld>
</file>

<file path=ppt/theme/theme1.xml><?xml version="1.0" encoding="utf-8"?>
<a:theme xmlns:a="http://schemas.openxmlformats.org/drawingml/2006/main" xmlns:r="http://schemas.openxmlformats.org/officeDocument/2006/relationships" name="Workly Automation">
  <a:themeElements>
    <a:clrScheme name="Workly Automation">
      <a:dk1>
        <a:srgbClr val="14213D"/>
      </a:dk1>
      <a:lt1>
        <a:srgbClr val="FFFFFF"/>
      </a:lt1>
      <a:dk2>
        <a:srgbClr val="0E2A47"/>
      </a:dk2>
      <a:lt2>
        <a:srgbClr val="EEF2F7"/>
      </a:lt2>
      <a:accent1>
        <a:srgbClr val="2B5FD9"/>
      </a:accent1>
      <a:accent2>
        <a:srgbClr val="D9531E"/>
      </a:accent2>
      <a:accent3>
        <a:srgbClr val="1F8F7F"/>
      </a:accent3>
      <a:accent4>
        <a:srgbClr val="5B6875"/>
      </a:accent4>
      <a:accent5>
        <a:srgbClr val="B3261E"/>
      </a:accent5>
      <a:accent6>
        <a:srgbClr val="E3A81B"/>
      </a:accent6>
      <a:hlink>
        <a:srgbClr val="2B5FD9"/>
      </a:hlink>
      <a:folHlink>
        <a:srgbClr val="5B687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WORKLY : Modèles de prévision, validité et automatisation (2.3.3)">
  <a:themeElements>
    <a:clrScheme name="WORKLY : Modèles de prévision, validité et automatisation (2.3.3)">
      <a:dk1>
        <a:srgbClr val="1B2A4A"/>
      </a:dk1>
      <a:lt1>
        <a:srgbClr val="F4F6FB"/>
      </a:lt1>
      <a:dk2>
        <a:srgbClr val="515D76"/>
      </a:dk2>
      <a:lt2>
        <a:srgbClr val="DEE2E9"/>
      </a:lt2>
      <a:accent1>
        <a:srgbClr val="7ACFC0"/>
      </a:accent1>
      <a:accent2>
        <a:srgbClr val="6B3FA0"/>
      </a:accent2>
      <a:accent3>
        <a:srgbClr val="4A9BE0"/>
      </a:accent3>
      <a:accent4>
        <a:srgbClr val="B39DDB"/>
      </a:accent4>
      <a:accent5>
        <a:srgbClr val="A9B4D0"/>
      </a:accent5>
      <a:accent6>
        <a:srgbClr val="6B739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2026-10-02T20:17:43Z</dcterms:created>
</cp:coreProperties>
</file>