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85" r:id="rId44"/>
    <p:sldId id="277" r:id="rId29"/>
    <p:sldId id="278" r:id="rId30"/>
    <p:sldId id="279" r:id="rId31"/>
    <p:sldId id="280" r:id="rId32"/>
    <p:sldId id="281" r:id="rId33"/>
    <p:sldId id="282" r:id="rId34"/>
    <p:sldId id="283" r:id="rId35"/>
    <p:sldId id="284" r:id="rId36"/>
    <p:sldId id="286" r:id="rId45"/>
    <p:sldId id="287" r:id="rId46"/>
    <p:sldId id="288" r:id="rId47"/>
    <p:sldId id="289" r:id="rId48"/>
    <p:sldId id="290" r:id="rId49"/>
    <p:sldId id="291" r:id="rId50"/>
    <p:sldId id="292" r:id="rId51"/>
    <p:sldId id="293" r:id="rId52"/>
    <p:sldId id="294" r:id="rId53"/>
    <p:sldId id="295" r:id="rId54"/>
    <p:sldId id="296" r:id="rId55"/>
    <p:sldId id="297" r:id="rId56"/>
  </p:sldIdLst>
  <p:sldSz cy="6858000" cx="12192000"/>
  <p:notesSz cx="6858000" cy="12192000"/>
  <p:embeddedFontLst>
    <p:embeddedFont>
      <p:font typeface="Sora"/>
      <p:regular r:id="rId37"/>
      <p:bold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w+XJJYjX9oEtzHzcteUKfSoJ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09B6FF-CDFB-4AB1-8E42-484B63002EFC}">
  <a:tblStyle styleId="{2709B6FF-CDFB-4AB1-8E42-484B63002E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font" Target="fonts/Sora-regular.fntdata"/><Relationship Id="rId38" Type="http://schemas.openxmlformats.org/officeDocument/2006/relationships/font" Target="fonts/Sora-bold.fntdata"/><Relationship Id="rId39" Type="http://schemas.openxmlformats.org/officeDocument/2006/relationships/font" Target="fonts/DMSans-regular.fntdata"/><Relationship Id="rId40" Type="http://schemas.openxmlformats.org/officeDocument/2006/relationships/font" Target="fonts/DMSans-bold.fntdata"/><Relationship Id="rId41" Type="http://schemas.openxmlformats.org/officeDocument/2006/relationships/font" Target="fonts/DMSans-italic.fntdata"/><Relationship Id="rId42" Type="http://schemas.openxmlformats.org/officeDocument/2006/relationships/font" Target="fonts/DMSans-boldItalic.fntdata"/><Relationship Id="rId43" Type="http://customschemas.google.com/relationships/presentationmetadata" Target="metadata"/><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0"/>
        <c:ser>
          <c:idx val="0"/>
          <c:order val="0"/>
          <c:tx>
            <c:strRef>
              <c:f>Sheet1!$B$1</c:f>
              <c:strCache>
                <c:ptCount val="1"/>
                <c:pt idx="0">
                  <c:v>Critères</c:v>
                </c:pt>
              </c:strCache>
            </c:strRef>
          </c:tx>
          <c:spPr>
            <a:solidFill>
              <a:srgbClr val="D9531E"/>
            </a:solidFill>
            <a:effectLst/>
          </c:spPr>
          <c:invertIfNegative val="0"/>
          <c:dPt>
            <c:idx val="0"/>
            <c:invertIfNegative val="0"/>
            <c:bubble3D val="0"/>
            <c:spPr>
              <a:solidFill>
                <a:srgbClr val="D9531E"/>
              </a:solidFill>
              <a:effectLst/>
            </c:spPr>
            <c:extLst>
              <c:ext xmlns:c16="http://schemas.microsoft.com/office/drawing/2014/chart" uri="{C3380CC4-5D6E-409C-BE32-E72D297353CC}">
                <c16:uniqueId val="{00000001-CD77-451A-9CC2-0CC2AACC351D}"/>
              </c:ext>
            </c:extLst>
          </c:dPt>
          <c:dPt>
            <c:idx val="1"/>
            <c:invertIfNegative val="0"/>
            <c:bubble3D val="0"/>
            <c:spPr>
              <a:solidFill>
                <a:srgbClr val="2B5FD9"/>
              </a:solidFill>
              <a:effectLst/>
            </c:spPr>
            <c:extLst>
              <c:ext xmlns:c16="http://schemas.microsoft.com/office/drawing/2014/chart" uri="{C3380CC4-5D6E-409C-BE32-E72D297353CC}">
                <c16:uniqueId val="{00000003-CD77-451A-9CC2-0CC2AACC351D}"/>
              </c:ext>
            </c:extLst>
          </c:dPt>
          <c:dPt>
            <c:idx val="2"/>
            <c:invertIfNegative val="0"/>
            <c:bubble3D val="0"/>
            <c:spPr>
              <a:solidFill>
                <a:srgbClr val="5B6875"/>
              </a:solidFill>
              <a:effectLst/>
            </c:spPr>
            <c:extLst>
              <c:ext xmlns:c16="http://schemas.microsoft.com/office/drawing/2014/chart" uri="{C3380CC4-5D6E-409C-BE32-E72D297353CC}">
                <c16:uniqueId val="{00000005-CD77-451A-9CC2-0CC2AACC351D}"/>
              </c:ext>
            </c:extLst>
          </c:dPt>
          <c:dLbls>
            <c:numFmt formatCode="#,##0" sourceLinked="0"/>
            <c:spPr>
              <a:noFill/>
              <a:ln>
                <a:noFill/>
              </a:ln>
              <a:effectLst/>
            </c:spPr>
            <c:txPr>
              <a:bodyPr/>
              <a:lstStyle/>
              <a:p>
                <a:pPr>
                  <a:defRPr sz="2000" b="1" i="0" u="none" strike="noStrike">
                    <a:solidFill>
                      <a:srgbClr val="0E2A47"/>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n8n fait mieux</c:v>
                </c:pt>
                <c:pt idx="1">
                  <c:v>Fusion fait mieux</c:v>
                </c:pt>
                <c:pt idx="2">
                  <c:v>Égalité</c:v>
                </c:pt>
              </c:strCache>
            </c:strRef>
          </c:cat>
          <c:val>
            <c:numRef>
              <c:f>Sheet1!$B$2:$B$4</c:f>
              <c:numCache>
                <c:formatCode>General</c:formatCode>
                <c:ptCount val="3"/>
                <c:pt idx="0">
                  <c:v>6</c:v>
                </c:pt>
                <c:pt idx="1">
                  <c:v>3</c:v>
                </c:pt>
                <c:pt idx="2">
                  <c:v>4</c:v>
                </c:pt>
              </c:numCache>
            </c:numRef>
          </c:val>
          <c:extLst>
            <c:ext xmlns:c16="http://schemas.microsoft.com/office/drawing/2014/chart" uri="{C3380CC4-5D6E-409C-BE32-E72D297353CC}">
              <c16:uniqueId val="{00000006-CD77-451A-9CC2-0CC2AACC351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E2A47"/>
                </a:solidFill>
                <a:latin typeface="+mn-lt"/>
              </a:defRPr>
            </a:pPr>
            <a:endParaRPr lang="en-US"/>
          </a:p>
        </c:txPr>
        <c:crossAx val="2094734552"/>
        <c:crosses val="autoZero"/>
        <c:auto val="1"/>
        <c:lblAlgn val="ctr"/>
        <c:lblOffset val="100"/>
        <c:noMultiLvlLbl val="1"/>
      </c:catAx>
      <c:valAx>
        <c:axId val="2094734552"/>
        <c:scaling>
          <c:orientation val="minMax"/>
          <c:max val="8"/>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 name="Google Shape;28;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plan compte cinq parties, des modèles de prévision jusqu’à l’automatisation supervisée par des agents IA. La cinquième partie présente le travail de cette semaine : un planificateur qui tourne sans interface, une route de bilan, deux agents et un message Slack chaque matin. Nous commençons par les deux modèles existants et le contexte de données.</a:t>
            </a:r>
          </a:p>
        </p:txBody>
      </p:sp>
      <p:sp>
        <p:nvSpPr>
          <p:cNvPr id="50" name="Google Shape;5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Deux modèles existent déjà : la régression linéaire, paramétrique avec une hypothèse de linéarité, et le réseau de neurones, non paramétrique et plus gourmand en données. Nous en étudions quatre autres et n’en retenons qu’un. Le contexte cadre le choix : des séries par site et par zone, environ 18 mois d’historique, des intervalles de confiance et des coefficients lisibles côté administrateur. Nous détaillons maintenant la forêt aléatoire.</a:t>
            </a:r>
            <a:endParaRPr/>
          </a:p>
        </p:txBody>
      </p:sp>
      <p:sp>
        <p:nvSpPr>
          <p:cNvPr id="82" name="Google Shape;8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forêt aléatoire moyenne des arbres entraînés sur des sous-échantillons aléatoires. Elle capte les interactions et les effets de seuil, et résiste au bruit. Le jury doit retenir sa limite : elle ne prédit pas au-delà du maximum observé. Son interprétabilité se limite à l’importance des variables. Le modèle suivant, le Gradient Boosting, partage cette limite d’extrapolation.</a:t>
            </a:r>
            <a:endParaRPr/>
          </a:p>
        </p:txBody>
      </p:sp>
      <p:sp>
        <p:nvSpPr>
          <p:cNvPr id="112" name="Google Shape;112;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Gradient Boosting construit des arbres de façon séquentielle, chacun corrigeant le précédent. Il sert de référence sur données tabulaires de taille moyenne, capte la congestion non linéaire au-delà de 85 % de capacité, et s’entraîne vite et de façon déterministe. Sa limite est identique à celle de la forêt aléatoire : pas d’extrapolation au-delà du volume maximal historique. Nous passons au modèle additif généralisé.</a:t>
            </a:r>
            <a:endParaRPr/>
          </a:p>
        </p:txBody>
      </p:sp>
      <p:sp>
        <p:nvSpPr>
          <p:cNvPr id="135" name="Google Shape;135;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7" name="Google Shape;15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GAM additionne des fonctions non linéaires apprises variable par variable, ce qui donne une courbe d’effet par variable et une lisibilité proche de celle de la régression linéaire. Sa limite est pratique : il dépend de la bibliothèque externe pygam et son paramétrage est plus complexe. Son interprétabilité est très bonne. Nous examinons ensuite le processus gaussien.</a:t>
            </a:r>
            <a:endParaRPr/>
          </a:p>
        </p:txBody>
      </p:sp>
      <p:sp>
        <p:nvSpPr>
          <p:cNvPr id="158" name="Google Shape;15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processus gaussien fournit une distribution complète, donc un intervalle de confiance natif, avec une incertitude qui croît loin des données connues. Son coût en O(n³) le rend inadapté à la production, malgré une interprétabilité moyenne. Les quatre modèles étudiés sont maintenant présentés. La diapositive suivante les compare dans un seul tableau.</a:t>
            </a:r>
            <a:endParaRPr/>
          </a:p>
        </p:txBody>
      </p:sp>
      <p:sp>
        <p:nvSpPr>
          <p:cNvPr id="181" name="Google Shape;18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tableau confronte les modèles sur les mêmes critères. Le jury doit retenir que la forêt aléatoire et le Gradient Boosting captent le non-linéaire mais plafonnent en extrapolation, alors que la RL, le GAM et le processus gaussien extrapolent mieux. Le Gradient Boosting, mis en évidence en violet, reste facile à implémenter avec scikit-learn. Nous justifions maintenant ce choix.</a:t>
            </a:r>
            <a:endParaRPr/>
          </a:p>
        </p:txBody>
      </p:sp>
      <p:sp>
        <p:nvSpPr>
          <p:cNvPr id="204" name="Google Shape;20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Nous retenons le Gradient Boosting pour trois raisons : il capte la congestion non linéaire, il s’intègre sans modifier l’architecture, et il compare trois approches sur les mêmes métriques, soit MAE, RMSE, MAPE et biais, avec le même taux de victoire. Nous assumons sa limite : pas d’extrapolation, la RL reste le filet de sécurité. L’intégration dans l’application reste à venir. La partie 2 examine les courbes d’apprentissage.</a:t>
            </a:r>
            <a:endParaRPr/>
          </a:p>
        </p:txBody>
      </p:sp>
      <p:sp>
        <p:nvSpPr>
          <p:cNvPr id="219" name="Google Shape;21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 name="Google Shape;25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L’apport du Gradient Boosting sera mesuré sur quatre indicateurs : la réduction de la RMSE face à la RL, la réduction du MAPE face au RN, le taux de victoire de chaque modèle et l’erreur sur les jours de congestion. Les valeurs seront renseignées après entraînement, avec le découpage chronologique 80/20 et la graine 42. Nous restons à la disposition du jury pour ses questions.</a:t>
            </a:r>
            <a:endParaRPr/>
          </a:p>
        </p:txBody>
      </p:sp>
      <p:sp>
        <p:nvSpPr>
          <p:cNvPr id="251" name="Google Shape;25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9" name="Google Shape;279;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figure place côte à côte les courbes d’apprentissage de la RL et du RN. Le jury doit retenir que la RL reste stable quel que soit le volume de données, alors que le RN dépend fortement de l’historique disponible. [à compléter : lecture détaillée des courbes une fois la figure insérée]. La diapositive suivante chiffre ce constat.</a:t>
            </a:r>
            <a:endParaRPr/>
          </a:p>
        </p:txBody>
      </p:sp>
      <p:sp>
        <p:nvSpPr>
          <p:cNvPr id="280" name="Google Shape;280;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RL présente un écart faible et stable entre entraînement et test : c’est du sous-ajustement, et davantage de données n’y change rien. Le RN reste instable avec 30 à 100 jours, puis se stabilise au-delà d’environ 250 jours. Cela justifie la règle « au moins 90 jours d’historique » (UC08) et suggère un seuil plus prudent de 6 mois. Nous passons aux courbes de validation.</a:t>
            </a:r>
            <a:endParaRPr/>
          </a:p>
        </p:txBody>
      </p:sp>
      <p:sp>
        <p:nvSpPr>
          <p:cNvPr id="296" name="Google Shape;296;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8" name="Google Shape;31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figure présente les courbes de validation de la famille linéaire et du réseau de neurones. Le constat à retenir : une complexité trop faible ou trop élevée dégrade l’erreur de test, et une zone intermédiaire donne le meilleur résultat. [à compléter : lecture détaillée des courbes une fois la figure insérée]. La diapositive suivante précise ces zones pour chaque famille.</a:t>
            </a:r>
            <a:endParaRPr/>
          </a:p>
        </p:txBody>
      </p:sp>
      <p:sp>
        <p:nvSpPr>
          <p:cNvPr id="319" name="Google Shape;319;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4" name="Google Shape;334;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Pour la famille linéaire, le sous-ajustement apparaît au degré 1, le compromis aux degrés 2 à 3, et l’erreur de test explose à partir du degré 5. Pour le RN, 1 à 2 neurones sous-ajustent, 16 à 64 neurones donnent le compromis, et 128 neurones marquent un début de sur-ajustement modéré par early_stopping. Le choix actuel, 32 et 16, est donc prudent. Nous replaçons ces résultats dans le compromis biais-variance.</a:t>
            </a:r>
            <a:endParaRPr/>
          </a:p>
        </p:txBody>
      </p:sp>
      <p:sp>
        <p:nvSpPr>
          <p:cNvPr id="335" name="Google Shape;335;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schéma situe trois zones de complexité sur deux axes : le degré pour la famille linéaire, le nombre de neurones pour le RN. Trois garde-fous encadrent les résultats : la graine 42, le découpage chronologique 80/20 et l’absence de fuite d’information. Le sur-apprentissage se détecte par l’écart entre entraînement et test, la dérive en production par le MAPE hebdomadaire (UC21). La partie 3 traite de l’automatisation.</a:t>
            </a:r>
            <a:endParaRPr/>
          </a:p>
        </p:txBody>
      </p:sp>
      <p:sp>
        <p:nvSpPr>
          <p:cNvPr id="351" name="Google Shape;351;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Douze tâches planifiées automatisent les calculs : huit chaque nuit, et quatre périodiques (hebdomadaire, capacités de la semaine, mensuel, annuel). Sur les 24 cas d’usage, 11 sont entièrement automatiques, 12 exigent une décision humaine, UC01 compris, et un seul est mixte, UC22. Le jury doit retenir que ce qui reste manuel engage une responsabilité et ne résulte pas d’un manque d’outillage.</a:t>
            </a:r>
          </a:p>
        </p:txBody>
      </p:sp>
      <p:sp>
        <p:nvSpPr>
          <p:cNvPr id="377" name="Google Shape;377;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système importe, entraîne, compare à un seuil et agrège, à partir de règles ou de modèles déjà validés par un humain. L’exemple des alertes illustre la frontière : détecter un dépassement, UC18, est un calcul, tandis que clore un incident, UC19, engage une responsabilité. Nous détaillons maintenant les trois familles de décisions qui restent manuelles.</a:t>
            </a:r>
            <a:endParaRPr/>
          </a:p>
        </p:txBody>
      </p:sp>
      <p:sp>
        <p:nvSpPr>
          <p:cNvPr id="408" name="Google Shape;40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6" name="Google Shape;42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Trois familles de décisions restent manuelles. Les décisions qui engagent une responsabilité : valider un plan, clore une alerte, activer un modèle. Les décisions de politique : les cibles KPI et le seuil de dérive. La connaissance du terrain : la demande client et le dépôt du fichier d’historique réel, en amont de l’import automatique. Les deux diapositives suivantes listent les cas d’usage un par un.</a:t>
            </a:r>
            <a:endParaRPr/>
          </a:p>
        </p:txBody>
      </p:sp>
      <p:sp>
        <p:nvSpPr>
          <p:cNvPr id="427" name="Google Shape;42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8" name="Google Shape;44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Cette première moitié couvre les cas d’usage UC01 à UC13. Le critère est unique : un calcul sans jugement est automatique, un choix ou un arbitrage est manuel. Le jury peut vérifier en particulier que l’activation d’un modèle, UC10, n’est jamais automatique, même après un bon score. La diapositive suivante couvre les cas d’usage UC14 à UC24.</a:t>
            </a:r>
            <a:endParaRPr/>
          </a:p>
        </p:txBody>
      </p:sp>
      <p:sp>
        <p:nvSpPr>
          <p:cNvPr id="449" name="Google Shape;449;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5" name="Google Shape;46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Cette seconde moitié couvre les cas d’usage UC14 à UC24. Le calcul des KPI, des alertes, de la dérive et des rapports est automatique. Valider un plan, définir les cibles, traiter les alertes et exporter un rapport restent manuels. UC22 est le seul cas mixte : la vue est automatique, la consultation est manuelle. Le diagramme BPMN regroupe l’ensemble de ces workflows.</a:t>
            </a:r>
            <a:endParaRPr/>
          </a:p>
        </p:txBody>
      </p:sp>
      <p:sp>
        <p:nvSpPr>
          <p:cNvPr id="466" name="Google Shape;466;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2" name="Google Shape;482;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diagramme BPMN rassemble les workflows de Workly en cinq couloirs : administrateur, planificateur, responsable, direction et système. La légende distingue les tâches automatiques, en vert, les tâches manuelles, en violet, et les passerelles de décision, en bleu. Cette première moitié va de la mise en service au plan validé : la chaîne de nuit de huit étapes est automatique, alors que la saisie de la demande, la proposition du plan et sa validation restent manuelles. Le jury doit retenir que le processus automatise les calculs et réserve les décisions engageantes à un responsable. Le diagramme complet, plus détaillé, est fourni dans docs/workflow_workly.bpmn.</a:t>
            </a:r>
          </a:p>
        </p:txBody>
      </p:sp>
      <p:sp>
        <p:nvSpPr>
          <p:cNvPr id="483" name="Google Shape;483;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7" name="Google Shape;497;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Sur Fusion, le plus gênant a été le token : il faut le saisir dans chaque nœud. J'ai aussi appris qu'un Cron est actif dès qu'on enregistre, et que l'erreur affichée ne montre pas le message du serveur, ce qui m'a obligé à lire le journal de Workly pour comprendre un 404.</a:t>
            </a:r>
            <a:endParaRPr/>
          </a:p>
        </p:txBody>
      </p:sp>
      <p:sp>
        <p:nvSpPr>
          <p:cNvPr id="498" name="Google Shape;498;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Sur n8n, le token n'est saisi qu'une fois et l'erreur contient le message du serveur : le diagnostic est bien plus rapide. Mes difficultés ont été différentes : la sortie d'erreur à activer, la différence entre exécuter un nœud et tout le workflow, et un conflit d'enregistrement parce que j'avais deux onglets ouverts.</a:t>
            </a:r>
            <a:endParaRPr/>
          </a:p>
        </p:txBody>
      </p:sp>
      <p:sp>
        <p:nvSpPr>
          <p:cNvPr id="515" name="Google Shape;515;p2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1" name="Google Shape;531;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J'ai comparé quatorze critères que j'ai observés. n8n fait mieux sur six, Fusion sur trois, et quatre sont à égalité. Le critère à tester, l'e-mail intégré de n8n, et cinq autres, comme la fiabilité sur plusieurs nuits ou le coût, ne sont pas encore mesurables : je ne les ai donc pas comptés. Je ne prétends pas que n8n est meilleur en général, seulement sur ce projet.</a:t>
            </a:r>
            <a:endParaRPr/>
          </a:p>
        </p:txBody>
      </p:sp>
      <p:sp>
        <p:nvSpPr>
          <p:cNvPr id="532" name="Google Shape;532;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2" name="Google Shape;542;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Voici les quatre différences que j'ai le plus ressenties. Sur le token et sur le message d'erreur, n8n m'a fait gagner du temps. Sur la planification, n8n offre plus de réglages. Sur le chemin d'échec, Fusion est plus direct, car la sortie rouge est là par défaut. Depuis, nous avons réduit le côté Fusion : Workly enchaîne lui-même sa nuit, il ne reste qu’un Cron et un nœud HTTP, donc un seul jeton.</a:t>
            </a:r>
          </a:p>
        </p:txBody>
      </p:sp>
      <p:sp>
        <p:nvSpPr>
          <p:cNvPr id="543" name="Google Shape;543;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1" name="Google Shape;551;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Bottom line répond à une question : que change Workly par rapport à un planning reconduit chaque semaine, sur la période choisie ? Sur 84 jours de zone, le gain net atteint 15 113 MAD. Les heures de travail mal allouées passent de 1 348 h à 578 h, soit 771 h évitées. Les postes-jours mal alloués passent de 180 à 77, soit 103 évités. Les commandes en retard passent de 555 à 12, soit 542 évitées. Le jury doit retenir que chaque indicateur est comparé à la même référence. La diapositive suivante détaille les délais, le service et les coûts.</a:t>
            </a:r>
            <a:endParaRPr/>
          </a:p>
        </p:txBody>
      </p:sp>
      <p:sp>
        <p:nvSpPr>
          <p:cNvPr id="552" name="Google Shape;552;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7" name="Google Shape;587;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Les commandes livrées en retard passent de 555 à 12, soit 98 % de retards en moins. Le taux de service passe de 94,6 % à 99,9 %, ce qui évite 10 849 MAD de pénalités. L’indice base 100 sans Workly montre que le coût ne baisse que de 3 points, alors que le gaspillage tombe à 43 et que les heures supplémentaires et les pénalités tombent à 2. Le jury doit retenir que le gain vient surtout de ces trois postes, pas du coût global. La diapositive suivante montre où le gain se crée.</a:t>
            </a:r>
            <a:endParaRPr/>
          </a:p>
        </p:txBody>
      </p:sp>
      <p:sp>
        <p:nvSpPr>
          <p:cNvPr id="588" name="Google Shape;588;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Le gain cumulé progresse jour après jour sur la période et dépasse 13 000 MAD en fin de période. Par zone, l’expédition apporte 6 054 MAD, le stockage 5 353 MAD, la réception 1 525 MAD et la préparation 681 MAD, soit 13 613 MAD au total. L’expédition et le stockage représentent donc environ 84 % du gain. Le jury doit retenir que le gain se concentre sur deux zones. La diapositive suivante porte sur les alertes et le retour sur investissement.</a:t>
            </a:r>
            <a:endParaRPr/>
          </a:p>
        </p:txBody>
      </p:sp>
      <p:sp>
        <p:nvSpPr>
          <p:cNvPr id="637" name="Google Shape;637;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3" name="Google Shape;653;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Le gain annualisé atteint 183 874 MAD. Le coût de mise en place n’est pas renseigné : le retour sur investissement et le délai de rentabilisation restent donc à calculer. Une nuit complète a été exécutée par le planificateur, soit huit étapes ; au paramètre par défaut de 20 minutes par étape, le temps manuel évité atteint 2,7 heures. Ce chiffre croîtra à chaque nuit. Côté alertes, 18 ont été émises dont 8 critiques, 28 % ont été traitées (5 sur 18) avec un délai de prise en charge de 18,3 h. 22 % ont été émises avant la date concernée, en moyenne 3,8 jours avant, et une pénurie d’équipement a été traitée à l’avance. [à compléter : coût de mise en place]. Nous passons aux limites.</a:t>
            </a:r>
          </a:p>
        </p:txBody>
      </p:sp>
      <p:sp>
        <p:nvSpPr>
          <p:cNvPr id="654" name="Google Shape;654;p2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Seconde moitié du diagramme. Une fois le plan validé, le système émet les alertes, automatiquement. Le planificateur prend en charge et clôture les alertes ouvertes, ce qui reste manuel. Le responsable suit les KPI et les écarts ; en cas de dérive, l’administrateur réentraîne et active une meilleure version, et les prévisions sont recalculées chaque nuit. Les tâches périodiques génèrent les rapports PDF et Excel, que le responsable consulte et exporte, et la direction consulte le tableau de bord. Même partage qu’à la première moitié : le système calcule, les personnes décident.</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Jusqu’au livrable 2, la plateforme pilotait chaque étape : dix-sept nœuds HTTP, un par tâche, et un jeton saisi dans chacun. Cette semaine, nous avons inversé le pilotage. Workly enchaîne lui-même ses huit étapes de nuit ; la plateforme se contente de lire un bilan, de le faire analyser par deux agents et de prévenir l’équipe. Le jury doit retenir le principe : Workly planifie et exécute, la plateforme surveille et prévient.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la chaîne de bout en bout. À 00:30 UTC, Workly exécute les huit étapes de la nuit et les inscrit dans son journal. À 06:00 UTC, un Cron de Fusion appelle, par un nœud HTTP, le flux Agentic AI. Le flux lit la route GET /bilan de Workly, par une adresse publique ngrok, puis deux agents analysent et rédigent, et le message part sur Slack. Les jetons restent saisis dans les nœuds et n’apparaissent dans aucune diapositive.</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planificateur démarre avec une seule commande, sans fenêtre. Le terminal annonce la prochaine exécution de la nuit, à 00:30 UTC, en heure du PC et en UTC, ce qui lève toute ambiguïté de fuseau. Si le PC dort à l’heure prévue, la nuit part au réveil, dans une tolérance de trois heures. Un verrou empêche deux exécutions simultanées : la route HTTP répond alors 409.</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Dans Workly, l’onglet Tâches de l’administration liste les douze tâches avec leur étape de pipeline, leur dernière et leur prochaine exécution et leur dernier statut. Un bouton exécute la tâche sélectionnée, un autre ouvre le journal. Les exécutions lancées de l’extérieur, par la plateforme, apparaissent au même endroit : le journal est la source unique que lit la route de bilan. [à compléter : lecture de la capture une fois insérée]</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route GET /bilan lit le journal des tâches et calcule un statut. Échec : une tâche a échoué dans les vingt-quatre dernières heures. Incomplet : une étape de la nuit n’a pas réussi depuis trente heures, par exemple parce que le PC était éteint. Succès : tout le reste. Sur la nuit du 6 au 7 octobre, les huit étapes ont réussi en environ deux secondes ; la réponse réelle est reproduite sous le tableau.</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 flux comporte sept composants. Une API Request lit le bilan, un Parser le convertit en texte, un Prompt Template l’insère dans la consigne. L’agent Analyste évalue la gravité, l’agent Rédacteur écrit le message. Un composant Dynamic Create Data fabrique l’objet attendu par Slack, et une seconde API Request l’envoie. [à compléter : lecture de la capture du flux une fois insérée]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Nous avons séparé deux rôles. L’Analyste ne travaille que sur les données reçues et répond en JSON, avec une gravité ok, attention ou critique. Le Rédacteur transforme cette analyse en message de moins de cent vingt mots, sans adresse, sans jeton, sans détail technique. Séparer les rôles rend chaque sortie vérifiable. Les deux agents utilisent le même modèle Gemini.</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Côté Fusion, il ne reste qu’un Cron et un nœud HTTP. Le Cron s’exprime en UTC et s’active dès l’enregistrement du workflow. Le nœud appelle le flux avec un jeton Bearer, sans corps. Son délai se règle en millisecondes : nous avons perdu du temps avec la valeur 120, qui produisait une erreur de délai, avant de saisir 120 000. [à compléter : lecture de la capture du canevas une fois insérée]</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Démonstration. Le même flux produit deux messages différents selon l’état de la nuit. Quand la nuit est incomplète, l’agent liste le problème et les actions à faire. Quand tout a réussi, il rassure en deux lignes. Le flux renvoie le code 200 de Slack. [à compléter : lecture de la capture du message Slack une fois insérée]</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Cinq obstacles ont ralenti la semaine. Le plus structurant est l’incompatibilité entre Gemini et les outils de Composio : Gemini refuse un tableau dont le schéma ne précise pas ses éléments. Nous avons abandonné l’envoi d’e-mail et utilisé un webhook Slack, plus simple et sans mot de passe. Les autres obstacles sont des réglages : en-tête d’authentification, accolades du modèle de consigne, unité du délai et fuseau horaire.</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Workly se connecte à Odoo par l’API externe XML-RPC, avec une clé API conservée dans des variables d’environnement du PC. Le test renvoie la version 20.0+e et zéro commande de vente, car la base de démonstration est vide. L’import des commandes comme volumes prévus reste à réaliser : c’est la prochaine source de données, en plus de l’application.</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Voici les limites que nous assumons. La principale : le PC doit rester allumé, sans quoi le bilan est injoignable et aucune alerte ne part. L’e-mail n’a pas été réalisé, à cause de l’incompatibilité entre Gemini et Composio. La prochaine étape la plus utile est de brancher la sortie rouge du nœud HTTP pour qu’une alerte parte quand Workly ne répond pas, puis d’héberger Workly sur un serveur permanent, d’importer les commandes Odoo et de mesurer la fiabilité sur plusieurs nuits.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6FB"/>
        </a:solidFill>
      </p:bgPr>
    </p:bg>
    <p:spTree>
      <p:nvGrpSpPr>
        <p:cNvPr id="10" name="Shape 10"/>
        <p:cNvGrpSpPr/>
        <p:nvPr/>
      </p:nvGrpSpPr>
      <p:grpSpPr>
        <a:xfrm>
          <a:off x="0" y="0"/>
          <a:ext cx="0" cy="0"/>
          <a:chOff x="0" y="0"/>
          <a:chExt cx="0" cy="0"/>
        </a:xfrm>
      </p:grpSpPr>
      <p:sp>
        <p:nvSpPr>
          <p:cNvPr id="11" name="Google Shape;11;p33"/>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33"/>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6" name="Shape 16"/>
        <p:cNvGrpSpPr/>
        <p:nvPr/>
      </p:nvGrpSpPr>
      <p:grpSpPr>
        <a:xfrm>
          <a:off x="0" y="0"/>
          <a:ext cx="0" cy="0"/>
          <a:chOff x="0" y="0"/>
          <a:chExt cx="0" cy="0"/>
        </a:xfrm>
      </p:grpSpPr>
      <p:sp>
        <p:nvSpPr>
          <p:cNvPr id="17" name="Google Shape;17;p35"/>
          <p:cNvSpPr txBox="1"/>
          <p:nvPr>
            <p:ph type="title"/>
          </p:nvPr>
        </p:nvSpPr>
        <p:spPr>
          <a:xfrm>
            <a:off x="548640" y="365760"/>
            <a:ext cx="11094415"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5"/>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sz="1100">
                <a:solidFill>
                  <a:schemeClr val="accent4"/>
                </a:solidFill>
                <a:latin typeface="Calibri"/>
                <a:ea typeface="Calibri"/>
                <a:cs typeface="Calibri"/>
                <a:sym typeface="Calibri"/>
              </a:defRPr>
            </a:lvl1pPr>
            <a:lvl2pPr indent="0" lvl="1" marL="0" marR="0" algn="l">
              <a:spcBef>
                <a:spcPts val="0"/>
              </a:spcBef>
              <a:buNone/>
              <a:defRPr b="0" sz="1100">
                <a:solidFill>
                  <a:schemeClr val="accent4"/>
                </a:solidFill>
                <a:latin typeface="Calibri"/>
                <a:ea typeface="Calibri"/>
                <a:cs typeface="Calibri"/>
                <a:sym typeface="Calibri"/>
              </a:defRPr>
            </a:lvl2pPr>
            <a:lvl3pPr indent="0" lvl="2" marL="0" marR="0" algn="l">
              <a:spcBef>
                <a:spcPts val="0"/>
              </a:spcBef>
              <a:buNone/>
              <a:defRPr b="0" sz="1100">
                <a:solidFill>
                  <a:schemeClr val="accent4"/>
                </a:solidFill>
                <a:latin typeface="Calibri"/>
                <a:ea typeface="Calibri"/>
                <a:cs typeface="Calibri"/>
                <a:sym typeface="Calibri"/>
              </a:defRPr>
            </a:lvl3pPr>
            <a:lvl4pPr indent="0" lvl="3" marL="0" marR="0" algn="l">
              <a:spcBef>
                <a:spcPts val="0"/>
              </a:spcBef>
              <a:buNone/>
              <a:defRPr b="0" sz="1100">
                <a:solidFill>
                  <a:schemeClr val="accent4"/>
                </a:solidFill>
                <a:latin typeface="Calibri"/>
                <a:ea typeface="Calibri"/>
                <a:cs typeface="Calibri"/>
                <a:sym typeface="Calibri"/>
              </a:defRPr>
            </a:lvl4pPr>
            <a:lvl5pPr indent="0" lvl="4" marL="0" marR="0" algn="l">
              <a:spcBef>
                <a:spcPts val="0"/>
              </a:spcBef>
              <a:buNone/>
              <a:defRPr b="0" sz="1100">
                <a:solidFill>
                  <a:schemeClr val="accent4"/>
                </a:solidFill>
                <a:latin typeface="Calibri"/>
                <a:ea typeface="Calibri"/>
                <a:cs typeface="Calibri"/>
                <a:sym typeface="Calibri"/>
              </a:defRPr>
            </a:lvl5pPr>
            <a:lvl6pPr indent="0" lvl="5" marL="0" marR="0" algn="l">
              <a:spcBef>
                <a:spcPts val="0"/>
              </a:spcBef>
              <a:buNone/>
              <a:defRPr b="0" sz="1100">
                <a:solidFill>
                  <a:schemeClr val="accent4"/>
                </a:solidFill>
                <a:latin typeface="Calibri"/>
                <a:ea typeface="Calibri"/>
                <a:cs typeface="Calibri"/>
                <a:sym typeface="Calibri"/>
              </a:defRPr>
            </a:lvl6pPr>
            <a:lvl7pPr indent="0" lvl="6" marL="0" marR="0" algn="l">
              <a:spcBef>
                <a:spcPts val="0"/>
              </a:spcBef>
              <a:buNone/>
              <a:defRPr b="0" sz="1100">
                <a:solidFill>
                  <a:schemeClr val="accent4"/>
                </a:solidFill>
                <a:latin typeface="Calibri"/>
                <a:ea typeface="Calibri"/>
                <a:cs typeface="Calibri"/>
                <a:sym typeface="Calibri"/>
              </a:defRPr>
            </a:lvl7pPr>
            <a:lvl8pPr indent="0" lvl="7" marL="0" marR="0" algn="l">
              <a:spcBef>
                <a:spcPts val="0"/>
              </a:spcBef>
              <a:buNone/>
              <a:defRPr b="0" sz="1100">
                <a:solidFill>
                  <a:schemeClr val="accent4"/>
                </a:solidFill>
                <a:latin typeface="Calibri"/>
                <a:ea typeface="Calibri"/>
                <a:cs typeface="Calibri"/>
                <a:sym typeface="Calibri"/>
              </a:defRPr>
            </a:lvl8pPr>
            <a:lvl9pPr indent="0" lvl="8" marL="0" marR="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0E2A47"/>
        </a:solidFill>
      </p:bgPr>
    </p:bg>
    <p:spTree>
      <p:nvGrpSpPr>
        <p:cNvPr id="20" name="Shape 20"/>
        <p:cNvGrpSpPr/>
        <p:nvPr/>
      </p:nvGrpSpPr>
      <p:grpSpPr>
        <a:xfrm>
          <a:off x="0" y="0"/>
          <a:ext cx="0" cy="0"/>
          <a:chOff x="0" y="0"/>
          <a:chExt cx="0" cy="0"/>
        </a:xfrm>
      </p:grpSpPr>
      <p:sp>
        <p:nvSpPr>
          <p:cNvPr id="21" name="Google Shape;21;p38"/>
          <p:cNvSpPr txBox="1"/>
          <p:nvPr>
            <p:ph type="title"/>
          </p:nvPr>
        </p:nvSpPr>
        <p:spPr>
          <a:xfrm>
            <a:off x="548640" y="2011680"/>
            <a:ext cx="658368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8"/>
          <p:cNvSpPr txBox="1"/>
          <p:nvPr>
            <p:ph idx="1" type="body"/>
          </p:nvPr>
        </p:nvSpPr>
        <p:spPr>
          <a:xfrm>
            <a:off x="548640" y="3931920"/>
            <a:ext cx="6400800" cy="10058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rgbClr val="0E2A47"/>
        </a:solidFill>
      </p:bgPr>
    </p:bg>
    <p:spTree>
      <p:nvGrpSpPr>
        <p:cNvPr id="23" name="Shape 23"/>
        <p:cNvGrpSpPr/>
        <p:nvPr/>
      </p:nvGrpSpPr>
      <p:grpSpPr>
        <a:xfrm>
          <a:off x="0" y="0"/>
          <a:ext cx="0" cy="0"/>
          <a:chOff x="0" y="0"/>
          <a:chExt cx="0" cy="0"/>
        </a:xfrm>
      </p:grpSpPr>
      <p:sp>
        <p:nvSpPr>
          <p:cNvPr id="24" name="Google Shape;24;p39"/>
          <p:cNvSpPr txBox="1"/>
          <p:nvPr>
            <p:ph type="title"/>
          </p:nvPr>
        </p:nvSpPr>
        <p:spPr>
          <a:xfrm>
            <a:off x="548640" y="457200"/>
            <a:ext cx="11094415"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 name="Shape 7"/>
        <p:cNvGrpSpPr/>
        <p:nvPr/>
      </p:nvGrpSpPr>
      <p:grpSpPr>
        <a:xfrm>
          <a:off x="0" y="0"/>
          <a:ext cx="0" cy="0"/>
          <a:chOff x="0" y="0"/>
          <a:chExt cx="0" cy="0"/>
        </a:xfrm>
      </p:grpSpPr>
      <p:sp>
        <p:nvSpPr>
          <p:cNvPr id="8" name="Google Shape;8;p32"/>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A"/>
              </a:buClr>
              <a:buSzPts val="2100"/>
              <a:buFont typeface="Sora"/>
              <a:buNone/>
              <a:defRPr b="0" i="0" sz="2100" u="none" cap="none" strike="noStrik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2"/>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A"/>
              </a:buClr>
              <a:buSzPts val="1600"/>
              <a:buFont typeface="Arial"/>
              <a:buNone/>
              <a:defRPr b="0" i="0" sz="1600" u="none" cap="none" strike="noStrike">
                <a:solidFill>
                  <a:srgbClr val="1B2A4A"/>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34"/>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sz="1100">
                <a:solidFill>
                  <a:schemeClr val="accent4"/>
                </a:solidFill>
                <a:latin typeface="Calibri"/>
                <a:ea typeface="Calibri"/>
                <a:cs typeface="Calibri"/>
                <a:sym typeface="Calibri"/>
              </a:defRPr>
            </a:lvl1pPr>
            <a:lvl2pPr indent="0" lvl="1" marL="0" marR="0" rtl="0" algn="l">
              <a:spcBef>
                <a:spcPts val="0"/>
              </a:spcBef>
              <a:buNone/>
              <a:defRPr b="0" sz="1100">
                <a:solidFill>
                  <a:schemeClr val="accent4"/>
                </a:solidFill>
                <a:latin typeface="Calibri"/>
                <a:ea typeface="Calibri"/>
                <a:cs typeface="Calibri"/>
                <a:sym typeface="Calibri"/>
              </a:defRPr>
            </a:lvl2pPr>
            <a:lvl3pPr indent="0" lvl="2" marL="0" marR="0" rtl="0" algn="l">
              <a:spcBef>
                <a:spcPts val="0"/>
              </a:spcBef>
              <a:buNone/>
              <a:defRPr b="0" sz="1100">
                <a:solidFill>
                  <a:schemeClr val="accent4"/>
                </a:solidFill>
                <a:latin typeface="Calibri"/>
                <a:ea typeface="Calibri"/>
                <a:cs typeface="Calibri"/>
                <a:sym typeface="Calibri"/>
              </a:defRPr>
            </a:lvl3pPr>
            <a:lvl4pPr indent="0" lvl="3" marL="0" marR="0" rtl="0" algn="l">
              <a:spcBef>
                <a:spcPts val="0"/>
              </a:spcBef>
              <a:buNone/>
              <a:defRPr b="0" sz="1100">
                <a:solidFill>
                  <a:schemeClr val="accent4"/>
                </a:solidFill>
                <a:latin typeface="Calibri"/>
                <a:ea typeface="Calibri"/>
                <a:cs typeface="Calibri"/>
                <a:sym typeface="Calibri"/>
              </a:defRPr>
            </a:lvl4pPr>
            <a:lvl5pPr indent="0" lvl="4" marL="0" marR="0" rtl="0" algn="l">
              <a:spcBef>
                <a:spcPts val="0"/>
              </a:spcBef>
              <a:buNone/>
              <a:defRPr b="0" sz="1100">
                <a:solidFill>
                  <a:schemeClr val="accent4"/>
                </a:solidFill>
                <a:latin typeface="Calibri"/>
                <a:ea typeface="Calibri"/>
                <a:cs typeface="Calibri"/>
                <a:sym typeface="Calibri"/>
              </a:defRPr>
            </a:lvl5pPr>
            <a:lvl6pPr indent="0" lvl="5" marL="0" marR="0" rtl="0" algn="l">
              <a:spcBef>
                <a:spcPts val="0"/>
              </a:spcBef>
              <a:buNone/>
              <a:defRPr b="0" sz="1100">
                <a:solidFill>
                  <a:schemeClr val="accent4"/>
                </a:solidFill>
                <a:latin typeface="Calibri"/>
                <a:ea typeface="Calibri"/>
                <a:cs typeface="Calibri"/>
                <a:sym typeface="Calibri"/>
              </a:defRPr>
            </a:lvl6pPr>
            <a:lvl7pPr indent="0" lvl="6" marL="0" marR="0" rtl="0" algn="l">
              <a:spcBef>
                <a:spcPts val="0"/>
              </a:spcBef>
              <a:buNone/>
              <a:defRPr b="0" sz="1100">
                <a:solidFill>
                  <a:schemeClr val="accent4"/>
                </a:solidFill>
                <a:latin typeface="Calibri"/>
                <a:ea typeface="Calibri"/>
                <a:cs typeface="Calibri"/>
                <a:sym typeface="Calibri"/>
              </a:defRPr>
            </a:lvl7pPr>
            <a:lvl8pPr indent="0" lvl="7" marL="0" marR="0" rtl="0" algn="l">
              <a:spcBef>
                <a:spcPts val="0"/>
              </a:spcBef>
              <a:buNone/>
              <a:defRPr b="0" sz="1100">
                <a:solidFill>
                  <a:schemeClr val="accent4"/>
                </a:solidFill>
                <a:latin typeface="Calibri"/>
                <a:ea typeface="Calibri"/>
                <a:cs typeface="Calibri"/>
                <a:sym typeface="Calibri"/>
              </a:defRPr>
            </a:lvl8pPr>
            <a:lvl9pPr indent="0" lvl="8" marL="0" marR="0" rtl="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9" name="Shape 29"/>
        <p:cNvGrpSpPr/>
        <p:nvPr/>
      </p:nvGrpSpPr>
      <p:grpSpPr>
        <a:xfrm>
          <a:off x="0" y="0"/>
          <a:ext cx="0" cy="0"/>
          <a:chOff x="0" y="0"/>
          <a:chExt cx="0" cy="0"/>
        </a:xfrm>
      </p:grpSpPr>
      <p:sp>
        <p:nvSpPr>
          <p:cNvPr id="30" name="Google Shape;30;p1"/>
          <p:cNvSpPr/>
          <p:nvPr/>
        </p:nvSpPr>
        <p:spPr>
          <a:xfrm>
            <a:off x="8778240" y="5114544"/>
            <a:ext cx="609600" cy="1743456"/>
          </a:xfrm>
          <a:prstGeom prst="rect">
            <a:avLst/>
          </a:prstGeom>
          <a:solidFill>
            <a:srgbClr val="4A9BE0"/>
          </a:solidFill>
          <a:ln cap="flat" cmpd="sng" w="12700">
            <a:solidFill>
              <a:srgbClr val="4A9B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1" name="Google Shape;31;p1"/>
          <p:cNvSpPr/>
          <p:nvPr/>
        </p:nvSpPr>
        <p:spPr>
          <a:xfrm>
            <a:off x="9485376" y="4322064"/>
            <a:ext cx="609600" cy="2535936"/>
          </a:xfrm>
          <a:prstGeom prst="rect">
            <a:avLst/>
          </a:prstGeom>
          <a:solidFill>
            <a:srgbClr val="B39DDB"/>
          </a:solidFill>
          <a:ln cap="flat" cmpd="sng" w="12700">
            <a:solidFill>
              <a:srgbClr val="B39DD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2" name="Google Shape;32;p1"/>
          <p:cNvSpPr/>
          <p:nvPr/>
        </p:nvSpPr>
        <p:spPr>
          <a:xfrm>
            <a:off x="10192512" y="4639056"/>
            <a:ext cx="609600" cy="2218944"/>
          </a:xfrm>
          <a:prstGeom prst="rect">
            <a:avLst/>
          </a:prstGeom>
          <a:solidFill>
            <a:srgbClr val="7ACFC0"/>
          </a:solidFill>
          <a:ln cap="flat" cmpd="sng" w="12700">
            <a:solidFill>
              <a:srgbClr val="7ACF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3" name="Google Shape;33;p1"/>
          <p:cNvSpPr/>
          <p:nvPr/>
        </p:nvSpPr>
        <p:spPr>
          <a:xfrm>
            <a:off x="10899648" y="3846576"/>
            <a:ext cx="609600" cy="3011424"/>
          </a:xfrm>
          <a:prstGeom prst="rect">
            <a:avLst/>
          </a:prstGeom>
          <a:solidFill>
            <a:srgbClr val="6B3FA0"/>
          </a:solidFill>
          <a:ln cap="flat" cmpd="sng" w="12700">
            <a:solidFill>
              <a:srgbClr val="6B3FA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4" name="Google Shape;34;p1"/>
          <p:cNvSpPr/>
          <p:nvPr/>
        </p:nvSpPr>
        <p:spPr>
          <a:xfrm>
            <a:off x="11606784" y="4480560"/>
            <a:ext cx="609600" cy="2377440"/>
          </a:xfrm>
          <a:prstGeom prst="rect">
            <a:avLst/>
          </a:prstGeom>
          <a:solidFill>
            <a:srgbClr val="4A9BE0"/>
          </a:solidFill>
          <a:ln cap="flat" cmpd="sng" w="12700">
            <a:solidFill>
              <a:srgbClr val="4A9BE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5" name="Google Shape;35;p1"/>
          <p:cNvSpPr/>
          <p:nvPr/>
        </p:nvSpPr>
        <p:spPr>
          <a:xfrm>
            <a:off x="0" y="0"/>
            <a:ext cx="219456" cy="6858000"/>
          </a:xfrm>
          <a:prstGeom prst="rect">
            <a:avLst/>
          </a:prstGeom>
          <a:solidFill>
            <a:srgbClr val="7ACFC0"/>
          </a:solidFill>
          <a:ln cap="flat" cmpd="sng" w="12700">
            <a:solidFill>
              <a:srgbClr val="7ACFC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36" name="Google Shape;36;p1"/>
          <p:cNvSpPr/>
          <p:nvPr/>
        </p:nvSpPr>
        <p:spPr>
          <a:xfrm>
            <a:off x="731520" y="487680"/>
            <a:ext cx="1755648" cy="799795"/>
          </a:xfrm>
          <a:prstGeom prst="roundRect">
            <a:avLst>
              <a:gd fmla="val 12195" name="adj"/>
            </a:avLst>
          </a:prstGeom>
          <a:solidFill>
            <a:srgbClr val="FFFFFF"/>
          </a:solidFill>
          <a:ln cap="flat" cmpd="sng" w="12700">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pic>
        <p:nvPicPr>
          <p:cNvPr descr="logo.png" id="37" name="Google Shape;37;p1"/>
          <p:cNvPicPr preferRelativeResize="0"/>
          <p:nvPr/>
        </p:nvPicPr>
        <p:blipFill rotWithShape="1">
          <a:blip r:embed="rId3">
            <a:alphaModFix/>
          </a:blip>
          <a:srcRect b="0" l="0" r="0" t="0"/>
          <a:stretch/>
        </p:blipFill>
        <p:spPr>
          <a:xfrm>
            <a:off x="914400" y="609600"/>
            <a:ext cx="1389888" cy="555955"/>
          </a:xfrm>
          <a:prstGeom prst="rect">
            <a:avLst/>
          </a:prstGeom>
          <a:noFill/>
          <a:ln>
            <a:noFill/>
          </a:ln>
        </p:spPr>
      </p:pic>
      <p:sp>
        <p:nvSpPr>
          <p:cNvPr id="38" name="Google Shape;38;p1"/>
          <p:cNvSpPr/>
          <p:nvPr/>
        </p:nvSpPr>
        <p:spPr>
          <a:xfrm>
            <a:off x="9022080" y="548640"/>
            <a:ext cx="2560320" cy="414528"/>
          </a:xfrm>
          <a:prstGeom prst="rect">
            <a:avLst/>
          </a:prstGeom>
          <a:solidFill>
            <a:srgbClr val="6B3FA0"/>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i="0" lang="en-US" sz="1467" u="none" cap="none" strike="noStrike">
                <a:solidFill>
                  <a:srgbClr val="FFFFFF"/>
                </a:solidFill>
                <a:latin typeface="Calibri"/>
                <a:ea typeface="Calibri"/>
                <a:cs typeface="Calibri"/>
                <a:sym typeface="Calibri"/>
              </a:rPr>
              <a:t>LIVRABLE 3</a:t>
            </a:r>
            <a:endParaRPr b="0" i="0" sz="1467" u="none" cap="none" strike="noStrike">
              <a:solidFill>
                <a:srgbClr val="000000"/>
              </a:solidFill>
              <a:latin typeface="Calibri"/>
              <a:ea typeface="Calibri"/>
              <a:cs typeface="Calibri"/>
              <a:sym typeface="Calibri"/>
            </a:endParaRPr>
          </a:p>
        </p:txBody>
      </p:sp>
      <p:sp>
        <p:nvSpPr>
          <p:cNvPr id="39" name="Google Shape;39;p1"/>
          <p:cNvSpPr/>
          <p:nvPr/>
        </p:nvSpPr>
        <p:spPr>
          <a:xfrm>
            <a:off x="682752" y="1575816"/>
            <a:ext cx="9753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467" u="none" cap="none" strike="noStrike">
                <a:solidFill>
                  <a:srgbClr val="B39DDB"/>
                </a:solidFill>
                <a:latin typeface="Calibri"/>
                <a:ea typeface="Calibri"/>
                <a:cs typeface="Calibri"/>
                <a:sym typeface="Calibri"/>
              </a:rPr>
              <a:t> ANNÉE UNIVERSITAIRE 2026/2027</a:t>
            </a:r>
            <a:endParaRPr b="0" i="0" sz="1467" u="none" cap="none" strike="noStrike">
              <a:solidFill>
                <a:srgbClr val="000000"/>
              </a:solidFill>
              <a:latin typeface="Calibri"/>
              <a:ea typeface="Calibri"/>
              <a:cs typeface="Calibri"/>
              <a:sym typeface="Calibri"/>
            </a:endParaRPr>
          </a:p>
        </p:txBody>
      </p:sp>
      <p:sp>
        <p:nvSpPr>
          <p:cNvPr id="40" name="Google Shape;40;p1"/>
          <p:cNvSpPr/>
          <p:nvPr/>
        </p:nvSpPr>
        <p:spPr>
          <a:xfrm>
            <a:off x="731520" y="2072640"/>
            <a:ext cx="999744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n-US" sz="5867" u="none" cap="none" strike="noStrike">
                <a:solidFill>
                  <a:srgbClr val="7ACFC0"/>
                </a:solidFill>
                <a:latin typeface="Calibri"/>
                <a:ea typeface="Calibri"/>
                <a:cs typeface="Calibri"/>
                <a:sym typeface="Calibri"/>
              </a:rPr>
              <a:t>WORKLY</a:t>
            </a:r>
            <a:endParaRPr b="0" i="0" sz="5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3733" u="none" cap="none" strike="noStrike">
                <a:solidFill>
                  <a:srgbClr val="FFFFFF"/>
                </a:solidFill>
                <a:latin typeface="Calibri"/>
                <a:ea typeface="Calibri"/>
                <a:cs typeface="Calibri"/>
                <a:sym typeface="Calibri"/>
              </a:rPr>
              <a:t>Modèles de prévision, automatisation et agents IA</a:t>
            </a:r>
            <a:endParaRPr b="0" i="0" sz="5867" u="none" cap="none" strike="noStrike">
              <a:solidFill>
                <a:srgbClr val="000000"/>
              </a:solidFill>
              <a:latin typeface="Calibri"/>
              <a:ea typeface="Calibri"/>
              <a:cs typeface="Calibri"/>
              <a:sym typeface="Calibri"/>
            </a:endParaRPr>
          </a:p>
        </p:txBody>
      </p:sp>
      <p:sp>
        <p:nvSpPr>
          <p:cNvPr id="41" name="Google Shape;41;p1"/>
          <p:cNvSpPr/>
          <p:nvPr/>
        </p:nvSpPr>
        <p:spPr>
          <a:xfrm>
            <a:off x="731520" y="3962400"/>
            <a:ext cx="780288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C9D1E0"/>
                </a:solidFill>
                <a:latin typeface="Calibri"/>
                <a:ea typeface="Calibri"/>
                <a:cs typeface="Calibri"/>
                <a:sym typeface="Calibri"/>
              </a:rPr>
              <a:t>Planification des ressources humaines et équipements, sous-processus 2.3.3</a:t>
            </a:r>
            <a:endParaRPr b="0" i="0" sz="1867" u="none" cap="none" strike="noStrike">
              <a:solidFill>
                <a:srgbClr val="000000"/>
              </a:solidFill>
              <a:latin typeface="Calibri"/>
              <a:ea typeface="Calibri"/>
              <a:cs typeface="Calibri"/>
              <a:sym typeface="Calibri"/>
            </a:endParaRPr>
          </a:p>
        </p:txBody>
      </p:sp>
      <p:cxnSp>
        <p:nvCxnSpPr>
          <p:cNvPr id="42" name="Google Shape;42;p1"/>
          <p:cNvCxnSpPr/>
          <p:nvPr/>
        </p:nvCxnSpPr>
        <p:spPr>
          <a:xfrm>
            <a:off x="731520" y="4632960"/>
            <a:ext cx="7559040" cy="0"/>
          </a:xfrm>
          <a:prstGeom prst="straightConnector1">
            <a:avLst/>
          </a:prstGeom>
          <a:noFill/>
          <a:ln cap="flat" cmpd="sng" w="12700">
            <a:solidFill>
              <a:srgbClr val="3A4A6E"/>
            </a:solidFill>
            <a:prstDash val="solid"/>
            <a:round/>
            <a:headEnd len="sm" w="sm" type="none"/>
            <a:tailEnd len="sm" w="sm" type="none"/>
          </a:ln>
        </p:spPr>
      </p:cxnSp>
      <p:sp>
        <p:nvSpPr>
          <p:cNvPr id="43" name="Google Shape;43;p1"/>
          <p:cNvSpPr/>
          <p:nvPr/>
        </p:nvSpPr>
        <p:spPr>
          <a:xfrm>
            <a:off x="731520" y="4815840"/>
            <a:ext cx="365760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333" u="none" cap="none" strike="noStrike">
                <a:solidFill>
                  <a:srgbClr val="7ACFC0"/>
                </a:solidFill>
                <a:latin typeface="Calibri"/>
                <a:ea typeface="Calibri"/>
                <a:cs typeface="Calibri"/>
                <a:sym typeface="Calibri"/>
              </a:rPr>
              <a:t>ÉQUIPE 15</a:t>
            </a:r>
            <a:endParaRPr b="0" i="0" sz="1333" u="none" cap="none" strike="noStrike">
              <a:solidFill>
                <a:srgbClr val="000000"/>
              </a:solidFill>
              <a:latin typeface="Calibri"/>
              <a:ea typeface="Calibri"/>
              <a:cs typeface="Calibri"/>
              <a:sym typeface="Calibri"/>
            </a:endParaRPr>
          </a:p>
        </p:txBody>
      </p:sp>
      <p:sp>
        <p:nvSpPr>
          <p:cNvPr id="44" name="Google Shape;44;p1"/>
          <p:cNvSpPr/>
          <p:nvPr/>
        </p:nvSpPr>
        <p:spPr>
          <a:xfrm>
            <a:off x="731520" y="5181600"/>
            <a:ext cx="4023360" cy="1158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EL WARDI Noha</a:t>
            </a:r>
            <a:endParaRPr b="0" i="0" sz="1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BALI Rhita</a:t>
            </a:r>
            <a:endParaRPr b="0" i="0" sz="1867" u="none" cap="none" strike="noStrike">
              <a:solidFill>
                <a:srgbClr val="000000"/>
              </a:solidFill>
              <a:latin typeface="Calibri"/>
              <a:ea typeface="Calibri"/>
              <a:cs typeface="Calibri"/>
              <a:sym typeface="Calibri"/>
            </a:endParaRPr>
          </a:p>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BENYAACOUB Ibrahim</a:t>
            </a:r>
            <a:endParaRPr b="0" i="0" sz="1867" u="none" cap="none" strike="noStrike">
              <a:solidFill>
                <a:srgbClr val="000000"/>
              </a:solidFill>
              <a:latin typeface="Calibri"/>
              <a:ea typeface="Calibri"/>
              <a:cs typeface="Calibri"/>
              <a:sym typeface="Calibri"/>
            </a:endParaRPr>
          </a:p>
        </p:txBody>
      </p:sp>
      <p:sp>
        <p:nvSpPr>
          <p:cNvPr id="45" name="Google Shape;45;p1"/>
          <p:cNvSpPr/>
          <p:nvPr/>
        </p:nvSpPr>
        <p:spPr>
          <a:xfrm>
            <a:off x="5120640" y="4815840"/>
            <a:ext cx="3169920" cy="304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333" u="none" cap="none" strike="noStrike">
                <a:solidFill>
                  <a:srgbClr val="7ACFC0"/>
                </a:solidFill>
                <a:latin typeface="Calibri"/>
                <a:ea typeface="Calibri"/>
                <a:cs typeface="Calibri"/>
                <a:sym typeface="Calibri"/>
              </a:rPr>
              <a:t>ENCADRANT</a:t>
            </a:r>
            <a:endParaRPr b="0" i="0" sz="1333" u="none" cap="none" strike="noStrike">
              <a:solidFill>
                <a:srgbClr val="000000"/>
              </a:solidFill>
              <a:latin typeface="Calibri"/>
              <a:ea typeface="Calibri"/>
              <a:cs typeface="Calibri"/>
              <a:sym typeface="Calibri"/>
            </a:endParaRPr>
          </a:p>
        </p:txBody>
      </p:sp>
      <p:sp>
        <p:nvSpPr>
          <p:cNvPr id="46" name="Google Shape;46;p1"/>
          <p:cNvSpPr/>
          <p:nvPr/>
        </p:nvSpPr>
        <p:spPr>
          <a:xfrm>
            <a:off x="5120640" y="5181600"/>
            <a:ext cx="3169920" cy="426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b="0" i="0" lang="en-US" sz="1867" u="none" cap="none" strike="noStrike">
                <a:solidFill>
                  <a:srgbClr val="FFFFFF"/>
                </a:solidFill>
                <a:latin typeface="Calibri"/>
                <a:ea typeface="Calibri"/>
                <a:cs typeface="Calibri"/>
                <a:sym typeface="Calibri"/>
              </a:rPr>
              <a:t>BELKHAYAT Najib</a:t>
            </a:r>
            <a:endParaRPr b="0" i="0" sz="1867"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1" name="Shape 51"/>
        <p:cNvGrpSpPr/>
        <p:nvPr/>
      </p:nvGrpSpPr>
      <p:grpSpPr>
        <a:xfrm>
          <a:off x="0" y="0"/>
          <a:ext cx="0" cy="0"/>
          <a:chOff x="0" y="0"/>
          <a:chExt cx="0" cy="0"/>
        </a:xfrm>
      </p:grpSpPr>
      <p:sp>
        <p:nvSpPr>
          <p:cNvPr id="52" name="Google Shape;52;p2"/>
          <p:cNvSpPr/>
          <p:nvPr/>
        </p:nvSpPr>
        <p:spPr>
          <a:xfrm>
            <a:off x="0" y="0"/>
            <a:ext cx="152400" cy="17145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3" name="Google Shape;53;p2"/>
          <p:cNvSpPr/>
          <p:nvPr/>
        </p:nvSpPr>
        <p:spPr>
          <a:xfrm>
            <a:off x="0" y="1714500"/>
            <a:ext cx="152400" cy="17145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4" name="Google Shape;54;p2"/>
          <p:cNvSpPr/>
          <p:nvPr/>
        </p:nvSpPr>
        <p:spPr>
          <a:xfrm>
            <a:off x="0" y="3429000"/>
            <a:ext cx="152400" cy="17145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5" name="Google Shape;55;p2"/>
          <p:cNvSpPr/>
          <p:nvPr/>
        </p:nvSpPr>
        <p:spPr>
          <a:xfrm>
            <a:off x="0" y="5143500"/>
            <a:ext cx="152400" cy="17145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6" name="Google Shape;56;p2"/>
          <p:cNvSpPr/>
          <p:nvPr/>
        </p:nvSpPr>
        <p:spPr>
          <a:xfrm>
            <a:off x="698500" y="533400"/>
            <a:ext cx="67564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PLAN</a:t>
            </a:r>
            <a:endParaRPr sz="1200">
              <a:solidFill>
                <a:schemeClr val="dk1"/>
              </a:solidFill>
              <a:latin typeface="DM Sans"/>
              <a:ea typeface="DM Sans"/>
              <a:cs typeface="DM Sans"/>
              <a:sym typeface="DM Sans"/>
            </a:endParaRPr>
          </a:p>
        </p:txBody>
      </p:sp>
      <p:sp>
        <p:nvSpPr>
          <p:cNvPr id="57" name="Google Shape;57;p2"/>
          <p:cNvSpPr txBox="1"/>
          <p:nvPr>
            <p:ph type="title"/>
          </p:nvPr>
        </p:nvSpPr>
        <p:spPr>
          <a:xfrm>
            <a:off x="698500" y="919480"/>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Plan de la présentation</a:t>
            </a:r>
            <a:endParaRPr sz="2100"/>
          </a:p>
        </p:txBody>
      </p:sp>
      <p:sp>
        <p:nvSpPr>
          <p:cNvPr id="58" name="Google Shape;58;p2"/>
          <p:cNvSpPr/>
          <p:nvPr/>
        </p:nvSpPr>
        <p:spPr>
          <a:xfrm>
            <a:off x="698500" y="1691640"/>
            <a:ext cx="10795000" cy="74980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59" name="Google Shape;59;p2"/>
          <p:cNvSpPr/>
          <p:nvPr/>
        </p:nvSpPr>
        <p:spPr>
          <a:xfrm>
            <a:off x="698500" y="1691640"/>
            <a:ext cx="952500" cy="74980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6B3FA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FFFFFF"/>
              </a:buClr>
              <a:buSzPts val="3200"/>
              <a:buFont typeface="Sora"/>
              <a:buNone/>
            </a:pPr>
            <a:r>
              <a:rPr b="1" lang="en-US" sz="3200">
                <a:solidFill>
                  <a:srgbClr val="FFFFFF"/>
                </a:solidFill>
                <a:latin typeface="Sora"/>
                <a:ea typeface="Sora"/>
                <a:cs typeface="Sora"/>
                <a:sym typeface="Sora"/>
              </a:rPr>
              <a:t>1</a:t>
            </a:r>
            <a:endParaRPr sz="3200">
              <a:solidFill>
                <a:schemeClr val="dk1"/>
              </a:solidFill>
              <a:latin typeface="DM Sans"/>
              <a:ea typeface="DM Sans"/>
              <a:cs typeface="DM Sans"/>
              <a:sym typeface="DM Sans"/>
            </a:endParaRPr>
          </a:p>
        </p:txBody>
      </p:sp>
      <p:sp>
        <p:nvSpPr>
          <p:cNvPr id="60" name="Google Shape;60;p2"/>
          <p:cNvSpPr/>
          <p:nvPr/>
        </p:nvSpPr>
        <p:spPr>
          <a:xfrm>
            <a:off x="1905000" y="1796796"/>
            <a:ext cx="7594829"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61" name="Google Shape;61;p2"/>
          <p:cNvSpPr/>
          <p:nvPr/>
        </p:nvSpPr>
        <p:spPr>
          <a:xfrm>
            <a:off x="1905000" y="2052828"/>
            <a:ext cx="7594829" cy="2834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Modèles de prévision étudiés et modèle retenu</a:t>
            </a:r>
            <a:endParaRPr sz="1700">
              <a:solidFill>
                <a:schemeClr val="dk1"/>
              </a:solidFill>
              <a:latin typeface="DM Sans"/>
              <a:ea typeface="DM Sans"/>
              <a:cs typeface="DM Sans"/>
              <a:sym typeface="DM Sans"/>
            </a:endParaRPr>
          </a:p>
        </p:txBody>
      </p:sp>
      <p:sp>
        <p:nvSpPr>
          <p:cNvPr id="62" name="Google Shape;62;p2"/>
          <p:cNvSpPr/>
          <p:nvPr/>
        </p:nvSpPr>
        <p:spPr>
          <a:xfrm>
            <a:off x="8933688" y="1929384"/>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3 à 9</a:t>
            </a:r>
            <a:endParaRPr sz="1400">
              <a:solidFill>
                <a:schemeClr val="dk1"/>
              </a:solidFill>
              <a:latin typeface="DM Sans"/>
              <a:ea typeface="DM Sans"/>
              <a:cs typeface="DM Sans"/>
              <a:sym typeface="DM Sans"/>
            </a:endParaRPr>
          </a:p>
        </p:txBody>
      </p:sp>
      <p:sp>
        <p:nvSpPr>
          <p:cNvPr id="63" name="Google Shape;63;p2"/>
          <p:cNvSpPr/>
          <p:nvPr/>
        </p:nvSpPr>
        <p:spPr>
          <a:xfrm>
            <a:off x="698500" y="2578608"/>
            <a:ext cx="10795000" cy="74980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64" name="Google Shape;64;p2"/>
          <p:cNvSpPr/>
          <p:nvPr/>
        </p:nvSpPr>
        <p:spPr>
          <a:xfrm>
            <a:off x="698500" y="2578608"/>
            <a:ext cx="952500" cy="74980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2</a:t>
            </a:r>
            <a:endParaRPr sz="3200">
              <a:solidFill>
                <a:schemeClr val="dk1"/>
              </a:solidFill>
              <a:latin typeface="DM Sans"/>
              <a:ea typeface="DM Sans"/>
              <a:cs typeface="DM Sans"/>
              <a:sym typeface="DM Sans"/>
            </a:endParaRPr>
          </a:p>
        </p:txBody>
      </p:sp>
      <p:sp>
        <p:nvSpPr>
          <p:cNvPr id="65" name="Google Shape;65;p2"/>
          <p:cNvSpPr/>
          <p:nvPr/>
        </p:nvSpPr>
        <p:spPr>
          <a:xfrm>
            <a:off x="1905000" y="2683764"/>
            <a:ext cx="7469251"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66" name="Google Shape;66;p2"/>
          <p:cNvSpPr/>
          <p:nvPr/>
        </p:nvSpPr>
        <p:spPr>
          <a:xfrm>
            <a:off x="1905000" y="2939796"/>
            <a:ext cx="7469251" cy="2834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Courbes d’apprentissage et de validation</a:t>
            </a:r>
            <a:endParaRPr sz="1700">
              <a:solidFill>
                <a:schemeClr val="dk1"/>
              </a:solidFill>
              <a:latin typeface="DM Sans"/>
              <a:ea typeface="DM Sans"/>
              <a:cs typeface="DM Sans"/>
              <a:sym typeface="DM Sans"/>
            </a:endParaRPr>
          </a:p>
        </p:txBody>
      </p:sp>
      <p:sp>
        <p:nvSpPr>
          <p:cNvPr id="67" name="Google Shape;67;p2"/>
          <p:cNvSpPr/>
          <p:nvPr/>
        </p:nvSpPr>
        <p:spPr>
          <a:xfrm>
            <a:off x="8933688" y="2816352"/>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11 à 15</a:t>
            </a:r>
            <a:endParaRPr sz="1400">
              <a:solidFill>
                <a:schemeClr val="dk1"/>
              </a:solidFill>
              <a:latin typeface="DM Sans"/>
              <a:ea typeface="DM Sans"/>
              <a:cs typeface="DM Sans"/>
              <a:sym typeface="DM Sans"/>
            </a:endParaRPr>
          </a:p>
        </p:txBody>
      </p:sp>
      <p:sp>
        <p:nvSpPr>
          <p:cNvPr id="68" name="Google Shape;68;p2"/>
          <p:cNvSpPr/>
          <p:nvPr/>
        </p:nvSpPr>
        <p:spPr>
          <a:xfrm>
            <a:off x="698500" y="3465576"/>
            <a:ext cx="10795000" cy="74980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69" name="Google Shape;69;p2"/>
          <p:cNvSpPr/>
          <p:nvPr/>
        </p:nvSpPr>
        <p:spPr>
          <a:xfrm>
            <a:off x="698500" y="3465576"/>
            <a:ext cx="952500" cy="74980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3</a:t>
            </a:r>
            <a:endParaRPr sz="3200">
              <a:solidFill>
                <a:schemeClr val="dk1"/>
              </a:solidFill>
              <a:latin typeface="DM Sans"/>
              <a:ea typeface="DM Sans"/>
              <a:cs typeface="DM Sans"/>
              <a:sym typeface="DM Sans"/>
            </a:endParaRPr>
          </a:p>
        </p:txBody>
      </p:sp>
      <p:sp>
        <p:nvSpPr>
          <p:cNvPr id="70" name="Google Shape;70;p2"/>
          <p:cNvSpPr/>
          <p:nvPr/>
        </p:nvSpPr>
        <p:spPr>
          <a:xfrm>
            <a:off x="1905000" y="3570732"/>
            <a:ext cx="7422160"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71" name="Google Shape;71;p2"/>
          <p:cNvSpPr/>
          <p:nvPr/>
        </p:nvSpPr>
        <p:spPr>
          <a:xfrm>
            <a:off x="1905000" y="3826764"/>
            <a:ext cx="7713980" cy="2834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Tâches automatisées, tâches manuelles et diagramme BPMN</a:t>
            </a:r>
            <a:endParaRPr sz="1700">
              <a:solidFill>
                <a:schemeClr val="dk1"/>
              </a:solidFill>
              <a:latin typeface="DM Sans"/>
              <a:ea typeface="DM Sans"/>
              <a:cs typeface="DM Sans"/>
              <a:sym typeface="DM Sans"/>
            </a:endParaRPr>
          </a:p>
        </p:txBody>
      </p:sp>
      <p:sp>
        <p:nvSpPr>
          <p:cNvPr id="72" name="Google Shape;72;p2"/>
          <p:cNvSpPr/>
          <p:nvPr/>
        </p:nvSpPr>
        <p:spPr>
          <a:xfrm>
            <a:off x="8933688" y="3703320"/>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16 à 26</a:t>
            </a:r>
            <a:endParaRPr sz="1400">
              <a:solidFill>
                <a:schemeClr val="dk1"/>
              </a:solidFill>
              <a:latin typeface="DM Sans"/>
              <a:ea typeface="DM Sans"/>
              <a:cs typeface="DM Sans"/>
              <a:sym typeface="DM Sans"/>
            </a:endParaRPr>
          </a:p>
        </p:txBody>
      </p:sp>
      <p:sp>
        <p:nvSpPr>
          <p:cNvPr id="73" name="Google Shape;73;p2"/>
          <p:cNvSpPr/>
          <p:nvPr/>
        </p:nvSpPr>
        <p:spPr>
          <a:xfrm>
            <a:off x="698500" y="4352544"/>
            <a:ext cx="10795000" cy="74980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74" name="Google Shape;74;p2"/>
          <p:cNvSpPr/>
          <p:nvPr/>
        </p:nvSpPr>
        <p:spPr>
          <a:xfrm>
            <a:off x="698500" y="4352544"/>
            <a:ext cx="952500" cy="74980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1B2A4A"/>
                </a:solidFill>
                <a:latin typeface="Sora"/>
                <a:ea typeface="Sora"/>
                <a:cs typeface="Sora"/>
                <a:sym typeface="Sora"/>
              </a:rPr>
              <a:t>4</a:t>
            </a:r>
            <a:endParaRPr sz="3200">
              <a:solidFill>
                <a:schemeClr val="dk1"/>
              </a:solidFill>
              <a:latin typeface="DM Sans"/>
              <a:ea typeface="DM Sans"/>
              <a:cs typeface="DM Sans"/>
              <a:sym typeface="DM Sans"/>
            </a:endParaRPr>
          </a:p>
        </p:txBody>
      </p:sp>
      <p:sp>
        <p:nvSpPr>
          <p:cNvPr id="75" name="Google Shape;75;p2"/>
          <p:cNvSpPr/>
          <p:nvPr/>
        </p:nvSpPr>
        <p:spPr>
          <a:xfrm>
            <a:off x="1905000" y="4457700"/>
            <a:ext cx="7448322"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4</a:t>
            </a:r>
            <a:endParaRPr sz="1200">
              <a:solidFill>
                <a:schemeClr val="dk1"/>
              </a:solidFill>
              <a:latin typeface="DM Sans"/>
              <a:ea typeface="DM Sans"/>
              <a:cs typeface="DM Sans"/>
              <a:sym typeface="DM Sans"/>
            </a:endParaRPr>
          </a:p>
        </p:txBody>
      </p:sp>
      <p:sp>
        <p:nvSpPr>
          <p:cNvPr id="76" name="Google Shape;76;p2"/>
          <p:cNvSpPr/>
          <p:nvPr/>
        </p:nvSpPr>
        <p:spPr>
          <a:xfrm>
            <a:off x="1905000" y="4713732"/>
            <a:ext cx="7448322" cy="2834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Limites et apport quantitatif attendu de Workly</a:t>
            </a:r>
            <a:endParaRPr sz="1700">
              <a:solidFill>
                <a:schemeClr val="dk1"/>
              </a:solidFill>
              <a:latin typeface="DM Sans"/>
              <a:ea typeface="DM Sans"/>
              <a:cs typeface="DM Sans"/>
              <a:sym typeface="DM Sans"/>
            </a:endParaRPr>
          </a:p>
        </p:txBody>
      </p:sp>
      <p:sp>
        <p:nvSpPr>
          <p:cNvPr id="77" name="Google Shape;77;p2"/>
          <p:cNvSpPr/>
          <p:nvPr/>
        </p:nvSpPr>
        <p:spPr>
          <a:xfrm>
            <a:off x="8933688" y="4590288"/>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10 et 27 à 30</a:t>
            </a:r>
            <a:endParaRPr sz="1400">
              <a:solidFill>
                <a:schemeClr val="dk1"/>
              </a:solidFill>
              <a:latin typeface="DM Sans"/>
              <a:ea typeface="DM Sans"/>
              <a:cs typeface="DM Sans"/>
              <a:sym typeface="DM Sans"/>
            </a:endParaRPr>
          </a:p>
        </p:txBody>
      </p:sp>
      <p:sp>
        <p:nvSpPr>
          <p:cNvPr id="78" name="Google Shape;78;p2"/>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a:t>
            </a:r>
            <a:endParaRPr sz="1200">
              <a:solidFill>
                <a:schemeClr val="dk1"/>
              </a:solidFill>
              <a:latin typeface="DM Sans"/>
              <a:ea typeface="DM Sans"/>
              <a:cs typeface="DM Sans"/>
              <a:sym typeface="DM Sans"/>
            </a:endParaRPr>
          </a:p>
        </p:txBody>
      </p:sp>
      <p:sp>
        <p:nvSpPr>
          <p:cNvPr id="79" name="Google Shape;73;p2"/>
          <p:cNvSpPr/>
          <p:nvPr/>
        </p:nvSpPr>
        <p:spPr>
          <a:xfrm>
            <a:off x="698500" y="5239512"/>
            <a:ext cx="10795000" cy="749808"/>
          </a:xfrm>
          <a:prstGeom prst="roundRect">
            <a:avLst>
              <a:gd fmla="val 18127" name="adj"/>
            </a:avLst>
          </a:prstGeom>
          <a:solidFill>
            <a:srgbClr val="FFFFFF"/>
          </a:solidFill>
          <a:ln>
            <a:noFill/>
          </a:ln>
          <a:effectLst>
            <a:outerShdw blurRad="101600" rotWithShape="0" algn="bl" dir="5400000" dist="25400">
              <a:srgbClr val="1B2A4A">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0" name="Google Shape;74;p2"/>
          <p:cNvSpPr/>
          <p:nvPr/>
        </p:nvSpPr>
        <p:spPr>
          <a:xfrm>
            <a:off x="698500" y="5239512"/>
            <a:ext cx="952500" cy="749808"/>
          </a:xfrm>
          <a:custGeom>
            <a:rect b="b" l="l" r="r" t="t"/>
            <a:pathLst>
              <a:path extrusionOk="0" h="840740" w="952500">
                <a:moveTo>
                  <a:pt x="0" y="152400"/>
                </a:moveTo>
                <a:cubicBezTo>
                  <a:pt x="0" y="68232"/>
                  <a:pt x="68232" y="0"/>
                  <a:pt x="152400" y="0"/>
                </a:cubicBezTo>
                <a:lnTo>
                  <a:pt x="952500" y="0"/>
                </a:lnTo>
                <a:lnTo>
                  <a:pt x="952500" y="840740"/>
                </a:lnTo>
                <a:lnTo>
                  <a:pt x="152400" y="840740"/>
                </a:lnTo>
                <a:cubicBezTo>
                  <a:pt x="68232" y="840740"/>
                  <a:pt x="0" y="772508"/>
                  <a:pt x="0" y="688340"/>
                </a:cubicBezTo>
                <a:close/>
              </a:path>
            </a:pathLst>
          </a:custGeom>
          <a:solidFill>
            <a:srgbClr val="1B2A4A"/>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3200"/>
              <a:buFont typeface="Sora"/>
              <a:buNone/>
            </a:pPr>
            <a:r>
              <a:rPr b="1" lang="en-US" sz="3200">
                <a:solidFill>
                  <a:srgbClr val="FFFFFF"/>
                </a:solidFill>
                <a:latin typeface="Sora"/>
                <a:ea typeface="Sora"/>
                <a:cs typeface="Sora"/>
                <a:sym typeface="Sora"/>
              </a:rPr>
              <a:t>5</a:t>
            </a:r>
            <a:endParaRPr sz="3200">
              <a:solidFill>
                <a:schemeClr val="dk1"/>
              </a:solidFill>
              <a:latin typeface="DM Sans"/>
              <a:ea typeface="DM Sans"/>
              <a:cs typeface="DM Sans"/>
              <a:sym typeface="DM Sans"/>
            </a:endParaRPr>
          </a:p>
        </p:txBody>
      </p:sp>
      <p:sp>
        <p:nvSpPr>
          <p:cNvPr id="81" name="Google Shape;75;p2"/>
          <p:cNvSpPr/>
          <p:nvPr/>
        </p:nvSpPr>
        <p:spPr>
          <a:xfrm>
            <a:off x="1905000" y="5344668"/>
            <a:ext cx="7448322" cy="237744"/>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7390"/>
              </a:buClr>
              <a:buSzPts val="1200"/>
              <a:buFont typeface="DM Sans"/>
              <a:buNone/>
            </a:pPr>
            <a:r>
              <a:rPr b="1" lang="en-US" sz="1200">
                <a:solidFill>
                  <a:srgbClr val="6B7390"/>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82" name="Google Shape;76;p2"/>
          <p:cNvSpPr/>
          <p:nvPr/>
        </p:nvSpPr>
        <p:spPr>
          <a:xfrm>
            <a:off x="1905000" y="5600700"/>
            <a:ext cx="7448322" cy="283464"/>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Planificateur autonome et agents IA de supervision</a:t>
            </a:r>
            <a:endParaRPr sz="1700">
              <a:solidFill>
                <a:schemeClr val="dk1"/>
              </a:solidFill>
              <a:latin typeface="DM Sans"/>
              <a:ea typeface="DM Sans"/>
              <a:cs typeface="DM Sans"/>
              <a:sym typeface="DM Sans"/>
            </a:endParaRPr>
          </a:p>
        </p:txBody>
      </p:sp>
      <p:sp>
        <p:nvSpPr>
          <p:cNvPr id="83" name="Google Shape;77;p2"/>
          <p:cNvSpPr/>
          <p:nvPr/>
        </p:nvSpPr>
        <p:spPr>
          <a:xfrm>
            <a:off x="8933688" y="5477256"/>
            <a:ext cx="2377440" cy="2743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Diapositives 31 à 42</a:t>
            </a:r>
            <a:endParaRPr sz="14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83" name="Shape 83"/>
        <p:cNvGrpSpPr/>
        <p:nvPr/>
      </p:nvGrpSpPr>
      <p:grpSpPr>
        <a:xfrm>
          <a:off x="0" y="0"/>
          <a:ext cx="0" cy="0"/>
          <a:chOff x="0" y="0"/>
          <a:chExt cx="0" cy="0"/>
        </a:xfrm>
      </p:grpSpPr>
      <p:sp>
        <p:nvSpPr>
          <p:cNvPr id="84" name="Google Shape;84;p3"/>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Deux modèles existent déjà ; quatre autres sont étudiés et un seul est retenu</a:t>
            </a:r>
            <a:endParaRPr sz="2100"/>
          </a:p>
        </p:txBody>
      </p:sp>
      <p:sp>
        <p:nvSpPr>
          <p:cNvPr id="91" name="Google Shape;91;p3"/>
          <p:cNvSpPr/>
          <p:nvPr/>
        </p:nvSpPr>
        <p:spPr>
          <a:xfrm>
            <a:off x="698500" y="1778000"/>
            <a:ext cx="5295900" cy="1079500"/>
          </a:xfrm>
          <a:prstGeom prst="roundRect">
            <a:avLst>
              <a:gd fmla="val 14118" name="adj"/>
            </a:avLst>
          </a:prstGeom>
          <a:solidFill>
            <a:srgbClr val="E3F0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2" name="Google Shape;92;p3"/>
          <p:cNvSpPr/>
          <p:nvPr/>
        </p:nvSpPr>
        <p:spPr>
          <a:xfrm>
            <a:off x="698500" y="1778000"/>
            <a:ext cx="5295900" cy="1079500"/>
          </a:xfrm>
          <a:custGeom>
            <a:rect b="b" l="l" r="r" t="t"/>
            <a:pathLst>
              <a:path extrusionOk="0" h="107950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3" name="Google Shape;93;p3"/>
          <p:cNvSpPr/>
          <p:nvPr/>
        </p:nvSpPr>
        <p:spPr>
          <a:xfrm>
            <a:off x="952500" y="2054861"/>
            <a:ext cx="4931537" cy="2844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Régression linéaire (RL)</a:t>
            </a:r>
            <a:endParaRPr sz="1700">
              <a:solidFill>
                <a:schemeClr val="dk1"/>
              </a:solidFill>
              <a:latin typeface="DM Sans"/>
              <a:ea typeface="DM Sans"/>
              <a:cs typeface="DM Sans"/>
              <a:sym typeface="DM Sans"/>
            </a:endParaRPr>
          </a:p>
        </p:txBody>
      </p:sp>
      <p:sp>
        <p:nvSpPr>
          <p:cNvPr id="94" name="Google Shape;94;p3"/>
          <p:cNvSpPr/>
          <p:nvPr/>
        </p:nvSpPr>
        <p:spPr>
          <a:xfrm>
            <a:off x="952500" y="2377441"/>
            <a:ext cx="4931537"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Paramétrique, hypothèse linéaire</a:t>
            </a:r>
            <a:endParaRPr sz="1600">
              <a:solidFill>
                <a:schemeClr val="dk1"/>
              </a:solidFill>
              <a:latin typeface="DM Sans"/>
              <a:ea typeface="DM Sans"/>
              <a:cs typeface="DM Sans"/>
              <a:sym typeface="DM Sans"/>
            </a:endParaRPr>
          </a:p>
        </p:txBody>
      </p:sp>
      <p:sp>
        <p:nvSpPr>
          <p:cNvPr id="95" name="Google Shape;95;p3"/>
          <p:cNvSpPr/>
          <p:nvPr/>
        </p:nvSpPr>
        <p:spPr>
          <a:xfrm>
            <a:off x="6197600" y="1778000"/>
            <a:ext cx="5295900" cy="1079500"/>
          </a:xfrm>
          <a:prstGeom prst="roundRect">
            <a:avLst>
              <a:gd fmla="val 14118" name="adj"/>
            </a:avLst>
          </a:prstGeom>
          <a:solidFill>
            <a:srgbClr val="EFEA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6" name="Google Shape;96;p3"/>
          <p:cNvSpPr/>
          <p:nvPr/>
        </p:nvSpPr>
        <p:spPr>
          <a:xfrm>
            <a:off x="6197600" y="1778000"/>
            <a:ext cx="5295900" cy="1079500"/>
          </a:xfrm>
          <a:custGeom>
            <a:rect b="b" l="l" r="r" t="t"/>
            <a:pathLst>
              <a:path extrusionOk="0" h="107950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97" name="Google Shape;97;p3"/>
          <p:cNvSpPr/>
          <p:nvPr/>
        </p:nvSpPr>
        <p:spPr>
          <a:xfrm>
            <a:off x="6451600" y="2054861"/>
            <a:ext cx="4931537" cy="2844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Réseau de neurones (RN)</a:t>
            </a:r>
            <a:endParaRPr sz="1700">
              <a:solidFill>
                <a:schemeClr val="dk1"/>
              </a:solidFill>
              <a:latin typeface="DM Sans"/>
              <a:ea typeface="DM Sans"/>
              <a:cs typeface="DM Sans"/>
              <a:sym typeface="DM Sans"/>
            </a:endParaRPr>
          </a:p>
        </p:txBody>
      </p:sp>
      <p:sp>
        <p:nvSpPr>
          <p:cNvPr id="98" name="Google Shape;98;p3"/>
          <p:cNvSpPr/>
          <p:nvPr/>
        </p:nvSpPr>
        <p:spPr>
          <a:xfrm>
            <a:off x="6451600" y="2377441"/>
            <a:ext cx="4931537"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Non paramétrique, plus gourmand en données</a:t>
            </a:r>
            <a:endParaRPr sz="1600">
              <a:solidFill>
                <a:schemeClr val="dk1"/>
              </a:solidFill>
              <a:latin typeface="DM Sans"/>
              <a:ea typeface="DM Sans"/>
              <a:cs typeface="DM Sans"/>
              <a:sym typeface="DM Sans"/>
            </a:endParaRPr>
          </a:p>
        </p:txBody>
      </p:sp>
      <p:sp>
        <p:nvSpPr>
          <p:cNvPr id="99" name="Google Shape;99;p3"/>
          <p:cNvSpPr/>
          <p:nvPr/>
        </p:nvSpPr>
        <p:spPr>
          <a:xfrm>
            <a:off x="698500" y="3060700"/>
            <a:ext cx="11118850" cy="2743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400"/>
              <a:buFont typeface="Sora"/>
              <a:buNone/>
            </a:pPr>
            <a:r>
              <a:rPr b="1" lang="en-US" sz="1400">
                <a:solidFill>
                  <a:srgbClr val="6B3FA0"/>
                </a:solidFill>
                <a:latin typeface="Sora"/>
                <a:ea typeface="Sora"/>
                <a:cs typeface="Sora"/>
                <a:sym typeface="Sora"/>
              </a:rPr>
              <a:t>CONTEXTE DE DONNÉES</a:t>
            </a:r>
            <a:endParaRPr sz="1400">
              <a:solidFill>
                <a:schemeClr val="dk1"/>
              </a:solidFill>
              <a:latin typeface="DM Sans"/>
              <a:ea typeface="DM Sans"/>
              <a:cs typeface="DM Sans"/>
              <a:sym typeface="DM Sans"/>
            </a:endParaRPr>
          </a:p>
        </p:txBody>
      </p:sp>
      <p:sp>
        <p:nvSpPr>
          <p:cNvPr id="100" name="Google Shape;100;p3"/>
          <p:cNvSpPr/>
          <p:nvPr/>
        </p:nvSpPr>
        <p:spPr>
          <a:xfrm>
            <a:off x="69850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Prévision tabulaire</a:t>
            </a:r>
            <a:endParaRPr sz="1500">
              <a:solidFill>
                <a:schemeClr val="dk1"/>
              </a:solidFill>
              <a:latin typeface="DM Sans"/>
              <a:ea typeface="DM Sans"/>
              <a:cs typeface="DM Sans"/>
              <a:sym typeface="DM Sans"/>
            </a:endParaRPr>
          </a:p>
        </p:txBody>
      </p:sp>
      <p:sp>
        <p:nvSpPr>
          <p:cNvPr id="101" name="Google Shape;101;p3"/>
          <p:cNvSpPr/>
          <p:nvPr/>
        </p:nvSpPr>
        <p:spPr>
          <a:xfrm>
            <a:off x="69850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2" name="Google Shape;102;p3"/>
          <p:cNvSpPr/>
          <p:nvPr/>
        </p:nvSpPr>
        <p:spPr>
          <a:xfrm>
            <a:off x="343535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Séries par site et zone</a:t>
            </a:r>
            <a:endParaRPr sz="1500">
              <a:solidFill>
                <a:schemeClr val="dk1"/>
              </a:solidFill>
              <a:latin typeface="DM Sans"/>
              <a:ea typeface="DM Sans"/>
              <a:cs typeface="DM Sans"/>
              <a:sym typeface="DM Sans"/>
            </a:endParaRPr>
          </a:p>
        </p:txBody>
      </p:sp>
      <p:sp>
        <p:nvSpPr>
          <p:cNvPr id="103" name="Google Shape;103;p3"/>
          <p:cNvSpPr/>
          <p:nvPr/>
        </p:nvSpPr>
        <p:spPr>
          <a:xfrm>
            <a:off x="343535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4" name="Google Shape;104;p3"/>
          <p:cNvSpPr/>
          <p:nvPr/>
        </p:nvSpPr>
        <p:spPr>
          <a:xfrm>
            <a:off x="617220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406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Environ 18 mois d’historique</a:t>
            </a:r>
            <a:endParaRPr sz="1500">
              <a:solidFill>
                <a:schemeClr val="dk1"/>
              </a:solidFill>
              <a:latin typeface="DM Sans"/>
              <a:ea typeface="DM Sans"/>
              <a:cs typeface="DM Sans"/>
              <a:sym typeface="DM Sans"/>
            </a:endParaRPr>
          </a:p>
        </p:txBody>
      </p:sp>
      <p:sp>
        <p:nvSpPr>
          <p:cNvPr id="105" name="Google Shape;105;p3"/>
          <p:cNvSpPr/>
          <p:nvPr/>
        </p:nvSpPr>
        <p:spPr>
          <a:xfrm>
            <a:off x="617220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6" name="Google Shape;106;p3"/>
          <p:cNvSpPr/>
          <p:nvPr/>
        </p:nvSpPr>
        <p:spPr>
          <a:xfrm>
            <a:off x="8909050" y="3512820"/>
            <a:ext cx="258445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14250" spcFirstLastPara="1" rIns="89025" wrap="square" tIns="1406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Intervalles de confiance, coefficients lisibles</a:t>
            </a:r>
            <a:endParaRPr sz="1500">
              <a:solidFill>
                <a:schemeClr val="dk1"/>
              </a:solidFill>
              <a:latin typeface="DM Sans"/>
              <a:ea typeface="DM Sans"/>
              <a:cs typeface="DM Sans"/>
              <a:sym typeface="DM Sans"/>
            </a:endParaRPr>
          </a:p>
        </p:txBody>
      </p:sp>
      <p:sp>
        <p:nvSpPr>
          <p:cNvPr id="107" name="Google Shape;107;p3"/>
          <p:cNvSpPr/>
          <p:nvPr/>
        </p:nvSpPr>
        <p:spPr>
          <a:xfrm>
            <a:off x="8909050" y="3512820"/>
            <a:ext cx="2584450" cy="1098550"/>
          </a:xfrm>
          <a:custGeom>
            <a:rect b="b" l="l" r="r" t="t"/>
            <a:pathLst>
              <a:path extrusionOk="0" h="1098550" w="2584450">
                <a:moveTo>
                  <a:pt x="127000" y="1098550"/>
                </a:moveTo>
                <a:lnTo>
                  <a:pt x="127000" y="1098550"/>
                </a:lnTo>
                <a:cubicBezTo>
                  <a:pt x="56860" y="1098550"/>
                  <a:pt x="0" y="1041690"/>
                  <a:pt x="0" y="971550"/>
                </a:cubicBezTo>
                <a:lnTo>
                  <a:pt x="0" y="127000"/>
                </a:lnTo>
                <a:cubicBezTo>
                  <a:pt x="0" y="56860"/>
                  <a:pt x="56860" y="0"/>
                  <a:pt x="127000" y="0"/>
                </a:cubicBezTo>
                <a:lnTo>
                  <a:pt x="127000" y="0"/>
                </a:lnTo>
                <a:cubicBezTo>
                  <a:pt x="91930" y="0"/>
                  <a:pt x="63500" y="56860"/>
                  <a:pt x="63500" y="127000"/>
                </a:cubicBezTo>
                <a:lnTo>
                  <a:pt x="63500" y="971550"/>
                </a:lnTo>
                <a:cubicBezTo>
                  <a:pt x="63500" y="1041690"/>
                  <a:pt x="91930" y="1098550"/>
                  <a:pt x="127000" y="109855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a:t>
            </a:r>
            <a:endParaRPr sz="1200">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13" name="Shape 113"/>
        <p:cNvGrpSpPr/>
        <p:nvPr/>
      </p:nvGrpSpPr>
      <p:grpSpPr>
        <a:xfrm>
          <a:off x="0" y="0"/>
          <a:ext cx="0" cy="0"/>
          <a:chOff x="0" y="0"/>
          <a:chExt cx="0" cy="0"/>
        </a:xfrm>
      </p:grpSpPr>
      <p:sp>
        <p:nvSpPr>
          <p:cNvPr id="114" name="Google Shape;114;p4"/>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5" name="Google Shape;115;p4"/>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6" name="Google Shape;116;p4"/>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7" name="Google Shape;117;p4"/>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8" name="Google Shape;118;p4"/>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19" name="Google Shape;119;p4"/>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20" name="Google Shape;120;p4"/>
          <p:cNvSpPr txBox="1"/>
          <p:nvPr>
            <p:ph type="title"/>
          </p:nvPr>
        </p:nvSpPr>
        <p:spPr>
          <a:xfrm>
            <a:off x="698500" y="919480"/>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forêt aléatoire n’extrapole pas au-delà du maximum observé</a:t>
            </a:r>
            <a:endParaRPr sz="2100"/>
          </a:p>
        </p:txBody>
      </p:sp>
      <p:sp>
        <p:nvSpPr>
          <p:cNvPr id="121" name="Google Shape;121;p4"/>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La forêt aléatoire moyenne des arbres entraînés sur des sous-échantillons aléatoires.</a:t>
            </a:r>
            <a:endParaRPr sz="1700">
              <a:solidFill>
                <a:schemeClr val="dk1"/>
              </a:solidFill>
              <a:latin typeface="DM Sans"/>
              <a:ea typeface="DM Sans"/>
              <a:cs typeface="DM Sans"/>
              <a:sym typeface="DM Sans"/>
            </a:endParaRPr>
          </a:p>
        </p:txBody>
      </p:sp>
      <p:sp>
        <p:nvSpPr>
          <p:cNvPr id="122" name="Google Shape;122;p4"/>
          <p:cNvSpPr/>
          <p:nvPr/>
        </p:nvSpPr>
        <p:spPr>
          <a:xfrm>
            <a:off x="698500" y="270446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3" name="Google Shape;123;p4"/>
          <p:cNvSpPr/>
          <p:nvPr/>
        </p:nvSpPr>
        <p:spPr>
          <a:xfrm>
            <a:off x="698500" y="270446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24" name="Google Shape;124;p4"/>
          <p:cNvSpPr/>
          <p:nvPr/>
        </p:nvSpPr>
        <p:spPr>
          <a:xfrm>
            <a:off x="3213100" y="2882266"/>
            <a:ext cx="5254752"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Interactions et effets de seuil, robuste au bruit</a:t>
            </a:r>
            <a:endParaRPr sz="1600">
              <a:solidFill>
                <a:schemeClr val="dk1"/>
              </a:solidFill>
              <a:latin typeface="DM Sans"/>
              <a:ea typeface="DM Sans"/>
              <a:cs typeface="DM Sans"/>
              <a:sym typeface="DM Sans"/>
            </a:endParaRPr>
          </a:p>
        </p:txBody>
      </p:sp>
      <p:sp>
        <p:nvSpPr>
          <p:cNvPr id="125" name="Google Shape;125;p4"/>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6" name="Google Shape;126;p4"/>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27" name="Google Shape;127;p4"/>
          <p:cNvSpPr/>
          <p:nvPr/>
        </p:nvSpPr>
        <p:spPr>
          <a:xfrm>
            <a:off x="3213100" y="3629025"/>
            <a:ext cx="5644896"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Pas d’extrapolation au-delà du maximum observé</a:t>
            </a:r>
            <a:endParaRPr sz="1600">
              <a:solidFill>
                <a:schemeClr val="dk1"/>
              </a:solidFill>
              <a:latin typeface="DM Sans"/>
              <a:ea typeface="DM Sans"/>
              <a:cs typeface="DM Sans"/>
              <a:sym typeface="DM Sans"/>
            </a:endParaRPr>
          </a:p>
        </p:txBody>
      </p:sp>
      <p:sp>
        <p:nvSpPr>
          <p:cNvPr id="128" name="Google Shape;128;p4"/>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29" name="Google Shape;129;p4"/>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30" name="Google Shape;130;p4"/>
          <p:cNvSpPr/>
          <p:nvPr/>
        </p:nvSpPr>
        <p:spPr>
          <a:xfrm>
            <a:off x="3213100" y="4375786"/>
            <a:ext cx="2877312"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Importance des variables</a:t>
            </a:r>
            <a:endParaRPr sz="1600">
              <a:solidFill>
                <a:schemeClr val="dk1"/>
              </a:solidFill>
              <a:latin typeface="DM Sans"/>
              <a:ea typeface="DM Sans"/>
              <a:cs typeface="DM Sans"/>
              <a:sym typeface="DM Sans"/>
            </a:endParaRPr>
          </a:p>
        </p:txBody>
      </p:sp>
      <p:sp>
        <p:nvSpPr>
          <p:cNvPr id="131" name="Google Shape;131;p4"/>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a:t>
            </a:r>
            <a:endParaRPr sz="1200">
              <a:solidFill>
                <a:schemeClr val="dk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36" name="Shape 136"/>
        <p:cNvGrpSpPr/>
        <p:nvPr/>
      </p:nvGrpSpPr>
      <p:grpSpPr>
        <a:xfrm>
          <a:off x="0" y="0"/>
          <a:ext cx="0" cy="0"/>
          <a:chOff x="0" y="0"/>
          <a:chExt cx="0" cy="0"/>
        </a:xfrm>
      </p:grpSpPr>
      <p:sp>
        <p:nvSpPr>
          <p:cNvPr id="137" name="Google Shape;137;p5"/>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38" name="Google Shape;138;p5"/>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39" name="Google Shape;139;p5"/>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0" name="Google Shape;140;p5"/>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1" name="Google Shape;141;p5"/>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2" name="Google Shape;142;p5"/>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43" name="Google Shape;143;p5"/>
          <p:cNvSpPr txBox="1"/>
          <p:nvPr>
            <p:ph type="title"/>
          </p:nvPr>
        </p:nvSpPr>
        <p:spPr>
          <a:xfrm>
            <a:off x="698500" y="919482"/>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Gradient Boosting n</a:t>
            </a:r>
            <a:r>
              <a:rPr b="1" lang="en-US"/>
              <a:t>’</a:t>
            </a:r>
            <a:r>
              <a:rPr b="1" i="0" lang="en-US" sz="2100">
                <a:solidFill>
                  <a:srgbClr val="1B2A4A"/>
                </a:solidFill>
                <a:latin typeface="Sora"/>
                <a:ea typeface="Sora"/>
                <a:cs typeface="Sora"/>
                <a:sym typeface="Sora"/>
              </a:rPr>
              <a:t>extrapole pas au-delà du volume maximal historique</a:t>
            </a:r>
            <a:endParaRPr sz="2100"/>
          </a:p>
        </p:txBody>
      </p:sp>
      <p:sp>
        <p:nvSpPr>
          <p:cNvPr id="144" name="Google Shape;144;p5"/>
          <p:cNvSpPr/>
          <p:nvPr/>
        </p:nvSpPr>
        <p:spPr>
          <a:xfrm>
            <a:off x="698500" y="1778000"/>
            <a:ext cx="10795000" cy="1014730"/>
          </a:xfrm>
          <a:prstGeom prst="roundRect">
            <a:avLst>
              <a:gd fmla="val 15019" name="adj"/>
            </a:avLst>
          </a:prstGeom>
          <a:solidFill>
            <a:srgbClr val="6B3FA0"/>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Le Gradient Boosting (scikit-learn) construit des arbres séquentiellement, chacun corrigeant le précédent.</a:t>
            </a:r>
            <a:endParaRPr sz="1700">
              <a:solidFill>
                <a:schemeClr val="dk1"/>
              </a:solidFill>
              <a:latin typeface="DM Sans"/>
              <a:ea typeface="DM Sans"/>
              <a:cs typeface="DM Sans"/>
              <a:sym typeface="DM Sans"/>
            </a:endParaRPr>
          </a:p>
        </p:txBody>
      </p:sp>
      <p:sp>
        <p:nvSpPr>
          <p:cNvPr id="145" name="Google Shape;145;p5"/>
          <p:cNvSpPr/>
          <p:nvPr/>
        </p:nvSpPr>
        <p:spPr>
          <a:xfrm>
            <a:off x="698500" y="2995932"/>
            <a:ext cx="10795000" cy="1098550"/>
          </a:xfrm>
          <a:prstGeom prst="roundRect">
            <a:avLst>
              <a:gd fmla="val 11561"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6" name="Google Shape;146;p5"/>
          <p:cNvSpPr/>
          <p:nvPr/>
        </p:nvSpPr>
        <p:spPr>
          <a:xfrm>
            <a:off x="698500" y="2995932"/>
            <a:ext cx="2286000" cy="1098550"/>
          </a:xfrm>
          <a:custGeom>
            <a:rect b="b" l="l" r="r" t="t"/>
            <a:pathLst>
              <a:path extrusionOk="0" h="1098550" w="2286000">
                <a:moveTo>
                  <a:pt x="0" y="127000"/>
                </a:moveTo>
                <a:cubicBezTo>
                  <a:pt x="0" y="56860"/>
                  <a:pt x="56860" y="0"/>
                  <a:pt x="127000" y="0"/>
                </a:cubicBezTo>
                <a:lnTo>
                  <a:pt x="2286000" y="0"/>
                </a:lnTo>
                <a:lnTo>
                  <a:pt x="2286000" y="1098550"/>
                </a:lnTo>
                <a:lnTo>
                  <a:pt x="127000" y="1098550"/>
                </a:lnTo>
                <a:cubicBezTo>
                  <a:pt x="56860" y="1098550"/>
                  <a:pt x="0" y="1041690"/>
                  <a:pt x="0" y="971550"/>
                </a:cubicBezTo>
                <a:close/>
              </a:path>
            </a:pathLst>
          </a:custGeom>
          <a:solidFill>
            <a:srgbClr val="7ACFC0"/>
          </a:solidFill>
          <a:ln>
            <a:noFill/>
          </a:ln>
        </p:spPr>
        <p:txBody>
          <a:bodyPr anchorCtr="0" anchor="ctr" bIns="177800" lIns="203200" spcFirstLastPara="1" rIns="203200" wrap="square" tIns="1778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47" name="Google Shape;147;p5"/>
          <p:cNvSpPr/>
          <p:nvPr/>
        </p:nvSpPr>
        <p:spPr>
          <a:xfrm>
            <a:off x="3213100" y="3173732"/>
            <a:ext cx="82933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Référence sur données tabulaires de taille moyenne ; capte la congestion non linéaire (chute de productivité au-delà de 85 % de capacité) ; entraînement rapide et déterministe</a:t>
            </a:r>
            <a:endParaRPr sz="1500">
              <a:solidFill>
                <a:schemeClr val="dk1"/>
              </a:solidFill>
              <a:latin typeface="DM Sans"/>
              <a:ea typeface="DM Sans"/>
              <a:cs typeface="DM Sans"/>
              <a:sym typeface="DM Sans"/>
            </a:endParaRPr>
          </a:p>
        </p:txBody>
      </p:sp>
      <p:sp>
        <p:nvSpPr>
          <p:cNvPr id="148" name="Google Shape;148;p5"/>
          <p:cNvSpPr/>
          <p:nvPr/>
        </p:nvSpPr>
        <p:spPr>
          <a:xfrm>
            <a:off x="698500" y="4221482"/>
            <a:ext cx="10795000" cy="604520"/>
          </a:xfrm>
          <a:prstGeom prst="roundRect">
            <a:avLst>
              <a:gd fmla="val 2100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49" name="Google Shape;149;p5"/>
          <p:cNvSpPr/>
          <p:nvPr/>
        </p:nvSpPr>
        <p:spPr>
          <a:xfrm>
            <a:off x="698500" y="4221482"/>
            <a:ext cx="2286000" cy="604520"/>
          </a:xfrm>
          <a:custGeom>
            <a:rect b="b" l="l" r="r" t="t"/>
            <a:pathLst>
              <a:path extrusionOk="0" h="604520" w="2286000">
                <a:moveTo>
                  <a:pt x="0" y="127000"/>
                </a:moveTo>
                <a:cubicBezTo>
                  <a:pt x="0" y="56860"/>
                  <a:pt x="56860" y="0"/>
                  <a:pt x="127000" y="0"/>
                </a:cubicBezTo>
                <a:lnTo>
                  <a:pt x="2286000" y="0"/>
                </a:lnTo>
                <a:lnTo>
                  <a:pt x="2286000" y="604520"/>
                </a:lnTo>
                <a:lnTo>
                  <a:pt x="127000" y="604520"/>
                </a:lnTo>
                <a:cubicBezTo>
                  <a:pt x="56860" y="604520"/>
                  <a:pt x="0" y="547660"/>
                  <a:pt x="0" y="477520"/>
                </a:cubicBezTo>
                <a:close/>
              </a:path>
            </a:pathLst>
          </a:custGeom>
          <a:solidFill>
            <a:srgbClr val="B39DDB"/>
          </a:solidFill>
          <a:ln>
            <a:noFill/>
          </a:ln>
        </p:spPr>
        <p:txBody>
          <a:bodyPr anchorCtr="0" anchor="ctr" bIns="165100" lIns="203200" spcFirstLastPara="1" rIns="203200" wrap="square" tIns="1651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50" name="Google Shape;150;p5"/>
          <p:cNvSpPr/>
          <p:nvPr/>
        </p:nvSpPr>
        <p:spPr>
          <a:xfrm>
            <a:off x="3213100" y="4399914"/>
            <a:ext cx="623620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Pas d’extrapolation au-delà du volume maximal historique</a:t>
            </a:r>
            <a:endParaRPr sz="1500">
              <a:solidFill>
                <a:schemeClr val="dk1"/>
              </a:solidFill>
              <a:latin typeface="DM Sans"/>
              <a:ea typeface="DM Sans"/>
              <a:cs typeface="DM Sans"/>
              <a:sym typeface="DM Sans"/>
            </a:endParaRPr>
          </a:p>
        </p:txBody>
      </p:sp>
      <p:sp>
        <p:nvSpPr>
          <p:cNvPr id="151" name="Google Shape;151;p5"/>
          <p:cNvSpPr/>
          <p:nvPr/>
        </p:nvSpPr>
        <p:spPr>
          <a:xfrm>
            <a:off x="698500" y="4953000"/>
            <a:ext cx="10795000" cy="604520"/>
          </a:xfrm>
          <a:prstGeom prst="roundRect">
            <a:avLst>
              <a:gd fmla="val 2100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52" name="Google Shape;152;p5"/>
          <p:cNvSpPr/>
          <p:nvPr/>
        </p:nvSpPr>
        <p:spPr>
          <a:xfrm>
            <a:off x="698500" y="4953000"/>
            <a:ext cx="2286000" cy="604520"/>
          </a:xfrm>
          <a:custGeom>
            <a:rect b="b" l="l" r="r" t="t"/>
            <a:pathLst>
              <a:path extrusionOk="0" h="604520" w="2286000">
                <a:moveTo>
                  <a:pt x="0" y="127000"/>
                </a:moveTo>
                <a:cubicBezTo>
                  <a:pt x="0" y="56860"/>
                  <a:pt x="56860" y="0"/>
                  <a:pt x="127000" y="0"/>
                </a:cubicBezTo>
                <a:lnTo>
                  <a:pt x="2286000" y="0"/>
                </a:lnTo>
                <a:lnTo>
                  <a:pt x="2286000" y="604520"/>
                </a:lnTo>
                <a:lnTo>
                  <a:pt x="127000" y="604520"/>
                </a:lnTo>
                <a:cubicBezTo>
                  <a:pt x="56860" y="604520"/>
                  <a:pt x="0" y="547660"/>
                  <a:pt x="0" y="477520"/>
                </a:cubicBezTo>
                <a:close/>
              </a:path>
            </a:pathLst>
          </a:custGeom>
          <a:solidFill>
            <a:srgbClr val="4A9BE0"/>
          </a:solidFill>
          <a:ln>
            <a:noFill/>
          </a:ln>
        </p:spPr>
        <p:txBody>
          <a:bodyPr anchorCtr="0" anchor="ctr" bIns="165100" lIns="203200" spcFirstLastPara="1" rIns="203200" wrap="square" tIns="1651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53" name="Google Shape;153;p5"/>
          <p:cNvSpPr/>
          <p:nvPr/>
        </p:nvSpPr>
        <p:spPr>
          <a:xfrm>
            <a:off x="3213100" y="5131436"/>
            <a:ext cx="273100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Importance des variables</a:t>
            </a:r>
            <a:endParaRPr sz="1500">
              <a:solidFill>
                <a:schemeClr val="dk1"/>
              </a:solidFill>
              <a:latin typeface="DM Sans"/>
              <a:ea typeface="DM Sans"/>
              <a:cs typeface="DM Sans"/>
              <a:sym typeface="DM Sans"/>
            </a:endParaRPr>
          </a:p>
        </p:txBody>
      </p:sp>
      <p:sp>
        <p:nvSpPr>
          <p:cNvPr id="154" name="Google Shape;154;p5"/>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5</a:t>
            </a:r>
            <a:endParaRPr sz="120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59" name="Shape 159"/>
        <p:cNvGrpSpPr/>
        <p:nvPr/>
      </p:nvGrpSpPr>
      <p:grpSpPr>
        <a:xfrm>
          <a:off x="0" y="0"/>
          <a:ext cx="0" cy="0"/>
          <a:chOff x="0" y="0"/>
          <a:chExt cx="0" cy="0"/>
        </a:xfrm>
      </p:grpSpPr>
      <p:sp>
        <p:nvSpPr>
          <p:cNvPr id="160" name="Google Shape;160;p6"/>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1" name="Google Shape;161;p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2" name="Google Shape;162;p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3" name="Google Shape;163;p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4" name="Google Shape;164;p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5" name="Google Shape;165;p6"/>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66" name="Google Shape;166;p6"/>
          <p:cNvSpPr txBox="1"/>
          <p:nvPr>
            <p:ph type="title"/>
          </p:nvPr>
        </p:nvSpPr>
        <p:spPr>
          <a:xfrm>
            <a:off x="698500" y="919482"/>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GAM reste lisible mais dépend d</a:t>
            </a:r>
            <a:r>
              <a:rPr b="1" lang="en-US"/>
              <a:t>’</a:t>
            </a:r>
            <a:r>
              <a:rPr b="1" i="0" lang="en-US" sz="2100">
                <a:solidFill>
                  <a:srgbClr val="1B2A4A"/>
                </a:solidFill>
                <a:latin typeface="Sora"/>
                <a:ea typeface="Sora"/>
                <a:cs typeface="Sora"/>
                <a:sym typeface="Sora"/>
              </a:rPr>
              <a:t>une bibliothèque externe et d’un paramétrage plus complexe</a:t>
            </a:r>
            <a:endParaRPr sz="2100"/>
          </a:p>
        </p:txBody>
      </p:sp>
      <p:sp>
        <p:nvSpPr>
          <p:cNvPr id="167" name="Google Shape;167;p6"/>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Un modèle additif généralisé (GAM) somme des fonctions non linéaires apprises par variable.</a:t>
            </a:r>
            <a:endParaRPr sz="1700">
              <a:solidFill>
                <a:schemeClr val="dk1"/>
              </a:solidFill>
              <a:latin typeface="DM Sans"/>
              <a:ea typeface="DM Sans"/>
              <a:cs typeface="DM Sans"/>
              <a:sym typeface="DM Sans"/>
            </a:endParaRPr>
          </a:p>
        </p:txBody>
      </p:sp>
      <p:sp>
        <p:nvSpPr>
          <p:cNvPr id="168" name="Google Shape;168;p6"/>
          <p:cNvSpPr/>
          <p:nvPr/>
        </p:nvSpPr>
        <p:spPr>
          <a:xfrm>
            <a:off x="698500" y="2704464"/>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69" name="Google Shape;169;p6"/>
          <p:cNvSpPr/>
          <p:nvPr/>
        </p:nvSpPr>
        <p:spPr>
          <a:xfrm>
            <a:off x="698500" y="2704464"/>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70" name="Google Shape;170;p6"/>
          <p:cNvSpPr/>
          <p:nvPr/>
        </p:nvSpPr>
        <p:spPr>
          <a:xfrm>
            <a:off x="3213100" y="2882264"/>
            <a:ext cx="5974080"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Courbes d’effet par variable, lisibilité proche de la RL</a:t>
            </a:r>
            <a:endParaRPr sz="1600">
              <a:solidFill>
                <a:schemeClr val="dk1"/>
              </a:solidFill>
              <a:latin typeface="DM Sans"/>
              <a:ea typeface="DM Sans"/>
              <a:cs typeface="DM Sans"/>
              <a:sym typeface="DM Sans"/>
            </a:endParaRPr>
          </a:p>
        </p:txBody>
      </p:sp>
      <p:sp>
        <p:nvSpPr>
          <p:cNvPr id="171" name="Google Shape;171;p6"/>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72" name="Google Shape;172;p6"/>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73" name="Google Shape;173;p6"/>
          <p:cNvSpPr/>
          <p:nvPr/>
        </p:nvSpPr>
        <p:spPr>
          <a:xfrm>
            <a:off x="3213100" y="3629025"/>
            <a:ext cx="6632448"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Bibliothèque externe (pygam), paramétrage plus complexe</a:t>
            </a:r>
            <a:endParaRPr sz="1600">
              <a:solidFill>
                <a:schemeClr val="dk1"/>
              </a:solidFill>
              <a:latin typeface="DM Sans"/>
              <a:ea typeface="DM Sans"/>
              <a:cs typeface="DM Sans"/>
              <a:sym typeface="DM Sans"/>
            </a:endParaRPr>
          </a:p>
        </p:txBody>
      </p:sp>
      <p:sp>
        <p:nvSpPr>
          <p:cNvPr id="174" name="Google Shape;174;p6"/>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75" name="Google Shape;175;p6"/>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76" name="Google Shape;176;p6"/>
          <p:cNvSpPr/>
          <p:nvPr/>
        </p:nvSpPr>
        <p:spPr>
          <a:xfrm>
            <a:off x="3213100" y="4375786"/>
            <a:ext cx="1255776"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Très bonne</a:t>
            </a:r>
            <a:endParaRPr sz="1600">
              <a:solidFill>
                <a:schemeClr val="dk1"/>
              </a:solidFill>
              <a:latin typeface="DM Sans"/>
              <a:ea typeface="DM Sans"/>
              <a:cs typeface="DM Sans"/>
              <a:sym typeface="DM Sans"/>
            </a:endParaRPr>
          </a:p>
        </p:txBody>
      </p:sp>
      <p:sp>
        <p:nvSpPr>
          <p:cNvPr id="177" name="Google Shape;177;p6"/>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6</a:t>
            </a:r>
            <a:endParaRPr sz="12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182" name="Shape 182"/>
        <p:cNvGrpSpPr/>
        <p:nvPr/>
      </p:nvGrpSpPr>
      <p:grpSpPr>
        <a:xfrm>
          <a:off x="0" y="0"/>
          <a:ext cx="0" cy="0"/>
          <a:chOff x="0" y="0"/>
          <a:chExt cx="0" cy="0"/>
        </a:xfrm>
      </p:grpSpPr>
      <p:sp>
        <p:nvSpPr>
          <p:cNvPr id="183" name="Google Shape;183;p7"/>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4" name="Google Shape;184;p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5" name="Google Shape;185;p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6" name="Google Shape;186;p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7" name="Google Shape;187;p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88" name="Google Shape;188;p7"/>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189" name="Google Shape;189;p7"/>
          <p:cNvSpPr txBox="1"/>
          <p:nvPr>
            <p:ph type="title"/>
          </p:nvPr>
        </p:nvSpPr>
        <p:spPr>
          <a:xfrm>
            <a:off x="698500" y="919482"/>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processus gaussien donne un intervalle natif mais son coût en O(n³) le rend inadapté à la production</a:t>
            </a:r>
            <a:endParaRPr sz="2100"/>
          </a:p>
        </p:txBody>
      </p:sp>
      <p:sp>
        <p:nvSpPr>
          <p:cNvPr id="190" name="Google Shape;190;p7"/>
          <p:cNvSpPr/>
          <p:nvPr/>
        </p:nvSpPr>
        <p:spPr>
          <a:xfrm>
            <a:off x="698500" y="1778000"/>
            <a:ext cx="10795000" cy="723265"/>
          </a:xfrm>
          <a:prstGeom prst="roundRect">
            <a:avLst>
              <a:gd fmla="val 21071" name="adj"/>
            </a:avLst>
          </a:prstGeom>
          <a:solidFill>
            <a:srgbClr val="1B2A4A"/>
          </a:solidFill>
          <a:ln>
            <a:noFill/>
          </a:ln>
        </p:spPr>
        <p:txBody>
          <a:bodyPr anchorCtr="0" anchor="t" bIns="145850" lIns="234750" spcFirstLastPara="1" rIns="0" wrap="square" tIns="171250">
            <a:normAutofit/>
          </a:bodyPr>
          <a:lstStyle/>
          <a:p>
            <a:pPr indent="0" lvl="0" marL="0" marR="0" rtl="0" algn="l">
              <a:lnSpc>
                <a:spcPct val="135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Le processus gaussien est un modèle probabiliste fournissant une distribution complète.</a:t>
            </a:r>
            <a:endParaRPr sz="1700">
              <a:solidFill>
                <a:schemeClr val="dk1"/>
              </a:solidFill>
              <a:latin typeface="DM Sans"/>
              <a:ea typeface="DM Sans"/>
              <a:cs typeface="DM Sans"/>
              <a:sym typeface="DM Sans"/>
            </a:endParaRPr>
          </a:p>
        </p:txBody>
      </p:sp>
      <p:sp>
        <p:nvSpPr>
          <p:cNvPr id="191" name="Google Shape;191;p7"/>
          <p:cNvSpPr/>
          <p:nvPr/>
        </p:nvSpPr>
        <p:spPr>
          <a:xfrm>
            <a:off x="698500" y="2704464"/>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2" name="Google Shape;192;p7"/>
          <p:cNvSpPr/>
          <p:nvPr/>
        </p:nvSpPr>
        <p:spPr>
          <a:xfrm>
            <a:off x="698500" y="2704464"/>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7ACFC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Atouts</a:t>
            </a:r>
            <a:endParaRPr sz="1400">
              <a:solidFill>
                <a:schemeClr val="dk1"/>
              </a:solidFill>
              <a:latin typeface="DM Sans"/>
              <a:ea typeface="DM Sans"/>
              <a:cs typeface="DM Sans"/>
              <a:sym typeface="DM Sans"/>
            </a:endParaRPr>
          </a:p>
        </p:txBody>
      </p:sp>
      <p:sp>
        <p:nvSpPr>
          <p:cNvPr id="193" name="Google Shape;193;p7"/>
          <p:cNvSpPr/>
          <p:nvPr/>
        </p:nvSpPr>
        <p:spPr>
          <a:xfrm>
            <a:off x="3213100" y="2882264"/>
            <a:ext cx="8280400"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Intervalle de confiance natif, incertitude croissante loin des données connues</a:t>
            </a:r>
            <a:endParaRPr sz="1600">
              <a:solidFill>
                <a:schemeClr val="dk1"/>
              </a:solidFill>
              <a:latin typeface="DM Sans"/>
              <a:ea typeface="DM Sans"/>
              <a:cs typeface="DM Sans"/>
              <a:sym typeface="DM Sans"/>
            </a:endParaRPr>
          </a:p>
        </p:txBody>
      </p:sp>
      <p:sp>
        <p:nvSpPr>
          <p:cNvPr id="194" name="Google Shape;194;p7"/>
          <p:cNvSpPr/>
          <p:nvPr/>
        </p:nvSpPr>
        <p:spPr>
          <a:xfrm>
            <a:off x="698500" y="3451225"/>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5" name="Google Shape;195;p7"/>
          <p:cNvSpPr/>
          <p:nvPr/>
        </p:nvSpPr>
        <p:spPr>
          <a:xfrm>
            <a:off x="698500" y="3451225"/>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B39DDB"/>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Limite</a:t>
            </a:r>
            <a:endParaRPr sz="1400">
              <a:solidFill>
                <a:schemeClr val="dk1"/>
              </a:solidFill>
              <a:latin typeface="DM Sans"/>
              <a:ea typeface="DM Sans"/>
              <a:cs typeface="DM Sans"/>
              <a:sym typeface="DM Sans"/>
            </a:endParaRPr>
          </a:p>
        </p:txBody>
      </p:sp>
      <p:sp>
        <p:nvSpPr>
          <p:cNvPr id="196" name="Google Shape;196;p7"/>
          <p:cNvSpPr/>
          <p:nvPr/>
        </p:nvSpPr>
        <p:spPr>
          <a:xfrm>
            <a:off x="3213100" y="3629025"/>
            <a:ext cx="4108704"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Coût O(n³), inadapté à la production</a:t>
            </a:r>
            <a:endParaRPr sz="1600">
              <a:solidFill>
                <a:schemeClr val="dk1"/>
              </a:solidFill>
              <a:latin typeface="DM Sans"/>
              <a:ea typeface="DM Sans"/>
              <a:cs typeface="DM Sans"/>
              <a:sym typeface="DM Sans"/>
            </a:endParaRPr>
          </a:p>
        </p:txBody>
      </p:sp>
      <p:sp>
        <p:nvSpPr>
          <p:cNvPr id="197" name="Google Shape;197;p7"/>
          <p:cNvSpPr/>
          <p:nvPr/>
        </p:nvSpPr>
        <p:spPr>
          <a:xfrm>
            <a:off x="698500" y="4197986"/>
            <a:ext cx="10795000" cy="619760"/>
          </a:xfrm>
          <a:prstGeom prst="roundRect">
            <a:avLst>
              <a:gd fmla="val 20492"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198" name="Google Shape;198;p7"/>
          <p:cNvSpPr/>
          <p:nvPr/>
        </p:nvSpPr>
        <p:spPr>
          <a:xfrm>
            <a:off x="698500" y="4197986"/>
            <a:ext cx="2286000" cy="619760"/>
          </a:xfrm>
          <a:custGeom>
            <a:rect b="b" l="l" r="r" t="t"/>
            <a:pathLst>
              <a:path extrusionOk="0" h="619760" w="2286000">
                <a:moveTo>
                  <a:pt x="0" y="127000"/>
                </a:moveTo>
                <a:cubicBezTo>
                  <a:pt x="0" y="56860"/>
                  <a:pt x="56860" y="0"/>
                  <a:pt x="127000" y="0"/>
                </a:cubicBezTo>
                <a:lnTo>
                  <a:pt x="2286000" y="0"/>
                </a:lnTo>
                <a:lnTo>
                  <a:pt x="2286000" y="619760"/>
                </a:lnTo>
                <a:lnTo>
                  <a:pt x="127000" y="619760"/>
                </a:lnTo>
                <a:cubicBezTo>
                  <a:pt x="56860" y="619760"/>
                  <a:pt x="0" y="562900"/>
                  <a:pt x="0" y="492760"/>
                </a:cubicBezTo>
                <a:close/>
              </a:path>
            </a:pathLst>
          </a:custGeom>
          <a:solidFill>
            <a:srgbClr val="4A9BE0"/>
          </a:solidFill>
          <a:ln>
            <a:noFill/>
          </a:ln>
        </p:spPr>
        <p:txBody>
          <a:bodyPr anchorCtr="0" anchor="ctr" bIns="172700" lIns="203200" spcFirstLastPara="1" rIns="203200" wrap="square" tIns="172700">
            <a:normAutofit/>
          </a:bodyPr>
          <a:lstStyle/>
          <a:p>
            <a:pPr indent="0" lvl="0" marL="0" marR="0" rtl="0" algn="l">
              <a:lnSpc>
                <a:spcPct val="140000"/>
              </a:lnSpc>
              <a:spcBef>
                <a:spcPts val="0"/>
              </a:spcBef>
              <a:spcAft>
                <a:spcPts val="0"/>
              </a:spcAft>
              <a:buClr>
                <a:srgbClr val="1B2A4A"/>
              </a:buClr>
              <a:buSzPts val="1400"/>
              <a:buFont typeface="Sora"/>
              <a:buNone/>
            </a:pPr>
            <a:r>
              <a:rPr b="1" lang="en-US" sz="1400">
                <a:solidFill>
                  <a:srgbClr val="1B2A4A"/>
                </a:solidFill>
                <a:latin typeface="Sora"/>
                <a:ea typeface="Sora"/>
                <a:cs typeface="Sora"/>
                <a:sym typeface="Sora"/>
              </a:rPr>
              <a:t>Interprétabilité</a:t>
            </a:r>
            <a:endParaRPr sz="1400">
              <a:solidFill>
                <a:schemeClr val="dk1"/>
              </a:solidFill>
              <a:latin typeface="DM Sans"/>
              <a:ea typeface="DM Sans"/>
              <a:cs typeface="DM Sans"/>
              <a:sym typeface="DM Sans"/>
            </a:endParaRPr>
          </a:p>
        </p:txBody>
      </p:sp>
      <p:sp>
        <p:nvSpPr>
          <p:cNvPr id="199" name="Google Shape;199;p7"/>
          <p:cNvSpPr/>
          <p:nvPr/>
        </p:nvSpPr>
        <p:spPr>
          <a:xfrm>
            <a:off x="3213100" y="4375786"/>
            <a:ext cx="1024128" cy="2895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600"/>
              <a:buFont typeface="DM Sans"/>
              <a:buNone/>
            </a:pPr>
            <a:r>
              <a:rPr lang="en-US" sz="1600">
                <a:solidFill>
                  <a:srgbClr val="2B3350"/>
                </a:solidFill>
                <a:latin typeface="DM Sans"/>
                <a:ea typeface="DM Sans"/>
                <a:cs typeface="DM Sans"/>
                <a:sym typeface="DM Sans"/>
              </a:rPr>
              <a:t>Moyenne</a:t>
            </a:r>
            <a:endParaRPr sz="1600">
              <a:solidFill>
                <a:schemeClr val="dk1"/>
              </a:solidFill>
              <a:latin typeface="DM Sans"/>
              <a:ea typeface="DM Sans"/>
              <a:cs typeface="DM Sans"/>
              <a:sym typeface="DM Sans"/>
            </a:endParaRPr>
          </a:p>
        </p:txBody>
      </p:sp>
      <p:sp>
        <p:nvSpPr>
          <p:cNvPr id="200" name="Google Shape;200;p7"/>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7</a:t>
            </a:r>
            <a:endParaRPr sz="120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05" name="Shape 205"/>
        <p:cNvGrpSpPr/>
        <p:nvPr/>
      </p:nvGrpSpPr>
      <p:grpSpPr>
        <a:xfrm>
          <a:off x="0" y="0"/>
          <a:ext cx="0" cy="0"/>
          <a:chOff x="0" y="0"/>
          <a:chExt cx="0" cy="0"/>
        </a:xfrm>
      </p:grpSpPr>
      <p:sp>
        <p:nvSpPr>
          <p:cNvPr id="206" name="Google Shape;206;p8"/>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7" name="Google Shape;207;p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8" name="Google Shape;208;p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09" name="Google Shape;209;p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10" name="Google Shape;210;p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11" name="Google Shape;211;p8"/>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212" name="Google Shape;212;p8"/>
          <p:cNvSpPr txBox="1"/>
          <p:nvPr>
            <p:ph type="title"/>
          </p:nvPr>
        </p:nvSpPr>
        <p:spPr>
          <a:xfrm>
            <a:off x="698500" y="919482"/>
            <a:ext cx="1111885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Les modèles à arbres sont les seuls à plafonner en extrapolation</a:t>
            </a:r>
            <a:endParaRPr sz="2100"/>
          </a:p>
        </p:txBody>
      </p:sp>
      <p:graphicFrame>
        <p:nvGraphicFramePr>
          <p:cNvPr id="213" name="Google Shape;213;p8"/>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833425"/>
                <a:gridCol w="1725575"/>
                <a:gridCol w="2156975"/>
                <a:gridCol w="2049125"/>
                <a:gridCol w="1509875"/>
                <a:gridCol w="1509875"/>
              </a:tblGrid>
              <a:tr h="543550">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Modèle</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Capture le non-linéaire</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Extrapolation</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Interprétabilité</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Volume de données adapté</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200"/>
                        <a:buFont typeface="DM Sans"/>
                        <a:buNone/>
                      </a:pPr>
                      <a:r>
                        <a:rPr b="1" lang="en-US" sz="1200" u="none" cap="none" strike="noStrike">
                          <a:solidFill>
                            <a:srgbClr val="FFFFFF"/>
                          </a:solidFill>
                          <a:latin typeface="DM Sans"/>
                          <a:ea typeface="DM Sans"/>
                          <a:cs typeface="DM Sans"/>
                          <a:sym typeface="DM Sans"/>
                        </a:rPr>
                        <a:t>Complexité d’implémentation</a:t>
                      </a:r>
                      <a:endParaRPr sz="1200" u="none" cap="none" strike="noStrike">
                        <a:latin typeface="DM Sans"/>
                        <a:ea typeface="DM Sans"/>
                        <a:cs typeface="DM Sans"/>
                        <a:sym typeface="DM Sans"/>
                      </a:endParaRPr>
                    </a:p>
                  </a:txBody>
                  <a:tcPr marT="53350" marB="53350" marR="53350" marL="5335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3020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RL (existant)</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Non</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Bonne (linéaire)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Excellente (coefficients)</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Déjà fait</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3020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RN (existant)</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à élevée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Déjà fait</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54355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Forêt aléatoire</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(plafonne)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(importance)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Facile (scikit-learn)</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543550">
                <a:tc>
                  <a:txBody>
                    <a:bodyPr/>
                    <a:lstStyle/>
                    <a:p>
                      <a:pPr indent="0" lvl="0" marL="0" marR="0" rtl="0" algn="l">
                        <a:lnSpc>
                          <a:spcPct val="140000"/>
                        </a:lnSpc>
                        <a:spcBef>
                          <a:spcPts val="0"/>
                        </a:spcBef>
                        <a:spcAft>
                          <a:spcPts val="0"/>
                        </a:spcAft>
                        <a:buClr>
                          <a:srgbClr val="6B3FA0"/>
                        </a:buClr>
                        <a:buSzPts val="1200"/>
                        <a:buFont typeface="DM Sans"/>
                        <a:buNone/>
                      </a:pPr>
                      <a:r>
                        <a:rPr lang="en-US" sz="1200" u="none" cap="none" strike="noStrike">
                          <a:solidFill>
                            <a:srgbClr val="6B3FA0"/>
                          </a:solidFill>
                          <a:latin typeface="DM Sans"/>
                          <a:ea typeface="DM Sans"/>
                          <a:cs typeface="DM Sans"/>
                          <a:sym typeface="DM Sans"/>
                        </a:rPr>
                        <a:t>Gradient Boosting</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 très bien</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(plafonne)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(importance)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 à moyenne</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Facile (scikit-learn)</a:t>
                      </a:r>
                      <a:endParaRPr sz="1200" u="none" cap="none" strike="noStrike">
                        <a:latin typeface="DM Sans"/>
                        <a:ea typeface="DM Sans"/>
                        <a:cs typeface="DM Sans"/>
                        <a:sym typeface="DM Sans"/>
                      </a:endParaRPr>
                    </a:p>
                  </a:txBody>
                  <a:tcPr marT="53350" marB="53350" marR="53350" marL="53350">
                    <a:lnL cap="flat" cmpd="sng" w="12700">
                      <a:solidFill>
                        <a:srgbClr val="BAB4C3"/>
                      </a:solidFill>
                      <a:prstDash val="solid"/>
                      <a:round/>
                      <a:headEnd len="sm" w="sm" type="none"/>
                      <a:tailEnd len="sm" w="sm" type="none"/>
                    </a:lnL>
                    <a:lnR cap="flat" cmpd="sng" w="12700">
                      <a:solidFill>
                        <a:srgbClr val="BAB4C3"/>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AB4C3"/>
                      </a:solidFill>
                      <a:prstDash val="solid"/>
                      <a:round/>
                      <a:headEnd len="sm" w="sm" type="none"/>
                      <a:tailEnd len="sm" w="sm" type="none"/>
                    </a:lnB>
                    <a:solidFill>
                      <a:srgbClr val="E9E1F4"/>
                    </a:solidFill>
                  </a:tcPr>
                </a:tc>
              </a:tr>
              <a:tr h="756925">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GAM</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 de façon lisible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Bonne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Très bonne (courbes par variable)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Faible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 (dépendance externe)</a:t>
                      </a:r>
                      <a:endParaRPr sz="1200" u="none" cap="none" strike="noStrike">
                        <a:latin typeface="DM Sans"/>
                        <a:ea typeface="DM Sans"/>
                        <a:cs typeface="DM Sans"/>
                        <a:sym typeface="DM Sans"/>
                      </a:endParaRPr>
                    </a:p>
                  </a:txBody>
                  <a:tcPr marT="53350" marB="53350" marR="53350" marL="5335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AB4C3"/>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543550">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Processus gaussien</a:t>
                      </a:r>
                      <a:endParaRPr sz="1200" u="none" cap="none" strike="noStrike">
                        <a:latin typeface="DM Sans"/>
                        <a:ea typeface="DM Sans"/>
                        <a:cs typeface="DM Sans"/>
                        <a:sym typeface="DM Sans"/>
                      </a:endParaRPr>
                    </a:p>
                  </a:txBody>
                  <a:tcPr marT="53350" marB="53350" marR="53350" marL="5335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Oui</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Excellente (incertitude explicite)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Moyenne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Limité (coût O(n³))</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200"/>
                        <a:buFont typeface="DM Sans"/>
                        <a:buNone/>
                      </a:pPr>
                      <a:r>
                        <a:rPr lang="en-US" sz="1200" u="none" cap="none" strike="noStrike">
                          <a:solidFill>
                            <a:srgbClr val="2B3350"/>
                          </a:solidFill>
                          <a:latin typeface="DM Sans"/>
                          <a:ea typeface="DM Sans"/>
                          <a:cs typeface="DM Sans"/>
                          <a:sym typeface="DM Sans"/>
                        </a:rPr>
                        <a:t>Difficile à grande échelle</a:t>
                      </a:r>
                      <a:endParaRPr sz="1200" u="none" cap="none" strike="noStrike">
                        <a:latin typeface="DM Sans"/>
                        <a:ea typeface="DM Sans"/>
                        <a:cs typeface="DM Sans"/>
                        <a:sym typeface="DM Sans"/>
                      </a:endParaRPr>
                    </a:p>
                  </a:txBody>
                  <a:tcPr marT="53350" marB="53350" marR="53350" marL="5335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sp>
        <p:nvSpPr>
          <p:cNvPr id="214" name="Google Shape;214;p8"/>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215" name="Google Shape;215;p8"/>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8</a:t>
            </a:r>
            <a:endParaRPr sz="12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20" name="Shape 220"/>
        <p:cNvGrpSpPr/>
        <p:nvPr/>
      </p:nvGrpSpPr>
      <p:grpSpPr>
        <a:xfrm>
          <a:off x="0" y="0"/>
          <a:ext cx="0" cy="0"/>
          <a:chOff x="0" y="0"/>
          <a:chExt cx="0" cy="0"/>
        </a:xfrm>
      </p:grpSpPr>
      <p:sp>
        <p:nvSpPr>
          <p:cNvPr id="221" name="Google Shape;221;p9"/>
          <p:cNvSpPr/>
          <p:nvPr/>
        </p:nvSpPr>
        <p:spPr>
          <a:xfrm>
            <a:off x="0" y="0"/>
            <a:ext cx="152400" cy="68580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6B3FA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1</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Le Gradient Boosting est retenu car il répond à la congestion non linéaire sans modifier l’architecture</a:t>
            </a:r>
            <a:endParaRPr sz="2100"/>
          </a:p>
        </p:txBody>
      </p:sp>
      <p:sp>
        <p:nvSpPr>
          <p:cNvPr id="228" name="Google Shape;228;p9"/>
          <p:cNvSpPr/>
          <p:nvPr/>
        </p:nvSpPr>
        <p:spPr>
          <a:xfrm>
            <a:off x="698500" y="1778000"/>
            <a:ext cx="6477000" cy="660400"/>
          </a:xfrm>
          <a:prstGeom prst="roundRect">
            <a:avLst>
              <a:gd fmla="val 19231"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9" name="Google Shape;229;p9"/>
          <p:cNvSpPr/>
          <p:nvPr/>
        </p:nvSpPr>
        <p:spPr>
          <a:xfrm>
            <a:off x="876300" y="1905000"/>
            <a:ext cx="406400" cy="40640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1</a:t>
            </a:r>
            <a:endParaRPr sz="1500">
              <a:solidFill>
                <a:schemeClr val="dk1"/>
              </a:solidFill>
              <a:latin typeface="DM Sans"/>
              <a:ea typeface="DM Sans"/>
              <a:cs typeface="DM Sans"/>
              <a:sym typeface="DM Sans"/>
            </a:endParaRPr>
          </a:p>
        </p:txBody>
      </p:sp>
      <p:sp>
        <p:nvSpPr>
          <p:cNvPr id="230" name="Google Shape;230;p9"/>
          <p:cNvSpPr/>
          <p:nvPr/>
        </p:nvSpPr>
        <p:spPr>
          <a:xfrm>
            <a:off x="1435100" y="1984375"/>
            <a:ext cx="5729478" cy="2730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capte la congestion non linéaire du jeu de démonstration.</a:t>
            </a:r>
            <a:endParaRPr sz="1500">
              <a:solidFill>
                <a:schemeClr val="dk1"/>
              </a:solidFill>
              <a:latin typeface="DM Sans"/>
              <a:ea typeface="DM Sans"/>
              <a:cs typeface="DM Sans"/>
              <a:sym typeface="DM Sans"/>
            </a:endParaRPr>
          </a:p>
        </p:txBody>
      </p:sp>
      <p:sp>
        <p:nvSpPr>
          <p:cNvPr id="231" name="Google Shape;231;p9"/>
          <p:cNvSpPr/>
          <p:nvPr/>
        </p:nvSpPr>
        <p:spPr>
          <a:xfrm>
            <a:off x="698500" y="2552700"/>
            <a:ext cx="6477000" cy="749300"/>
          </a:xfrm>
          <a:prstGeom prst="roundRect">
            <a:avLst>
              <a:gd fmla="val 16949"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2" name="Google Shape;232;p9"/>
          <p:cNvSpPr/>
          <p:nvPr/>
        </p:nvSpPr>
        <p:spPr>
          <a:xfrm>
            <a:off x="876300" y="2724150"/>
            <a:ext cx="406400" cy="40640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2</a:t>
            </a:r>
            <a:endParaRPr sz="1500">
              <a:solidFill>
                <a:schemeClr val="dk1"/>
              </a:solidFill>
              <a:latin typeface="DM Sans"/>
              <a:ea typeface="DM Sans"/>
              <a:cs typeface="DM Sans"/>
              <a:sym typeface="DM Sans"/>
            </a:endParaRPr>
          </a:p>
        </p:txBody>
      </p:sp>
      <p:sp>
        <p:nvSpPr>
          <p:cNvPr id="233" name="Google Shape;233;p9"/>
          <p:cNvSpPr/>
          <p:nvPr/>
        </p:nvSpPr>
        <p:spPr>
          <a:xfrm>
            <a:off x="1435100" y="2679700"/>
            <a:ext cx="5729478"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s’intègre sans modifier l’architecture (modeles_versions, ml/entrainement.py).</a:t>
            </a:r>
            <a:endParaRPr sz="1500">
              <a:solidFill>
                <a:schemeClr val="dk1"/>
              </a:solidFill>
              <a:latin typeface="DM Sans"/>
              <a:ea typeface="DM Sans"/>
              <a:cs typeface="DM Sans"/>
              <a:sym typeface="DM Sans"/>
            </a:endParaRPr>
          </a:p>
        </p:txBody>
      </p:sp>
      <p:sp>
        <p:nvSpPr>
          <p:cNvPr id="234" name="Google Shape;234;p9"/>
          <p:cNvSpPr/>
          <p:nvPr/>
        </p:nvSpPr>
        <p:spPr>
          <a:xfrm>
            <a:off x="698500" y="3416300"/>
            <a:ext cx="6477000" cy="749300"/>
          </a:xfrm>
          <a:prstGeom prst="roundRect">
            <a:avLst>
              <a:gd fmla="val 16949"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5" name="Google Shape;235;p9"/>
          <p:cNvSpPr/>
          <p:nvPr/>
        </p:nvSpPr>
        <p:spPr>
          <a:xfrm>
            <a:off x="876300" y="3587750"/>
            <a:ext cx="406400" cy="40640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3</a:t>
            </a:r>
            <a:endParaRPr sz="1500">
              <a:solidFill>
                <a:schemeClr val="dk1"/>
              </a:solidFill>
              <a:latin typeface="DM Sans"/>
              <a:ea typeface="DM Sans"/>
              <a:cs typeface="DM Sans"/>
              <a:sym typeface="DM Sans"/>
            </a:endParaRPr>
          </a:p>
        </p:txBody>
      </p:sp>
      <p:sp>
        <p:nvSpPr>
          <p:cNvPr id="236" name="Google Shape;236;p9"/>
          <p:cNvSpPr/>
          <p:nvPr/>
        </p:nvSpPr>
        <p:spPr>
          <a:xfrm>
            <a:off x="1435100" y="3543300"/>
            <a:ext cx="5729478"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FFFFFF"/>
              </a:buClr>
              <a:buSzPts val="1500"/>
              <a:buFont typeface="DM Sans"/>
              <a:buNone/>
            </a:pPr>
            <a:r>
              <a:rPr lang="en-US" sz="1500">
                <a:solidFill>
                  <a:srgbClr val="FFFFFF"/>
                </a:solidFill>
                <a:latin typeface="DM Sans"/>
                <a:ea typeface="DM Sans"/>
                <a:cs typeface="DM Sans"/>
                <a:sym typeface="DM Sans"/>
              </a:rPr>
              <a:t>Il compare trois approches : mêmes métriques, même taux de victoire.</a:t>
            </a:r>
            <a:endParaRPr sz="1500">
              <a:solidFill>
                <a:schemeClr val="dk1"/>
              </a:solidFill>
              <a:latin typeface="DM Sans"/>
              <a:ea typeface="DM Sans"/>
              <a:cs typeface="DM Sans"/>
              <a:sym typeface="DM Sans"/>
            </a:endParaRPr>
          </a:p>
        </p:txBody>
      </p:sp>
      <p:sp>
        <p:nvSpPr>
          <p:cNvPr id="237" name="Google Shape;237;p9"/>
          <p:cNvSpPr/>
          <p:nvPr/>
        </p:nvSpPr>
        <p:spPr>
          <a:xfrm>
            <a:off x="698500" y="4279900"/>
            <a:ext cx="6477000" cy="527050"/>
          </a:xfrm>
          <a:prstGeom prst="roundRect">
            <a:avLst>
              <a:gd fmla="val 24096" name="adj"/>
            </a:avLst>
          </a:prstGeom>
          <a:solidFill>
            <a:srgbClr val="B39DDB"/>
          </a:solidFill>
          <a:ln>
            <a:noFill/>
          </a:ln>
        </p:spPr>
        <p:txBody>
          <a:bodyPr anchorCtr="0" anchor="t" bIns="77100" lIns="140600" spcFirstLastPara="1" rIns="0" wrap="square" tIns="102500">
            <a:normAutofit/>
          </a:bodyPr>
          <a:lstStyle/>
          <a:p>
            <a:pPr indent="0" lvl="0" marL="0" marR="0" rtl="0" algn="l">
              <a:lnSpc>
                <a:spcPct val="130000"/>
              </a:lnSpc>
              <a:spcBef>
                <a:spcPts val="0"/>
              </a:spcBef>
              <a:spcAft>
                <a:spcPts val="0"/>
              </a:spcAft>
              <a:buClr>
                <a:srgbClr val="1B2A4A"/>
              </a:buClr>
              <a:buSzPts val="1500"/>
              <a:buFont typeface="DM Sans"/>
              <a:buNone/>
            </a:pPr>
            <a:r>
              <a:rPr lang="en-US" sz="1500">
                <a:solidFill>
                  <a:srgbClr val="1B2A4A"/>
                </a:solidFill>
                <a:latin typeface="DM Sans"/>
                <a:ea typeface="DM Sans"/>
                <a:cs typeface="DM Sans"/>
                <a:sym typeface="DM Sans"/>
              </a:rPr>
              <a:t>Limite assumée : pas d’extrapolation ; la RL reste le filet de sécurité.</a:t>
            </a:r>
            <a:endParaRPr sz="1500">
              <a:solidFill>
                <a:schemeClr val="dk1"/>
              </a:solidFill>
              <a:latin typeface="DM Sans"/>
              <a:ea typeface="DM Sans"/>
              <a:cs typeface="DM Sans"/>
              <a:sym typeface="DM Sans"/>
            </a:endParaRPr>
          </a:p>
        </p:txBody>
      </p:sp>
      <p:sp>
        <p:nvSpPr>
          <p:cNvPr id="238" name="Google Shape;238;p9"/>
          <p:cNvSpPr/>
          <p:nvPr/>
        </p:nvSpPr>
        <p:spPr>
          <a:xfrm>
            <a:off x="7429500" y="1778000"/>
            <a:ext cx="4064000" cy="2719070"/>
          </a:xfrm>
          <a:prstGeom prst="roundRect">
            <a:avLst>
              <a:gd fmla="val 5605"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39" name="Google Shape;239;p9"/>
          <p:cNvSpPr/>
          <p:nvPr/>
        </p:nvSpPr>
        <p:spPr>
          <a:xfrm>
            <a:off x="7645400" y="1968500"/>
            <a:ext cx="3741166" cy="247650"/>
          </a:xfrm>
          <a:prstGeom prst="rect">
            <a:avLst/>
          </a:prstGeom>
          <a:noFill/>
          <a:ln>
            <a:noFill/>
          </a:ln>
        </p:spPr>
        <p:txBody>
          <a:bodyPr anchorCtr="0" anchor="t" bIns="0" lIns="0" spcFirstLastPara="1" rIns="0" wrap="square" tIns="0">
            <a:normAutofit/>
          </a:bodyPr>
          <a:lstStyle/>
          <a:p>
            <a:pPr indent="0" lvl="0" marL="0" marR="0" rtl="0" algn="l">
              <a:lnSpc>
                <a:spcPct val="125000"/>
              </a:lnSpc>
              <a:spcBef>
                <a:spcPts val="0"/>
              </a:spcBef>
              <a:spcAft>
                <a:spcPts val="0"/>
              </a:spcAft>
              <a:buClr>
                <a:srgbClr val="7ACFC0"/>
              </a:buClr>
              <a:buSzPts val="1400"/>
              <a:buFont typeface="Sora"/>
              <a:buNone/>
            </a:pPr>
            <a:r>
              <a:rPr b="1" lang="en-US" sz="1400">
                <a:solidFill>
                  <a:srgbClr val="7ACFC0"/>
                </a:solidFill>
                <a:latin typeface="Sora"/>
                <a:ea typeface="Sora"/>
                <a:cs typeface="Sora"/>
                <a:sym typeface="Sora"/>
              </a:rPr>
              <a:t>Alternatives étudiées et non retenues</a:t>
            </a:r>
            <a:endParaRPr sz="1400">
              <a:solidFill>
                <a:schemeClr val="dk1"/>
              </a:solidFill>
              <a:latin typeface="DM Sans"/>
              <a:ea typeface="DM Sans"/>
              <a:cs typeface="DM Sans"/>
              <a:sym typeface="DM Sans"/>
            </a:endParaRPr>
          </a:p>
        </p:txBody>
      </p:sp>
      <p:sp>
        <p:nvSpPr>
          <p:cNvPr id="240" name="Google Shape;240;p9"/>
          <p:cNvSpPr/>
          <p:nvPr/>
        </p:nvSpPr>
        <p:spPr>
          <a:xfrm>
            <a:off x="7645400" y="2355850"/>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Forêt aléatoire</a:t>
            </a:r>
            <a:endParaRPr sz="1500">
              <a:solidFill>
                <a:schemeClr val="dk1"/>
              </a:solidFill>
              <a:latin typeface="DM Sans"/>
              <a:ea typeface="DM Sans"/>
              <a:cs typeface="DM Sans"/>
              <a:sym typeface="DM Sans"/>
            </a:endParaRPr>
          </a:p>
        </p:txBody>
      </p:sp>
      <p:sp>
        <p:nvSpPr>
          <p:cNvPr id="241" name="Google Shape;241;p9"/>
          <p:cNvSpPr/>
          <p:nvPr/>
        </p:nvSpPr>
        <p:spPr>
          <a:xfrm>
            <a:off x="7645400" y="2609850"/>
            <a:ext cx="3741166" cy="24003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Même limite d’extrapolation</a:t>
            </a:r>
            <a:endParaRPr sz="1300">
              <a:solidFill>
                <a:schemeClr val="dk1"/>
              </a:solidFill>
              <a:latin typeface="DM Sans"/>
              <a:ea typeface="DM Sans"/>
              <a:cs typeface="DM Sans"/>
              <a:sym typeface="DM Sans"/>
            </a:endParaRPr>
          </a:p>
        </p:txBody>
      </p:sp>
      <p:sp>
        <p:nvSpPr>
          <p:cNvPr id="242" name="Google Shape;242;p9"/>
          <p:cNvSpPr/>
          <p:nvPr/>
        </p:nvSpPr>
        <p:spPr>
          <a:xfrm>
            <a:off x="7645400" y="2989579"/>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GAM</a:t>
            </a:r>
            <a:endParaRPr sz="1500">
              <a:solidFill>
                <a:schemeClr val="dk1"/>
              </a:solidFill>
              <a:latin typeface="DM Sans"/>
              <a:ea typeface="DM Sans"/>
              <a:cs typeface="DM Sans"/>
              <a:sym typeface="DM Sans"/>
            </a:endParaRPr>
          </a:p>
        </p:txBody>
      </p:sp>
      <p:sp>
        <p:nvSpPr>
          <p:cNvPr id="243" name="Google Shape;243;p9"/>
          <p:cNvSpPr/>
          <p:nvPr/>
        </p:nvSpPr>
        <p:spPr>
          <a:xfrm>
            <a:off x="7645400" y="3243579"/>
            <a:ext cx="3741166" cy="45466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Dépendance externe (pygam), paramétrage plus complexe</a:t>
            </a:r>
            <a:endParaRPr sz="1300">
              <a:solidFill>
                <a:schemeClr val="dk1"/>
              </a:solidFill>
              <a:latin typeface="DM Sans"/>
              <a:ea typeface="DM Sans"/>
              <a:cs typeface="DM Sans"/>
              <a:sym typeface="DM Sans"/>
            </a:endParaRPr>
          </a:p>
        </p:txBody>
      </p:sp>
      <p:sp>
        <p:nvSpPr>
          <p:cNvPr id="244" name="Google Shape;244;p9"/>
          <p:cNvSpPr/>
          <p:nvPr/>
        </p:nvSpPr>
        <p:spPr>
          <a:xfrm>
            <a:off x="7645400" y="3837942"/>
            <a:ext cx="3741166" cy="2540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1500"/>
              <a:buFont typeface="DM Sans"/>
              <a:buNone/>
            </a:pPr>
            <a:r>
              <a:rPr b="1" lang="en-US" sz="1500">
                <a:solidFill>
                  <a:srgbClr val="FFFFFF"/>
                </a:solidFill>
                <a:latin typeface="DM Sans"/>
                <a:ea typeface="DM Sans"/>
                <a:cs typeface="DM Sans"/>
                <a:sym typeface="DM Sans"/>
              </a:rPr>
              <a:t>Processus gaussien</a:t>
            </a:r>
            <a:endParaRPr sz="1500">
              <a:solidFill>
                <a:schemeClr val="dk1"/>
              </a:solidFill>
              <a:latin typeface="DM Sans"/>
              <a:ea typeface="DM Sans"/>
              <a:cs typeface="DM Sans"/>
              <a:sym typeface="DM Sans"/>
            </a:endParaRPr>
          </a:p>
        </p:txBody>
      </p:sp>
      <p:sp>
        <p:nvSpPr>
          <p:cNvPr id="245" name="Google Shape;245;p9"/>
          <p:cNvSpPr/>
          <p:nvPr/>
        </p:nvSpPr>
        <p:spPr>
          <a:xfrm>
            <a:off x="7645400" y="4091942"/>
            <a:ext cx="3741166" cy="24003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1E8"/>
              </a:buClr>
              <a:buSzPts val="1300"/>
              <a:buFont typeface="DM Sans"/>
              <a:buNone/>
            </a:pPr>
            <a:r>
              <a:rPr lang="en-US" sz="1300">
                <a:solidFill>
                  <a:srgbClr val="C9D1E8"/>
                </a:solidFill>
                <a:latin typeface="DM Sans"/>
                <a:ea typeface="DM Sans"/>
                <a:cs typeface="DM Sans"/>
                <a:sym typeface="DM Sans"/>
              </a:rPr>
              <a:t>Coût O(n³), inadapté à la production</a:t>
            </a:r>
            <a:endParaRPr sz="1300">
              <a:solidFill>
                <a:schemeClr val="dk1"/>
              </a:solidFill>
              <a:latin typeface="DM Sans"/>
              <a:ea typeface="DM Sans"/>
              <a:cs typeface="DM Sans"/>
              <a:sym typeface="DM Sans"/>
            </a:endParaRPr>
          </a:p>
        </p:txBody>
      </p:sp>
      <p:sp>
        <p:nvSpPr>
          <p:cNvPr id="246" name="Google Shape;246;p9"/>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A9B4D0"/>
              </a:buClr>
              <a:buSzPts val="1200"/>
              <a:buFont typeface="DM Sans"/>
              <a:buNone/>
            </a:pPr>
            <a:r>
              <a:rPr lang="en-US" sz="1200">
                <a:solidFill>
                  <a:srgbClr val="A9B4D0"/>
                </a:solidFill>
                <a:latin typeface="DM Sans"/>
                <a:ea typeface="DM Sans"/>
                <a:cs typeface="DM Sans"/>
                <a:sym typeface="DM Sans"/>
              </a:rPr>
              <a:t>Intégration dans l’application : à venir</a:t>
            </a:r>
            <a:endParaRPr sz="1200">
              <a:solidFill>
                <a:schemeClr val="dk1"/>
              </a:solidFill>
              <a:latin typeface="DM Sans"/>
              <a:ea typeface="DM Sans"/>
              <a:cs typeface="DM Sans"/>
              <a:sym typeface="DM Sans"/>
            </a:endParaRPr>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9</a:t>
            </a:r>
            <a:endParaRPr sz="1200">
              <a:solidFill>
                <a:schemeClr val="dk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252" name="Shape 252"/>
        <p:cNvGrpSpPr/>
        <p:nvPr/>
      </p:nvGrpSpPr>
      <p:grpSpPr>
        <a:xfrm>
          <a:off x="0" y="0"/>
          <a:ext cx="0" cy="0"/>
          <a:chOff x="0" y="0"/>
          <a:chExt cx="0" cy="0"/>
        </a:xfrm>
      </p:grpSpPr>
      <p:sp>
        <p:nvSpPr>
          <p:cNvPr id="253" name="Google Shape;253;p10"/>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4" name="Google Shape;254;p10"/>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5" name="Google Shape;255;p10"/>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6" name="Google Shape;256;p10"/>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7" name="Google Shape;257;p10"/>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58" name="Google Shape;258;p10"/>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4</a:t>
            </a:r>
            <a:endParaRPr sz="1200">
              <a:solidFill>
                <a:schemeClr val="dk1"/>
              </a:solidFill>
              <a:latin typeface="DM Sans"/>
              <a:ea typeface="DM Sans"/>
              <a:cs typeface="DM Sans"/>
              <a:sym typeface="DM Sans"/>
            </a:endParaRPr>
          </a:p>
        </p:txBody>
      </p:sp>
      <p:sp>
        <p:nvSpPr>
          <p:cNvPr id="259" name="Google Shape;259;p10"/>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L’apport du Gradient Boosting sera mesuré sur quatre indicateurs après intégration</a:t>
            </a:r>
            <a:endParaRPr sz="2100"/>
          </a:p>
        </p:txBody>
      </p:sp>
      <p:sp>
        <p:nvSpPr>
          <p:cNvPr id="260" name="Google Shape;260;p10"/>
          <p:cNvSpPr/>
          <p:nvPr/>
        </p:nvSpPr>
        <p:spPr>
          <a:xfrm>
            <a:off x="698500" y="1778000"/>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1" name="Google Shape;261;p10"/>
          <p:cNvSpPr/>
          <p:nvPr/>
        </p:nvSpPr>
        <p:spPr>
          <a:xfrm>
            <a:off x="698500" y="1778000"/>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2" name="Google Shape;262;p10"/>
          <p:cNvSpPr/>
          <p:nvPr/>
        </p:nvSpPr>
        <p:spPr>
          <a:xfrm>
            <a:off x="1028700" y="1993900"/>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4A9BE0"/>
                </a:solidFill>
                <a:latin typeface="Sora"/>
                <a:ea typeface="Sora"/>
                <a:cs typeface="Sora"/>
                <a:sym typeface="Sora"/>
              </a:rPr>
              <a:t>−96,1 % par rapport à la RL</a:t>
            </a:r>
            <a:endParaRPr sz="2800">
              <a:solidFill>
                <a:schemeClr val="dk1"/>
              </a:solidFill>
              <a:latin typeface="DM Sans"/>
              <a:ea typeface="DM Sans"/>
              <a:cs typeface="DM Sans"/>
              <a:sym typeface="DM Sans"/>
            </a:endParaRPr>
          </a:p>
        </p:txBody>
      </p:sp>
      <p:sp>
        <p:nvSpPr>
          <p:cNvPr id="263" name="Google Shape;263;p10"/>
          <p:cNvSpPr/>
          <p:nvPr/>
        </p:nvSpPr>
        <p:spPr>
          <a:xfrm>
            <a:off x="1028700" y="2473958"/>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Réduction de l’erreur (RMSE) du Gradient Boosting par rapport à la RL</a:t>
            </a:r>
            <a:endParaRPr sz="1500">
              <a:solidFill>
                <a:schemeClr val="dk1"/>
              </a:solidFill>
              <a:latin typeface="DM Sans"/>
              <a:ea typeface="DM Sans"/>
              <a:cs typeface="DM Sans"/>
              <a:sym typeface="DM Sans"/>
            </a:endParaRPr>
          </a:p>
        </p:txBody>
      </p:sp>
      <p:sp>
        <p:nvSpPr>
          <p:cNvPr id="264" name="Google Shape;264;p10"/>
          <p:cNvSpPr/>
          <p:nvPr/>
        </p:nvSpPr>
        <p:spPr>
          <a:xfrm>
            <a:off x="6184900" y="1778000"/>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5" name="Google Shape;265;p10"/>
          <p:cNvSpPr/>
          <p:nvPr/>
        </p:nvSpPr>
        <p:spPr>
          <a:xfrm>
            <a:off x="6184900" y="1778000"/>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6" name="Google Shape;266;p10"/>
          <p:cNvSpPr/>
          <p:nvPr/>
        </p:nvSpPr>
        <p:spPr>
          <a:xfrm>
            <a:off x="6515100" y="1993900"/>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B39DDB"/>
                </a:solidFill>
                <a:latin typeface="Sora"/>
                <a:ea typeface="Sora"/>
                <a:cs typeface="Sora"/>
                <a:sym typeface="Sora"/>
              </a:rPr>
              <a:t>−96,7 % par rapport au RN</a:t>
            </a:r>
            <a:endParaRPr sz="2800">
              <a:solidFill>
                <a:schemeClr val="dk1"/>
              </a:solidFill>
              <a:latin typeface="DM Sans"/>
              <a:ea typeface="DM Sans"/>
              <a:cs typeface="DM Sans"/>
              <a:sym typeface="DM Sans"/>
            </a:endParaRPr>
          </a:p>
        </p:txBody>
      </p:sp>
      <p:sp>
        <p:nvSpPr>
          <p:cNvPr id="267" name="Google Shape;267;p10"/>
          <p:cNvSpPr/>
          <p:nvPr/>
        </p:nvSpPr>
        <p:spPr>
          <a:xfrm>
            <a:off x="6515100" y="2473958"/>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Réduction de l’erreur (MAPE) du Gradient Boosting par rapport au RN</a:t>
            </a:r>
            <a:endParaRPr sz="1500">
              <a:solidFill>
                <a:schemeClr val="dk1"/>
              </a:solidFill>
              <a:latin typeface="DM Sans"/>
              <a:ea typeface="DM Sans"/>
              <a:cs typeface="DM Sans"/>
              <a:sym typeface="DM Sans"/>
            </a:endParaRPr>
          </a:p>
        </p:txBody>
      </p:sp>
      <p:sp>
        <p:nvSpPr>
          <p:cNvPr id="268" name="Google Shape;268;p10"/>
          <p:cNvSpPr/>
          <p:nvPr/>
        </p:nvSpPr>
        <p:spPr>
          <a:xfrm>
            <a:off x="698500" y="3362958"/>
            <a:ext cx="5308600" cy="140716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69" name="Google Shape;269;p10"/>
          <p:cNvSpPr/>
          <p:nvPr/>
        </p:nvSpPr>
        <p:spPr>
          <a:xfrm>
            <a:off x="698500" y="3362958"/>
            <a:ext cx="5308600" cy="140716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0" name="Google Shape;270;p10"/>
          <p:cNvSpPr/>
          <p:nvPr/>
        </p:nvSpPr>
        <p:spPr>
          <a:xfrm>
            <a:off x="1028700" y="3578858"/>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7ACFC0"/>
                </a:solidFill>
                <a:latin typeface="Sora"/>
                <a:ea typeface="Sora"/>
                <a:cs typeface="Sora"/>
                <a:sym typeface="Sora"/>
              </a:rPr>
              <a:t>94,1 %</a:t>
            </a:r>
            <a:endParaRPr sz="2800">
              <a:solidFill>
                <a:schemeClr val="dk1"/>
              </a:solidFill>
              <a:latin typeface="DM Sans"/>
              <a:ea typeface="DM Sans"/>
              <a:cs typeface="DM Sans"/>
              <a:sym typeface="DM Sans"/>
            </a:endParaRPr>
          </a:p>
        </p:txBody>
      </p:sp>
      <p:sp>
        <p:nvSpPr>
          <p:cNvPr id="271" name="Google Shape;271;p10"/>
          <p:cNvSpPr/>
          <p:nvPr/>
        </p:nvSpPr>
        <p:spPr>
          <a:xfrm>
            <a:off x="1028700" y="4058927"/>
            <a:ext cx="4866132"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Taux de victoire de chaque modèle sur les mêmes jeux de test</a:t>
            </a:r>
            <a:endParaRPr sz="1500">
              <a:solidFill>
                <a:schemeClr val="dk1"/>
              </a:solidFill>
              <a:latin typeface="DM Sans"/>
              <a:ea typeface="DM Sans"/>
              <a:cs typeface="DM Sans"/>
              <a:sym typeface="DM Sans"/>
            </a:endParaRPr>
          </a:p>
        </p:txBody>
      </p:sp>
      <p:sp>
        <p:nvSpPr>
          <p:cNvPr id="272" name="Google Shape;272;p10"/>
          <p:cNvSpPr/>
          <p:nvPr/>
        </p:nvSpPr>
        <p:spPr>
          <a:xfrm>
            <a:off x="6184950" y="3378173"/>
            <a:ext cx="5308500" cy="1826100"/>
          </a:xfrm>
          <a:prstGeom prst="roundRect">
            <a:avLst>
              <a:gd fmla="val 10830"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3" name="Google Shape;273;p10"/>
          <p:cNvSpPr/>
          <p:nvPr/>
        </p:nvSpPr>
        <p:spPr>
          <a:xfrm>
            <a:off x="6184900" y="3362950"/>
            <a:ext cx="5308600" cy="1825790"/>
          </a:xfrm>
          <a:custGeom>
            <a:rect b="b" l="l" r="r" t="t"/>
            <a:pathLst>
              <a:path extrusionOk="0" h="1407160" w="5308600">
                <a:moveTo>
                  <a:pt x="152400" y="1407160"/>
                </a:moveTo>
                <a:lnTo>
                  <a:pt x="152400" y="1407160"/>
                </a:lnTo>
                <a:cubicBezTo>
                  <a:pt x="68232" y="1407160"/>
                  <a:pt x="0" y="1338928"/>
                  <a:pt x="0" y="1254760"/>
                </a:cubicBezTo>
                <a:lnTo>
                  <a:pt x="0" y="152400"/>
                </a:lnTo>
                <a:cubicBezTo>
                  <a:pt x="0" y="68232"/>
                  <a:pt x="68232" y="0"/>
                  <a:pt x="152400" y="0"/>
                </a:cubicBezTo>
                <a:lnTo>
                  <a:pt x="152400" y="0"/>
                </a:lnTo>
                <a:cubicBezTo>
                  <a:pt x="110316" y="0"/>
                  <a:pt x="76200" y="68232"/>
                  <a:pt x="76200" y="152400"/>
                </a:cubicBezTo>
                <a:lnTo>
                  <a:pt x="76200" y="1254760"/>
                </a:lnTo>
                <a:cubicBezTo>
                  <a:pt x="76200" y="1338928"/>
                  <a:pt x="110316" y="1407160"/>
                  <a:pt x="152400" y="140716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74" name="Google Shape;274;p10"/>
          <p:cNvSpPr/>
          <p:nvPr/>
        </p:nvSpPr>
        <p:spPr>
          <a:xfrm>
            <a:off x="6515100" y="3578858"/>
            <a:ext cx="4866132" cy="41656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None/>
            </a:pPr>
            <a:r>
              <a:rPr b="1" lang="en-US" sz="2800">
                <a:solidFill>
                  <a:srgbClr val="FFFFFF"/>
                </a:solidFill>
                <a:latin typeface="Sora"/>
                <a:ea typeface="Sora"/>
                <a:cs typeface="Sora"/>
                <a:sym typeface="Sora"/>
              </a:rPr>
              <a:t>−96 % par rapport à chacun</a:t>
            </a:r>
            <a:endParaRPr sz="2800">
              <a:solidFill>
                <a:schemeClr val="dk1"/>
              </a:solidFill>
              <a:latin typeface="DM Sans"/>
              <a:ea typeface="DM Sans"/>
              <a:cs typeface="DM Sans"/>
              <a:sym typeface="DM Sans"/>
            </a:endParaRPr>
          </a:p>
        </p:txBody>
      </p:sp>
      <p:sp>
        <p:nvSpPr>
          <p:cNvPr id="275" name="Google Shape;275;p10"/>
          <p:cNvSpPr/>
          <p:nvPr/>
        </p:nvSpPr>
        <p:spPr>
          <a:xfrm>
            <a:off x="6515100" y="4409440"/>
            <a:ext cx="4866000" cy="5208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Erreur sur les jours de congestion (au-delà de 85 % de capacité)</a:t>
            </a:r>
            <a:endParaRPr sz="1500">
              <a:solidFill>
                <a:schemeClr val="dk1"/>
              </a:solidFill>
              <a:latin typeface="DM Sans"/>
              <a:ea typeface="DM Sans"/>
              <a:cs typeface="DM Sans"/>
              <a:sym typeface="DM Sans"/>
            </a:endParaRPr>
          </a:p>
        </p:txBody>
      </p:sp>
      <p:sp>
        <p:nvSpPr>
          <p:cNvPr id="276" name="Google Shape;276;p10"/>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10</a:t>
            </a:r>
            <a:endParaRPr sz="1200">
              <a:solidFill>
                <a:schemeClr val="dk1"/>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81" name="Shape 281"/>
        <p:cNvGrpSpPr/>
        <p:nvPr/>
      </p:nvGrpSpPr>
      <p:grpSpPr>
        <a:xfrm>
          <a:off x="0" y="0"/>
          <a:ext cx="0" cy="0"/>
          <a:chOff x="0" y="0"/>
          <a:chExt cx="0" cy="0"/>
        </a:xfrm>
      </p:grpSpPr>
      <p:sp>
        <p:nvSpPr>
          <p:cNvPr id="282" name="Google Shape;282;p11"/>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3" name="Google Shape;283;p1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4" name="Google Shape;284;p1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5" name="Google Shape;285;p1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6" name="Google Shape;286;p1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87" name="Google Shape;287;p11"/>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288" name="Google Shape;288;p11"/>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Plus d’historique stabilise le réseau de neurones, mais n’améliore pas la régression linéaire</a:t>
            </a:r>
            <a:endParaRPr sz="2100"/>
          </a:p>
        </p:txBody>
      </p:sp>
      <p:sp>
        <p:nvSpPr>
          <p:cNvPr id="289" name="Google Shape;289;p11"/>
          <p:cNvSpPr/>
          <p:nvPr/>
        </p:nvSpPr>
        <p:spPr>
          <a:xfrm>
            <a:off x="708025" y="1787525"/>
            <a:ext cx="10775950" cy="4108450"/>
          </a:xfrm>
          <a:prstGeom prst="roundRect">
            <a:avLst>
              <a:gd fmla="val 3478" name="adj"/>
            </a:avLst>
          </a:prstGeom>
          <a:solidFill>
            <a:srgbClr val="FFFFFF"/>
          </a:solidFill>
          <a:ln cap="flat" cmpd="sng" w="19050">
            <a:solidFill>
              <a:srgbClr val="4A9BE0"/>
            </a:solidFill>
            <a:prstDash val="dash"/>
            <a:round/>
            <a:headEnd len="sm" w="sm" type="none"/>
            <a:tailEnd len="sm" w="sm" type="none"/>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6B7390"/>
              </a:buClr>
              <a:buSzPts val="1500"/>
              <a:buFont typeface="DM Sans"/>
              <a:buNone/>
            </a:pPr>
            <a:r>
              <a:rPr lang="en-US" sz="1500">
                <a:solidFill>
                  <a:srgbClr val="6B7390"/>
                </a:solidFill>
                <a:latin typeface="DM Sans"/>
                <a:ea typeface="DM Sans"/>
                <a:cs typeface="DM Sans"/>
                <a:sym typeface="DM Sans"/>
              </a:rPr>
              <a:t>[Insérer : courbe_apprentissage]</a:t>
            </a:r>
            <a:endParaRPr sz="1500">
              <a:solidFill>
                <a:schemeClr val="dk1"/>
              </a:solidFill>
              <a:latin typeface="DM Sans"/>
              <a:ea typeface="DM Sans"/>
              <a:cs typeface="DM Sans"/>
              <a:sym typeface="DM Sans"/>
            </a:endParaRPr>
          </a:p>
        </p:txBody>
      </p:sp>
      <p:sp>
        <p:nvSpPr>
          <p:cNvPr id="290" name="Google Shape;290;p11"/>
          <p:cNvSpPr/>
          <p:nvPr/>
        </p:nvSpPr>
        <p:spPr>
          <a:xfrm>
            <a:off x="698500" y="6344921"/>
            <a:ext cx="9483725"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Figure 1. Courbes d’apprentissage de la RL et du RN. Source : expérimentations de l’équipe 15, livrable 2.</a:t>
            </a:r>
            <a:endParaRPr sz="1200">
              <a:solidFill>
                <a:schemeClr val="dk1"/>
              </a:solidFill>
              <a:latin typeface="DM Sans"/>
              <a:ea typeface="DM Sans"/>
              <a:cs typeface="DM Sans"/>
              <a:sym typeface="DM Sans"/>
            </a:endParaRPr>
          </a:p>
        </p:txBody>
      </p:sp>
      <p:sp>
        <p:nvSpPr>
          <p:cNvPr id="291" name="Google Shape;291;p11"/>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11</a:t>
            </a:r>
            <a:endParaRPr sz="1200">
              <a:solidFill>
                <a:schemeClr val="dk1"/>
              </a:solidFill>
              <a:latin typeface="DM Sans"/>
              <a:ea typeface="DM Sans"/>
              <a:cs typeface="DM Sans"/>
              <a:sym typeface="DM Sans"/>
            </a:endParaRPr>
          </a:p>
        </p:txBody>
      </p:sp>
      <p:pic>
        <p:nvPicPr>
          <p:cNvPr id="292" name="Google Shape;292;p11"/>
          <p:cNvPicPr preferRelativeResize="0"/>
          <p:nvPr/>
        </p:nvPicPr>
        <p:blipFill rotWithShape="1">
          <a:blip r:embed="rId3">
            <a:alphaModFix/>
          </a:blip>
          <a:srcRect b="0" l="0" r="0" t="0"/>
          <a:stretch/>
        </p:blipFill>
        <p:spPr>
          <a:xfrm>
            <a:off x="553810" y="1660471"/>
            <a:ext cx="11408229" cy="445997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297" name="Shape 297"/>
        <p:cNvGrpSpPr/>
        <p:nvPr/>
      </p:nvGrpSpPr>
      <p:grpSpPr>
        <a:xfrm>
          <a:off x="0" y="0"/>
          <a:ext cx="0" cy="0"/>
          <a:chOff x="0" y="0"/>
          <a:chExt cx="0" cy="0"/>
        </a:xfrm>
      </p:grpSpPr>
      <p:sp>
        <p:nvSpPr>
          <p:cNvPr id="298" name="Google Shape;298;p12"/>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99" name="Google Shape;299;p12"/>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0" name="Google Shape;300;p12"/>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1" name="Google Shape;301;p12"/>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2" name="Google Shape;302;p12"/>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3" name="Google Shape;303;p12"/>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04" name="Google Shape;304;p12"/>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réseau de neurones nécessite environ 250 jours de données pour dépasser la régression linéaire</a:t>
            </a:r>
            <a:endParaRPr sz="2100"/>
          </a:p>
        </p:txBody>
      </p:sp>
      <p:sp>
        <p:nvSpPr>
          <p:cNvPr id="305" name="Google Shape;305;p12"/>
          <p:cNvSpPr/>
          <p:nvPr/>
        </p:nvSpPr>
        <p:spPr>
          <a:xfrm>
            <a:off x="698500" y="1778000"/>
            <a:ext cx="5295900" cy="1470660"/>
          </a:xfrm>
          <a:prstGeom prst="roundRect">
            <a:avLst>
              <a:gd fmla="val 10363" name="adj"/>
            </a:avLst>
          </a:prstGeom>
          <a:solidFill>
            <a:srgbClr val="E3F0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6" name="Google Shape;306;p12"/>
          <p:cNvSpPr/>
          <p:nvPr/>
        </p:nvSpPr>
        <p:spPr>
          <a:xfrm>
            <a:off x="698500" y="1778000"/>
            <a:ext cx="5295900" cy="1470660"/>
          </a:xfrm>
          <a:custGeom>
            <a:rect b="b" l="l" r="r" t="t"/>
            <a:pathLst>
              <a:path extrusionOk="0" h="147066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07" name="Google Shape;307;p12"/>
          <p:cNvSpPr/>
          <p:nvPr/>
        </p:nvSpPr>
        <p:spPr>
          <a:xfrm>
            <a:off x="952500" y="2054864"/>
            <a:ext cx="4931537" cy="3327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B2A4A"/>
              </a:buClr>
              <a:buSzPts val="2200"/>
              <a:buFont typeface="Sora"/>
              <a:buNone/>
            </a:pPr>
            <a:r>
              <a:rPr b="1" lang="en-US" sz="2200">
                <a:solidFill>
                  <a:srgbClr val="1B2A4A"/>
                </a:solidFill>
                <a:latin typeface="Sora"/>
                <a:ea typeface="Sora"/>
                <a:cs typeface="Sora"/>
                <a:sym typeface="Sora"/>
              </a:rPr>
              <a:t>RL</a:t>
            </a:r>
            <a:endParaRPr sz="2200">
              <a:solidFill>
                <a:schemeClr val="dk1"/>
              </a:solidFill>
              <a:latin typeface="DM Sans"/>
              <a:ea typeface="DM Sans"/>
              <a:cs typeface="DM Sans"/>
              <a:sym typeface="DM Sans"/>
            </a:endParaRPr>
          </a:p>
        </p:txBody>
      </p:sp>
      <p:sp>
        <p:nvSpPr>
          <p:cNvPr id="308" name="Google Shape;308;p12"/>
          <p:cNvSpPr/>
          <p:nvPr/>
        </p:nvSpPr>
        <p:spPr>
          <a:xfrm>
            <a:off x="1016508" y="2463800"/>
            <a:ext cx="4859909" cy="594360"/>
          </a:xfrm>
          <a:prstGeom prst="rect">
            <a:avLst/>
          </a:prstGeom>
          <a:noFill/>
          <a:ln>
            <a:noFill/>
          </a:ln>
        </p:spPr>
        <p:txBody>
          <a:bodyPr anchorCtr="0" anchor="t" bIns="0" lIns="0" spcFirstLastPara="1" rIns="0" wrap="square" tIns="0">
            <a:normAutofit/>
          </a:bodyPr>
          <a:lstStyle/>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Écart stable : environ 34 h contre 49 h</a:t>
            </a:r>
            <a:endParaRPr sz="1600">
              <a:solidFill>
                <a:schemeClr val="dk1"/>
              </a:solidFill>
              <a:latin typeface="DM Sans"/>
              <a:ea typeface="DM Sans"/>
              <a:cs typeface="DM Sans"/>
              <a:sym typeface="DM Sans"/>
            </a:endParaRPr>
          </a:p>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Sous-ajustement</a:t>
            </a:r>
            <a:endParaRPr sz="1600">
              <a:solidFill>
                <a:schemeClr val="dk1"/>
              </a:solidFill>
              <a:latin typeface="DM Sans"/>
              <a:ea typeface="DM Sans"/>
              <a:cs typeface="DM Sans"/>
              <a:sym typeface="DM Sans"/>
            </a:endParaRPr>
          </a:p>
        </p:txBody>
      </p:sp>
      <p:sp>
        <p:nvSpPr>
          <p:cNvPr id="309" name="Google Shape;309;p12"/>
          <p:cNvSpPr/>
          <p:nvPr/>
        </p:nvSpPr>
        <p:spPr>
          <a:xfrm>
            <a:off x="6197600" y="1778000"/>
            <a:ext cx="5295900" cy="1470660"/>
          </a:xfrm>
          <a:prstGeom prst="roundRect">
            <a:avLst>
              <a:gd fmla="val 10363" name="adj"/>
            </a:avLst>
          </a:prstGeom>
          <a:solidFill>
            <a:srgbClr val="EFEAF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10" name="Google Shape;310;p12"/>
          <p:cNvSpPr/>
          <p:nvPr/>
        </p:nvSpPr>
        <p:spPr>
          <a:xfrm>
            <a:off x="6197600" y="1778000"/>
            <a:ext cx="5295900" cy="1470660"/>
          </a:xfrm>
          <a:custGeom>
            <a:rect b="b" l="l" r="r" t="t"/>
            <a:pathLst>
              <a:path extrusionOk="0" h="1470660" w="5295900">
                <a:moveTo>
                  <a:pt x="0" y="152400"/>
                </a:moveTo>
                <a:lnTo>
                  <a:pt x="0" y="152400"/>
                </a:lnTo>
                <a:cubicBezTo>
                  <a:pt x="0" y="68232"/>
                  <a:pt x="68232" y="0"/>
                  <a:pt x="152400" y="0"/>
                </a:cubicBezTo>
                <a:lnTo>
                  <a:pt x="5143500" y="0"/>
                </a:lnTo>
                <a:cubicBezTo>
                  <a:pt x="5183919" y="0"/>
                  <a:pt x="5222683" y="16056"/>
                  <a:pt x="5251263" y="44637"/>
                </a:cubicBezTo>
                <a:cubicBezTo>
                  <a:pt x="5279844" y="73217"/>
                  <a:pt x="5295900" y="111981"/>
                  <a:pt x="5295900" y="152400"/>
                </a:cubicBezTo>
                <a:lnTo>
                  <a:pt x="5295900" y="152400"/>
                </a:lnTo>
                <a:cubicBezTo>
                  <a:pt x="5295900" y="103302"/>
                  <a:pt x="5227668" y="63500"/>
                  <a:pt x="51435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11" name="Google Shape;311;p12"/>
          <p:cNvSpPr/>
          <p:nvPr/>
        </p:nvSpPr>
        <p:spPr>
          <a:xfrm>
            <a:off x="6451600" y="2054864"/>
            <a:ext cx="4931537" cy="33274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B2A4A"/>
              </a:buClr>
              <a:buSzPts val="2200"/>
              <a:buFont typeface="Sora"/>
              <a:buNone/>
            </a:pPr>
            <a:r>
              <a:rPr b="1" lang="en-US" sz="2200">
                <a:solidFill>
                  <a:srgbClr val="1B2A4A"/>
                </a:solidFill>
                <a:latin typeface="Sora"/>
                <a:ea typeface="Sora"/>
                <a:cs typeface="Sora"/>
                <a:sym typeface="Sora"/>
              </a:rPr>
              <a:t>RN</a:t>
            </a:r>
            <a:endParaRPr sz="2200">
              <a:solidFill>
                <a:schemeClr val="dk1"/>
              </a:solidFill>
              <a:latin typeface="DM Sans"/>
              <a:ea typeface="DM Sans"/>
              <a:cs typeface="DM Sans"/>
              <a:sym typeface="DM Sans"/>
            </a:endParaRPr>
          </a:p>
        </p:txBody>
      </p:sp>
      <p:sp>
        <p:nvSpPr>
          <p:cNvPr id="312" name="Google Shape;312;p12"/>
          <p:cNvSpPr/>
          <p:nvPr/>
        </p:nvSpPr>
        <p:spPr>
          <a:xfrm>
            <a:off x="6515608" y="2463800"/>
            <a:ext cx="4859909" cy="594360"/>
          </a:xfrm>
          <a:prstGeom prst="rect">
            <a:avLst/>
          </a:prstGeom>
          <a:noFill/>
          <a:ln>
            <a:noFill/>
          </a:ln>
        </p:spPr>
        <p:txBody>
          <a:bodyPr anchorCtr="0" anchor="t" bIns="0" lIns="0" spcFirstLastPara="1" rIns="0" wrap="square" tIns="0">
            <a:normAutofit/>
          </a:bodyPr>
          <a:lstStyle/>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Instable de 30 à 100 jours, jusqu’à environ 190 h</a:t>
            </a:r>
            <a:endParaRPr sz="1600">
              <a:solidFill>
                <a:schemeClr val="dk1"/>
              </a:solidFill>
              <a:latin typeface="DM Sans"/>
              <a:ea typeface="DM Sans"/>
              <a:cs typeface="DM Sans"/>
              <a:sym typeface="DM Sans"/>
            </a:endParaRPr>
          </a:p>
          <a:p>
            <a:pPr indent="-189992" lvl="0" marL="189992" marR="0" rtl="0" algn="l">
              <a:lnSpc>
                <a:spcPct val="140000"/>
              </a:lnSpc>
              <a:spcBef>
                <a:spcPts val="0"/>
              </a:spcBef>
              <a:spcAft>
                <a:spcPts val="0"/>
              </a:spcAft>
              <a:buClr>
                <a:srgbClr val="2B3350"/>
              </a:buClr>
              <a:buSzPts val="1600"/>
              <a:buFont typeface="DM Sans"/>
              <a:buChar char="•"/>
            </a:pPr>
            <a:r>
              <a:rPr lang="en-US" sz="1600">
                <a:solidFill>
                  <a:srgbClr val="2B3350"/>
                </a:solidFill>
                <a:latin typeface="DM Sans"/>
                <a:ea typeface="DM Sans"/>
                <a:cs typeface="DM Sans"/>
                <a:sym typeface="DM Sans"/>
              </a:rPr>
              <a:t>Stable (40 à 55 h) au-delà d’environ 250 jours</a:t>
            </a:r>
            <a:endParaRPr sz="1600">
              <a:solidFill>
                <a:schemeClr val="dk1"/>
              </a:solidFill>
              <a:latin typeface="DM Sans"/>
              <a:ea typeface="DM Sans"/>
              <a:cs typeface="DM Sans"/>
              <a:sym typeface="DM Sans"/>
            </a:endParaRPr>
          </a:p>
        </p:txBody>
      </p:sp>
      <p:sp>
        <p:nvSpPr>
          <p:cNvPr id="313" name="Google Shape;313;p12"/>
          <p:cNvSpPr/>
          <p:nvPr/>
        </p:nvSpPr>
        <p:spPr>
          <a:xfrm>
            <a:off x="698500" y="3451864"/>
            <a:ext cx="10795000" cy="678180"/>
          </a:xfrm>
          <a:prstGeom prst="roundRect">
            <a:avLst>
              <a:gd fmla="val 22472" name="adj"/>
            </a:avLst>
          </a:prstGeom>
          <a:solidFill>
            <a:srgbClr val="1B2A4A"/>
          </a:solidFill>
          <a:ln>
            <a:noFill/>
          </a:ln>
        </p:spPr>
        <p:txBody>
          <a:bodyPr anchorCtr="0" anchor="t" bIns="120450" lIns="234750" spcFirstLastPara="1" rIns="0" wrap="square" tIns="145850">
            <a:normAutofit/>
          </a:bodyPr>
          <a:lstStyle/>
          <a:p>
            <a:pPr indent="0" lvl="0" marL="0" marR="0" rtl="0" algn="l">
              <a:lnSpc>
                <a:spcPct val="130000"/>
              </a:lnSpc>
              <a:spcBef>
                <a:spcPts val="0"/>
              </a:spcBef>
              <a:spcAft>
                <a:spcPts val="0"/>
              </a:spcAft>
              <a:buClr>
                <a:srgbClr val="7ACFC0"/>
              </a:buClr>
              <a:buSzPts val="1800"/>
              <a:buFont typeface="DM Sans"/>
              <a:buNone/>
            </a:pPr>
            <a:r>
              <a:rPr lang="en-US" sz="1800">
                <a:solidFill>
                  <a:srgbClr val="7ACFC0"/>
                </a:solidFill>
                <a:latin typeface="DM Sans"/>
                <a:ea typeface="DM Sans"/>
                <a:cs typeface="DM Sans"/>
                <a:sym typeface="DM Sans"/>
              </a:rPr>
              <a:t>90 jours minimum</a:t>
            </a:r>
            <a:r>
              <a:rPr lang="en-US" sz="1800">
                <a:solidFill>
                  <a:srgbClr val="FFFFFF"/>
                </a:solidFill>
                <a:latin typeface="DM Sans"/>
                <a:ea typeface="DM Sans"/>
                <a:cs typeface="DM Sans"/>
                <a:sym typeface="DM Sans"/>
              </a:rPr>
              <a:t> (UC08), seuil prudent de </a:t>
            </a:r>
            <a:r>
              <a:rPr lang="en-US" sz="1800">
                <a:solidFill>
                  <a:srgbClr val="7ACFC0"/>
                </a:solidFill>
                <a:latin typeface="DM Sans"/>
                <a:ea typeface="DM Sans"/>
                <a:cs typeface="DM Sans"/>
                <a:sym typeface="DM Sans"/>
              </a:rPr>
              <a:t>6 mois</a:t>
            </a:r>
            <a:endParaRPr sz="1800">
              <a:solidFill>
                <a:schemeClr val="dk1"/>
              </a:solidFill>
              <a:latin typeface="DM Sans"/>
              <a:ea typeface="DM Sans"/>
              <a:cs typeface="DM Sans"/>
              <a:sym typeface="DM Sans"/>
            </a:endParaRPr>
          </a:p>
        </p:txBody>
      </p:sp>
      <p:sp>
        <p:nvSpPr>
          <p:cNvPr id="314" name="Google Shape;314;p12"/>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15" name="Google Shape;315;p12"/>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12</a:t>
            </a:r>
            <a:endParaRPr sz="1200">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20" name="Shape 320"/>
        <p:cNvGrpSpPr/>
        <p:nvPr/>
      </p:nvGrpSpPr>
      <p:grpSpPr>
        <a:xfrm>
          <a:off x="0" y="0"/>
          <a:ext cx="0" cy="0"/>
          <a:chOff x="0" y="0"/>
          <a:chExt cx="0" cy="0"/>
        </a:xfrm>
      </p:grpSpPr>
      <p:sp>
        <p:nvSpPr>
          <p:cNvPr id="321" name="Google Shape;321;p13"/>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2" name="Google Shape;322;p1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3" name="Google Shape;323;p1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4" name="Google Shape;324;p1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5" name="Google Shape;325;p1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26" name="Google Shape;326;p13"/>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27" name="Google Shape;327;p13"/>
          <p:cNvSpPr txBox="1"/>
          <p:nvPr>
            <p:ph type="title"/>
          </p:nvPr>
        </p:nvSpPr>
        <p:spPr>
          <a:xfrm>
            <a:off x="698500" y="919479"/>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L’erreur de test se dégrade quand la complexité est trop faible ou trop élevée</a:t>
            </a:r>
            <a:endParaRPr sz="2100"/>
          </a:p>
        </p:txBody>
      </p:sp>
      <p:sp>
        <p:nvSpPr>
          <p:cNvPr id="328" name="Google Shape;328;p13"/>
          <p:cNvSpPr/>
          <p:nvPr/>
        </p:nvSpPr>
        <p:spPr>
          <a:xfrm>
            <a:off x="708025" y="1787525"/>
            <a:ext cx="10775950" cy="4108450"/>
          </a:xfrm>
          <a:prstGeom prst="roundRect">
            <a:avLst>
              <a:gd fmla="val 3478" name="adj"/>
            </a:avLst>
          </a:prstGeom>
          <a:solidFill>
            <a:srgbClr val="FFFFFF"/>
          </a:solidFill>
          <a:ln cap="flat" cmpd="sng" w="19050">
            <a:solidFill>
              <a:srgbClr val="4A9BE0"/>
            </a:solidFill>
            <a:prstDash val="dash"/>
            <a:round/>
            <a:headEnd len="sm" w="sm" type="none"/>
            <a:tailEnd len="sm" w="sm" type="none"/>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6B7390"/>
              </a:buClr>
              <a:buSzPts val="1500"/>
              <a:buFont typeface="DM Sans"/>
              <a:buNone/>
            </a:pPr>
            <a:r>
              <a:rPr lang="en-US" sz="1500">
                <a:solidFill>
                  <a:srgbClr val="6B7390"/>
                </a:solidFill>
                <a:latin typeface="DM Sans"/>
                <a:ea typeface="DM Sans"/>
                <a:cs typeface="DM Sans"/>
                <a:sym typeface="DM Sans"/>
              </a:rPr>
              <a:t>[Insérer : courbe_validation]</a:t>
            </a:r>
            <a:endParaRPr sz="1500">
              <a:solidFill>
                <a:schemeClr val="dk1"/>
              </a:solidFill>
              <a:latin typeface="DM Sans"/>
              <a:ea typeface="DM Sans"/>
              <a:cs typeface="DM Sans"/>
              <a:sym typeface="DM Sans"/>
            </a:endParaRPr>
          </a:p>
        </p:txBody>
      </p:sp>
      <p:sp>
        <p:nvSpPr>
          <p:cNvPr id="329" name="Google Shape;329;p13"/>
          <p:cNvSpPr/>
          <p:nvPr/>
        </p:nvSpPr>
        <p:spPr>
          <a:xfrm>
            <a:off x="698500" y="6344921"/>
            <a:ext cx="9483725"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Figure 2. Courbes de validation (famille linéaire et RN). Source : expérimentations de l’équipe 15, livrable 2.</a:t>
            </a:r>
            <a:endParaRPr sz="1200">
              <a:solidFill>
                <a:schemeClr val="dk1"/>
              </a:solidFill>
              <a:latin typeface="DM Sans"/>
              <a:ea typeface="DM Sans"/>
              <a:cs typeface="DM Sans"/>
              <a:sym typeface="DM Sans"/>
            </a:endParaRPr>
          </a:p>
        </p:txBody>
      </p:sp>
      <p:sp>
        <p:nvSpPr>
          <p:cNvPr id="330" name="Google Shape;330;p13"/>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13</a:t>
            </a:r>
            <a:endParaRPr sz="1200">
              <a:solidFill>
                <a:schemeClr val="dk1"/>
              </a:solidFill>
              <a:latin typeface="DM Sans"/>
              <a:ea typeface="DM Sans"/>
              <a:cs typeface="DM Sans"/>
              <a:sym typeface="DM Sans"/>
            </a:endParaRPr>
          </a:p>
        </p:txBody>
      </p:sp>
      <p:pic>
        <p:nvPicPr>
          <p:cNvPr id="331" name="Google Shape;331;p13"/>
          <p:cNvPicPr preferRelativeResize="0"/>
          <p:nvPr/>
        </p:nvPicPr>
        <p:blipFill rotWithShape="1">
          <a:blip r:embed="rId3">
            <a:alphaModFix/>
          </a:blip>
          <a:srcRect b="0" l="0" r="0" t="0"/>
          <a:stretch/>
        </p:blipFill>
        <p:spPr>
          <a:xfrm>
            <a:off x="606490" y="1757489"/>
            <a:ext cx="11342914" cy="416852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36" name="Shape 336"/>
        <p:cNvGrpSpPr/>
        <p:nvPr/>
      </p:nvGrpSpPr>
      <p:grpSpPr>
        <a:xfrm>
          <a:off x="0" y="0"/>
          <a:ext cx="0" cy="0"/>
          <a:chOff x="0" y="0"/>
          <a:chExt cx="0" cy="0"/>
        </a:xfrm>
      </p:grpSpPr>
      <p:sp>
        <p:nvSpPr>
          <p:cNvPr id="337" name="Google Shape;337;p14"/>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38" name="Google Shape;338;p14"/>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39" name="Google Shape;339;p14"/>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0" name="Google Shape;340;p14"/>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1" name="Google Shape;341;p14"/>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42" name="Google Shape;342;p14"/>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43" name="Google Shape;343;p14"/>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Les degrés 2 à 3 et les réseaux de 16 à 64 neurones offrent le meilleur compromis</a:t>
            </a:r>
            <a:endParaRPr sz="2100"/>
          </a:p>
        </p:txBody>
      </p:sp>
      <p:graphicFrame>
        <p:nvGraphicFramePr>
          <p:cNvPr id="344" name="Google Shape;344;p14"/>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2156975"/>
                <a:gridCol w="3882550"/>
                <a:gridCol w="4745325"/>
              </a:tblGrid>
              <a:tr h="538475">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Zone</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Famille linéaire</a:t>
                      </a:r>
                      <a:endParaRPr sz="1400" u="none" cap="none" strike="noStrike">
                        <a:latin typeface="DM Sans"/>
                        <a:ea typeface="DM Sans"/>
                        <a:cs typeface="DM Sans"/>
                        <a:sym typeface="DM Sans"/>
                      </a:endParaRPr>
                    </a:p>
                  </a:txBody>
                  <a:tcPr marT="139700" marB="139700" marR="152400" marL="1524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400"/>
                        <a:buFont typeface="DM Sans"/>
                        <a:buNone/>
                      </a:pPr>
                      <a:r>
                        <a:rPr b="1" lang="en-US" sz="1400" u="none" cap="none" strike="noStrike">
                          <a:solidFill>
                            <a:srgbClr val="FFFFFF"/>
                          </a:solidFill>
                          <a:latin typeface="DM Sans"/>
                          <a:ea typeface="DM Sans"/>
                          <a:cs typeface="DM Sans"/>
                          <a:sym typeface="DM Sans"/>
                        </a:rPr>
                        <a:t>RN</a:t>
                      </a:r>
                      <a:endParaRPr sz="1400" u="none" cap="none" strike="noStrike">
                        <a:latin typeface="DM Sans"/>
                        <a:ea typeface="DM Sans"/>
                        <a:cs typeface="DM Sans"/>
                        <a:sym typeface="DM Sans"/>
                      </a:endParaRPr>
                    </a:p>
                  </a:txBody>
                  <a:tcPr marT="139700" marB="139700" marR="152400" marL="1524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538475">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Sous-ajustement</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Degré 1</a:t>
                      </a:r>
                      <a:endParaRPr sz="1400" u="none" cap="none" strike="noStrike">
                        <a:latin typeface="DM Sans"/>
                        <a:ea typeface="DM Sans"/>
                        <a:cs typeface="DM Sans"/>
                        <a:sym typeface="DM Sans"/>
                      </a:endParaRPr>
                    </a:p>
                  </a:txBody>
                  <a:tcPr marT="139700" marB="139700" marR="152400" marL="152400">
                    <a:lnL cap="flat" cmpd="sng" w="12700">
                      <a:solidFill>
                        <a:srgbClr val="A6B7C6"/>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 à 2 neurones (erreur supérieure à 200–400 h)</a:t>
                      </a:r>
                      <a:endParaRPr sz="1400" u="none" cap="none" strike="noStrike">
                        <a:latin typeface="DM Sans"/>
                        <a:ea typeface="DM Sans"/>
                        <a:cs typeface="DM Sans"/>
                        <a:sym typeface="DM Sans"/>
                      </a:endParaRPr>
                    </a:p>
                  </a:txBody>
                  <a:tcPr marT="139700" marB="139700" marR="152400" marL="152400">
                    <a:lnL cap="flat" cmpd="sng" w="12700">
                      <a:solidFill>
                        <a:srgbClr val="A6B7C6"/>
                      </a:solidFill>
                      <a:prstDash val="solid"/>
                      <a:round/>
                      <a:headEnd len="sm" w="sm" type="none"/>
                      <a:tailEnd len="sm" w="sm" type="none"/>
                    </a:lnL>
                    <a:lnR cap="flat" cmpd="sng" w="12700">
                      <a:solidFill>
                        <a:srgbClr val="A6B7C6"/>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A6B7C6"/>
                      </a:solidFill>
                      <a:prstDash val="solid"/>
                      <a:round/>
                      <a:headEnd len="sm" w="sm" type="none"/>
                      <a:tailEnd len="sm" w="sm" type="none"/>
                    </a:lnB>
                    <a:solidFill>
                      <a:srgbClr val="CFE5F8"/>
                    </a:solidFill>
                  </a:tcPr>
                </a:tc>
              </a:tr>
              <a:tr h="538475">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Compromis</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Degrés 2 à 3</a:t>
                      </a:r>
                      <a:endParaRPr sz="1400" u="none" cap="none" strike="noStrike">
                        <a:latin typeface="DM Sans"/>
                        <a:ea typeface="DM Sans"/>
                        <a:cs typeface="DM Sans"/>
                        <a:sym typeface="DM Sans"/>
                      </a:endParaRPr>
                    </a:p>
                  </a:txBody>
                  <a:tcPr marT="139700" marB="139700" marR="152400" marL="152400">
                    <a:lnL cap="flat" cmpd="sng" w="12700">
                      <a:solidFill>
                        <a:srgbClr val="A4BEB9"/>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16 à 64 neurones</a:t>
                      </a:r>
                      <a:endParaRPr sz="1400" u="none" cap="none" strike="noStrike">
                        <a:latin typeface="DM Sans"/>
                        <a:ea typeface="DM Sans"/>
                        <a:cs typeface="DM Sans"/>
                        <a:sym typeface="DM Sans"/>
                      </a:endParaRPr>
                    </a:p>
                  </a:txBody>
                  <a:tcPr marT="139700" marB="139700" marR="152400" marL="152400">
                    <a:lnL cap="flat" cmpd="sng" w="12700">
                      <a:solidFill>
                        <a:srgbClr val="A4BEB9"/>
                      </a:solidFill>
                      <a:prstDash val="solid"/>
                      <a:round/>
                      <a:headEnd len="sm" w="sm" type="none"/>
                      <a:tailEnd len="sm" w="sm" type="none"/>
                    </a:lnL>
                    <a:lnR cap="flat" cmpd="sng" w="12700">
                      <a:solidFill>
                        <a:srgbClr val="A4BEB9"/>
                      </a:solidFill>
                      <a:prstDash val="solid"/>
                      <a:round/>
                      <a:headEnd len="sm" w="sm" type="none"/>
                      <a:tailEnd len="sm" w="sm" type="none"/>
                    </a:lnR>
                    <a:lnT cap="flat" cmpd="sng" w="12700">
                      <a:solidFill>
                        <a:srgbClr val="A6B7C6"/>
                      </a:solidFill>
                      <a:prstDash val="solid"/>
                      <a:round/>
                      <a:headEnd len="sm" w="sm" type="none"/>
                      <a:tailEnd len="sm" w="sm" type="none"/>
                    </a:lnT>
                    <a:lnB cap="flat" cmpd="sng" w="12700">
                      <a:solidFill>
                        <a:srgbClr val="A4BEB9"/>
                      </a:solidFill>
                      <a:prstDash val="solid"/>
                      <a:round/>
                      <a:headEnd len="sm" w="sm" type="none"/>
                      <a:tailEnd len="sm" w="sm" type="none"/>
                    </a:lnB>
                    <a:solidFill>
                      <a:srgbClr val="CDEEE8"/>
                    </a:solidFill>
                  </a:tcPr>
                </a:tc>
              </a:tr>
              <a:tr h="787400">
                <a:tc>
                  <a:txBody>
                    <a:bodyPr/>
                    <a:lstStyle/>
                    <a:p>
                      <a:pPr indent="0" lvl="0" marL="0" marR="0" rtl="0" algn="l">
                        <a:lnSpc>
                          <a:spcPct val="140000"/>
                        </a:lnSpc>
                        <a:spcBef>
                          <a:spcPts val="0"/>
                        </a:spcBef>
                        <a:spcAft>
                          <a:spcPts val="0"/>
                        </a:spcAft>
                        <a:buClr>
                          <a:srgbClr val="1B2A4A"/>
                        </a:buClr>
                        <a:buSzPts val="1400"/>
                        <a:buFont typeface="DM Sans"/>
                        <a:buNone/>
                      </a:pPr>
                      <a:r>
                        <a:rPr lang="en-US" sz="1400" u="none" cap="none" strike="noStrike">
                          <a:solidFill>
                            <a:srgbClr val="1B2A4A"/>
                          </a:solidFill>
                          <a:latin typeface="DM Sans"/>
                          <a:ea typeface="DM Sans"/>
                          <a:cs typeface="DM Sans"/>
                          <a:sym typeface="DM Sans"/>
                        </a:rPr>
                        <a:t>Sur-ajustement</a:t>
                      </a:r>
                      <a:endParaRPr sz="1400" u="none" cap="none" strike="noStrike">
                        <a:latin typeface="DM Sans"/>
                        <a:ea typeface="DM Sans"/>
                        <a:cs typeface="DM Sans"/>
                        <a:sym typeface="DM Sans"/>
                      </a:endParaRPr>
                    </a:p>
                  </a:txBody>
                  <a:tcPr marT="139700" marB="139700" marR="152400" marL="152400">
                    <a:lnL cap="flat" cmpd="sng" w="12700">
                      <a:solidFill>
                        <a:srgbClr val="C3C4C8"/>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À partir du degré 5, erreur de test qui explose</a:t>
                      </a:r>
                      <a:endParaRPr sz="1400" u="none" cap="none" strike="noStrike">
                        <a:latin typeface="DM Sans"/>
                        <a:ea typeface="DM Sans"/>
                        <a:cs typeface="DM Sans"/>
                        <a:sym typeface="DM Sans"/>
                      </a:endParaRPr>
                    </a:p>
                  </a:txBody>
                  <a:tcPr marT="139700" marB="139700" marR="152400" marL="152400">
                    <a:lnL cap="flat" cmpd="sng" w="12700">
                      <a:solidFill>
                        <a:srgbClr val="B5AEC2"/>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c>
                  <a:txBody>
                    <a:bodyPr/>
                    <a:lstStyle/>
                    <a:p>
                      <a:pPr indent="0" lvl="0" marL="0" marR="0" rtl="0" algn="l">
                        <a:lnSpc>
                          <a:spcPct val="140000"/>
                        </a:lnSpc>
                        <a:spcBef>
                          <a:spcPts val="0"/>
                        </a:spcBef>
                        <a:spcAft>
                          <a:spcPts val="0"/>
                        </a:spcAft>
                        <a:buClr>
                          <a:srgbClr val="2B3350"/>
                        </a:buClr>
                        <a:buSzPts val="1400"/>
                        <a:buFont typeface="DM Sans"/>
                        <a:buNone/>
                      </a:pPr>
                      <a:r>
                        <a:rPr lang="en-US" sz="1400" u="none" cap="none" strike="noStrike">
                          <a:solidFill>
                            <a:srgbClr val="2B3350"/>
                          </a:solidFill>
                          <a:latin typeface="DM Sans"/>
                          <a:ea typeface="DM Sans"/>
                          <a:cs typeface="DM Sans"/>
                          <a:sym typeface="DM Sans"/>
                        </a:rPr>
                        <a:t>128 neurones, début de sur-ajustement modéré par early_stopping</a:t>
                      </a:r>
                      <a:endParaRPr sz="1400" u="none" cap="none" strike="noStrike">
                        <a:latin typeface="DM Sans"/>
                        <a:ea typeface="DM Sans"/>
                        <a:cs typeface="DM Sans"/>
                        <a:sym typeface="DM Sans"/>
                      </a:endParaRPr>
                    </a:p>
                  </a:txBody>
                  <a:tcPr marT="139700" marB="139700" marR="152400" marL="152400">
                    <a:lnL cap="flat" cmpd="sng" w="12700">
                      <a:solidFill>
                        <a:srgbClr val="B5AEC2"/>
                      </a:solidFill>
                      <a:prstDash val="solid"/>
                      <a:round/>
                      <a:headEnd len="sm" w="sm" type="none"/>
                      <a:tailEnd len="sm" w="sm" type="none"/>
                    </a:lnL>
                    <a:lnR cap="flat" cmpd="sng" w="12700">
                      <a:solidFill>
                        <a:srgbClr val="B5AEC2"/>
                      </a:solidFill>
                      <a:prstDash val="solid"/>
                      <a:round/>
                      <a:headEnd len="sm" w="sm" type="none"/>
                      <a:tailEnd len="sm" w="sm" type="none"/>
                    </a:lnR>
                    <a:lnT cap="flat" cmpd="sng" w="12700">
                      <a:solidFill>
                        <a:srgbClr val="A4BEB9"/>
                      </a:solidFill>
                      <a:prstDash val="solid"/>
                      <a:round/>
                      <a:headEnd len="sm" w="sm" type="none"/>
                      <a:tailEnd len="sm" w="sm" type="none"/>
                    </a:lnT>
                    <a:lnB cap="flat" cmpd="sng" w="12700">
                      <a:solidFill>
                        <a:srgbClr val="B5AEC2"/>
                      </a:solidFill>
                      <a:prstDash val="solid"/>
                      <a:round/>
                      <a:headEnd len="sm" w="sm" type="none"/>
                      <a:tailEnd len="sm" w="sm" type="none"/>
                    </a:lnB>
                    <a:solidFill>
                      <a:srgbClr val="E2D9F3"/>
                    </a:solidFill>
                  </a:tcPr>
                </a:tc>
              </a:tr>
            </a:tbl>
          </a:graphicData>
        </a:graphic>
      </p:graphicFrame>
      <p:sp>
        <p:nvSpPr>
          <p:cNvPr id="345" name="Google Shape;345;p14"/>
          <p:cNvSpPr/>
          <p:nvPr/>
        </p:nvSpPr>
        <p:spPr>
          <a:xfrm>
            <a:off x="698500" y="4394200"/>
            <a:ext cx="10795000" cy="610870"/>
          </a:xfrm>
          <a:prstGeom prst="roundRect">
            <a:avLst>
              <a:gd fmla="val 24948" name="adj"/>
            </a:avLst>
          </a:prstGeom>
          <a:solidFill>
            <a:srgbClr val="7ACFC0"/>
          </a:solidFill>
          <a:ln>
            <a:noFill/>
          </a:ln>
        </p:spPr>
        <p:txBody>
          <a:bodyPr anchorCtr="0" anchor="t" bIns="95050" lIns="209350" spcFirstLastPara="1" rIns="0" wrap="square" tIns="120450">
            <a:normAutofit/>
          </a:bodyPr>
          <a:lstStyle/>
          <a:p>
            <a:pPr indent="0" lvl="0" marL="0" marR="0" rtl="0" algn="l">
              <a:lnSpc>
                <a:spcPct val="130000"/>
              </a:lnSpc>
              <a:spcBef>
                <a:spcPts val="0"/>
              </a:spcBef>
              <a:spcAft>
                <a:spcPts val="0"/>
              </a:spcAft>
              <a:buClr>
                <a:srgbClr val="1B2A4A"/>
              </a:buClr>
              <a:buSzPts val="1700"/>
              <a:buFont typeface="DM Sans"/>
              <a:buNone/>
            </a:pPr>
            <a:r>
              <a:rPr lang="en-US" sz="1700">
                <a:solidFill>
                  <a:srgbClr val="1B2A4A"/>
                </a:solidFill>
                <a:latin typeface="DM Sans"/>
                <a:ea typeface="DM Sans"/>
                <a:cs typeface="DM Sans"/>
                <a:sym typeface="DM Sans"/>
              </a:rPr>
              <a:t>Le choix actuel (32, 16) est défendable comme choix prudent.</a:t>
            </a:r>
            <a:endParaRPr sz="1700">
              <a:solidFill>
                <a:schemeClr val="dk1"/>
              </a:solidFill>
              <a:latin typeface="DM Sans"/>
              <a:ea typeface="DM Sans"/>
              <a:cs typeface="DM Sans"/>
              <a:sym typeface="DM Sans"/>
            </a:endParaRPr>
          </a:p>
        </p:txBody>
      </p:sp>
      <p:sp>
        <p:nvSpPr>
          <p:cNvPr id="346" name="Google Shape;346;p14"/>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47" name="Google Shape;347;p14"/>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14</a:t>
            </a:r>
            <a:endParaRPr sz="120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352" name="Shape 352"/>
        <p:cNvGrpSpPr/>
        <p:nvPr/>
      </p:nvGrpSpPr>
      <p:grpSpPr>
        <a:xfrm>
          <a:off x="0" y="0"/>
          <a:ext cx="0" cy="0"/>
          <a:chOff x="0" y="0"/>
          <a:chExt cx="0" cy="0"/>
        </a:xfrm>
      </p:grpSpPr>
      <p:sp>
        <p:nvSpPr>
          <p:cNvPr id="353" name="Google Shape;353;p15"/>
          <p:cNvSpPr/>
          <p:nvPr/>
        </p:nvSpPr>
        <p:spPr>
          <a:xfrm>
            <a:off x="0" y="0"/>
            <a:ext cx="152400" cy="68580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4" name="Google Shape;354;p15"/>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5" name="Google Shape;355;p15"/>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6" name="Google Shape;356;p15"/>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7" name="Google Shape;357;p15"/>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58" name="Google Shape;358;p15"/>
          <p:cNvSpPr/>
          <p:nvPr/>
        </p:nvSpPr>
        <p:spPr>
          <a:xfrm>
            <a:off x="698500" y="533400"/>
            <a:ext cx="929640" cy="284480"/>
          </a:xfrm>
          <a:prstGeom prst="roundRect">
            <a:avLst>
              <a:gd fmla="val 50000" name="adj"/>
            </a:avLst>
          </a:prstGeom>
          <a:solidFill>
            <a:srgbClr val="4A9BE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2</a:t>
            </a:r>
            <a:endParaRPr sz="1200">
              <a:solidFill>
                <a:schemeClr val="dk1"/>
              </a:solidFill>
              <a:latin typeface="DM Sans"/>
              <a:ea typeface="DM Sans"/>
              <a:cs typeface="DM Sans"/>
              <a:sym typeface="DM Sans"/>
            </a:endParaRPr>
          </a:p>
        </p:txBody>
      </p:sp>
      <p:sp>
        <p:nvSpPr>
          <p:cNvPr id="359" name="Google Shape;359;p15"/>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compromis biais-variance et trois garde-fous encadrent la validité des résultats</a:t>
            </a:r>
            <a:endParaRPr sz="2100"/>
          </a:p>
        </p:txBody>
      </p:sp>
      <p:sp>
        <p:nvSpPr>
          <p:cNvPr id="360" name="Google Shape;360;p15"/>
          <p:cNvSpPr/>
          <p:nvPr/>
        </p:nvSpPr>
        <p:spPr>
          <a:xfrm>
            <a:off x="698500" y="1765300"/>
            <a:ext cx="3683000" cy="762000"/>
          </a:xfrm>
          <a:custGeom>
            <a:rect b="b" l="l" r="r" t="t"/>
            <a:pathLst>
              <a:path extrusionOk="0" h="762000" w="3683000">
                <a:moveTo>
                  <a:pt x="0" y="127000"/>
                </a:moveTo>
                <a:cubicBezTo>
                  <a:pt x="0" y="56860"/>
                  <a:pt x="56860" y="0"/>
                  <a:pt x="127000" y="0"/>
                </a:cubicBezTo>
                <a:lnTo>
                  <a:pt x="3683000" y="0"/>
                </a:lnTo>
                <a:lnTo>
                  <a:pt x="3683000" y="762000"/>
                </a:lnTo>
                <a:lnTo>
                  <a:pt x="127000" y="762000"/>
                </a:lnTo>
                <a:cubicBezTo>
                  <a:pt x="56860" y="762000"/>
                  <a:pt x="0" y="705140"/>
                  <a:pt x="0" y="635000"/>
                </a:cubicBezTo>
                <a:close/>
              </a:path>
            </a:pathLst>
          </a:custGeom>
          <a:solidFill>
            <a:srgbClr val="4A9BE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Sous-ajustement</a:t>
            </a:r>
            <a:endParaRPr sz="1600">
              <a:solidFill>
                <a:schemeClr val="dk1"/>
              </a:solidFill>
              <a:latin typeface="DM Sans"/>
              <a:ea typeface="DM Sans"/>
              <a:cs typeface="DM Sans"/>
              <a:sym typeface="DM Sans"/>
            </a:endParaRPr>
          </a:p>
        </p:txBody>
      </p:sp>
      <p:sp>
        <p:nvSpPr>
          <p:cNvPr id="361" name="Google Shape;361;p15"/>
          <p:cNvSpPr/>
          <p:nvPr/>
        </p:nvSpPr>
        <p:spPr>
          <a:xfrm>
            <a:off x="4381500" y="1765300"/>
            <a:ext cx="2794000" cy="762000"/>
          </a:xfrm>
          <a:prstGeom prst="rect">
            <a:avLst/>
          </a:prstGeom>
          <a:solidFill>
            <a:srgbClr val="7ACFC0"/>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Compromis</a:t>
            </a:r>
            <a:endParaRPr sz="1600">
              <a:solidFill>
                <a:schemeClr val="dk1"/>
              </a:solidFill>
              <a:latin typeface="DM Sans"/>
              <a:ea typeface="DM Sans"/>
              <a:cs typeface="DM Sans"/>
              <a:sym typeface="DM Sans"/>
            </a:endParaRPr>
          </a:p>
        </p:txBody>
      </p:sp>
      <p:sp>
        <p:nvSpPr>
          <p:cNvPr id="362" name="Google Shape;362;p15"/>
          <p:cNvSpPr/>
          <p:nvPr/>
        </p:nvSpPr>
        <p:spPr>
          <a:xfrm>
            <a:off x="7175500" y="1765300"/>
            <a:ext cx="4318000" cy="762000"/>
          </a:xfrm>
          <a:custGeom>
            <a:rect b="b" l="l" r="r" t="t"/>
            <a:pathLst>
              <a:path extrusionOk="0" h="762000" w="4318000">
                <a:moveTo>
                  <a:pt x="4191000" y="0"/>
                </a:moveTo>
                <a:cubicBezTo>
                  <a:pt x="4224682" y="0"/>
                  <a:pt x="4256985" y="13380"/>
                  <a:pt x="4280803" y="37197"/>
                </a:cubicBezTo>
                <a:cubicBezTo>
                  <a:pt x="4304620" y="61015"/>
                  <a:pt x="4318000" y="93318"/>
                  <a:pt x="4318000" y="127000"/>
                </a:cubicBezTo>
                <a:lnTo>
                  <a:pt x="4318000" y="635000"/>
                </a:lnTo>
                <a:cubicBezTo>
                  <a:pt x="4318000" y="705140"/>
                  <a:pt x="4261140" y="762000"/>
                  <a:pt x="4191000" y="762000"/>
                </a:cubicBezTo>
                <a:lnTo>
                  <a:pt x="0" y="762000"/>
                </a:lnTo>
                <a:lnTo>
                  <a:pt x="0" y="0"/>
                </a:lnTo>
                <a:close/>
              </a:path>
            </a:pathLst>
          </a:custGeom>
          <a:solidFill>
            <a:srgbClr val="B39DDB"/>
          </a:solidFill>
          <a:ln>
            <a:noFill/>
          </a:ln>
        </p:spPr>
        <p:txBody>
          <a:bodyPr anchorCtr="0" anchor="ctr" bIns="0" lIns="0" spcFirstLastPara="1" rIns="0" wrap="square" tIns="0">
            <a:normAutofit/>
          </a:bodyPr>
          <a:lstStyle/>
          <a:p>
            <a:pPr indent="0" lvl="0" marL="0" marR="0" rtl="0" algn="ctr">
              <a:lnSpc>
                <a:spcPct val="140000"/>
              </a:lnSpc>
              <a:spcBef>
                <a:spcPts val="0"/>
              </a:spcBef>
              <a:spcAft>
                <a:spcPts val="0"/>
              </a:spcAft>
              <a:buClr>
                <a:srgbClr val="1B2A4A"/>
              </a:buClr>
              <a:buSzPts val="1600"/>
              <a:buFont typeface="Sora"/>
              <a:buNone/>
            </a:pPr>
            <a:r>
              <a:rPr b="1" lang="en-US" sz="1600">
                <a:solidFill>
                  <a:srgbClr val="1B2A4A"/>
                </a:solidFill>
                <a:latin typeface="Sora"/>
                <a:ea typeface="Sora"/>
                <a:cs typeface="Sora"/>
                <a:sym typeface="Sora"/>
              </a:rPr>
              <a:t>Sur-ajustement</a:t>
            </a:r>
            <a:endParaRPr sz="1600">
              <a:solidFill>
                <a:schemeClr val="dk1"/>
              </a:solidFill>
              <a:latin typeface="DM Sans"/>
              <a:ea typeface="DM Sans"/>
              <a:cs typeface="DM Sans"/>
              <a:sym typeface="DM Sans"/>
            </a:endParaRPr>
          </a:p>
        </p:txBody>
      </p:sp>
      <p:pic>
        <p:nvPicPr>
          <p:cNvPr descr="connector" id="363" name="Google Shape;363;p15"/>
          <p:cNvPicPr preferRelativeResize="0"/>
          <p:nvPr/>
        </p:nvPicPr>
        <p:blipFill rotWithShape="1">
          <a:blip r:embed="rId3">
            <a:alphaModFix/>
          </a:blip>
          <a:srcRect b="0" l="0" r="0" t="0"/>
          <a:stretch/>
        </p:blipFill>
        <p:spPr>
          <a:xfrm>
            <a:off x="698500" y="2628900"/>
            <a:ext cx="10896600" cy="101600"/>
          </a:xfrm>
          <a:prstGeom prst="rect">
            <a:avLst/>
          </a:prstGeom>
          <a:noFill/>
          <a:ln>
            <a:noFill/>
          </a:ln>
        </p:spPr>
      </p:pic>
      <p:sp>
        <p:nvSpPr>
          <p:cNvPr id="364" name="Google Shape;364;p15"/>
          <p:cNvSpPr/>
          <p:nvPr/>
        </p:nvSpPr>
        <p:spPr>
          <a:xfrm>
            <a:off x="698500" y="2971800"/>
            <a:ext cx="11118850" cy="25654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3FA0"/>
              </a:buClr>
              <a:buSzPts val="1400"/>
              <a:buFont typeface="DM Sans"/>
              <a:buNone/>
            </a:pPr>
            <a:r>
              <a:rPr lang="en-US" sz="1400">
                <a:solidFill>
                  <a:srgbClr val="6B3FA0"/>
                </a:solidFill>
                <a:latin typeface="DM Sans"/>
                <a:ea typeface="DM Sans"/>
                <a:cs typeface="DM Sans"/>
                <a:sym typeface="DM Sans"/>
              </a:rPr>
              <a:t>Deux axes de complexité : degré (famille linéaire), nombre de neurones (RN)</a:t>
            </a:r>
            <a:endParaRPr sz="1400">
              <a:solidFill>
                <a:schemeClr val="dk1"/>
              </a:solidFill>
              <a:latin typeface="DM Sans"/>
              <a:ea typeface="DM Sans"/>
              <a:cs typeface="DM Sans"/>
              <a:sym typeface="DM Sans"/>
            </a:endParaRPr>
          </a:p>
        </p:txBody>
      </p:sp>
      <p:sp>
        <p:nvSpPr>
          <p:cNvPr id="365" name="Google Shape;365;p15"/>
          <p:cNvSpPr/>
          <p:nvPr/>
        </p:nvSpPr>
        <p:spPr>
          <a:xfrm>
            <a:off x="698500" y="3393442"/>
            <a:ext cx="3496707"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Reproductibilité (graine 42)</a:t>
            </a:r>
            <a:endParaRPr sz="1500">
              <a:solidFill>
                <a:schemeClr val="dk1"/>
              </a:solidFill>
              <a:latin typeface="DM Sans"/>
              <a:ea typeface="DM Sans"/>
              <a:cs typeface="DM Sans"/>
              <a:sym typeface="DM Sans"/>
            </a:endParaRPr>
          </a:p>
        </p:txBody>
      </p:sp>
      <p:sp>
        <p:nvSpPr>
          <p:cNvPr id="366" name="Google Shape;366;p15"/>
          <p:cNvSpPr/>
          <p:nvPr/>
        </p:nvSpPr>
        <p:spPr>
          <a:xfrm>
            <a:off x="698500" y="3393442"/>
            <a:ext cx="3496707" cy="800100"/>
          </a:xfrm>
          <a:custGeom>
            <a:rect b="b" l="l" r="r" t="t"/>
            <a:pathLst>
              <a:path extrusionOk="0" h="800100" w="3496707">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67" name="Google Shape;367;p15"/>
          <p:cNvSpPr/>
          <p:nvPr/>
        </p:nvSpPr>
        <p:spPr>
          <a:xfrm>
            <a:off x="4347607" y="3393442"/>
            <a:ext cx="3496786"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898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Hors échantillon (chronologique 80/20)</a:t>
            </a:r>
            <a:endParaRPr sz="1500">
              <a:solidFill>
                <a:schemeClr val="dk1"/>
              </a:solidFill>
              <a:latin typeface="DM Sans"/>
              <a:ea typeface="DM Sans"/>
              <a:cs typeface="DM Sans"/>
              <a:sym typeface="DM Sans"/>
            </a:endParaRPr>
          </a:p>
        </p:txBody>
      </p:sp>
      <p:sp>
        <p:nvSpPr>
          <p:cNvPr id="368" name="Google Shape;368;p15"/>
          <p:cNvSpPr/>
          <p:nvPr/>
        </p:nvSpPr>
        <p:spPr>
          <a:xfrm>
            <a:off x="4347607" y="3393442"/>
            <a:ext cx="3496786" cy="800100"/>
          </a:xfrm>
          <a:custGeom>
            <a:rect b="b" l="l" r="r" t="t"/>
            <a:pathLst>
              <a:path extrusionOk="0" h="800100" w="3496786">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69" name="Google Shape;369;p15"/>
          <p:cNvSpPr/>
          <p:nvPr/>
        </p:nvSpPr>
        <p:spPr>
          <a:xfrm>
            <a:off x="7996793" y="3393442"/>
            <a:ext cx="3496707" cy="800100"/>
          </a:xfrm>
          <a:prstGeom prst="roundRect">
            <a:avLst>
              <a:gd fmla="val 15873" name="adj"/>
            </a:avLst>
          </a:prstGeom>
          <a:solidFill>
            <a:srgbClr val="FFFFFF"/>
          </a:solidFill>
          <a:ln>
            <a:noFill/>
          </a:ln>
          <a:effectLst>
            <a:outerShdw blurRad="101600" rotWithShape="0" algn="bl" dir="5400000" dist="25400">
              <a:srgbClr val="1B2A4A">
                <a:alpha val="7843"/>
              </a:srgbClr>
            </a:outerShdw>
          </a:effectLst>
        </p:spPr>
        <p:txBody>
          <a:bodyPr anchorCtr="0" anchor="t" bIns="115200" lIns="201550" spcFirstLastPara="1" rIns="48175" wrap="square" tIns="115200">
            <a:normAutofit/>
          </a:bodyPr>
          <a:lstStyle/>
          <a:p>
            <a:pPr indent="0" lvl="0" marL="0" marR="0" rtl="0" algn="l">
              <a:lnSpc>
                <a:spcPct val="130000"/>
              </a:lnSpc>
              <a:spcBef>
                <a:spcPts val="0"/>
              </a:spcBef>
              <a:spcAft>
                <a:spcPts val="0"/>
              </a:spcAft>
              <a:buClr>
                <a:srgbClr val="2B3350"/>
              </a:buClr>
              <a:buSzPts val="1500"/>
              <a:buFont typeface="DM Sans"/>
              <a:buNone/>
            </a:pPr>
            <a:r>
              <a:rPr lang="en-US" sz="1500">
                <a:solidFill>
                  <a:srgbClr val="2B3350"/>
                </a:solidFill>
                <a:latin typeface="DM Sans"/>
                <a:ea typeface="DM Sans"/>
                <a:cs typeface="DM Sans"/>
                <a:sym typeface="DM Sans"/>
              </a:rPr>
              <a:t>Aucune fuite d’information</a:t>
            </a:r>
            <a:endParaRPr sz="1500">
              <a:solidFill>
                <a:schemeClr val="dk1"/>
              </a:solidFill>
              <a:latin typeface="DM Sans"/>
              <a:ea typeface="DM Sans"/>
              <a:cs typeface="DM Sans"/>
              <a:sym typeface="DM Sans"/>
            </a:endParaRPr>
          </a:p>
        </p:txBody>
      </p:sp>
      <p:sp>
        <p:nvSpPr>
          <p:cNvPr id="370" name="Google Shape;370;p15"/>
          <p:cNvSpPr/>
          <p:nvPr/>
        </p:nvSpPr>
        <p:spPr>
          <a:xfrm>
            <a:off x="7996793" y="3393442"/>
            <a:ext cx="3496707" cy="800100"/>
          </a:xfrm>
          <a:custGeom>
            <a:rect b="b" l="l" r="r" t="t"/>
            <a:pathLst>
              <a:path extrusionOk="0" h="800100" w="3496707">
                <a:moveTo>
                  <a:pt x="127000" y="800100"/>
                </a:moveTo>
                <a:lnTo>
                  <a:pt x="127000" y="800100"/>
                </a:lnTo>
                <a:cubicBezTo>
                  <a:pt x="56860" y="800100"/>
                  <a:pt x="0" y="743240"/>
                  <a:pt x="0" y="673100"/>
                </a:cubicBezTo>
                <a:lnTo>
                  <a:pt x="0" y="127000"/>
                </a:lnTo>
                <a:cubicBezTo>
                  <a:pt x="0" y="56860"/>
                  <a:pt x="56860" y="0"/>
                  <a:pt x="127000" y="0"/>
                </a:cubicBezTo>
                <a:lnTo>
                  <a:pt x="127000" y="0"/>
                </a:lnTo>
                <a:cubicBezTo>
                  <a:pt x="91930" y="0"/>
                  <a:pt x="63500" y="56860"/>
                  <a:pt x="63500" y="127000"/>
                </a:cubicBezTo>
                <a:lnTo>
                  <a:pt x="63500" y="673100"/>
                </a:lnTo>
                <a:cubicBezTo>
                  <a:pt x="63500" y="743240"/>
                  <a:pt x="91930" y="800100"/>
                  <a:pt x="127000" y="8001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71" name="Google Shape;371;p15"/>
          <p:cNvSpPr/>
          <p:nvPr/>
        </p:nvSpPr>
        <p:spPr>
          <a:xfrm>
            <a:off x="698500" y="4384042"/>
            <a:ext cx="10795000" cy="784860"/>
          </a:xfrm>
          <a:prstGeom prst="roundRect">
            <a:avLst>
              <a:gd fmla="val 16181" name="adj"/>
            </a:avLst>
          </a:prstGeom>
          <a:solidFill>
            <a:srgbClr val="1B2A4A"/>
          </a:solidFill>
          <a:ln>
            <a:noFill/>
          </a:ln>
        </p:spPr>
        <p:txBody>
          <a:bodyPr anchorCtr="0" anchor="t" bIns="89800" lIns="191400" spcFirstLastPara="1" rIns="0" wrap="square" tIns="115200">
            <a:normAutofit/>
          </a:bodyPr>
          <a:lstStyle/>
          <a:p>
            <a:pPr indent="0" lvl="0" marL="0" marR="0" rtl="0" algn="l">
              <a:lnSpc>
                <a:spcPct val="135000"/>
              </a:lnSpc>
              <a:spcBef>
                <a:spcPts val="0"/>
              </a:spcBef>
              <a:spcAft>
                <a:spcPts val="0"/>
              </a:spcAft>
              <a:buClr>
                <a:srgbClr val="FFFFFF"/>
              </a:buClr>
              <a:buSzPts val="1400"/>
              <a:buFont typeface="DM Sans"/>
              <a:buNone/>
            </a:pPr>
            <a:r>
              <a:rPr lang="en-US" sz="1400">
                <a:solidFill>
                  <a:srgbClr val="FFFFFF"/>
                </a:solidFill>
                <a:latin typeface="DM Sans"/>
                <a:ea typeface="DM Sans"/>
                <a:cs typeface="DM Sans"/>
                <a:sym typeface="DM Sans"/>
              </a:rPr>
              <a:t>Écart train/test : sur-apprentissage (UC08/09/10) ; MAPE hebdomadaire au-dessus du seuil deux semaines de suite : dérive (UC21)</a:t>
            </a:r>
            <a:endParaRPr sz="1400">
              <a:solidFill>
                <a:schemeClr val="dk1"/>
              </a:solidFill>
              <a:latin typeface="DM Sans"/>
              <a:ea typeface="DM Sans"/>
              <a:cs typeface="DM Sans"/>
              <a:sym typeface="DM Sans"/>
            </a:endParaRPr>
          </a:p>
        </p:txBody>
      </p:sp>
      <p:sp>
        <p:nvSpPr>
          <p:cNvPr id="372" name="Google Shape;372;p15"/>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373" name="Google Shape;373;p15"/>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15</a:t>
            </a:r>
            <a:endParaRPr sz="1200">
              <a:solidFill>
                <a:schemeClr val="dk1"/>
              </a:solidFill>
              <a:latin typeface="DM Sans"/>
              <a:ea typeface="DM Sans"/>
              <a:cs typeface="DM Sans"/>
              <a:sym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78" name="Shape 378"/>
        <p:cNvGrpSpPr/>
        <p:nvPr/>
      </p:nvGrpSpPr>
      <p:grpSpPr>
        <a:xfrm>
          <a:off x="0" y="0"/>
          <a:ext cx="0" cy="0"/>
          <a:chOff x="0" y="0"/>
          <a:chExt cx="0" cy="0"/>
        </a:xfrm>
      </p:grpSpPr>
      <p:sp>
        <p:nvSpPr>
          <p:cNvPr id="379" name="Google Shape;379;p16"/>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0" name="Google Shape;380;p1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1" name="Google Shape;381;p1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2" name="Google Shape;382;p1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3" name="Google Shape;383;p1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4" name="Google Shape;384;p16"/>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385" name="Google Shape;385;p16"/>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Douze tâches planifiées automatisent les calculs ; les décisions engageantes restent humaines</a:t>
            </a:r>
            <a:endParaRPr sz="2100"/>
          </a:p>
        </p:txBody>
      </p:sp>
      <p:sp>
        <p:nvSpPr>
          <p:cNvPr id="386" name="Google Shape;386;p16"/>
          <p:cNvSpPr/>
          <p:nvPr/>
        </p:nvSpPr>
        <p:spPr>
          <a:xfrm>
            <a:off x="69850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7" name="Google Shape;387;p16"/>
          <p:cNvSpPr/>
          <p:nvPr/>
        </p:nvSpPr>
        <p:spPr>
          <a:xfrm>
            <a:off x="69850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88" name="Google Shape;388;p16"/>
          <p:cNvSpPr/>
          <p:nvPr/>
        </p:nvSpPr>
        <p:spPr>
          <a:xfrm>
            <a:off x="88900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FFFFFF"/>
              </a:buClr>
              <a:buSzPts val="6000"/>
              <a:buFont typeface="Sora"/>
              <a:buNone/>
            </a:pPr>
            <a:r>
              <a:rPr b="1" lang="en-US" sz="6000">
                <a:solidFill>
                  <a:srgbClr val="FFFFFF"/>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89" name="Google Shape;389;p16"/>
          <p:cNvSpPr/>
          <p:nvPr/>
        </p:nvSpPr>
        <p:spPr>
          <a:xfrm>
            <a:off x="88900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tâches planifiées : 8 chaque nuit et 4 périodiques</a:t>
            </a:r>
            <a:endParaRPr sz="1500">
              <a:solidFill>
                <a:schemeClr val="dk1"/>
              </a:solidFill>
              <a:latin typeface="DM Sans"/>
              <a:ea typeface="DM Sans"/>
              <a:cs typeface="DM Sans"/>
              <a:sym typeface="DM Sans"/>
            </a:endParaRPr>
          </a:p>
        </p:txBody>
      </p:sp>
      <p:sp>
        <p:nvSpPr>
          <p:cNvPr id="390" name="Google Shape;390;p16"/>
          <p:cNvSpPr/>
          <p:nvPr/>
        </p:nvSpPr>
        <p:spPr>
          <a:xfrm>
            <a:off x="343535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1" name="Google Shape;391;p16"/>
          <p:cNvSpPr/>
          <p:nvPr/>
        </p:nvSpPr>
        <p:spPr>
          <a:xfrm>
            <a:off x="343535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2" name="Google Shape;392;p16"/>
          <p:cNvSpPr/>
          <p:nvPr/>
        </p:nvSpPr>
        <p:spPr>
          <a:xfrm>
            <a:off x="362585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4A9BE0"/>
              </a:buClr>
              <a:buSzPts val="6000"/>
              <a:buFont typeface="Sora"/>
              <a:buNone/>
            </a:pPr>
            <a:r>
              <a:rPr b="1" lang="en-US" sz="6000">
                <a:solidFill>
                  <a:srgbClr val="4A9BE0"/>
                </a:solidFill>
                <a:latin typeface="Sora"/>
                <a:ea typeface="Sora"/>
                <a:cs typeface="Sora"/>
                <a:sym typeface="Sora"/>
              </a:rPr>
              <a:t>11</a:t>
            </a:r>
            <a:endParaRPr sz="6000">
              <a:solidFill>
                <a:schemeClr val="dk1"/>
              </a:solidFill>
              <a:latin typeface="DM Sans"/>
              <a:ea typeface="DM Sans"/>
              <a:cs typeface="DM Sans"/>
              <a:sym typeface="DM Sans"/>
            </a:endParaRPr>
          </a:p>
        </p:txBody>
      </p:sp>
      <p:sp>
        <p:nvSpPr>
          <p:cNvPr id="393" name="Google Shape;393;p16"/>
          <p:cNvSpPr/>
          <p:nvPr/>
        </p:nvSpPr>
        <p:spPr>
          <a:xfrm>
            <a:off x="362585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entièrement automatiques</a:t>
            </a:r>
            <a:endParaRPr sz="1500">
              <a:solidFill>
                <a:schemeClr val="dk1"/>
              </a:solidFill>
              <a:latin typeface="DM Sans"/>
              <a:ea typeface="DM Sans"/>
              <a:cs typeface="DM Sans"/>
              <a:sym typeface="DM Sans"/>
            </a:endParaRPr>
          </a:p>
        </p:txBody>
      </p:sp>
      <p:sp>
        <p:nvSpPr>
          <p:cNvPr id="394" name="Google Shape;394;p16"/>
          <p:cNvSpPr/>
          <p:nvPr/>
        </p:nvSpPr>
        <p:spPr>
          <a:xfrm>
            <a:off x="617220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5" name="Google Shape;395;p16"/>
          <p:cNvSpPr/>
          <p:nvPr/>
        </p:nvSpPr>
        <p:spPr>
          <a:xfrm>
            <a:off x="617220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6" name="Google Shape;396;p16"/>
          <p:cNvSpPr/>
          <p:nvPr/>
        </p:nvSpPr>
        <p:spPr>
          <a:xfrm>
            <a:off x="636270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B39DDB"/>
              </a:buClr>
              <a:buSzPts val="6000"/>
              <a:buFont typeface="Sora"/>
              <a:buNone/>
            </a:pPr>
            <a:r>
              <a:rPr b="1" lang="en-US" sz="6000">
                <a:solidFill>
                  <a:srgbClr val="B39DDB"/>
                </a:solidFill>
                <a:latin typeface="Sora"/>
                <a:ea typeface="Sora"/>
                <a:cs typeface="Sora"/>
                <a:sym typeface="Sora"/>
              </a:rPr>
              <a:t>12</a:t>
            </a:r>
            <a:endParaRPr sz="6000">
              <a:solidFill>
                <a:schemeClr val="dk1"/>
              </a:solidFill>
              <a:latin typeface="DM Sans"/>
              <a:ea typeface="DM Sans"/>
              <a:cs typeface="DM Sans"/>
              <a:sym typeface="DM Sans"/>
            </a:endParaRPr>
          </a:p>
        </p:txBody>
      </p:sp>
      <p:sp>
        <p:nvSpPr>
          <p:cNvPr id="397" name="Google Shape;397;p16"/>
          <p:cNvSpPr/>
          <p:nvPr/>
        </p:nvSpPr>
        <p:spPr>
          <a:xfrm>
            <a:off x="6362700" y="2918464"/>
            <a:ext cx="2269554" cy="76835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d’usage à décision humaine obligatoire (dont UC01)</a:t>
            </a:r>
            <a:endParaRPr sz="1500">
              <a:solidFill>
                <a:schemeClr val="dk1"/>
              </a:solidFill>
              <a:latin typeface="DM Sans"/>
              <a:ea typeface="DM Sans"/>
              <a:cs typeface="DM Sans"/>
              <a:sym typeface="DM Sans"/>
            </a:endParaRPr>
          </a:p>
        </p:txBody>
      </p:sp>
      <p:sp>
        <p:nvSpPr>
          <p:cNvPr id="398" name="Google Shape;398;p16"/>
          <p:cNvSpPr/>
          <p:nvPr/>
        </p:nvSpPr>
        <p:spPr>
          <a:xfrm>
            <a:off x="8909050" y="1778000"/>
            <a:ext cx="2584450" cy="208661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399" name="Google Shape;399;p16"/>
          <p:cNvSpPr/>
          <p:nvPr/>
        </p:nvSpPr>
        <p:spPr>
          <a:xfrm>
            <a:off x="8909050" y="1778000"/>
            <a:ext cx="2584450" cy="2086610"/>
          </a:xfrm>
          <a:custGeom>
            <a:rect b="b" l="l" r="r" t="t"/>
            <a:pathLst>
              <a:path extrusionOk="0" h="208661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00" name="Google Shape;400;p16"/>
          <p:cNvSpPr/>
          <p:nvPr/>
        </p:nvSpPr>
        <p:spPr>
          <a:xfrm>
            <a:off x="9099550" y="2042164"/>
            <a:ext cx="2269554" cy="825500"/>
          </a:xfrm>
          <a:prstGeom prst="rect">
            <a:avLst/>
          </a:prstGeom>
          <a:noFill/>
          <a:ln>
            <a:noFill/>
          </a:ln>
        </p:spPr>
        <p:txBody>
          <a:bodyPr anchorCtr="0" anchor="t" bIns="0" lIns="0" spcFirstLastPara="1" rIns="0" wrap="square" tIns="0">
            <a:normAutofit/>
          </a:bodyPr>
          <a:lstStyle/>
          <a:p>
            <a:pPr indent="0" lvl="0" marL="0" marR="0" rtl="0" algn="l">
              <a:lnSpc>
                <a:spcPct val="104999"/>
              </a:lnSpc>
              <a:spcBef>
                <a:spcPts val="0"/>
              </a:spcBef>
              <a:spcAft>
                <a:spcPts val="0"/>
              </a:spcAft>
              <a:buClr>
                <a:srgbClr val="7ACFC0"/>
              </a:buClr>
              <a:buSzPts val="6000"/>
              <a:buFont typeface="Sora"/>
              <a:buNone/>
            </a:pPr>
            <a:r>
              <a:rPr b="1" lang="en-US" sz="6000">
                <a:solidFill>
                  <a:srgbClr val="7ACFC0"/>
                </a:solidFill>
                <a:latin typeface="Sora"/>
                <a:ea typeface="Sora"/>
                <a:cs typeface="Sora"/>
                <a:sym typeface="Sora"/>
              </a:rPr>
              <a:t>1</a:t>
            </a:r>
            <a:endParaRPr sz="6000">
              <a:solidFill>
                <a:schemeClr val="dk1"/>
              </a:solidFill>
              <a:latin typeface="DM Sans"/>
              <a:ea typeface="DM Sans"/>
              <a:cs typeface="DM Sans"/>
              <a:sym typeface="DM Sans"/>
            </a:endParaRPr>
          </a:p>
        </p:txBody>
      </p:sp>
      <p:sp>
        <p:nvSpPr>
          <p:cNvPr id="401" name="Google Shape;401;p16"/>
          <p:cNvSpPr/>
          <p:nvPr/>
        </p:nvSpPr>
        <p:spPr>
          <a:xfrm>
            <a:off x="9099550" y="2918464"/>
            <a:ext cx="2269554" cy="5207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lang="en-US" sz="1500">
                <a:solidFill>
                  <a:srgbClr val="E4E9F5"/>
                </a:solidFill>
                <a:latin typeface="DM Sans"/>
                <a:ea typeface="DM Sans"/>
                <a:cs typeface="DM Sans"/>
                <a:sym typeface="DM Sans"/>
              </a:rPr>
              <a:t>cas mixte (UC22, consultation)</a:t>
            </a:r>
            <a:endParaRPr sz="1500">
              <a:solidFill>
                <a:schemeClr val="dk1"/>
              </a:solidFill>
              <a:latin typeface="DM Sans"/>
              <a:ea typeface="DM Sans"/>
              <a:cs typeface="DM Sans"/>
              <a:sym typeface="DM Sans"/>
            </a:endParaRPr>
          </a:p>
        </p:txBody>
      </p:sp>
      <p:cxnSp>
        <p:nvCxnSpPr>
          <p:cNvPr id="402" name="Google Shape;402;p16"/>
          <p:cNvCxnSpPr/>
          <p:nvPr/>
        </p:nvCxnSpPr>
        <p:spPr>
          <a:xfrm>
            <a:off x="723900" y="4067814"/>
            <a:ext cx="0" cy="706120"/>
          </a:xfrm>
          <a:prstGeom prst="straightConnector1">
            <a:avLst/>
          </a:prstGeom>
          <a:noFill/>
          <a:ln cap="flat" cmpd="sng" w="50800">
            <a:solidFill>
              <a:srgbClr val="B39DDB"/>
            </a:solidFill>
            <a:prstDash val="solid"/>
            <a:round/>
            <a:headEnd len="sm" w="sm" type="none"/>
            <a:tailEnd len="sm" w="sm" type="none"/>
          </a:ln>
        </p:spPr>
      </p:cxnSp>
      <p:sp>
        <p:nvSpPr>
          <p:cNvPr id="403" name="Google Shape;403;p16"/>
          <p:cNvSpPr/>
          <p:nvPr/>
        </p:nvSpPr>
        <p:spPr>
          <a:xfrm>
            <a:off x="952500" y="4118614"/>
            <a:ext cx="10857230" cy="6299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FFFFF"/>
              </a:buClr>
              <a:buSzPts val="1700"/>
              <a:buFont typeface="DM Sans"/>
              <a:buNone/>
            </a:pPr>
            <a:r>
              <a:rPr lang="en-US" sz="1700">
                <a:solidFill>
                  <a:srgbClr val="FFFFFF"/>
                </a:solidFill>
                <a:latin typeface="DM Sans"/>
                <a:ea typeface="DM Sans"/>
                <a:cs typeface="DM Sans"/>
                <a:sym typeface="DM Sans"/>
              </a:rPr>
              <a:t>Ce qui reste manuel engage une responsabilité (budget, cible, clôture d’incident) ; ce n’est pas un manque d’outillage.</a:t>
            </a:r>
            <a:endParaRPr sz="1700">
              <a:solidFill>
                <a:schemeClr val="dk1"/>
              </a:solidFill>
              <a:latin typeface="DM Sans"/>
              <a:ea typeface="DM Sans"/>
              <a:cs typeface="DM Sans"/>
              <a:sym typeface="DM Sans"/>
            </a:endParaRPr>
          </a:p>
        </p:txBody>
      </p:sp>
      <p:sp>
        <p:nvSpPr>
          <p:cNvPr id="404" name="Google Shape;404;p16"/>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16</a:t>
            </a:r>
            <a:endParaRPr sz="120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09" name="Shape 409"/>
        <p:cNvGrpSpPr/>
        <p:nvPr/>
      </p:nvGrpSpPr>
      <p:grpSpPr>
        <a:xfrm>
          <a:off x="0" y="0"/>
          <a:ext cx="0" cy="0"/>
          <a:chOff x="0" y="0"/>
          <a:chExt cx="0" cy="0"/>
        </a:xfrm>
      </p:grpSpPr>
      <p:sp>
        <p:nvSpPr>
          <p:cNvPr id="410" name="Google Shape;410;p17"/>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1" name="Google Shape;411;p1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2" name="Google Shape;412;p1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3" name="Google Shape;413;p1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4" name="Google Shape;414;p1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15" name="Google Shape;415;p17"/>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16" name="Google Shape;416;p17"/>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L’automatisation porte sur des calculs déterministes appliqués à des données déjà actées</a:t>
            </a:r>
            <a:endParaRPr sz="2100"/>
          </a:p>
        </p:txBody>
      </p:sp>
      <p:sp>
        <p:nvSpPr>
          <p:cNvPr id="417" name="Google Shape;417;p17"/>
          <p:cNvSpPr/>
          <p:nvPr/>
        </p:nvSpPr>
        <p:spPr>
          <a:xfrm>
            <a:off x="698500" y="1778000"/>
            <a:ext cx="5295900" cy="1120140"/>
          </a:xfrm>
          <a:prstGeom prst="roundRect">
            <a:avLst>
              <a:gd fmla="val 13605" name="adj"/>
            </a:avLst>
          </a:prstGeom>
          <a:solidFill>
            <a:srgbClr val="4A9BE0"/>
          </a:solidFill>
          <a:ln>
            <a:noFill/>
          </a:ln>
        </p:spPr>
        <p:txBody>
          <a:bodyPr anchorCtr="0" anchor="t" bIns="209350" lIns="234750" spcFirstLastPara="1" rIns="92650" wrap="square" tIns="234750">
            <a:normAutofit/>
          </a:bodyPr>
          <a:lstStyle/>
          <a:p>
            <a:pPr indent="0" lvl="0" marL="0" marR="0" rtl="0" algn="l">
              <a:lnSpc>
                <a:spcPct val="130000"/>
              </a:lnSpc>
              <a:spcBef>
                <a:spcPts val="0"/>
              </a:spcBef>
              <a:spcAft>
                <a:spcPts val="0"/>
              </a:spcAft>
              <a:buClr>
                <a:srgbClr val="1B2A4A"/>
              </a:buClr>
              <a:buSzPts val="1700"/>
              <a:buFont typeface="Sora"/>
              <a:buNone/>
            </a:pPr>
            <a:r>
              <a:rPr b="1" lang="en-US" sz="1700">
                <a:solidFill>
                  <a:srgbClr val="1B2A4A"/>
                </a:solidFill>
                <a:latin typeface="Sora"/>
                <a:ea typeface="Sora"/>
                <a:cs typeface="Sora"/>
                <a:sym typeface="Sora"/>
              </a:rPr>
              <a:t>Il importe, entraîne, compare à un seuil, agrège</a:t>
            </a:r>
            <a:endParaRPr sz="1700">
              <a:solidFill>
                <a:schemeClr val="dk1"/>
              </a:solidFill>
              <a:latin typeface="DM Sans"/>
              <a:ea typeface="DM Sans"/>
              <a:cs typeface="DM Sans"/>
              <a:sym typeface="DM Sans"/>
            </a:endParaRPr>
          </a:p>
        </p:txBody>
      </p:sp>
      <p:sp>
        <p:nvSpPr>
          <p:cNvPr id="418" name="Google Shape;418;p17"/>
          <p:cNvSpPr/>
          <p:nvPr/>
        </p:nvSpPr>
        <p:spPr>
          <a:xfrm>
            <a:off x="6197600" y="1778000"/>
            <a:ext cx="5295900" cy="1120140"/>
          </a:xfrm>
          <a:prstGeom prst="roundRect">
            <a:avLst>
              <a:gd fmla="val 13605" name="adj"/>
            </a:avLst>
          </a:prstGeom>
          <a:solidFill>
            <a:srgbClr val="6B3FA0"/>
          </a:solidFill>
          <a:ln>
            <a:noFill/>
          </a:ln>
        </p:spPr>
        <p:txBody>
          <a:bodyPr anchorCtr="0" anchor="t" bIns="209350" lIns="234750" spcFirstLastPara="1" rIns="92650" wrap="square" tIns="234750">
            <a:normAutofit/>
          </a:bodyPr>
          <a:lstStyle/>
          <a:p>
            <a:pPr indent="0" lvl="0" marL="0" marR="0" rtl="0" algn="l">
              <a:lnSpc>
                <a:spcPct val="130000"/>
              </a:lnSpc>
              <a:spcBef>
                <a:spcPts val="0"/>
              </a:spcBef>
              <a:spcAft>
                <a:spcPts val="0"/>
              </a:spcAft>
              <a:buClr>
                <a:srgbClr val="FFFFFF"/>
              </a:buClr>
              <a:buSzPts val="1700"/>
              <a:buFont typeface="Sora"/>
              <a:buNone/>
            </a:pPr>
            <a:r>
              <a:rPr b="1" lang="en-US" sz="1700">
                <a:solidFill>
                  <a:srgbClr val="FFFFFF"/>
                </a:solidFill>
                <a:latin typeface="Sora"/>
                <a:ea typeface="Sora"/>
                <a:cs typeface="Sora"/>
                <a:sym typeface="Sora"/>
              </a:rPr>
              <a:t>Un humain a déjà validé la règle ou le modèle</a:t>
            </a:r>
            <a:endParaRPr sz="1700">
              <a:solidFill>
                <a:schemeClr val="dk1"/>
              </a:solidFill>
              <a:latin typeface="DM Sans"/>
              <a:ea typeface="DM Sans"/>
              <a:cs typeface="DM Sans"/>
              <a:sym typeface="DM Sans"/>
            </a:endParaRPr>
          </a:p>
        </p:txBody>
      </p:sp>
      <p:sp>
        <p:nvSpPr>
          <p:cNvPr id="419" name="Google Shape;419;p17"/>
          <p:cNvSpPr/>
          <p:nvPr/>
        </p:nvSpPr>
        <p:spPr>
          <a:xfrm>
            <a:off x="698500" y="3101342"/>
            <a:ext cx="5295900" cy="1056640"/>
          </a:xfrm>
          <a:prstGeom prst="roundRect">
            <a:avLst>
              <a:gd fmla="val 14423" name="adj"/>
            </a:avLst>
          </a:prstGeom>
          <a:solidFill>
            <a:srgbClr val="CDEEE8"/>
          </a:solidFill>
          <a:ln>
            <a:noFill/>
          </a:ln>
        </p:spPr>
        <p:txBody>
          <a:bodyPr anchorCtr="0" anchor="t" bIns="183950" lIns="310950" spcFirstLastPara="1" rIns="94925" wrap="square" tIns="209350">
            <a:normAutofit/>
          </a:bodyPr>
          <a:lstStyle/>
          <a:p>
            <a:pPr indent="0" lvl="0" marL="0" marR="0" rtl="0" algn="l">
              <a:lnSpc>
                <a:spcPct val="135000"/>
              </a:lnSpc>
              <a:spcBef>
                <a:spcPts val="0"/>
              </a:spcBef>
              <a:spcAft>
                <a:spcPts val="0"/>
              </a:spcAft>
              <a:buClr>
                <a:srgbClr val="1B2A4A"/>
              </a:buClr>
              <a:buSzPts val="1600"/>
              <a:buFont typeface="DM Sans"/>
              <a:buNone/>
            </a:pPr>
            <a:r>
              <a:rPr lang="en-US" sz="1600">
                <a:solidFill>
                  <a:srgbClr val="1B2A4A"/>
                </a:solidFill>
                <a:latin typeface="DM Sans"/>
                <a:ea typeface="DM Sans"/>
                <a:cs typeface="DM Sans"/>
                <a:sym typeface="DM Sans"/>
              </a:rPr>
              <a:t>Émission des alertes (UC18) : calcul d’un dépassement, donc automatique.</a:t>
            </a:r>
            <a:endParaRPr sz="1600">
              <a:solidFill>
                <a:schemeClr val="dk1"/>
              </a:solidFill>
              <a:latin typeface="DM Sans"/>
              <a:ea typeface="DM Sans"/>
              <a:cs typeface="DM Sans"/>
              <a:sym typeface="DM Sans"/>
            </a:endParaRPr>
          </a:p>
        </p:txBody>
      </p:sp>
      <p:sp>
        <p:nvSpPr>
          <p:cNvPr id="420" name="Google Shape;420;p17"/>
          <p:cNvSpPr/>
          <p:nvPr/>
        </p:nvSpPr>
        <p:spPr>
          <a:xfrm>
            <a:off x="698500" y="3101342"/>
            <a:ext cx="5295900" cy="1056640"/>
          </a:xfrm>
          <a:custGeom>
            <a:rect b="b" l="l" r="r" t="t"/>
            <a:pathLst>
              <a:path extrusionOk="0" h="1056640" w="5295900">
                <a:moveTo>
                  <a:pt x="152400" y="1056640"/>
                </a:moveTo>
                <a:lnTo>
                  <a:pt x="152400" y="1056640"/>
                </a:lnTo>
                <a:cubicBezTo>
                  <a:pt x="68232" y="1056640"/>
                  <a:pt x="0" y="988408"/>
                  <a:pt x="0" y="904240"/>
                </a:cubicBezTo>
                <a:lnTo>
                  <a:pt x="0" y="152400"/>
                </a:lnTo>
                <a:cubicBezTo>
                  <a:pt x="0" y="68232"/>
                  <a:pt x="68232" y="0"/>
                  <a:pt x="152400" y="0"/>
                </a:cubicBezTo>
                <a:lnTo>
                  <a:pt x="152400" y="0"/>
                </a:lnTo>
                <a:cubicBezTo>
                  <a:pt x="110316" y="0"/>
                  <a:pt x="76200" y="68232"/>
                  <a:pt x="76200" y="152400"/>
                </a:cubicBezTo>
                <a:lnTo>
                  <a:pt x="76200" y="904240"/>
                </a:lnTo>
                <a:cubicBezTo>
                  <a:pt x="76200" y="988408"/>
                  <a:pt x="110316" y="1056640"/>
                  <a:pt x="152400" y="105664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21" name="Google Shape;421;p17"/>
          <p:cNvSpPr/>
          <p:nvPr/>
        </p:nvSpPr>
        <p:spPr>
          <a:xfrm>
            <a:off x="6197600" y="3101342"/>
            <a:ext cx="5295900" cy="1056640"/>
          </a:xfrm>
          <a:prstGeom prst="roundRect">
            <a:avLst>
              <a:gd fmla="val 14423" name="adj"/>
            </a:avLst>
          </a:prstGeom>
          <a:solidFill>
            <a:srgbClr val="E2D9F3"/>
          </a:solidFill>
          <a:ln>
            <a:noFill/>
          </a:ln>
        </p:spPr>
        <p:txBody>
          <a:bodyPr anchorCtr="0" anchor="t" bIns="183950" lIns="310950" spcFirstLastPara="1" rIns="94925" wrap="square" tIns="209350">
            <a:normAutofit/>
          </a:bodyPr>
          <a:lstStyle/>
          <a:p>
            <a:pPr indent="0" lvl="0" marL="0" marR="0" rtl="0" algn="l">
              <a:lnSpc>
                <a:spcPct val="135000"/>
              </a:lnSpc>
              <a:spcBef>
                <a:spcPts val="0"/>
              </a:spcBef>
              <a:spcAft>
                <a:spcPts val="0"/>
              </a:spcAft>
              <a:buClr>
                <a:srgbClr val="1B2A4A"/>
              </a:buClr>
              <a:buSzPts val="1600"/>
              <a:buFont typeface="DM Sans"/>
              <a:buNone/>
            </a:pPr>
            <a:r>
              <a:rPr lang="en-US" sz="1600">
                <a:solidFill>
                  <a:srgbClr val="1B2A4A"/>
                </a:solidFill>
                <a:latin typeface="DM Sans"/>
                <a:ea typeface="DM Sans"/>
                <a:cs typeface="DM Sans"/>
                <a:sym typeface="DM Sans"/>
              </a:rPr>
              <a:t>Traitement des alertes (UC19) : clore un incident engage une responsabilité, donc manuel.</a:t>
            </a:r>
            <a:endParaRPr sz="1600">
              <a:solidFill>
                <a:schemeClr val="dk1"/>
              </a:solidFill>
              <a:latin typeface="DM Sans"/>
              <a:ea typeface="DM Sans"/>
              <a:cs typeface="DM Sans"/>
              <a:sym typeface="DM Sans"/>
            </a:endParaRPr>
          </a:p>
        </p:txBody>
      </p:sp>
      <p:sp>
        <p:nvSpPr>
          <p:cNvPr id="422" name="Google Shape;422;p17"/>
          <p:cNvSpPr/>
          <p:nvPr/>
        </p:nvSpPr>
        <p:spPr>
          <a:xfrm>
            <a:off x="6197600" y="3101342"/>
            <a:ext cx="5295900" cy="1056640"/>
          </a:xfrm>
          <a:custGeom>
            <a:rect b="b" l="l" r="r" t="t"/>
            <a:pathLst>
              <a:path extrusionOk="0" h="1056640" w="5295900">
                <a:moveTo>
                  <a:pt x="152400" y="1056640"/>
                </a:moveTo>
                <a:lnTo>
                  <a:pt x="152400" y="1056640"/>
                </a:lnTo>
                <a:cubicBezTo>
                  <a:pt x="68232" y="1056640"/>
                  <a:pt x="0" y="988408"/>
                  <a:pt x="0" y="904240"/>
                </a:cubicBezTo>
                <a:lnTo>
                  <a:pt x="0" y="152400"/>
                </a:lnTo>
                <a:cubicBezTo>
                  <a:pt x="0" y="68232"/>
                  <a:pt x="68232" y="0"/>
                  <a:pt x="152400" y="0"/>
                </a:cubicBezTo>
                <a:lnTo>
                  <a:pt x="152400" y="0"/>
                </a:lnTo>
                <a:cubicBezTo>
                  <a:pt x="110316" y="0"/>
                  <a:pt x="76200" y="68232"/>
                  <a:pt x="76200" y="152400"/>
                </a:cubicBezTo>
                <a:lnTo>
                  <a:pt x="76200" y="904240"/>
                </a:lnTo>
                <a:cubicBezTo>
                  <a:pt x="76200" y="988408"/>
                  <a:pt x="110316" y="1056640"/>
                  <a:pt x="152400" y="105664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23" name="Google Shape;423;p17"/>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17</a:t>
            </a:r>
            <a:endParaRPr sz="1200">
              <a:solidFill>
                <a:schemeClr val="dk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28" name="Shape 428"/>
        <p:cNvGrpSpPr/>
        <p:nvPr/>
      </p:nvGrpSpPr>
      <p:grpSpPr>
        <a:xfrm>
          <a:off x="0" y="0"/>
          <a:ext cx="0" cy="0"/>
          <a:chOff x="0" y="0"/>
          <a:chExt cx="0" cy="0"/>
        </a:xfrm>
      </p:grpSpPr>
      <p:sp>
        <p:nvSpPr>
          <p:cNvPr id="429" name="Google Shape;429;p18"/>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0" name="Google Shape;430;p1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1" name="Google Shape;431;p1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2" name="Google Shape;432;p1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3" name="Google Shape;433;p1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4" name="Google Shape;434;p18"/>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35" name="Google Shape;435;p18"/>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Trois familles de décisions restent manuelles : responsabilité, politique de gestion, connaissance du terrain</a:t>
            </a:r>
            <a:endParaRPr sz="2100"/>
          </a:p>
        </p:txBody>
      </p:sp>
      <p:sp>
        <p:nvSpPr>
          <p:cNvPr id="436" name="Google Shape;436;p18"/>
          <p:cNvSpPr/>
          <p:nvPr/>
        </p:nvSpPr>
        <p:spPr>
          <a:xfrm>
            <a:off x="698500" y="1778000"/>
            <a:ext cx="10795000" cy="933450"/>
          </a:xfrm>
          <a:prstGeom prst="roundRect">
            <a:avLst>
              <a:gd fmla="val 16327"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37" name="Google Shape;437;p18"/>
          <p:cNvSpPr/>
          <p:nvPr/>
        </p:nvSpPr>
        <p:spPr>
          <a:xfrm>
            <a:off x="698500" y="1778000"/>
            <a:ext cx="3556000" cy="933450"/>
          </a:xfrm>
          <a:custGeom>
            <a:rect b="b" l="l" r="r" t="t"/>
            <a:pathLst>
              <a:path extrusionOk="0" h="933450" w="3556000">
                <a:moveTo>
                  <a:pt x="0" y="152400"/>
                </a:moveTo>
                <a:cubicBezTo>
                  <a:pt x="0" y="68232"/>
                  <a:pt x="68232" y="0"/>
                  <a:pt x="152400" y="0"/>
                </a:cubicBezTo>
                <a:lnTo>
                  <a:pt x="3556000" y="0"/>
                </a:lnTo>
                <a:lnTo>
                  <a:pt x="3556000" y="933450"/>
                </a:lnTo>
                <a:lnTo>
                  <a:pt x="152400" y="933450"/>
                </a:lnTo>
                <a:cubicBezTo>
                  <a:pt x="68232" y="933450"/>
                  <a:pt x="0" y="865218"/>
                  <a:pt x="0" y="781050"/>
                </a:cubicBezTo>
                <a:close/>
              </a:path>
            </a:pathLst>
          </a:custGeom>
          <a:solidFill>
            <a:srgbClr val="4A9BE0"/>
          </a:solidFill>
          <a:ln>
            <a:noFill/>
          </a:ln>
        </p:spPr>
        <p:txBody>
          <a:bodyPr anchorCtr="0" anchor="ctr" bIns="215900" lIns="254000" spcFirstLastPara="1" rIns="162550" wrap="square" tIns="2159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Décisions qui engagent une responsabilité</a:t>
            </a:r>
            <a:endParaRPr sz="1500">
              <a:solidFill>
                <a:schemeClr val="dk1"/>
              </a:solidFill>
              <a:latin typeface="DM Sans"/>
              <a:ea typeface="DM Sans"/>
              <a:cs typeface="DM Sans"/>
              <a:sym typeface="DM Sans"/>
            </a:endParaRPr>
          </a:p>
        </p:txBody>
      </p:sp>
      <p:sp>
        <p:nvSpPr>
          <p:cNvPr id="438" name="Google Shape;438;p18"/>
          <p:cNvSpPr/>
          <p:nvPr/>
        </p:nvSpPr>
        <p:spPr>
          <a:xfrm>
            <a:off x="4533900" y="2102483"/>
            <a:ext cx="6959600" cy="3098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UC14</a:t>
            </a:r>
            <a:r>
              <a:rPr lang="en-US" sz="1600">
                <a:solidFill>
                  <a:srgbClr val="2B3350"/>
                </a:solidFill>
                <a:latin typeface="DM Sans"/>
                <a:ea typeface="DM Sans"/>
                <a:cs typeface="DM Sans"/>
                <a:sym typeface="DM Sans"/>
              </a:rPr>
              <a:t> valider un plan, </a:t>
            </a:r>
            <a:r>
              <a:rPr b="1" lang="en-US" sz="1600">
                <a:solidFill>
                  <a:srgbClr val="6B3FA0"/>
                </a:solidFill>
                <a:latin typeface="DM Sans"/>
                <a:ea typeface="DM Sans"/>
                <a:cs typeface="DM Sans"/>
                <a:sym typeface="DM Sans"/>
              </a:rPr>
              <a:t>UC19</a:t>
            </a:r>
            <a:r>
              <a:rPr lang="en-US" sz="1600">
                <a:solidFill>
                  <a:srgbClr val="2B3350"/>
                </a:solidFill>
                <a:latin typeface="DM Sans"/>
                <a:ea typeface="DM Sans"/>
                <a:cs typeface="DM Sans"/>
                <a:sym typeface="DM Sans"/>
              </a:rPr>
              <a:t> clore une alerte, </a:t>
            </a:r>
            <a:r>
              <a:rPr b="1" lang="en-US" sz="1600">
                <a:solidFill>
                  <a:srgbClr val="6B3FA0"/>
                </a:solidFill>
                <a:latin typeface="DM Sans"/>
                <a:ea typeface="DM Sans"/>
                <a:cs typeface="DM Sans"/>
                <a:sym typeface="DM Sans"/>
              </a:rPr>
              <a:t>UC10</a:t>
            </a:r>
            <a:r>
              <a:rPr lang="en-US" sz="1600">
                <a:solidFill>
                  <a:srgbClr val="2B3350"/>
                </a:solidFill>
                <a:latin typeface="DM Sans"/>
                <a:ea typeface="DM Sans"/>
                <a:cs typeface="DM Sans"/>
                <a:sym typeface="DM Sans"/>
              </a:rPr>
              <a:t> activer un modèle</a:t>
            </a:r>
            <a:endParaRPr sz="1600">
              <a:solidFill>
                <a:schemeClr val="dk1"/>
              </a:solidFill>
              <a:latin typeface="DM Sans"/>
              <a:ea typeface="DM Sans"/>
              <a:cs typeface="DM Sans"/>
              <a:sym typeface="DM Sans"/>
            </a:endParaRPr>
          </a:p>
        </p:txBody>
      </p:sp>
      <p:sp>
        <p:nvSpPr>
          <p:cNvPr id="439" name="Google Shape;439;p18"/>
          <p:cNvSpPr/>
          <p:nvPr/>
        </p:nvSpPr>
        <p:spPr>
          <a:xfrm>
            <a:off x="698500" y="2863850"/>
            <a:ext cx="10795000" cy="741680"/>
          </a:xfrm>
          <a:prstGeom prst="roundRect">
            <a:avLst>
              <a:gd fmla="val 20548"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40" name="Google Shape;440;p18"/>
          <p:cNvSpPr/>
          <p:nvPr/>
        </p:nvSpPr>
        <p:spPr>
          <a:xfrm>
            <a:off x="698500" y="2863850"/>
            <a:ext cx="3556000" cy="741680"/>
          </a:xfrm>
          <a:custGeom>
            <a:rect b="b" l="l" r="r" t="t"/>
            <a:pathLst>
              <a:path extrusionOk="0" h="741680" w="3556000">
                <a:moveTo>
                  <a:pt x="0" y="152400"/>
                </a:moveTo>
                <a:cubicBezTo>
                  <a:pt x="0" y="68232"/>
                  <a:pt x="68232" y="0"/>
                  <a:pt x="152400" y="0"/>
                </a:cubicBezTo>
                <a:lnTo>
                  <a:pt x="3556000" y="0"/>
                </a:lnTo>
                <a:lnTo>
                  <a:pt x="3556000" y="741680"/>
                </a:lnTo>
                <a:lnTo>
                  <a:pt x="152400" y="741680"/>
                </a:lnTo>
                <a:cubicBezTo>
                  <a:pt x="68232" y="741680"/>
                  <a:pt x="0" y="673448"/>
                  <a:pt x="0" y="589280"/>
                </a:cubicBezTo>
                <a:close/>
              </a:path>
            </a:pathLst>
          </a:custGeom>
          <a:solidFill>
            <a:srgbClr val="B39DDB"/>
          </a:solidFill>
          <a:ln>
            <a:noFill/>
          </a:ln>
        </p:spPr>
        <p:txBody>
          <a:bodyPr anchorCtr="0" anchor="ctr" bIns="228600" lIns="254000" spcFirstLastPara="1" rIns="254000" wrap="square" tIns="2286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Décisions de politique</a:t>
            </a:r>
            <a:endParaRPr sz="1500">
              <a:solidFill>
                <a:schemeClr val="dk1"/>
              </a:solidFill>
              <a:latin typeface="DM Sans"/>
              <a:ea typeface="DM Sans"/>
              <a:cs typeface="DM Sans"/>
              <a:sym typeface="DM Sans"/>
            </a:endParaRPr>
          </a:p>
        </p:txBody>
      </p:sp>
      <p:sp>
        <p:nvSpPr>
          <p:cNvPr id="441" name="Google Shape;441;p18"/>
          <p:cNvSpPr/>
          <p:nvPr/>
        </p:nvSpPr>
        <p:spPr>
          <a:xfrm>
            <a:off x="4533900" y="3092450"/>
            <a:ext cx="4206240" cy="3098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UC15</a:t>
            </a:r>
            <a:r>
              <a:rPr lang="en-US" sz="1600">
                <a:solidFill>
                  <a:srgbClr val="2B3350"/>
                </a:solidFill>
                <a:latin typeface="DM Sans"/>
                <a:ea typeface="DM Sans"/>
                <a:cs typeface="DM Sans"/>
                <a:sym typeface="DM Sans"/>
              </a:rPr>
              <a:t> cibles KPI, </a:t>
            </a:r>
            <a:r>
              <a:rPr b="1" lang="en-US" sz="1600">
                <a:solidFill>
                  <a:srgbClr val="6B3FA0"/>
                </a:solidFill>
                <a:latin typeface="DM Sans"/>
                <a:ea typeface="DM Sans"/>
                <a:cs typeface="DM Sans"/>
                <a:sym typeface="DM Sans"/>
              </a:rPr>
              <a:t>UC07</a:t>
            </a:r>
            <a:r>
              <a:rPr lang="en-US" sz="1600">
                <a:solidFill>
                  <a:srgbClr val="2B3350"/>
                </a:solidFill>
                <a:latin typeface="DM Sans"/>
                <a:ea typeface="DM Sans"/>
                <a:cs typeface="DM Sans"/>
                <a:sym typeface="DM Sans"/>
              </a:rPr>
              <a:t> seuil de dérive</a:t>
            </a:r>
            <a:endParaRPr sz="1600">
              <a:solidFill>
                <a:schemeClr val="dk1"/>
              </a:solidFill>
              <a:latin typeface="DM Sans"/>
              <a:ea typeface="DM Sans"/>
              <a:cs typeface="DM Sans"/>
              <a:sym typeface="DM Sans"/>
            </a:endParaRPr>
          </a:p>
        </p:txBody>
      </p:sp>
      <p:sp>
        <p:nvSpPr>
          <p:cNvPr id="442" name="Google Shape;442;p18"/>
          <p:cNvSpPr/>
          <p:nvPr/>
        </p:nvSpPr>
        <p:spPr>
          <a:xfrm>
            <a:off x="698500" y="3757935"/>
            <a:ext cx="10795000" cy="1026160"/>
          </a:xfrm>
          <a:prstGeom prst="roundRect">
            <a:avLst>
              <a:gd fmla="val 14851" name="adj"/>
            </a:avLst>
          </a:prstGeom>
          <a:solidFill>
            <a:srgbClr val="FFFFFF"/>
          </a:solidFill>
          <a:ln>
            <a:noFill/>
          </a:ln>
          <a:effectLst>
            <a:outerShdw blurRad="101600" rotWithShape="0" algn="bl" dir="5400000" dist="25400">
              <a:srgbClr val="1B2A4A">
                <a:alpha val="7843"/>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43" name="Google Shape;443;p18"/>
          <p:cNvSpPr/>
          <p:nvPr/>
        </p:nvSpPr>
        <p:spPr>
          <a:xfrm>
            <a:off x="698500" y="3757935"/>
            <a:ext cx="3556000" cy="1026160"/>
          </a:xfrm>
          <a:custGeom>
            <a:rect b="b" l="l" r="r" t="t"/>
            <a:pathLst>
              <a:path extrusionOk="0" h="1026160" w="3556000">
                <a:moveTo>
                  <a:pt x="0" y="152400"/>
                </a:moveTo>
                <a:cubicBezTo>
                  <a:pt x="0" y="68232"/>
                  <a:pt x="68232" y="0"/>
                  <a:pt x="152400" y="0"/>
                </a:cubicBezTo>
                <a:lnTo>
                  <a:pt x="3556000" y="0"/>
                </a:lnTo>
                <a:lnTo>
                  <a:pt x="3556000" y="1026160"/>
                </a:lnTo>
                <a:lnTo>
                  <a:pt x="152400" y="1026160"/>
                </a:lnTo>
                <a:cubicBezTo>
                  <a:pt x="68232" y="1026160"/>
                  <a:pt x="0" y="957928"/>
                  <a:pt x="0" y="873760"/>
                </a:cubicBezTo>
                <a:close/>
              </a:path>
            </a:pathLst>
          </a:custGeom>
          <a:solidFill>
            <a:srgbClr val="7ACFC0"/>
          </a:solidFill>
          <a:ln>
            <a:noFill/>
          </a:ln>
        </p:spPr>
        <p:txBody>
          <a:bodyPr anchorCtr="0" anchor="ctr" bIns="228600" lIns="254000" spcFirstLastPara="1" rIns="162550" wrap="square" tIns="228600">
            <a:normAutofit/>
          </a:bodyPr>
          <a:lstStyle/>
          <a:p>
            <a:pPr indent="0" lvl="0" marL="0" marR="0" rtl="0" algn="l">
              <a:lnSpc>
                <a:spcPct val="125000"/>
              </a:lnSpc>
              <a:spcBef>
                <a:spcPts val="0"/>
              </a:spcBef>
              <a:spcAft>
                <a:spcPts val="0"/>
              </a:spcAft>
              <a:buClr>
                <a:srgbClr val="1B2A4A"/>
              </a:buClr>
              <a:buSzPts val="1500"/>
              <a:buFont typeface="Sora"/>
              <a:buNone/>
            </a:pPr>
            <a:r>
              <a:rPr b="1" lang="en-US" sz="1500">
                <a:solidFill>
                  <a:srgbClr val="1B2A4A"/>
                </a:solidFill>
                <a:latin typeface="Sora"/>
                <a:ea typeface="Sora"/>
                <a:cs typeface="Sora"/>
                <a:sym typeface="Sora"/>
              </a:rPr>
              <a:t>Connaissance détenue par le terrain</a:t>
            </a:r>
            <a:endParaRPr sz="1500">
              <a:solidFill>
                <a:schemeClr val="dk1"/>
              </a:solidFill>
              <a:latin typeface="DM Sans"/>
              <a:ea typeface="DM Sans"/>
              <a:cs typeface="DM Sans"/>
              <a:sym typeface="DM Sans"/>
            </a:endParaRPr>
          </a:p>
        </p:txBody>
      </p:sp>
      <p:sp>
        <p:nvSpPr>
          <p:cNvPr id="444" name="Google Shape;444;p18"/>
          <p:cNvSpPr/>
          <p:nvPr/>
        </p:nvSpPr>
        <p:spPr>
          <a:xfrm>
            <a:off x="4533900" y="3986535"/>
            <a:ext cx="6880606" cy="5943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6B3FA0"/>
              </a:buClr>
              <a:buSzPts val="1600"/>
              <a:buFont typeface="DM Sans"/>
              <a:buNone/>
            </a:pPr>
            <a:r>
              <a:rPr b="1" lang="en-US" sz="1600">
                <a:solidFill>
                  <a:srgbClr val="6B3FA0"/>
                </a:solidFill>
                <a:latin typeface="DM Sans"/>
                <a:ea typeface="DM Sans"/>
                <a:cs typeface="DM Sans"/>
                <a:sym typeface="DM Sans"/>
              </a:rPr>
              <a:t>UC05</a:t>
            </a:r>
            <a:r>
              <a:rPr lang="en-US" sz="1600">
                <a:solidFill>
                  <a:srgbClr val="2B3350"/>
                </a:solidFill>
                <a:latin typeface="DM Sans"/>
                <a:ea typeface="DM Sans"/>
                <a:cs typeface="DM Sans"/>
                <a:sym typeface="DM Sans"/>
              </a:rPr>
              <a:t> demande client ; dépôt du fichier d’historique réel, en amont de l’import automatique </a:t>
            </a:r>
            <a:r>
              <a:rPr b="1" lang="en-US" sz="1600">
                <a:solidFill>
                  <a:srgbClr val="6B3FA0"/>
                </a:solidFill>
                <a:latin typeface="DM Sans"/>
                <a:ea typeface="DM Sans"/>
                <a:cs typeface="DM Sans"/>
                <a:sym typeface="DM Sans"/>
              </a:rPr>
              <a:t>UC04</a:t>
            </a:r>
            <a:endParaRPr sz="1600">
              <a:solidFill>
                <a:schemeClr val="dk1"/>
              </a:solidFill>
              <a:latin typeface="DM Sans"/>
              <a:ea typeface="DM Sans"/>
              <a:cs typeface="DM Sans"/>
              <a:sym typeface="DM Sans"/>
            </a:endParaRPr>
          </a:p>
        </p:txBody>
      </p:sp>
      <p:sp>
        <p:nvSpPr>
          <p:cNvPr id="445" name="Google Shape;445;p18"/>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18</a:t>
            </a:r>
            <a:endParaRPr sz="1200">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50" name="Shape 450"/>
        <p:cNvGrpSpPr/>
        <p:nvPr/>
      </p:nvGrpSpPr>
      <p:grpSpPr>
        <a:xfrm>
          <a:off x="0" y="0"/>
          <a:ext cx="0" cy="0"/>
          <a:chOff x="0" y="0"/>
          <a:chExt cx="0" cy="0"/>
        </a:xfrm>
      </p:grpSpPr>
      <p:sp>
        <p:nvSpPr>
          <p:cNvPr id="451" name="Google Shape;451;p19"/>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2" name="Google Shape;452;p1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3" name="Google Shape;453;p1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4" name="Google Shape;454;p1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5" name="Google Shape;455;p1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56" name="Google Shape;456;p19"/>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57" name="Google Shape;457;p19"/>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 UC01 à UC13, les calculs sont automatiques et les choix de gestion restent manuels</a:t>
            </a:r>
            <a:endParaRPr sz="2100"/>
          </a:p>
        </p:txBody>
      </p:sp>
      <p:graphicFrame>
        <p:nvGraphicFramePr>
          <p:cNvPr id="458" name="Google Shape;458;p19"/>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157275"/>
                <a:gridCol w="4103075"/>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UC</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Tâche</a:t>
                      </a:r>
                      <a:endParaRPr sz="1300" u="none" cap="none" strike="noStrike">
                        <a:latin typeface="DM Sans"/>
                        <a:ea typeface="DM Sans"/>
                        <a:cs typeface="DM Sans"/>
                        <a:sym typeface="DM Sans"/>
                      </a:endParaRPr>
                    </a:p>
                  </a:txBody>
                  <a:tcPr marT="57150" marB="57150" marR="88900" marL="889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S’identifier</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UC02–03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Administrer utilisateurs et référentiels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Importer l’historique</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UC05</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Saisir la demande client</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UC06</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Contrôler la qualité des données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UC07</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Paramétrer les modèles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UC08–09</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Entraîner et évaluer les modèles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UC10</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Activer un modèle</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Générer les prévisions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UC12–13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Élaborer / simuler le plan</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graphicFrame>
        <p:nvGraphicFramePr>
          <p:cNvPr id="459" name="Google Shape;459;p19"/>
          <p:cNvGraphicFramePr/>
          <p:nvPr/>
        </p:nvGraphicFramePr>
        <p:xfrm>
          <a:off x="5979160" y="1788160"/>
          <a:ext cx="3000000" cy="3000000"/>
        </p:xfrm>
        <a:graphic>
          <a:graphicData uri="http://schemas.openxmlformats.org/drawingml/2006/table">
            <a:tbl>
              <a:tblPr>
                <a:noFill/>
                <a:tableStyleId>{2709B6FF-CDFB-4AB1-8E42-484B63002EFC}</a:tableStyleId>
              </a:tblPr>
              <a:tblGrid>
                <a:gridCol w="10693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Statut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bl>
          </a:graphicData>
        </a:graphic>
      </p:graphicFrame>
      <p:graphicFrame>
        <p:nvGraphicFramePr>
          <p:cNvPr id="460" name="Google Shape;460;p19"/>
          <p:cNvGraphicFramePr/>
          <p:nvPr/>
        </p:nvGraphicFramePr>
        <p:xfrm>
          <a:off x="7058660" y="1788160"/>
          <a:ext cx="3000000" cy="3000000"/>
        </p:xfrm>
        <a:graphic>
          <a:graphicData uri="http://schemas.openxmlformats.org/drawingml/2006/table">
            <a:tbl>
              <a:tblPr>
                <a:noFill/>
                <a:tableStyleId>{2709B6FF-CDFB-4AB1-8E42-484B63002EFC}</a:tableStyleId>
              </a:tblPr>
              <a:tblGrid>
                <a:gridCol w="44348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Justification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Chaque utilisateur s’identifie lui-même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Décision organisationnelle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Lecture et contrôle de format sans jugement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Donnée détenue par le client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Règles de validation fixes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Choix de gestion (seuils, cadence)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périodique sur paramètres fixés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Jamais automatique, même après un bon score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RL + RN sur données déjà actées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Arbitrage entre prévision et capacité réelle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bl>
          </a:graphicData>
        </a:graphic>
      </p:graphicFrame>
      <p:sp>
        <p:nvSpPr>
          <p:cNvPr id="461" name="Google Shape;461;p19"/>
          <p:cNvSpPr/>
          <p:nvPr/>
        </p:nvSpPr>
        <p:spPr>
          <a:xfrm>
            <a:off x="698500" y="6344927"/>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62" name="Google Shape;462;p19"/>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19</a:t>
            </a:r>
            <a:endParaRPr sz="1200">
              <a:solidFill>
                <a:schemeClr val="dk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67" name="Shape 467"/>
        <p:cNvGrpSpPr/>
        <p:nvPr/>
      </p:nvGrpSpPr>
      <p:grpSpPr>
        <a:xfrm>
          <a:off x="0" y="0"/>
          <a:ext cx="0" cy="0"/>
          <a:chOff x="0" y="0"/>
          <a:chExt cx="0" cy="0"/>
        </a:xfrm>
      </p:grpSpPr>
      <p:sp>
        <p:nvSpPr>
          <p:cNvPr id="468" name="Google Shape;468;p20"/>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69" name="Google Shape;469;p20"/>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0" name="Google Shape;470;p20"/>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1" name="Google Shape;471;p20"/>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2" name="Google Shape;472;p20"/>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73" name="Google Shape;473;p20"/>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74" name="Google Shape;474;p20"/>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De UC14 à UC24, les indicateurs et les alertes sont calculés ; la validation et la clôture restent manuelles</a:t>
            </a:r>
            <a:endParaRPr sz="2100"/>
          </a:p>
        </p:txBody>
      </p:sp>
      <p:graphicFrame>
        <p:nvGraphicFramePr>
          <p:cNvPr id="475" name="Google Shape;475;p20"/>
          <p:cNvGraphicFramePr/>
          <p:nvPr/>
        </p:nvGraphicFramePr>
        <p:xfrm>
          <a:off x="708660" y="1788160"/>
          <a:ext cx="3000000" cy="3000000"/>
        </p:xfrm>
        <a:graphic>
          <a:graphicData uri="http://schemas.openxmlformats.org/drawingml/2006/table">
            <a:tbl>
              <a:tblPr>
                <a:noFill/>
                <a:tableStyleId>{2709B6FF-CDFB-4AB1-8E42-484B63002EFC}</a:tableStyleId>
              </a:tblPr>
              <a:tblGrid>
                <a:gridCol w="1157275"/>
                <a:gridCol w="4103075"/>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UC</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Tâche</a:t>
                      </a:r>
                      <a:endParaRPr sz="1300" u="none" cap="none" strike="noStrike">
                        <a:latin typeface="DM Sans"/>
                        <a:ea typeface="DM Sans"/>
                        <a:cs typeface="DM Sans"/>
                        <a:sym typeface="DM Sans"/>
                      </a:endParaRPr>
                    </a:p>
                  </a:txBody>
                  <a:tcPr marT="57150" marB="57150" marR="88900" marL="88900">
                    <a:lnL cap="flat" cmpd="sng" w="12700">
                      <a:solidFill>
                        <a:srgbClr val="19253E"/>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Valider / rejeter le plan</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UC15</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Définir les cibles KPI</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UC16–17</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Calculer / comparer les KPI</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UC18</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Émettre les alertes</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UC19</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Traiter les alertes</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UC20–21</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Comparer réel/prévu, détecter la dérive</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UC22</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Consulter le tableau de bord</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UC23</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Générer un rapport</a:t>
                      </a:r>
                      <a:endParaRPr sz="1300" u="none" cap="none" strike="noStrike">
                        <a:latin typeface="DM Sans"/>
                        <a:ea typeface="DM Sans"/>
                        <a:cs typeface="DM Sans"/>
                        <a:sym typeface="DM Sans"/>
                      </a:endParaRPr>
                    </a:p>
                  </a:txBody>
                  <a:tcPr marT="57150" marB="57150" marR="88900" marL="88900">
                    <a:lnL cap="flat" cmpd="sng" w="12700">
                      <a:solidFill>
                        <a:srgbClr val="BEC0C6"/>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6B3FA0"/>
                        </a:buClr>
                        <a:buSzPts val="1300"/>
                        <a:buFont typeface="DM Sans"/>
                        <a:buNone/>
                      </a:pPr>
                      <a:r>
                        <a:rPr lang="en-US" sz="1300" u="none" cap="none" strike="noStrike">
                          <a:solidFill>
                            <a:srgbClr val="6B3FA0"/>
                          </a:solidFill>
                          <a:latin typeface="DM Sans"/>
                          <a:ea typeface="DM Sans"/>
                          <a:cs typeface="DM Sans"/>
                          <a:sym typeface="DM Sans"/>
                        </a:rPr>
                        <a:t>UC24</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Exporter un rapport</a:t>
                      </a:r>
                      <a:endParaRPr sz="1300" u="none" cap="none" strike="noStrike">
                        <a:latin typeface="DM Sans"/>
                        <a:ea typeface="DM Sans"/>
                        <a:cs typeface="DM Sans"/>
                        <a:sym typeface="DM Sans"/>
                      </a:endParaRPr>
                    </a:p>
                  </a:txBody>
                  <a:tcPr marT="57150" marB="57150" marR="88900" marL="88900">
                    <a:lnL cap="flat" cmpd="sng" w="12700">
                      <a:solidFill>
                        <a:srgbClr val="CBCBCB"/>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graphicFrame>
        <p:nvGraphicFramePr>
          <p:cNvPr id="476" name="Google Shape;476;p20"/>
          <p:cNvGraphicFramePr/>
          <p:nvPr/>
        </p:nvGraphicFramePr>
        <p:xfrm>
          <a:off x="5979160" y="1788160"/>
          <a:ext cx="3000000" cy="3000000"/>
        </p:xfrm>
        <a:graphic>
          <a:graphicData uri="http://schemas.openxmlformats.org/drawingml/2006/table">
            <a:tbl>
              <a:tblPr>
                <a:noFill/>
                <a:tableStyleId>{2709B6FF-CDFB-4AB1-8E42-484B63002EFC}</a:tableStyleId>
              </a:tblPr>
              <a:tblGrid>
                <a:gridCol w="10693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Statut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907FAF"/>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Mixte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64A69A"/>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64A69A"/>
                      </a:solidFill>
                      <a:prstDash val="solid"/>
                      <a:round/>
                      <a:headEnd len="sm" w="sm" type="none"/>
                      <a:tailEnd len="sm" w="sm" type="none"/>
                    </a:lnB>
                    <a:solidFill>
                      <a:srgbClr val="7ACFC0"/>
                    </a:solidFill>
                  </a:tcPr>
                </a:tc>
              </a:tr>
              <a:tr h="355600">
                <a:tc>
                  <a:txBody>
                    <a:bodyPr/>
                    <a:lstStyle/>
                    <a:p>
                      <a:pPr indent="0" lvl="0" marL="0" marR="0" rtl="0" algn="l">
                        <a:lnSpc>
                          <a:spcPct val="140000"/>
                        </a:lnSpc>
                        <a:spcBef>
                          <a:spcPts val="0"/>
                        </a:spcBef>
                        <a:spcAft>
                          <a:spcPts val="0"/>
                        </a:spcAft>
                        <a:buClr>
                          <a:srgbClr val="FFFFFF"/>
                        </a:buClr>
                        <a:buSzPts val="1300"/>
                        <a:buFont typeface="DM Sans"/>
                        <a:buNone/>
                      </a:pPr>
                      <a:r>
                        <a:rPr lang="en-US" sz="1300" u="none" cap="none" strike="noStrike">
                          <a:solidFill>
                            <a:srgbClr val="FFFFFF"/>
                          </a:solidFill>
                          <a:latin typeface="DM Sans"/>
                          <a:ea typeface="DM Sans"/>
                          <a:cs typeface="DM Sans"/>
                          <a:sym typeface="DM Sans"/>
                        </a:rPr>
                        <a:t>Auto</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64A69A"/>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1B2A4A"/>
                        </a:buClr>
                        <a:buSzPts val="1300"/>
                        <a:buFont typeface="DM Sans"/>
                        <a:buNone/>
                      </a:pPr>
                      <a:r>
                        <a:rPr lang="en-US" sz="1300" u="none" cap="none" strike="noStrike">
                          <a:solidFill>
                            <a:srgbClr val="1B2A4A"/>
                          </a:solidFill>
                          <a:latin typeface="DM Sans"/>
                          <a:ea typeface="DM Sans"/>
                          <a:cs typeface="DM Sans"/>
                          <a:sym typeface="DM Sans"/>
                        </a:rPr>
                        <a:t>Manuel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907FAF"/>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907FAF"/>
                      </a:solidFill>
                      <a:prstDash val="solid"/>
                      <a:round/>
                      <a:headEnd len="sm" w="sm" type="none"/>
                      <a:tailEnd len="sm" w="sm" type="none"/>
                    </a:lnB>
                    <a:solidFill>
                      <a:srgbClr val="B39DDB"/>
                    </a:solidFill>
                  </a:tcPr>
                </a:tc>
              </a:tr>
            </a:tbl>
          </a:graphicData>
        </a:graphic>
      </p:graphicFrame>
      <p:graphicFrame>
        <p:nvGraphicFramePr>
          <p:cNvPr id="477" name="Google Shape;477;p20"/>
          <p:cNvGraphicFramePr/>
          <p:nvPr/>
        </p:nvGraphicFramePr>
        <p:xfrm>
          <a:off x="7058660" y="1788160"/>
          <a:ext cx="3000000" cy="3000000"/>
        </p:xfrm>
        <a:graphic>
          <a:graphicData uri="http://schemas.openxmlformats.org/drawingml/2006/table">
            <a:tbl>
              <a:tblPr>
                <a:noFill/>
                <a:tableStyleId>{2709B6FF-CDFB-4AB1-8E42-484B63002EFC}</a:tableStyleId>
              </a:tblPr>
              <a:tblGrid>
                <a:gridCol w="4434850"/>
              </a:tblGrid>
              <a:tr h="355600">
                <a:tc>
                  <a:txBody>
                    <a:bodyPr/>
                    <a:lstStyle/>
                    <a:p>
                      <a:pPr indent="0" lvl="0" marL="0" marR="0" rtl="0" algn="l">
                        <a:lnSpc>
                          <a:spcPct val="140000"/>
                        </a:lnSpc>
                        <a:spcBef>
                          <a:spcPts val="0"/>
                        </a:spcBef>
                        <a:spcAft>
                          <a:spcPts val="0"/>
                        </a:spcAft>
                        <a:buClr>
                          <a:srgbClr val="FFFFFF"/>
                        </a:buClr>
                        <a:buSzPts val="1300"/>
                        <a:buFont typeface="DM Sans"/>
                        <a:buNone/>
                      </a:pPr>
                      <a:r>
                        <a:rPr b="1" lang="en-US" sz="1300" u="none" cap="none" strike="noStrike">
                          <a:solidFill>
                            <a:srgbClr val="FFFFFF"/>
                          </a:solidFill>
                          <a:latin typeface="DM Sans"/>
                          <a:ea typeface="DM Sans"/>
                          <a:cs typeface="DM Sans"/>
                          <a:sym typeface="DM Sans"/>
                        </a:rPr>
                        <a:t>Justification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19253E"/>
                      </a:solidFill>
                      <a:prstDash val="solid"/>
                      <a:round/>
                      <a:headEnd len="sm" w="sm" type="none"/>
                      <a:tailEnd len="sm" w="sm" type="none"/>
                    </a:lnR>
                    <a:lnT cap="flat" cmpd="sng" w="12700">
                      <a:solidFill>
                        <a:srgbClr val="C3C4C8"/>
                      </a:solidFill>
                      <a:prstDash val="solid"/>
                      <a:round/>
                      <a:headEnd len="sm" w="sm" type="none"/>
                      <a:tailEnd len="sm" w="sm" type="none"/>
                    </a:lnT>
                    <a:lnB cap="flat" cmpd="sng" w="12700">
                      <a:solidFill>
                        <a:srgbClr val="19253E"/>
                      </a:solidFill>
                      <a:prstDash val="solid"/>
                      <a:round/>
                      <a:headEnd len="sm" w="sm" type="none"/>
                      <a:tailEnd len="sm" w="sm" type="none"/>
                    </a:lnB>
                    <a:solidFill>
                      <a:srgbClr val="1B2A4A"/>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Engage la responsabilité du responsable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19253E"/>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Choix de politique de gestion</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sur cibles déjà fixées</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Détection par seuil</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Clore un incident engage une responsabilité</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Calcul quotidien sans jugement</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Vue automatique, consultation manuelle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Agrégation périodique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BEC0C6"/>
                      </a:solidFill>
                      <a:prstDash val="solid"/>
                      <a:round/>
                      <a:headEnd len="sm" w="sm" type="none"/>
                      <a:tailEnd len="sm" w="sm" type="none"/>
                    </a:lnR>
                    <a:lnT cap="flat" cmpd="sng" w="12700">
                      <a:solidFill>
                        <a:srgbClr val="CBCBCB"/>
                      </a:solidFill>
                      <a:prstDash val="solid"/>
                      <a:round/>
                      <a:headEnd len="sm" w="sm" type="none"/>
                      <a:tailEnd len="sm" w="sm" type="none"/>
                    </a:lnT>
                    <a:lnB cap="flat" cmpd="sng" w="12700">
                      <a:solidFill>
                        <a:srgbClr val="BEC0C6"/>
                      </a:solidFill>
                      <a:prstDash val="solid"/>
                      <a:round/>
                      <a:headEnd len="sm" w="sm" type="none"/>
                      <a:tailEnd len="sm" w="sm" type="none"/>
                    </a:lnB>
                    <a:solidFill>
                      <a:srgbClr val="EEF1F8"/>
                    </a:solidFill>
                  </a:tcPr>
                </a:tc>
              </a:tr>
              <a:tr h="355600">
                <a:tc>
                  <a:txBody>
                    <a:bodyPr/>
                    <a:lstStyle/>
                    <a:p>
                      <a:pPr indent="0" lvl="0" marL="0" marR="0" rtl="0" algn="l">
                        <a:lnSpc>
                          <a:spcPct val="140000"/>
                        </a:lnSpc>
                        <a:spcBef>
                          <a:spcPts val="0"/>
                        </a:spcBef>
                        <a:spcAft>
                          <a:spcPts val="0"/>
                        </a:spcAft>
                        <a:buClr>
                          <a:srgbClr val="2B3350"/>
                        </a:buClr>
                        <a:buSzPts val="1300"/>
                        <a:buFont typeface="DM Sans"/>
                        <a:buNone/>
                      </a:pPr>
                      <a:r>
                        <a:rPr lang="en-US" sz="1300" u="none" cap="none" strike="noStrike">
                          <a:solidFill>
                            <a:srgbClr val="2B3350"/>
                          </a:solidFill>
                          <a:latin typeface="DM Sans"/>
                          <a:ea typeface="DM Sans"/>
                          <a:cs typeface="DM Sans"/>
                          <a:sym typeface="DM Sans"/>
                        </a:rPr>
                        <a:t>Action ponctuelle à la demande</a:t>
                      </a:r>
                      <a:endParaRPr sz="1300" u="none" cap="none" strike="noStrike">
                        <a:latin typeface="DM Sans"/>
                        <a:ea typeface="DM Sans"/>
                        <a:cs typeface="DM Sans"/>
                        <a:sym typeface="DM Sans"/>
                      </a:endParaRPr>
                    </a:p>
                  </a:txBody>
                  <a:tcPr marT="57150" marB="57150" marR="88900" marL="88900">
                    <a:lnL cap="flat" cmpd="sng" w="12700">
                      <a:solidFill>
                        <a:srgbClr val="C3C4C8"/>
                      </a:solidFill>
                      <a:prstDash val="solid"/>
                      <a:round/>
                      <a:headEnd len="sm" w="sm" type="none"/>
                      <a:tailEnd len="sm" w="sm" type="none"/>
                    </a:lnL>
                    <a:lnR cap="flat" cmpd="sng" w="12700">
                      <a:solidFill>
                        <a:srgbClr val="CBCBCB"/>
                      </a:solidFill>
                      <a:prstDash val="solid"/>
                      <a:round/>
                      <a:headEnd len="sm" w="sm" type="none"/>
                      <a:tailEnd len="sm" w="sm" type="none"/>
                    </a:lnR>
                    <a:lnT cap="flat" cmpd="sng" w="12700">
                      <a:solidFill>
                        <a:srgbClr val="BEC0C6"/>
                      </a:solidFill>
                      <a:prstDash val="solid"/>
                      <a:round/>
                      <a:headEnd len="sm" w="sm" type="none"/>
                      <a:tailEnd len="sm" w="sm" type="none"/>
                    </a:lnT>
                    <a:lnB cap="flat" cmpd="sng" w="12700">
                      <a:solidFill>
                        <a:srgbClr val="CBCBCB"/>
                      </a:solidFill>
                      <a:prstDash val="solid"/>
                      <a:round/>
                      <a:headEnd len="sm" w="sm" type="none"/>
                      <a:tailEnd len="sm" w="sm" type="none"/>
                    </a:lnB>
                    <a:solidFill>
                      <a:srgbClr val="FFFFFF"/>
                    </a:solidFill>
                  </a:tcPr>
                </a:tc>
              </a:tr>
            </a:tbl>
          </a:graphicData>
        </a:graphic>
      </p:graphicFrame>
      <p:sp>
        <p:nvSpPr>
          <p:cNvPr id="478" name="Google Shape;478;p20"/>
          <p:cNvSpPr/>
          <p:nvPr/>
        </p:nvSpPr>
        <p:spPr>
          <a:xfrm>
            <a:off x="698500" y="6344927"/>
            <a:ext cx="9156700" cy="2082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6B7390"/>
              </a:buClr>
              <a:buSzPts val="1200"/>
              <a:buFont typeface="DM Sans"/>
              <a:buNone/>
            </a:pPr>
            <a:r>
              <a:rPr lang="en-US" sz="1200">
                <a:solidFill>
                  <a:srgbClr val="6B7390"/>
                </a:solidFill>
                <a:latin typeface="DM Sans"/>
                <a:ea typeface="DM Sans"/>
                <a:cs typeface="DM Sans"/>
                <a:sym typeface="DM Sans"/>
              </a:rPr>
              <a:t>Source : expérimentations de l’équipe 15, livrable 2.</a:t>
            </a:r>
            <a:endParaRPr sz="1200">
              <a:solidFill>
                <a:schemeClr val="dk1"/>
              </a:solidFill>
              <a:latin typeface="DM Sans"/>
              <a:ea typeface="DM Sans"/>
              <a:cs typeface="DM Sans"/>
              <a:sym typeface="DM Sans"/>
            </a:endParaRPr>
          </a:p>
        </p:txBody>
      </p:sp>
      <p:sp>
        <p:nvSpPr>
          <p:cNvPr id="479" name="Google Shape;479;p20"/>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20</a:t>
            </a:r>
            <a:endParaRPr sz="1200">
              <a:solidFill>
                <a:schemeClr val="dk1"/>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484" name="Shape 484"/>
        <p:cNvGrpSpPr/>
        <p:nvPr/>
      </p:nvGrpSpPr>
      <p:grpSpPr>
        <a:xfrm>
          <a:off x="0" y="0"/>
          <a:ext cx="0" cy="0"/>
          <a:chOff x="0" y="0"/>
          <a:chExt cx="0" cy="0"/>
        </a:xfrm>
      </p:grpSpPr>
      <p:sp>
        <p:nvSpPr>
          <p:cNvPr id="485" name="Google Shape;485;p21"/>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processus automatise les calculs et réserve les décisions engageantes à un responsable</a:t>
            </a:r>
            <a:endParaRPr sz="2100"/>
          </a:p>
        </p:txBody>
      </p:sp>
      <p:sp>
        <p:nvSpPr>
          <p:cNvPr id="493" name="Google Shape;493;p21"/>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21</a:t>
            </a:r>
            <a:endParaRPr sz="1200">
              <a:solidFill>
                <a:schemeClr val="dk1"/>
              </a:solidFill>
              <a:latin typeface="DM Sans"/>
              <a:ea typeface="DM Sans"/>
              <a:cs typeface="DM Sans"/>
              <a:sym typeface="DM Sans"/>
            </a:endParaRPr>
          </a:p>
        </p:txBody>
      </p:sp>
      <p:pic>
        <p:nvPicPr>
          <p:cNvPr id="494" name="Picture 493" descr="synthese_1.png"/>
          <p:cNvPicPr>
            <a:picLocks noChangeAspect="1"/>
          </p:cNvPicPr>
          <p:nvPr/>
        </p:nvPicPr>
        <p:blipFill>
          <a:blip r:embed="rId3"/>
          <a:stretch>
            <a:fillRect/>
          </a:stretch>
        </p:blipFill>
        <p:spPr>
          <a:xfrm>
            <a:off x="694944" y="1682496"/>
            <a:ext cx="10799064" cy="4323155"/>
          </a:xfrm>
          <a:prstGeom prst="rect">
            <a:avLst/>
          </a:prstGeom>
          <a:ln w="9525">
            <a:solidFill>
              <a:srgbClr val="D5DAE8"/>
            </a:solidFill>
          </a:ln>
        </p:spPr>
      </p:pic>
      <p:sp>
        <p:nvSpPr>
          <p:cNvPr id="495" name="Rounded Rectangle 494"/>
          <p:cNvSpPr/>
          <p:nvPr/>
        </p:nvSpPr>
        <p:spPr>
          <a:xfrm>
            <a:off x="694944" y="6053328"/>
            <a:ext cx="329184" cy="201168"/>
          </a:xfrm>
          <a:prstGeom prst="roundRect">
            <a:avLst>
              <a:gd name="adj" fmla="val 27272"/>
            </a:avLst>
          </a:prstGeom>
          <a:solidFill>
            <a:srgbClr val="CDEEE8"/>
          </a:solidFill>
          <a:ln w="19050">
            <a:solidFill>
              <a:srgbClr val="2E9C87"/>
            </a:solidFill>
          </a:ln>
        </p:spPr>
        <p:txBody>
          <a:bodyPr rtlCol="0" anchor="ctr"/>
          <a:lstStyle/>
          <a:p>
            <a:pPr algn="ctr"/>
          </a:p>
        </p:txBody>
      </p:sp>
      <p:sp>
        <p:nvSpPr>
          <p:cNvPr id="496" name="TextBox 495"/>
          <p:cNvSpPr txBox="1"/>
          <p:nvPr/>
        </p:nvSpPr>
        <p:spPr>
          <a:xfrm>
            <a:off x="1115568" y="6044184"/>
            <a:ext cx="210312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automatique (calcul)</a:t>
            </a:r>
          </a:p>
        </p:txBody>
      </p:sp>
      <p:sp>
        <p:nvSpPr>
          <p:cNvPr id="497" name="Rounded Rectangle 496"/>
          <p:cNvSpPr/>
          <p:nvPr/>
        </p:nvSpPr>
        <p:spPr>
          <a:xfrm>
            <a:off x="3438144" y="6053328"/>
            <a:ext cx="329184" cy="201168"/>
          </a:xfrm>
          <a:prstGeom prst="roundRect">
            <a:avLst>
              <a:gd name="adj" fmla="val 27272"/>
            </a:avLst>
          </a:prstGeom>
          <a:solidFill>
            <a:srgbClr val="E2D9F3"/>
          </a:solidFill>
          <a:ln w="19050">
            <a:solidFill>
              <a:srgbClr val="6B3FA0"/>
            </a:solidFill>
          </a:ln>
        </p:spPr>
        <p:txBody>
          <a:bodyPr rtlCol="0" anchor="ctr"/>
          <a:lstStyle/>
          <a:p>
            <a:pPr algn="ctr"/>
          </a:p>
        </p:txBody>
      </p:sp>
      <p:sp>
        <p:nvSpPr>
          <p:cNvPr id="498" name="TextBox 497"/>
          <p:cNvSpPr txBox="1"/>
          <p:nvPr/>
        </p:nvSpPr>
        <p:spPr>
          <a:xfrm>
            <a:off x="3858768" y="6044184"/>
            <a:ext cx="292608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manuelle (saisie ou décision)</a:t>
            </a:r>
          </a:p>
        </p:txBody>
      </p:sp>
      <p:sp>
        <p:nvSpPr>
          <p:cNvPr id="499" name="Diamond 498"/>
          <p:cNvSpPr/>
          <p:nvPr/>
        </p:nvSpPr>
        <p:spPr>
          <a:xfrm>
            <a:off x="7013448" y="6025896"/>
            <a:ext cx="256032" cy="256032"/>
          </a:xfrm>
          <a:prstGeom prst="diamond">
            <a:avLst/>
          </a:prstGeom>
          <a:solidFill>
            <a:srgbClr val="E3F0FC"/>
          </a:solidFill>
          <a:ln w="19050">
            <a:solidFill>
              <a:srgbClr val="2F7FC4"/>
            </a:solidFill>
          </a:ln>
          <a:effectLst/>
        </p:spPr>
        <p:txBody>
          <a:bodyPr rtlCol="0" anchor="ctr"/>
          <a:lstStyle/>
          <a:p>
            <a:pPr algn="ctr"/>
          </a:p>
        </p:txBody>
      </p:sp>
      <p:sp>
        <p:nvSpPr>
          <p:cNvPr id="500" name="TextBox 499"/>
          <p:cNvSpPr txBox="1"/>
          <p:nvPr/>
        </p:nvSpPr>
        <p:spPr>
          <a:xfrm>
            <a:off x="7379208" y="6044184"/>
            <a:ext cx="182880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Passerelle de décision</a:t>
            </a:r>
          </a:p>
        </p:txBody>
      </p:sp>
      <p:sp>
        <p:nvSpPr>
          <p:cNvPr id="501" name="Oval 500"/>
          <p:cNvSpPr/>
          <p:nvPr/>
        </p:nvSpPr>
        <p:spPr>
          <a:xfrm>
            <a:off x="9244584" y="6044184"/>
            <a:ext cx="219456" cy="219456"/>
          </a:xfrm>
          <a:prstGeom prst="ellipse">
            <a:avLst/>
          </a:prstGeom>
          <a:solidFill>
            <a:srgbClr val="FFFFFF"/>
          </a:solidFill>
          <a:ln w="22225">
            <a:solidFill>
              <a:srgbClr val="1B2A4A"/>
            </a:solidFill>
          </a:ln>
        </p:spPr>
        <p:txBody>
          <a:bodyPr rtlCol="0" anchor="ctr"/>
          <a:lstStyle/>
          <a:p>
            <a:pPr algn="ctr"/>
          </a:p>
        </p:txBody>
      </p:sp>
      <p:sp>
        <p:nvSpPr>
          <p:cNvPr id="502" name="TextBox 501"/>
          <p:cNvSpPr txBox="1"/>
          <p:nvPr/>
        </p:nvSpPr>
        <p:spPr>
          <a:xfrm>
            <a:off x="9555480" y="6044184"/>
            <a:ext cx="146304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Début, minuteur, fin</a:t>
            </a:r>
          </a:p>
        </p:txBody>
      </p:sp>
      <p:sp>
        <p:nvSpPr>
          <p:cNvPr id="503" name="TextBox 502"/>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3. Diagramme BPMN du workflow de Workly (1/2). Source : équipe 15, fichier docs/workflow_workly_synthese_1.bpmn.</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2"/>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Comparaison entre Fusion AI et N8N </a:t>
            </a:r>
            <a:br>
              <a:rPr b="1" lang="en-US" sz="3400">
                <a:solidFill>
                  <a:schemeClr val="dk2"/>
                </a:solidFill>
              </a:rPr>
            </a:br>
            <a:r>
              <a:rPr b="1" lang="en-US" sz="3400">
                <a:solidFill>
                  <a:schemeClr val="dk2"/>
                </a:solidFill>
              </a:rPr>
              <a:t>Sur Fusion : ce qui a marché, ce qui m'a coûté</a:t>
            </a:r>
            <a:endParaRPr sz="3400"/>
          </a:p>
        </p:txBody>
      </p:sp>
      <p:sp>
        <p:nvSpPr>
          <p:cNvPr id="501" name="Google Shape;501;p22"/>
          <p:cNvSpPr/>
          <p:nvPr/>
        </p:nvSpPr>
        <p:spPr>
          <a:xfrm>
            <a:off x="548640"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02" name="Google Shape;502;p22"/>
          <p:cNvSpPr/>
          <p:nvPr/>
        </p:nvSpPr>
        <p:spPr>
          <a:xfrm>
            <a:off x="822960" y="2011680"/>
            <a:ext cx="548640" cy="548640"/>
          </a:xfrm>
          <a:prstGeom prst="ellipse">
            <a:avLst/>
          </a:prstGeom>
          <a:solidFill>
            <a:srgbClr val="1F8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03" name="Google Shape;503;p22"/>
          <p:cNvPicPr preferRelativeResize="0"/>
          <p:nvPr/>
        </p:nvPicPr>
        <p:blipFill rotWithShape="1">
          <a:blip r:embed="rId3">
            <a:alphaModFix/>
          </a:blip>
          <a:srcRect b="0" l="0" r="0" t="0"/>
          <a:stretch/>
        </p:blipFill>
        <p:spPr>
          <a:xfrm>
            <a:off x="971093" y="2159813"/>
            <a:ext cx="252374" cy="252374"/>
          </a:xfrm>
          <a:prstGeom prst="rect">
            <a:avLst/>
          </a:prstGeom>
          <a:noFill/>
          <a:ln>
            <a:noFill/>
          </a:ln>
        </p:spPr>
      </p:pic>
      <p:sp>
        <p:nvSpPr>
          <p:cNvPr id="504" name="Google Shape;504;p22"/>
          <p:cNvSpPr txBox="1"/>
          <p:nvPr/>
        </p:nvSpPr>
        <p:spPr>
          <a:xfrm>
            <a:off x="1508760"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a bien marché</a:t>
            </a:r>
            <a:endParaRPr b="0" i="0" sz="2000" u="none" cap="none" strike="noStrike">
              <a:solidFill>
                <a:srgbClr val="14213D"/>
              </a:solidFill>
              <a:latin typeface="Calibri"/>
              <a:ea typeface="Calibri"/>
              <a:cs typeface="Calibri"/>
              <a:sym typeface="Calibri"/>
            </a:endParaRPr>
          </a:p>
        </p:txBody>
      </p:sp>
      <p:sp>
        <p:nvSpPr>
          <p:cNvPr id="505" name="Google Shape;505;p22"/>
          <p:cNvSpPr txBox="1"/>
          <p:nvPr/>
        </p:nvSpPr>
        <p:spPr>
          <a:xfrm>
            <a:off x="822960"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Chaque nœud a une sortie d'échec, sans aucun réglage.</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La plateforme refuse de démarrer si un Cron est invalide, et le signale.</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Cron est actif dès l'enregistrement du workflow.</a:t>
            </a:r>
            <a:endParaRPr/>
          </a:p>
        </p:txBody>
      </p:sp>
      <p:sp>
        <p:nvSpPr>
          <p:cNvPr id="506" name="Google Shape;506;p22"/>
          <p:cNvSpPr/>
          <p:nvPr/>
        </p:nvSpPr>
        <p:spPr>
          <a:xfrm>
            <a:off x="6278728"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07" name="Google Shape;507;p22"/>
          <p:cNvSpPr/>
          <p:nvPr/>
        </p:nvSpPr>
        <p:spPr>
          <a:xfrm>
            <a:off x="6553048" y="2011680"/>
            <a:ext cx="548640" cy="548640"/>
          </a:xfrm>
          <a:prstGeom prst="ellipse">
            <a:avLst/>
          </a:prstGeom>
          <a:solidFill>
            <a:srgbClr val="B326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08" name="Google Shape;508;p22"/>
          <p:cNvPicPr preferRelativeResize="0"/>
          <p:nvPr/>
        </p:nvPicPr>
        <p:blipFill rotWithShape="1">
          <a:blip r:embed="rId4">
            <a:alphaModFix/>
          </a:blip>
          <a:srcRect b="0" l="0" r="0" t="0"/>
          <a:stretch/>
        </p:blipFill>
        <p:spPr>
          <a:xfrm>
            <a:off x="6701180" y="2159813"/>
            <a:ext cx="252374" cy="252374"/>
          </a:xfrm>
          <a:prstGeom prst="rect">
            <a:avLst/>
          </a:prstGeom>
          <a:noFill/>
          <a:ln>
            <a:noFill/>
          </a:ln>
        </p:spPr>
      </p:pic>
      <p:sp>
        <p:nvSpPr>
          <p:cNvPr id="509" name="Google Shape;509;p22"/>
          <p:cNvSpPr txBox="1"/>
          <p:nvPr/>
        </p:nvSpPr>
        <p:spPr>
          <a:xfrm>
            <a:off x="7238848"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m'a coûté du temps</a:t>
            </a:r>
            <a:endParaRPr b="0" i="0" sz="2000" u="none" cap="none" strike="noStrike">
              <a:solidFill>
                <a:srgbClr val="14213D"/>
              </a:solidFill>
              <a:latin typeface="Calibri"/>
              <a:ea typeface="Calibri"/>
              <a:cs typeface="Calibri"/>
              <a:sym typeface="Calibri"/>
            </a:endParaRPr>
          </a:p>
        </p:txBody>
      </p:sp>
      <p:sp>
        <p:nvSpPr>
          <p:cNvPr id="510" name="Google Shape;510;p22"/>
          <p:cNvSpPr txBox="1"/>
          <p:nvPr/>
        </p:nvSpPr>
        <p:spPr>
          <a:xfrm>
            <a:off x="6553048"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 token à saisir dans chaque nœud : dix-sept nœuds, et des erreurs 401 sur ceux que j'avais copiés d'un nœud sans token.</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chemin d'URL doublé, « /taches//taches/… », qui répondait 404.</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Cron écrit « 30 0 *** » sans espaces, qui bloquait tout le workflow.</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L'erreur n'affiche que « code 404 », pas le message de Workly.</a:t>
            </a:r>
            <a:endParaRPr/>
          </a:p>
        </p:txBody>
      </p:sp>
      <p:sp>
        <p:nvSpPr>
          <p:cNvPr id="511" name="Google Shape;511;p22"/>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23"/>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Sur n8n : ce qui a marché, ce qui m'a coûté</a:t>
            </a:r>
            <a:endParaRPr sz="3400"/>
          </a:p>
        </p:txBody>
      </p:sp>
      <p:sp>
        <p:nvSpPr>
          <p:cNvPr id="518" name="Google Shape;518;p23"/>
          <p:cNvSpPr/>
          <p:nvPr/>
        </p:nvSpPr>
        <p:spPr>
          <a:xfrm>
            <a:off x="548640"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19" name="Google Shape;519;p23"/>
          <p:cNvSpPr/>
          <p:nvPr/>
        </p:nvSpPr>
        <p:spPr>
          <a:xfrm>
            <a:off x="822960" y="2011680"/>
            <a:ext cx="548640" cy="548640"/>
          </a:xfrm>
          <a:prstGeom prst="ellipse">
            <a:avLst/>
          </a:prstGeom>
          <a:solidFill>
            <a:srgbClr val="1F8F7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20" name="Google Shape;520;p23"/>
          <p:cNvPicPr preferRelativeResize="0"/>
          <p:nvPr/>
        </p:nvPicPr>
        <p:blipFill rotWithShape="1">
          <a:blip r:embed="rId3">
            <a:alphaModFix/>
          </a:blip>
          <a:srcRect b="0" l="0" r="0" t="0"/>
          <a:stretch/>
        </p:blipFill>
        <p:spPr>
          <a:xfrm>
            <a:off x="971093" y="2159813"/>
            <a:ext cx="252374" cy="252374"/>
          </a:xfrm>
          <a:prstGeom prst="rect">
            <a:avLst/>
          </a:prstGeom>
          <a:noFill/>
          <a:ln>
            <a:noFill/>
          </a:ln>
        </p:spPr>
      </p:pic>
      <p:sp>
        <p:nvSpPr>
          <p:cNvPr id="521" name="Google Shape;521;p23"/>
          <p:cNvSpPr txBox="1"/>
          <p:nvPr/>
        </p:nvSpPr>
        <p:spPr>
          <a:xfrm>
            <a:off x="1508760"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a bien marché</a:t>
            </a:r>
            <a:endParaRPr b="0" i="0" sz="2000" u="none" cap="none" strike="noStrike">
              <a:solidFill>
                <a:srgbClr val="14213D"/>
              </a:solidFill>
              <a:latin typeface="Calibri"/>
              <a:ea typeface="Calibri"/>
              <a:cs typeface="Calibri"/>
              <a:sym typeface="Calibri"/>
            </a:endParaRPr>
          </a:p>
        </p:txBody>
      </p:sp>
      <p:sp>
        <p:nvSpPr>
          <p:cNvPr id="522" name="Google Shape;522;p23"/>
          <p:cNvSpPr txBox="1"/>
          <p:nvPr/>
        </p:nvSpPr>
        <p:spPr>
          <a:xfrm>
            <a:off x="822960"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seul credential pour le token, réutilisé dans tous les nœuds.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L'erreur contient le corps de la réponse : « Tâche inconnue : taches-du-jour ».</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 fuseau horaire se règle, et l'interrupteur Active est explicite.</a:t>
            </a:r>
            <a:endParaRPr/>
          </a:p>
        </p:txBody>
      </p:sp>
      <p:sp>
        <p:nvSpPr>
          <p:cNvPr id="523" name="Google Shape;523;p23"/>
          <p:cNvSpPr/>
          <p:nvPr/>
        </p:nvSpPr>
        <p:spPr>
          <a:xfrm>
            <a:off x="6278728" y="1783080"/>
            <a:ext cx="5364328" cy="4160520"/>
          </a:xfrm>
          <a:prstGeom prst="roundRect">
            <a:avLst>
              <a:gd fmla="val 2637" name="adj"/>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sp>
        <p:nvSpPr>
          <p:cNvPr id="524" name="Google Shape;524;p23"/>
          <p:cNvSpPr/>
          <p:nvPr/>
        </p:nvSpPr>
        <p:spPr>
          <a:xfrm>
            <a:off x="6553048" y="2011680"/>
            <a:ext cx="548640" cy="548640"/>
          </a:xfrm>
          <a:prstGeom prst="ellipse">
            <a:avLst/>
          </a:prstGeom>
          <a:solidFill>
            <a:srgbClr val="B3261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14213D"/>
              </a:solidFill>
              <a:latin typeface="Calibri"/>
              <a:ea typeface="Calibri"/>
              <a:cs typeface="Calibri"/>
              <a:sym typeface="Calibri"/>
            </a:endParaRPr>
          </a:p>
        </p:txBody>
      </p:sp>
      <p:pic>
        <p:nvPicPr>
          <p:cNvPr descr="preencoded.png" id="525" name="Google Shape;525;p23"/>
          <p:cNvPicPr preferRelativeResize="0"/>
          <p:nvPr/>
        </p:nvPicPr>
        <p:blipFill rotWithShape="1">
          <a:blip r:embed="rId4">
            <a:alphaModFix/>
          </a:blip>
          <a:srcRect b="0" l="0" r="0" t="0"/>
          <a:stretch/>
        </p:blipFill>
        <p:spPr>
          <a:xfrm>
            <a:off x="6701180" y="2159813"/>
            <a:ext cx="252374" cy="252374"/>
          </a:xfrm>
          <a:prstGeom prst="rect">
            <a:avLst/>
          </a:prstGeom>
          <a:noFill/>
          <a:ln>
            <a:noFill/>
          </a:ln>
        </p:spPr>
      </p:pic>
      <p:sp>
        <p:nvSpPr>
          <p:cNvPr id="526" name="Google Shape;526;p23"/>
          <p:cNvSpPr txBox="1"/>
          <p:nvPr/>
        </p:nvSpPr>
        <p:spPr>
          <a:xfrm>
            <a:off x="7238848" y="2011680"/>
            <a:ext cx="4175608"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E2A47"/>
              </a:buClr>
              <a:buSzPts val="2000"/>
              <a:buFont typeface="Calibri"/>
              <a:buNone/>
            </a:pPr>
            <a:r>
              <a:rPr b="1" i="0" lang="en-US" sz="2000" u="none" cap="none" strike="noStrike">
                <a:solidFill>
                  <a:srgbClr val="0E2A47"/>
                </a:solidFill>
                <a:latin typeface="Calibri"/>
                <a:ea typeface="Calibri"/>
                <a:cs typeface="Calibri"/>
                <a:sym typeface="Calibri"/>
              </a:rPr>
              <a:t>Ce qui m'a coûté du temps</a:t>
            </a:r>
            <a:endParaRPr b="0" i="0" sz="2000" u="none" cap="none" strike="noStrike">
              <a:solidFill>
                <a:srgbClr val="14213D"/>
              </a:solidFill>
              <a:latin typeface="Calibri"/>
              <a:ea typeface="Calibri"/>
              <a:cs typeface="Calibri"/>
              <a:sym typeface="Calibri"/>
            </a:endParaRPr>
          </a:p>
        </p:txBody>
      </p:sp>
      <p:sp>
        <p:nvSpPr>
          <p:cNvPr id="527" name="Google Shape;527;p23"/>
          <p:cNvSpPr txBox="1"/>
          <p:nvPr/>
        </p:nvSpPr>
        <p:spPr>
          <a:xfrm>
            <a:off x="6553048" y="2834640"/>
            <a:ext cx="4815688" cy="2926080"/>
          </a:xfrm>
          <a:prstGeom prst="rect">
            <a:avLst/>
          </a:prstGeom>
          <a:noFill/>
          <a:ln>
            <a:noFill/>
          </a:ln>
        </p:spPr>
        <p:txBody>
          <a:bodyPr anchorCtr="0" anchor="t" bIns="0" lIns="0" spcFirstLastPara="1" rIns="0" wrap="square" tIns="0">
            <a:noAutofit/>
          </a:bodyPr>
          <a:lstStyle/>
          <a:p>
            <a:pPr indent="-342900" lvl="0" marL="342900" marR="0" rtl="0" algn="l">
              <a:lnSpc>
                <a:spcPct val="100000"/>
              </a:lnSpc>
              <a:spcBef>
                <a:spcPts val="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La sortie d'erreur est à activer nœud par nœud, dans Settings.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 Execute step » et « Execute workflow » ne se comportent pas pareil : j'ai cru que P6 bloquait alors qu'il n'était pas appelé.</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Un conflit d'enregistrement quand le workflow est ouvert dans deux onglets.</a:t>
            </a:r>
            <a:endParaRPr/>
          </a:p>
          <a:p>
            <a:pPr indent="-342900" lvl="0" marL="342900" marR="0" rtl="0" algn="l">
              <a:lnSpc>
                <a:spcPct val="100000"/>
              </a:lnSpc>
              <a:spcBef>
                <a:spcPts val="1000"/>
              </a:spcBef>
              <a:spcAft>
                <a:spcPts val="0"/>
              </a:spcAft>
              <a:buClr>
                <a:srgbClr val="14213D"/>
              </a:buClr>
              <a:buSzPts val="1600"/>
              <a:buFont typeface="Calibri"/>
              <a:buChar char="•"/>
            </a:pPr>
            <a:r>
              <a:rPr b="0" i="0" lang="en-US" sz="1600" u="none" cap="none" strike="noStrike">
                <a:solidFill>
                  <a:srgbClr val="14213D"/>
                </a:solidFill>
                <a:latin typeface="Calibri"/>
                <a:ea typeface="Calibri"/>
                <a:cs typeface="Calibri"/>
                <a:sym typeface="Calibri"/>
              </a:rPr>
              <a:t>Les mêmes erreurs de chemin d'URL que sur Fusion.</a:t>
            </a:r>
            <a:endParaRPr/>
          </a:p>
        </p:txBody>
      </p:sp>
      <p:sp>
        <p:nvSpPr>
          <p:cNvPr id="528" name="Google Shape;528;p23"/>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24"/>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Bilan : 6 critères pour n8n, 3 pour Fusion</a:t>
            </a:r>
            <a:endParaRPr sz="3400"/>
          </a:p>
        </p:txBody>
      </p:sp>
      <p:graphicFrame>
        <p:nvGraphicFramePr>
          <p:cNvPr id="535" name="Google Shape;535;p24"/>
          <p:cNvGraphicFramePr/>
          <p:nvPr/>
        </p:nvGraphicFramePr>
        <p:xfrm>
          <a:off x="548640" y="1737360"/>
          <a:ext cx="6766560" cy="4297680"/>
        </p:xfrm>
        <a:graphic>
          <a:graphicData uri="http://schemas.openxmlformats.org/drawingml/2006/chart">
            <c:chart r:id="rId3"/>
          </a:graphicData>
        </a:graphic>
      </p:graphicFrame>
      <p:sp>
        <p:nvSpPr>
          <p:cNvPr id="536" name="Google Shape;536;p24"/>
          <p:cNvSpPr/>
          <p:nvPr/>
        </p:nvSpPr>
        <p:spPr>
          <a:xfrm>
            <a:off x="7680960" y="1737360"/>
            <a:ext cx="3962095" cy="4297680"/>
          </a:xfrm>
          <a:prstGeom prst="roundRect">
            <a:avLst>
              <a:gd fmla="val 2769"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24"/>
          <p:cNvSpPr txBox="1"/>
          <p:nvPr/>
        </p:nvSpPr>
        <p:spPr>
          <a:xfrm>
            <a:off x="7955280" y="1965960"/>
            <a:ext cx="341345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2"/>
              </a:buClr>
              <a:buSzPts val="2000"/>
              <a:buFont typeface="Calibri"/>
              <a:buNone/>
            </a:pPr>
            <a:r>
              <a:rPr b="1" lang="en-US" sz="2000">
                <a:solidFill>
                  <a:schemeClr val="dk2"/>
                </a:solidFill>
                <a:latin typeface="Calibri"/>
                <a:ea typeface="Calibri"/>
                <a:cs typeface="Calibri"/>
                <a:sym typeface="Calibri"/>
              </a:rPr>
              <a:t>Ce que je retiens</a:t>
            </a:r>
            <a:endParaRPr sz="2000">
              <a:solidFill>
                <a:schemeClr val="dk1"/>
              </a:solidFill>
              <a:latin typeface="Calibri"/>
              <a:ea typeface="Calibri"/>
              <a:cs typeface="Calibri"/>
              <a:sym typeface="Calibri"/>
            </a:endParaRPr>
          </a:p>
        </p:txBody>
      </p:sp>
      <p:sp>
        <p:nvSpPr>
          <p:cNvPr id="538" name="Google Shape;538;p24"/>
          <p:cNvSpPr txBox="1"/>
          <p:nvPr/>
        </p:nvSpPr>
        <p:spPr>
          <a:xfrm>
            <a:off x="7955280" y="2560320"/>
            <a:ext cx="3413455" cy="32918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n8n gagne là où j'ai perdu du temps : token unique, erreurs détaillées, fuseau réglable.</a:t>
            </a:r>
            <a:endParaRPr sz="16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Fusion gagne sur la simplicité d'un Cron et sur sa validation.</a:t>
            </a:r>
            <a:endParaRPr sz="1600">
              <a:solidFill>
                <a:schemeClr val="dk1"/>
              </a:solidFill>
              <a:latin typeface="Calibri"/>
              <a:ea typeface="Calibri"/>
              <a:cs typeface="Calibri"/>
              <a:sym typeface="Calibri"/>
            </a:endParaRPr>
          </a:p>
          <a:p>
            <a:pPr indent="-342900" lvl="0" marL="342900" marR="0" rtl="0" algn="l">
              <a:spcBef>
                <a:spcPts val="1000"/>
              </a:spcBef>
              <a:spcAft>
                <a:spcPts val="0"/>
              </a:spcAft>
              <a:buClr>
                <a:schemeClr val="dk1"/>
              </a:buClr>
              <a:buSzPts val="1600"/>
              <a:buFont typeface="Calibri"/>
              <a:buChar char="•"/>
            </a:pPr>
            <a:r>
              <a:rPr lang="en-US" sz="1600">
                <a:solidFill>
                  <a:schemeClr val="dk1"/>
                </a:solidFill>
                <a:latin typeface="Calibri"/>
                <a:ea typeface="Calibri"/>
                <a:cs typeface="Calibri"/>
                <a:sym typeface="Calibri"/>
              </a:rPr>
              <a:t>Six autres critères restent à mesurer sur plusieurs nuits.</a:t>
            </a:r>
            <a:endParaRPr sz="1600">
              <a:solidFill>
                <a:schemeClr val="dk1"/>
              </a:solidFill>
              <a:latin typeface="Calibri"/>
              <a:ea typeface="Calibri"/>
              <a:cs typeface="Calibri"/>
              <a:sym typeface="Calibri"/>
            </a:endParaRPr>
          </a:p>
        </p:txBody>
      </p:sp>
      <p:sp>
        <p:nvSpPr>
          <p:cNvPr id="539" name="Google Shape;539;p24"/>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lang="en-US" sz="1100">
                <a:solidFill>
                  <a:schemeClr val="accent4"/>
                </a:solidFill>
                <a:latin typeface="Calibri"/>
                <a:ea typeface="Calibri"/>
                <a:cs typeface="Calibri"/>
                <a:sym typeface="Calibri"/>
              </a:rPr>
              <a:t>‹#›</a:t>
            </a:fld>
            <a:endParaRPr sz="1100">
              <a:solidFill>
                <a:schemeClr val="accent4"/>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25"/>
          <p:cNvSpPr txBox="1"/>
          <p:nvPr>
            <p:ph type="title"/>
          </p:nvPr>
        </p:nvSpPr>
        <p:spPr>
          <a:xfrm>
            <a:off x="548640" y="365760"/>
            <a:ext cx="11094415" cy="105156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3400"/>
              <a:buFont typeface="Cambria"/>
              <a:buNone/>
            </a:pPr>
            <a:r>
              <a:rPr b="1" lang="en-US" sz="3400">
                <a:solidFill>
                  <a:schemeClr val="dk2"/>
                </a:solidFill>
              </a:rPr>
              <a:t>Les quatre différences qui comptent le plus</a:t>
            </a:r>
            <a:endParaRPr sz="3400"/>
          </a:p>
        </p:txBody>
      </p:sp>
      <p:graphicFrame>
        <p:nvGraphicFramePr>
          <p:cNvPr id="546" name="Google Shape;546;p25"/>
          <p:cNvGraphicFramePr/>
          <p:nvPr/>
        </p:nvGraphicFramePr>
        <p:xfrm>
          <a:off x="548640" y="1783080"/>
          <a:ext cx="3000000" cy="3000000"/>
        </p:xfrm>
        <a:graphic>
          <a:graphicData uri="http://schemas.openxmlformats.org/drawingml/2006/table">
            <a:tbl>
              <a:tblPr>
                <a:noFill/>
                <a:tableStyleId>{2709B6FF-CDFB-4AB1-8E42-484B63002EFC}</a:tableStyleId>
              </a:tblPr>
              <a:tblGrid>
                <a:gridCol w="2377450"/>
                <a:gridCol w="4343400"/>
                <a:gridCol w="4370825"/>
              </a:tblGrid>
              <a:tr h="502925">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Critère</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0E2A47"/>
                    </a:solidFill>
                  </a:tcPr>
                </a:tc>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Fusion AI Automation</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2B5FD9"/>
                    </a:solidFill>
                  </a:tcPr>
                </a:tc>
                <a:tc>
                  <a:txBody>
                    <a:bodyPr/>
                    <a:lstStyle/>
                    <a:p>
                      <a:pPr indent="0" lvl="0" marL="0" marR="0" rtl="0" algn="l">
                        <a:spcBef>
                          <a:spcPts val="0"/>
                        </a:spcBef>
                        <a:spcAft>
                          <a:spcPts val="0"/>
                        </a:spcAft>
                        <a:buClr>
                          <a:schemeClr val="lt1"/>
                        </a:buClr>
                        <a:buSzPts val="1500"/>
                        <a:buFont typeface="Calibri"/>
                        <a:buNone/>
                      </a:pPr>
                      <a:r>
                        <a:rPr b="1" lang="en-US" sz="1500" u="none" cap="none" strike="noStrike">
                          <a:solidFill>
                            <a:schemeClr val="lt1"/>
                          </a:solidFill>
                        </a:rPr>
                        <a:t>n8n</a:t>
                      </a:r>
                      <a:endParaRPr sz="15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D9531E"/>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Token</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À saisir dans chaque nœud (17)</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Un credential réutilisé</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Message d'erreur</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Code et statut, sans le corps de la réponse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Code, statut et corps de la réponse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Planification</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Cron sans choix de fuseau, actif à l'enregistrement</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Cron avec fuseau réglable, interrupteur Active</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r h="822950">
                <a:tc>
                  <a:txBody>
                    <a:bodyPr/>
                    <a:lstStyle/>
                    <a:p>
                      <a:pPr indent="0" lvl="0" marL="0" marR="0" rtl="0" algn="l">
                        <a:spcBef>
                          <a:spcPts val="0"/>
                        </a:spcBef>
                        <a:spcAft>
                          <a:spcPts val="0"/>
                        </a:spcAft>
                        <a:buClr>
                          <a:schemeClr val="dk1"/>
                        </a:buClr>
                        <a:buSzPts val="1400"/>
                        <a:buFont typeface="Calibri"/>
                        <a:buNone/>
                      </a:pPr>
                      <a:r>
                        <a:rPr b="1" lang="en-US" sz="1400" u="none" cap="none" strike="noStrike">
                          <a:solidFill>
                            <a:schemeClr val="dk1"/>
                          </a:solidFill>
                        </a:rPr>
                        <a:t>Chemin d'échec</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Sortie rouge native sur chaque nœud</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Calibri"/>
                        <a:buNone/>
                      </a:pPr>
                      <a:r>
                        <a:rPr lang="en-US" sz="1400" u="none" cap="none" strike="noStrike">
                          <a:solidFill>
                            <a:schemeClr val="dk1"/>
                          </a:solidFill>
                        </a:rPr>
                        <a:t>À activer nœud par nœud</a:t>
                      </a:r>
                      <a:endParaRPr sz="1400" u="none" cap="none" strike="noStrike"/>
                    </a:p>
                  </a:txBody>
                  <a:tcPr marT="45725" marB="45725" marR="137150" marL="137150" anchor="ctr">
                    <a:lnL cap="flat" cmpd="sng" w="9525">
                      <a:solidFill>
                        <a:srgbClr val="C7D0D8"/>
                      </a:solidFill>
                      <a:prstDash val="solid"/>
                      <a:round/>
                      <a:headEnd len="sm" w="sm" type="none"/>
                      <a:tailEnd len="sm" w="sm" type="none"/>
                    </a:lnL>
                    <a:lnR cap="flat" cmpd="sng" w="9525">
                      <a:solidFill>
                        <a:srgbClr val="C7D0D8"/>
                      </a:solidFill>
                      <a:prstDash val="solid"/>
                      <a:round/>
                      <a:headEnd len="sm" w="sm" type="none"/>
                      <a:tailEnd len="sm" w="sm" type="none"/>
                    </a:lnR>
                    <a:lnT cap="flat" cmpd="sng" w="9525">
                      <a:solidFill>
                        <a:srgbClr val="C7D0D8"/>
                      </a:solidFill>
                      <a:prstDash val="solid"/>
                      <a:round/>
                      <a:headEnd len="sm" w="sm" type="none"/>
                      <a:tailEnd len="sm" w="sm" type="none"/>
                    </a:lnT>
                    <a:lnB cap="flat" cmpd="sng" w="9525">
                      <a:solidFill>
                        <a:srgbClr val="C7D0D8"/>
                      </a:solidFill>
                      <a:prstDash val="solid"/>
                      <a:round/>
                      <a:headEnd len="sm" w="sm" type="none"/>
                      <a:tailEnd len="sm" w="sm" type="none"/>
                    </a:lnB>
                    <a:solidFill>
                      <a:srgbClr val="FFFFFF"/>
                    </a:solidFill>
                  </a:tcPr>
                </a:tc>
              </a:tr>
            </a:tbl>
          </a:graphicData>
        </a:graphic>
      </p:graphicFrame>
      <p:sp>
        <p:nvSpPr>
          <p:cNvPr id="547" name="Google Shape;547;p25"/>
          <p:cNvSpPr txBox="1"/>
          <p:nvPr/>
        </p:nvSpPr>
        <p:spPr>
          <a:xfrm>
            <a:off x="548640" y="5989320"/>
            <a:ext cx="11094415"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B6875"/>
              </a:buClr>
              <a:buSzPts val="1400"/>
              <a:buFont typeface="Calibri"/>
              <a:buNone/>
            </a:pPr>
            <a:r>
              <a:rPr b="0" i="0" lang="en-US" sz="1400" u="none" cap="none" strike="noStrike">
                <a:solidFill>
                  <a:srgbClr val="5B6875"/>
                </a:solidFill>
                <a:latin typeface="Calibri"/>
                <a:ea typeface="Calibri"/>
                <a:cs typeface="Calibri"/>
                <a:sym typeface="Calibri"/>
              </a:rPr>
              <a:t>Le dernier point est la seule ligne où Fusion fait mieux dans ce tableau.</a:t>
            </a:r>
            <a:endParaRPr b="0" i="0" sz="1400" u="none" cap="none" strike="noStrike">
              <a:solidFill>
                <a:srgbClr val="14213D"/>
              </a:solidFill>
              <a:latin typeface="Calibri"/>
              <a:ea typeface="Calibri"/>
              <a:cs typeface="Calibri"/>
              <a:sym typeface="Calibri"/>
            </a:endParaRPr>
          </a:p>
          <a:p>
            <a:pPr indent="0" lvl="0" marL="0" marR="0" rtl="0" algn="l">
              <a:lnSpc>
                <a:spcPct val="100000"/>
              </a:lnSpc>
              <a:spcBef>
                <a:spcPts val="0"/>
              </a:spcBef>
              <a:spcAft>
                <a:spcPts val="0"/>
              </a:spcAft>
              <a:buClr>
                <a:srgbClr val="5B6875"/>
              </a:buClr>
              <a:buSzPts val="1400"/>
              <a:buFont typeface="Calibri"/>
              <a:buNone/>
            </a:pPr>
            <a:r>
              <a:rPr b="0" i="0" lang="en-US" sz="1400" u="none" cap="none" strike="noStrike">
                <a:solidFill>
                  <a:srgbClr val="5B6875"/>
                </a:solidFill>
                <a:latin typeface="Calibri"/>
                <a:ea typeface="Calibri"/>
                <a:cs typeface="Calibri"/>
                <a:sym typeface="Calibri"/>
              </a:rPr>
              <a:t>Depuis la partie 5, Workly enchaîne lui-même sa nuit : Fusion ne garde qu’un Cron et un nœud HTTP, donc un seul jeton à saisir au lieu de dix-sept.</a:t>
            </a:r>
            <a:endParaRPr b="0" i="0" sz="1400" u="none" cap="none" strike="noStrike">
              <a:solidFill>
                <a:srgbClr val="14213D"/>
              </a:solidFill>
              <a:latin typeface="Calibri"/>
              <a:ea typeface="Calibri"/>
              <a:cs typeface="Calibri"/>
              <a:sym typeface="Calibri"/>
            </a:endParaRPr>
          </a:p>
        </p:txBody>
      </p:sp>
      <p:sp>
        <p:nvSpPr>
          <p:cNvPr id="548" name="Google Shape;548;p25"/>
          <p:cNvSpPr txBox="1"/>
          <p:nvPr>
            <p:ph idx="4294967295"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B6875"/>
              </a:buClr>
              <a:buSzPts val="1100"/>
              <a:buFont typeface="Calibri"/>
              <a:buNone/>
            </a:pPr>
            <a:fld id="{00000000-1234-1234-1234-123412341234}" type="slidenum">
              <a:rPr b="0" i="0" lang="en-US" sz="1100" u="none" cap="none" strike="noStrike">
                <a:solidFill>
                  <a:srgbClr val="5B6875"/>
                </a:solidFill>
                <a:latin typeface="Calibri"/>
                <a:ea typeface="Calibri"/>
                <a:cs typeface="Calibri"/>
                <a:sym typeface="Calibri"/>
              </a:rPr>
              <a:t>‹#›</a:t>
            </a:fld>
            <a:endParaRPr b="0" i="0" sz="1100" u="none" cap="none" strike="noStrike">
              <a:solidFill>
                <a:srgbClr val="5B6875"/>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53" name="Shape 553"/>
        <p:cNvGrpSpPr/>
        <p:nvPr/>
      </p:nvGrpSpPr>
      <p:grpSpPr>
        <a:xfrm>
          <a:off x="0" y="0"/>
          <a:ext cx="0" cy="0"/>
          <a:chOff x="0" y="0"/>
          <a:chExt cx="0" cy="0"/>
        </a:xfrm>
      </p:grpSpPr>
      <p:sp>
        <p:nvSpPr>
          <p:cNvPr id="554" name="Google Shape;554;p26"/>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5" name="Google Shape;555;p26"/>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6" name="Google Shape;556;p26"/>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7" name="Google Shape;557;p26"/>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8" name="Google Shape;558;p26"/>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59" name="Google Shape;559;p26"/>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560" name="Google Shape;560;p26"/>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lang="en-US" sz="2100">
                <a:solidFill>
                  <a:srgbClr val="FFFFFF"/>
                </a:solidFill>
                <a:latin typeface="Sora"/>
                <a:ea typeface="Sora"/>
                <a:cs typeface="Sora"/>
                <a:sym typeface="Sora"/>
              </a:rPr>
              <a:t>Le Bottom line mesure l’impact de Workly face à un planning reconduit chaque semaine</a:t>
            </a:r>
            <a:endParaRPr/>
          </a:p>
        </p:txBody>
      </p:sp>
      <p:sp>
        <p:nvSpPr>
          <p:cNvPr id="561" name="Google Shape;561;p26"/>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FFFFFF"/>
              </a:buClr>
              <a:buSzPts val="1200"/>
              <a:buFont typeface="Sora"/>
              <a:buNone/>
            </a:pPr>
            <a:r>
              <a:rPr b="1" i="0" lang="en-US" sz="1200" u="none" cap="none" strike="noStrike">
                <a:solidFill>
                  <a:srgbClr val="FFFFFF"/>
                </a:solidFill>
                <a:latin typeface="Sora"/>
                <a:ea typeface="Sora"/>
                <a:cs typeface="Sora"/>
                <a:sym typeface="Sora"/>
              </a:rPr>
              <a:t>27</a:t>
            </a:r>
            <a:endParaRPr/>
          </a:p>
        </p:txBody>
      </p:sp>
      <p:sp>
        <p:nvSpPr>
          <p:cNvPr id="562" name="Google Shape;562;p26"/>
          <p:cNvSpPr/>
          <p:nvPr/>
        </p:nvSpPr>
        <p:spPr>
          <a:xfrm>
            <a:off x="69850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3" name="Google Shape;563;p26"/>
          <p:cNvSpPr/>
          <p:nvPr/>
        </p:nvSpPr>
        <p:spPr>
          <a:xfrm>
            <a:off x="69850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4" name="Google Shape;564;p26"/>
          <p:cNvSpPr/>
          <p:nvPr/>
        </p:nvSpPr>
        <p:spPr>
          <a:xfrm>
            <a:off x="88900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FFFFFF"/>
              </a:buClr>
              <a:buSzPts val="3600"/>
              <a:buFont typeface="Sora"/>
              <a:buNone/>
            </a:pPr>
            <a:r>
              <a:rPr b="1" i="0" lang="en-US" sz="3600" u="none" cap="none" strike="noStrike">
                <a:solidFill>
                  <a:srgbClr val="FFFFFF"/>
                </a:solidFill>
                <a:latin typeface="Sora"/>
                <a:ea typeface="Sora"/>
                <a:cs typeface="Sora"/>
                <a:sym typeface="Sora"/>
              </a:rPr>
              <a:t>+15 113</a:t>
            </a:r>
            <a:endParaRPr/>
          </a:p>
        </p:txBody>
      </p:sp>
      <p:sp>
        <p:nvSpPr>
          <p:cNvPr id="565" name="Google Shape;565;p26"/>
          <p:cNvSpPr/>
          <p:nvPr/>
        </p:nvSpPr>
        <p:spPr>
          <a:xfrm>
            <a:off x="88900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MAD de gain net sur 84 jours de zone</a:t>
            </a:r>
            <a:endParaRPr/>
          </a:p>
        </p:txBody>
      </p:sp>
      <p:sp>
        <p:nvSpPr>
          <p:cNvPr id="566" name="Google Shape;566;p26"/>
          <p:cNvSpPr/>
          <p:nvPr/>
        </p:nvSpPr>
        <p:spPr>
          <a:xfrm>
            <a:off x="88900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B39DDB"/>
              </a:buClr>
              <a:buSzPts val="1400"/>
              <a:buFont typeface="DM Sans"/>
              <a:buNone/>
            </a:pPr>
            <a:r>
              <a:rPr b="1" i="0" lang="en-US" sz="1400" u="none" cap="none" strike="noStrike">
                <a:solidFill>
                  <a:srgbClr val="B39DDB"/>
                </a:solidFill>
                <a:latin typeface="DM Sans"/>
                <a:ea typeface="DM Sans"/>
                <a:cs typeface="DM Sans"/>
                <a:sym typeface="DM Sans"/>
              </a:rPr>
              <a:t>vs planning reconduit</a:t>
            </a:r>
            <a:endParaRPr/>
          </a:p>
        </p:txBody>
      </p:sp>
      <p:sp>
        <p:nvSpPr>
          <p:cNvPr id="567" name="Google Shape;567;p26"/>
          <p:cNvSpPr/>
          <p:nvPr/>
        </p:nvSpPr>
        <p:spPr>
          <a:xfrm>
            <a:off x="343535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8" name="Google Shape;568;p26"/>
          <p:cNvSpPr/>
          <p:nvPr/>
        </p:nvSpPr>
        <p:spPr>
          <a:xfrm>
            <a:off x="343535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69" name="Google Shape;569;p26"/>
          <p:cNvSpPr/>
          <p:nvPr/>
        </p:nvSpPr>
        <p:spPr>
          <a:xfrm>
            <a:off x="362585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7ACFC0"/>
              </a:buClr>
              <a:buSzPts val="3600"/>
              <a:buFont typeface="Sora"/>
              <a:buNone/>
            </a:pPr>
            <a:r>
              <a:rPr b="1" i="0" lang="en-US" sz="3600" u="none" cap="none" strike="noStrike">
                <a:solidFill>
                  <a:srgbClr val="7ACFC0"/>
                </a:solidFill>
                <a:latin typeface="Sora"/>
                <a:ea typeface="Sora"/>
                <a:cs typeface="Sora"/>
                <a:sym typeface="Sora"/>
              </a:rPr>
              <a:t>771 h</a:t>
            </a:r>
            <a:endParaRPr/>
          </a:p>
        </p:txBody>
      </p:sp>
      <p:sp>
        <p:nvSpPr>
          <p:cNvPr id="570" name="Google Shape;570;p26"/>
          <p:cNvSpPr/>
          <p:nvPr/>
        </p:nvSpPr>
        <p:spPr>
          <a:xfrm>
            <a:off x="362585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d’heures de travail mal allouées évitées</a:t>
            </a:r>
            <a:endParaRPr/>
          </a:p>
        </p:txBody>
      </p:sp>
      <p:sp>
        <p:nvSpPr>
          <p:cNvPr id="571" name="Google Shape;571;p26"/>
          <p:cNvSpPr/>
          <p:nvPr/>
        </p:nvSpPr>
        <p:spPr>
          <a:xfrm>
            <a:off x="362585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7ACFC0"/>
              </a:buClr>
              <a:buSzPts val="1400"/>
              <a:buFont typeface="DM Sans"/>
              <a:buNone/>
            </a:pPr>
            <a:r>
              <a:rPr b="1" i="0" lang="en-US" sz="1400" u="none" cap="none" strike="noStrike">
                <a:solidFill>
                  <a:srgbClr val="7ACFC0"/>
                </a:solidFill>
                <a:latin typeface="DM Sans"/>
                <a:ea typeface="DM Sans"/>
                <a:cs typeface="DM Sans"/>
                <a:sym typeface="DM Sans"/>
              </a:rPr>
              <a:t>1 348 h → 578 h</a:t>
            </a:r>
            <a:endParaRPr/>
          </a:p>
        </p:txBody>
      </p:sp>
      <p:sp>
        <p:nvSpPr>
          <p:cNvPr id="572" name="Google Shape;572;p26"/>
          <p:cNvSpPr/>
          <p:nvPr/>
        </p:nvSpPr>
        <p:spPr>
          <a:xfrm>
            <a:off x="617220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3" name="Google Shape;573;p26"/>
          <p:cNvSpPr/>
          <p:nvPr/>
        </p:nvSpPr>
        <p:spPr>
          <a:xfrm>
            <a:off x="617220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4" name="Google Shape;574;p26"/>
          <p:cNvSpPr/>
          <p:nvPr/>
        </p:nvSpPr>
        <p:spPr>
          <a:xfrm>
            <a:off x="636270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4A9BE0"/>
              </a:buClr>
              <a:buSzPts val="3600"/>
              <a:buFont typeface="Sora"/>
              <a:buNone/>
            </a:pPr>
            <a:r>
              <a:rPr b="1" i="0" lang="en-US" sz="3600" u="none" cap="none" strike="noStrike">
                <a:solidFill>
                  <a:srgbClr val="4A9BE0"/>
                </a:solidFill>
                <a:latin typeface="Sora"/>
                <a:ea typeface="Sora"/>
                <a:cs typeface="Sora"/>
                <a:sym typeface="Sora"/>
              </a:rPr>
              <a:t>103</a:t>
            </a:r>
            <a:endParaRPr/>
          </a:p>
        </p:txBody>
      </p:sp>
      <p:sp>
        <p:nvSpPr>
          <p:cNvPr id="575" name="Google Shape;575;p26"/>
          <p:cNvSpPr/>
          <p:nvPr/>
        </p:nvSpPr>
        <p:spPr>
          <a:xfrm>
            <a:off x="636270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postes-jours mal alloués évités</a:t>
            </a:r>
            <a:endParaRPr/>
          </a:p>
        </p:txBody>
      </p:sp>
      <p:sp>
        <p:nvSpPr>
          <p:cNvPr id="576" name="Google Shape;576;p26"/>
          <p:cNvSpPr/>
          <p:nvPr/>
        </p:nvSpPr>
        <p:spPr>
          <a:xfrm>
            <a:off x="636270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4A9BE0"/>
              </a:buClr>
              <a:buSzPts val="1400"/>
              <a:buFont typeface="DM Sans"/>
              <a:buNone/>
            </a:pPr>
            <a:r>
              <a:rPr b="1" i="0" lang="en-US" sz="1400" u="none" cap="none" strike="noStrike">
                <a:solidFill>
                  <a:srgbClr val="4A9BE0"/>
                </a:solidFill>
                <a:latin typeface="DM Sans"/>
                <a:ea typeface="DM Sans"/>
                <a:cs typeface="DM Sans"/>
                <a:sym typeface="DM Sans"/>
              </a:rPr>
              <a:t>180 → 77 postes-jours</a:t>
            </a:r>
            <a:endParaRPr/>
          </a:p>
        </p:txBody>
      </p:sp>
      <p:sp>
        <p:nvSpPr>
          <p:cNvPr id="577" name="Google Shape;577;p26"/>
          <p:cNvSpPr/>
          <p:nvPr/>
        </p:nvSpPr>
        <p:spPr>
          <a:xfrm>
            <a:off x="8909050" y="1778000"/>
            <a:ext cx="2584450" cy="2700000"/>
          </a:xfrm>
          <a:prstGeom prst="roundRect">
            <a:avLst>
              <a:gd fmla="val 7304"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8" name="Google Shape;578;p26"/>
          <p:cNvSpPr/>
          <p:nvPr/>
        </p:nvSpPr>
        <p:spPr>
          <a:xfrm>
            <a:off x="8909050" y="1778000"/>
            <a:ext cx="2584450" cy="2700000"/>
          </a:xfrm>
          <a:custGeom>
            <a:rect b="b" l="l" r="r" t="t"/>
            <a:pathLst>
              <a:path extrusionOk="0" h="2700000" w="2584450">
                <a:moveTo>
                  <a:pt x="0" y="152400"/>
                </a:moveTo>
                <a:lnTo>
                  <a:pt x="0" y="152400"/>
                </a:lnTo>
                <a:cubicBezTo>
                  <a:pt x="0" y="68232"/>
                  <a:pt x="68232" y="0"/>
                  <a:pt x="152400" y="0"/>
                </a:cubicBezTo>
                <a:lnTo>
                  <a:pt x="2432050" y="0"/>
                </a:lnTo>
                <a:cubicBezTo>
                  <a:pt x="2472469" y="0"/>
                  <a:pt x="2511233" y="16056"/>
                  <a:pt x="2539813" y="44637"/>
                </a:cubicBezTo>
                <a:cubicBezTo>
                  <a:pt x="2568394" y="73217"/>
                  <a:pt x="2584450" y="111981"/>
                  <a:pt x="2584450" y="152400"/>
                </a:cubicBezTo>
                <a:lnTo>
                  <a:pt x="2584450" y="152400"/>
                </a:lnTo>
                <a:cubicBezTo>
                  <a:pt x="2584450" y="103302"/>
                  <a:pt x="2516218" y="63500"/>
                  <a:pt x="2432050" y="63500"/>
                </a:cubicBezTo>
                <a:lnTo>
                  <a:pt x="152400" y="63500"/>
                </a:lnTo>
                <a:cubicBezTo>
                  <a:pt x="68232" y="63500"/>
                  <a:pt x="0" y="103302"/>
                  <a:pt x="0" y="152400"/>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79" name="Google Shape;579;p26"/>
          <p:cNvSpPr/>
          <p:nvPr/>
        </p:nvSpPr>
        <p:spPr>
          <a:xfrm>
            <a:off x="9099550" y="2108000"/>
            <a:ext cx="2203450" cy="640000"/>
          </a:xfrm>
          <a:prstGeom prst="rect">
            <a:avLst/>
          </a:prstGeom>
          <a:noFill/>
          <a:ln>
            <a:noFill/>
          </a:ln>
        </p:spPr>
        <p:txBody>
          <a:bodyPr anchorCtr="0" anchor="t" bIns="0" lIns="0" spcFirstLastPara="1" rIns="0" wrap="square" tIns="0">
            <a:normAutofit/>
          </a:bodyPr>
          <a:lstStyle/>
          <a:p>
            <a:pPr indent="0" lvl="0" marL="0" marR="0" rtl="0" algn="l">
              <a:lnSpc>
                <a:spcPct val="119444"/>
              </a:lnSpc>
              <a:spcBef>
                <a:spcPts val="0"/>
              </a:spcBef>
              <a:spcAft>
                <a:spcPts val="0"/>
              </a:spcAft>
              <a:buClr>
                <a:srgbClr val="B39DDB"/>
              </a:buClr>
              <a:buSzPts val="3600"/>
              <a:buFont typeface="Sora"/>
              <a:buNone/>
            </a:pPr>
            <a:r>
              <a:rPr b="1" i="0" lang="en-US" sz="3600" u="none" cap="none" strike="noStrike">
                <a:solidFill>
                  <a:srgbClr val="B39DDB"/>
                </a:solidFill>
                <a:latin typeface="Sora"/>
                <a:ea typeface="Sora"/>
                <a:cs typeface="Sora"/>
                <a:sym typeface="Sora"/>
              </a:rPr>
              <a:t>542</a:t>
            </a:r>
            <a:endParaRPr/>
          </a:p>
        </p:txBody>
      </p:sp>
      <p:sp>
        <p:nvSpPr>
          <p:cNvPr id="580" name="Google Shape;580;p26"/>
          <p:cNvSpPr/>
          <p:nvPr/>
        </p:nvSpPr>
        <p:spPr>
          <a:xfrm>
            <a:off x="9099550" y="2928000"/>
            <a:ext cx="2203450" cy="76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E4E9F5"/>
              </a:buClr>
              <a:buSzPts val="1500"/>
              <a:buFont typeface="DM Sans"/>
              <a:buNone/>
            </a:pPr>
            <a:r>
              <a:rPr b="0" i="0" lang="en-US" sz="1500" u="none" cap="none" strike="noStrike">
                <a:solidFill>
                  <a:srgbClr val="E4E9F5"/>
                </a:solidFill>
                <a:latin typeface="DM Sans"/>
                <a:ea typeface="DM Sans"/>
                <a:cs typeface="DM Sans"/>
                <a:sym typeface="DM Sans"/>
              </a:rPr>
              <a:t>commandes en retard évitées</a:t>
            </a:r>
            <a:endParaRPr/>
          </a:p>
        </p:txBody>
      </p:sp>
      <p:sp>
        <p:nvSpPr>
          <p:cNvPr id="581" name="Google Shape;581;p26"/>
          <p:cNvSpPr/>
          <p:nvPr/>
        </p:nvSpPr>
        <p:spPr>
          <a:xfrm>
            <a:off x="9099550" y="3828000"/>
            <a:ext cx="2203450" cy="420000"/>
          </a:xfrm>
          <a:prstGeom prst="rect">
            <a:avLst/>
          </a:prstGeom>
          <a:noFill/>
          <a:ln>
            <a:noFill/>
          </a:ln>
        </p:spPr>
        <p:txBody>
          <a:bodyPr anchorCtr="0" anchor="t" bIns="0" lIns="0" spcFirstLastPara="1" rIns="0" wrap="square" tIns="0">
            <a:normAutofit/>
          </a:bodyPr>
          <a:lstStyle/>
          <a:p>
            <a:pPr indent="0" lvl="0" marL="0" marR="0" rtl="0" algn="l">
              <a:lnSpc>
                <a:spcPct val="128571"/>
              </a:lnSpc>
              <a:spcBef>
                <a:spcPts val="0"/>
              </a:spcBef>
              <a:spcAft>
                <a:spcPts val="0"/>
              </a:spcAft>
              <a:buClr>
                <a:srgbClr val="B39DDB"/>
              </a:buClr>
              <a:buSzPts val="1400"/>
              <a:buFont typeface="DM Sans"/>
              <a:buNone/>
            </a:pPr>
            <a:r>
              <a:rPr b="1" i="0" lang="en-US" sz="1400" u="none" cap="none" strike="noStrike">
                <a:solidFill>
                  <a:srgbClr val="B39DDB"/>
                </a:solidFill>
                <a:latin typeface="DM Sans"/>
                <a:ea typeface="DM Sans"/>
                <a:cs typeface="DM Sans"/>
                <a:sym typeface="DM Sans"/>
              </a:rPr>
              <a:t>555 → 12 commandes</a:t>
            </a:r>
            <a:endParaRPr/>
          </a:p>
        </p:txBody>
      </p:sp>
      <p:sp>
        <p:nvSpPr>
          <p:cNvPr id="582" name="Google Shape;582;p26"/>
          <p:cNvSpPr/>
          <p:nvPr/>
        </p:nvSpPr>
        <p:spPr>
          <a:xfrm>
            <a:off x="698500" y="4750000"/>
            <a:ext cx="10795000" cy="1000000"/>
          </a:xfrm>
          <a:prstGeom prst="roundRect">
            <a:avLst>
              <a:gd fmla="val 12000" name="adj"/>
            </a:avLst>
          </a:prstGeom>
          <a:solidFill>
            <a:srgbClr val="24375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83" name="Google Shape;583;p26"/>
          <p:cNvSpPr/>
          <p:nvPr/>
        </p:nvSpPr>
        <p:spPr>
          <a:xfrm>
            <a:off x="998500" y="4750000"/>
            <a:ext cx="10195000" cy="1000000"/>
          </a:xfrm>
          <a:prstGeom prst="rect">
            <a:avLst/>
          </a:prstGeom>
          <a:noFill/>
          <a:ln>
            <a:noFill/>
          </a:ln>
        </p:spPr>
        <p:txBody>
          <a:bodyPr anchorCtr="0" anchor="ctr" bIns="0" lIns="0" spcFirstLastPara="1" rIns="0" wrap="square" tIns="0">
            <a:normAutofit/>
          </a:bodyPr>
          <a:lstStyle/>
          <a:p>
            <a:pPr indent="0" lvl="0" marL="0" marR="0" rtl="0" algn="l">
              <a:lnSpc>
                <a:spcPct val="137500"/>
              </a:lnSpc>
              <a:spcBef>
                <a:spcPts val="0"/>
              </a:spcBef>
              <a:spcAft>
                <a:spcPts val="0"/>
              </a:spcAft>
              <a:buClr>
                <a:srgbClr val="7ACFC0"/>
              </a:buClr>
              <a:buSzPts val="1600"/>
              <a:buFont typeface="DM Sans"/>
              <a:buNone/>
            </a:pPr>
            <a:r>
              <a:rPr b="1" i="0" lang="en-US" sz="1600" u="none" cap="none" strike="noStrike">
                <a:solidFill>
                  <a:srgbClr val="7ACFC0"/>
                </a:solidFill>
                <a:latin typeface="DM Sans"/>
                <a:ea typeface="DM Sans"/>
                <a:cs typeface="DM Sans"/>
                <a:sym typeface="DM Sans"/>
              </a:rPr>
              <a:t>Question posée : que change Workly par rapport à un planning reconduit chaque semaine, sur la période choisie ?</a:t>
            </a:r>
            <a:endParaRPr/>
          </a:p>
        </p:txBody>
      </p:sp>
      <p:sp>
        <p:nvSpPr>
          <p:cNvPr id="584" name="Google Shape;584;p26"/>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9FB0D6"/>
              </a:buClr>
              <a:buSzPts val="1200"/>
              <a:buFont typeface="DM Sans"/>
              <a:buNone/>
            </a:pPr>
            <a:r>
              <a:rPr b="0" i="0" lang="en-US" sz="1200" u="none" cap="none" strike="noStrike">
                <a:solidFill>
                  <a:srgbClr val="9FB0D6"/>
                </a:solidFill>
                <a:latin typeface="DM Sans"/>
                <a:ea typeface="DM Sans"/>
                <a:cs typeface="DM Sans"/>
                <a:sym typeface="DM Sans"/>
              </a:rPr>
              <a:t>Source : onglet Bottom line de l’application Workly, période de 84 jours de zone.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589" name="Shape 589"/>
        <p:cNvGrpSpPr/>
        <p:nvPr/>
      </p:nvGrpSpPr>
      <p:grpSpPr>
        <a:xfrm>
          <a:off x="0" y="0"/>
          <a:ext cx="0" cy="0"/>
          <a:chOff x="0" y="0"/>
          <a:chExt cx="0" cy="0"/>
        </a:xfrm>
      </p:grpSpPr>
      <p:sp>
        <p:nvSpPr>
          <p:cNvPr id="590" name="Google Shape;590;p27"/>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1" name="Google Shape;591;p27"/>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2" name="Google Shape;592;p27"/>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3" name="Google Shape;593;p27"/>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4" name="Google Shape;594;p27"/>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5" name="Google Shape;595;p27"/>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596" name="Google Shape;596;p27"/>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Workly supprime 98 % des retards et réduit gaspillage et pénalités</a:t>
            </a:r>
            <a:endParaRPr/>
          </a:p>
        </p:txBody>
      </p:sp>
      <p:sp>
        <p:nvSpPr>
          <p:cNvPr id="597" name="Google Shape;597;p27"/>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28</a:t>
            </a:r>
            <a:endParaRPr/>
          </a:p>
        </p:txBody>
      </p:sp>
      <p:sp>
        <p:nvSpPr>
          <p:cNvPr id="598" name="Google Shape;598;p27"/>
          <p:cNvSpPr/>
          <p:nvPr/>
        </p:nvSpPr>
        <p:spPr>
          <a:xfrm>
            <a:off x="698500" y="1778000"/>
            <a:ext cx="4600000" cy="430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599" name="Google Shape;599;p27"/>
          <p:cNvSpPr/>
          <p:nvPr/>
        </p:nvSpPr>
        <p:spPr>
          <a:xfrm>
            <a:off x="698500" y="1778000"/>
            <a:ext cx="4600000" cy="4300000"/>
          </a:xfrm>
          <a:custGeom>
            <a:rect b="b" l="l" r="r" t="t"/>
            <a:pathLst>
              <a:path extrusionOk="0" h="4300000" w="4600000">
                <a:moveTo>
                  <a:pt x="0" y="152400"/>
                </a:moveTo>
                <a:lnTo>
                  <a:pt x="0" y="152400"/>
                </a:lnTo>
                <a:cubicBezTo>
                  <a:pt x="0" y="68232"/>
                  <a:pt x="68232" y="0"/>
                  <a:pt x="152400" y="0"/>
                </a:cubicBezTo>
                <a:lnTo>
                  <a:pt x="4447600" y="0"/>
                </a:lnTo>
                <a:cubicBezTo>
                  <a:pt x="4488019" y="0"/>
                  <a:pt x="4526783" y="16056"/>
                  <a:pt x="4555363" y="44637"/>
                </a:cubicBezTo>
                <a:cubicBezTo>
                  <a:pt x="4583944" y="73217"/>
                  <a:pt x="4600000" y="111981"/>
                  <a:pt x="4600000" y="152400"/>
                </a:cubicBezTo>
                <a:lnTo>
                  <a:pt x="4600000" y="152400"/>
                </a:lnTo>
                <a:cubicBezTo>
                  <a:pt x="4600000" y="103302"/>
                  <a:pt x="4531768" y="63500"/>
                  <a:pt x="4447600" y="63500"/>
                </a:cubicBezTo>
                <a:lnTo>
                  <a:pt x="152400" y="63500"/>
                </a:lnTo>
                <a:cubicBezTo>
                  <a:pt x="68232" y="63500"/>
                  <a:pt x="0" y="103302"/>
                  <a:pt x="0" y="152400"/>
                </a:cubicBezTo>
                <a:close/>
              </a:path>
            </a:pathLst>
          </a:cu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0" name="Google Shape;600;p27"/>
          <p:cNvSpPr/>
          <p:nvPr/>
        </p:nvSpPr>
        <p:spPr>
          <a:xfrm>
            <a:off x="952500" y="2038000"/>
            <a:ext cx="4092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Délais et service</a:t>
            </a:r>
            <a:endParaRPr/>
          </a:p>
        </p:txBody>
      </p:sp>
      <p:sp>
        <p:nvSpPr>
          <p:cNvPr id="601" name="Google Shape;601;p27"/>
          <p:cNvSpPr/>
          <p:nvPr/>
        </p:nvSpPr>
        <p:spPr>
          <a:xfrm>
            <a:off x="952500" y="2578000"/>
            <a:ext cx="4092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555 → 12</a:t>
            </a:r>
            <a:endParaRPr/>
          </a:p>
        </p:txBody>
      </p:sp>
      <p:sp>
        <p:nvSpPr>
          <p:cNvPr id="602" name="Google Shape;602;p27"/>
          <p:cNvSpPr/>
          <p:nvPr/>
        </p:nvSpPr>
        <p:spPr>
          <a:xfrm>
            <a:off x="952500" y="3178000"/>
            <a:ext cx="4092000" cy="62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commandes livrées en retard, soit 98 % de retards en moins</a:t>
            </a:r>
            <a:endParaRPr/>
          </a:p>
        </p:txBody>
      </p:sp>
      <p:sp>
        <p:nvSpPr>
          <p:cNvPr id="603" name="Google Shape;603;p27"/>
          <p:cNvSpPr/>
          <p:nvPr/>
        </p:nvSpPr>
        <p:spPr>
          <a:xfrm>
            <a:off x="952500" y="4028000"/>
            <a:ext cx="4092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94,6 % → 99,9 %</a:t>
            </a:r>
            <a:endParaRPr/>
          </a:p>
        </p:txBody>
      </p:sp>
      <p:sp>
        <p:nvSpPr>
          <p:cNvPr id="604" name="Google Shape;604;p27"/>
          <p:cNvSpPr/>
          <p:nvPr/>
        </p:nvSpPr>
        <p:spPr>
          <a:xfrm>
            <a:off x="952500" y="4628000"/>
            <a:ext cx="4092000" cy="34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taux de service</a:t>
            </a:r>
            <a:endParaRPr/>
          </a:p>
        </p:txBody>
      </p:sp>
      <p:sp>
        <p:nvSpPr>
          <p:cNvPr id="605" name="Google Shape;605;p27"/>
          <p:cNvSpPr/>
          <p:nvPr/>
        </p:nvSpPr>
        <p:spPr>
          <a:xfrm>
            <a:off x="952500" y="5178000"/>
            <a:ext cx="4092000" cy="520000"/>
          </a:xfrm>
          <a:prstGeom prst="roundRect">
            <a:avLst>
              <a:gd fmla="val 30000" name="adj"/>
            </a:avLst>
          </a:prstGeom>
          <a:solidFill>
            <a:srgbClr val="E3F0FC"/>
          </a:solidFill>
          <a:ln>
            <a:noFill/>
          </a:ln>
        </p:spPr>
        <p:txBody>
          <a:bodyPr anchorCtr="0" anchor="ctr" bIns="0" lIns="0" spcFirstLastPara="1" rIns="0" wrap="square" tIns="0">
            <a:normAutofit/>
          </a:bodyPr>
          <a:lstStyle/>
          <a:p>
            <a:pPr indent="0" lvl="0" marL="0" marR="0" rtl="0" algn="ctr">
              <a:lnSpc>
                <a:spcPct val="130000"/>
              </a:lnSpc>
              <a:spcBef>
                <a:spcPts val="0"/>
              </a:spcBef>
              <a:spcAft>
                <a:spcPts val="0"/>
              </a:spcAft>
              <a:buClr>
                <a:srgbClr val="1B2A4A"/>
              </a:buClr>
              <a:buSzPts val="1500"/>
              <a:buFont typeface="DM Sans"/>
              <a:buNone/>
            </a:pPr>
            <a:r>
              <a:rPr b="1" i="0" lang="en-US" sz="1500" u="none" cap="none" strike="noStrike">
                <a:solidFill>
                  <a:srgbClr val="1B2A4A"/>
                </a:solidFill>
                <a:latin typeface="DM Sans"/>
                <a:ea typeface="DM Sans"/>
                <a:cs typeface="DM Sans"/>
                <a:sym typeface="DM Sans"/>
              </a:rPr>
              <a:t>10 849 MAD de pénalités évitées</a:t>
            </a:r>
            <a:endParaRPr/>
          </a:p>
        </p:txBody>
      </p:sp>
      <p:sp>
        <p:nvSpPr>
          <p:cNvPr id="606" name="Google Shape;606;p27"/>
          <p:cNvSpPr/>
          <p:nvPr/>
        </p:nvSpPr>
        <p:spPr>
          <a:xfrm>
            <a:off x="5498500" y="1778000"/>
            <a:ext cx="5995000" cy="430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7" name="Google Shape;607;p27"/>
          <p:cNvSpPr/>
          <p:nvPr/>
        </p:nvSpPr>
        <p:spPr>
          <a:xfrm>
            <a:off x="5498500" y="1778000"/>
            <a:ext cx="5995000" cy="4300000"/>
          </a:xfrm>
          <a:custGeom>
            <a:rect b="b" l="l" r="r" t="t"/>
            <a:pathLst>
              <a:path extrusionOk="0" h="4300000" w="5995000">
                <a:moveTo>
                  <a:pt x="0" y="152400"/>
                </a:moveTo>
                <a:lnTo>
                  <a:pt x="0" y="152400"/>
                </a:lnTo>
                <a:cubicBezTo>
                  <a:pt x="0" y="68232"/>
                  <a:pt x="68232" y="0"/>
                  <a:pt x="152400" y="0"/>
                </a:cubicBezTo>
                <a:lnTo>
                  <a:pt x="5842600" y="0"/>
                </a:lnTo>
                <a:cubicBezTo>
                  <a:pt x="5883019" y="0"/>
                  <a:pt x="5921783" y="16056"/>
                  <a:pt x="5950363" y="44637"/>
                </a:cubicBezTo>
                <a:cubicBezTo>
                  <a:pt x="5978944" y="73217"/>
                  <a:pt x="5995000" y="111981"/>
                  <a:pt x="5995000" y="152400"/>
                </a:cubicBezTo>
                <a:lnTo>
                  <a:pt x="5995000" y="152400"/>
                </a:lnTo>
                <a:cubicBezTo>
                  <a:pt x="5995000" y="103302"/>
                  <a:pt x="5926768" y="63500"/>
                  <a:pt x="5842600" y="63500"/>
                </a:cubicBezTo>
                <a:lnTo>
                  <a:pt x="152400" y="63500"/>
                </a:lnTo>
                <a:cubicBezTo>
                  <a:pt x="68232" y="63500"/>
                  <a:pt x="0" y="103302"/>
                  <a:pt x="0" y="1524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08" name="Google Shape;608;p27"/>
          <p:cNvSpPr/>
          <p:nvPr/>
        </p:nvSpPr>
        <p:spPr>
          <a:xfrm>
            <a:off x="5752500" y="2038000"/>
            <a:ext cx="5487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Coûts et gaspillage</a:t>
            </a:r>
            <a:endParaRPr/>
          </a:p>
        </p:txBody>
      </p:sp>
      <p:sp>
        <p:nvSpPr>
          <p:cNvPr id="609" name="Google Shape;609;p27"/>
          <p:cNvSpPr/>
          <p:nvPr/>
        </p:nvSpPr>
        <p:spPr>
          <a:xfrm>
            <a:off x="5752500" y="2528000"/>
            <a:ext cx="160000" cy="16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0" name="Google Shape;610;p27"/>
          <p:cNvSpPr/>
          <p:nvPr/>
        </p:nvSpPr>
        <p:spPr>
          <a:xfrm>
            <a:off x="5992500" y="2498000"/>
            <a:ext cx="2300000" cy="220000"/>
          </a:xfrm>
          <a:prstGeom prst="rect">
            <a:avLst/>
          </a:prstGeom>
          <a:noFill/>
          <a:ln>
            <a:noFill/>
          </a:ln>
        </p:spPr>
        <p:txBody>
          <a:bodyPr anchorCtr="0" anchor="ctr" bIns="0" lIns="0" spcFirstLastPara="1" rIns="0" wrap="square" tIns="0">
            <a:normAutofit/>
          </a:bodyPr>
          <a:lstStyle/>
          <a:p>
            <a:pPr indent="0" lvl="0" marL="0" marR="0" rtl="0" algn="l">
              <a:lnSpc>
                <a:spcPct val="130769"/>
              </a:lnSpc>
              <a:spcBef>
                <a:spcPts val="0"/>
              </a:spcBef>
              <a:spcAft>
                <a:spcPts val="0"/>
              </a:spcAft>
              <a:buClr>
                <a:srgbClr val="6B7390"/>
              </a:buClr>
              <a:buSzPts val="1300"/>
              <a:buFont typeface="DM Sans"/>
              <a:buNone/>
            </a:pPr>
            <a:r>
              <a:rPr b="0" i="0" lang="en-US" sz="1300" u="none" cap="none" strike="noStrike">
                <a:solidFill>
                  <a:srgbClr val="6B7390"/>
                </a:solidFill>
                <a:latin typeface="DM Sans"/>
                <a:ea typeface="DM Sans"/>
                <a:cs typeface="DM Sans"/>
                <a:sym typeface="DM Sans"/>
              </a:rPr>
              <a:t>Sans Workly (indice 100)</a:t>
            </a:r>
            <a:endParaRPr/>
          </a:p>
        </p:txBody>
      </p:sp>
      <p:sp>
        <p:nvSpPr>
          <p:cNvPr id="611" name="Google Shape;611;p27"/>
          <p:cNvSpPr/>
          <p:nvPr/>
        </p:nvSpPr>
        <p:spPr>
          <a:xfrm>
            <a:off x="8452500" y="2528000"/>
            <a:ext cx="160000" cy="16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2" name="Google Shape;612;p27"/>
          <p:cNvSpPr/>
          <p:nvPr/>
        </p:nvSpPr>
        <p:spPr>
          <a:xfrm>
            <a:off x="8692500" y="2498000"/>
            <a:ext cx="2000000" cy="220000"/>
          </a:xfrm>
          <a:prstGeom prst="rect">
            <a:avLst/>
          </a:prstGeom>
          <a:noFill/>
          <a:ln>
            <a:noFill/>
          </a:ln>
        </p:spPr>
        <p:txBody>
          <a:bodyPr anchorCtr="0" anchor="ctr" bIns="0" lIns="0" spcFirstLastPara="1" rIns="0" wrap="square" tIns="0">
            <a:normAutofit/>
          </a:bodyPr>
          <a:lstStyle/>
          <a:p>
            <a:pPr indent="0" lvl="0" marL="0" marR="0" rtl="0" algn="l">
              <a:lnSpc>
                <a:spcPct val="130769"/>
              </a:lnSpc>
              <a:spcBef>
                <a:spcPts val="0"/>
              </a:spcBef>
              <a:spcAft>
                <a:spcPts val="0"/>
              </a:spcAft>
              <a:buClr>
                <a:srgbClr val="6B7390"/>
              </a:buClr>
              <a:buSzPts val="1300"/>
              <a:buFont typeface="DM Sans"/>
              <a:buNone/>
            </a:pPr>
            <a:r>
              <a:rPr b="0" i="0" lang="en-US" sz="1300" u="none" cap="none" strike="noStrike">
                <a:solidFill>
                  <a:srgbClr val="6B7390"/>
                </a:solidFill>
                <a:latin typeface="DM Sans"/>
                <a:ea typeface="DM Sans"/>
                <a:cs typeface="DM Sans"/>
                <a:sym typeface="DM Sans"/>
              </a:rPr>
              <a:t>Avec Workly</a:t>
            </a:r>
            <a:endParaRPr/>
          </a:p>
        </p:txBody>
      </p:sp>
      <p:sp>
        <p:nvSpPr>
          <p:cNvPr id="613" name="Google Shape;613;p27"/>
          <p:cNvSpPr/>
          <p:nvPr/>
        </p:nvSpPr>
        <p:spPr>
          <a:xfrm>
            <a:off x="5752500" y="302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Coût</a:t>
            </a:r>
            <a:endParaRPr/>
          </a:p>
        </p:txBody>
      </p:sp>
      <p:sp>
        <p:nvSpPr>
          <p:cNvPr id="614" name="Google Shape;614;p27"/>
          <p:cNvSpPr/>
          <p:nvPr/>
        </p:nvSpPr>
        <p:spPr>
          <a:xfrm>
            <a:off x="7152500" y="302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5" name="Google Shape;615;p27"/>
          <p:cNvSpPr/>
          <p:nvPr/>
        </p:nvSpPr>
        <p:spPr>
          <a:xfrm>
            <a:off x="10542500" y="299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16" name="Google Shape;616;p27"/>
          <p:cNvSpPr/>
          <p:nvPr/>
        </p:nvSpPr>
        <p:spPr>
          <a:xfrm>
            <a:off x="7152500" y="3298000"/>
            <a:ext cx="3201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17" name="Google Shape;617;p27"/>
          <p:cNvSpPr/>
          <p:nvPr/>
        </p:nvSpPr>
        <p:spPr>
          <a:xfrm>
            <a:off x="10443500" y="326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97</a:t>
            </a:r>
            <a:endParaRPr/>
          </a:p>
        </p:txBody>
      </p:sp>
      <p:sp>
        <p:nvSpPr>
          <p:cNvPr id="618" name="Google Shape;618;p27"/>
          <p:cNvSpPr/>
          <p:nvPr/>
        </p:nvSpPr>
        <p:spPr>
          <a:xfrm>
            <a:off x="5752500" y="374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Gaspillage</a:t>
            </a:r>
            <a:endParaRPr/>
          </a:p>
        </p:txBody>
      </p:sp>
      <p:sp>
        <p:nvSpPr>
          <p:cNvPr id="619" name="Google Shape;619;p27"/>
          <p:cNvSpPr/>
          <p:nvPr/>
        </p:nvSpPr>
        <p:spPr>
          <a:xfrm>
            <a:off x="7152500" y="374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0" name="Google Shape;620;p27"/>
          <p:cNvSpPr/>
          <p:nvPr/>
        </p:nvSpPr>
        <p:spPr>
          <a:xfrm>
            <a:off x="10542500" y="371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21" name="Google Shape;621;p27"/>
          <p:cNvSpPr/>
          <p:nvPr/>
        </p:nvSpPr>
        <p:spPr>
          <a:xfrm>
            <a:off x="7152500" y="4018000"/>
            <a:ext cx="1419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2" name="Google Shape;622;p27"/>
          <p:cNvSpPr/>
          <p:nvPr/>
        </p:nvSpPr>
        <p:spPr>
          <a:xfrm>
            <a:off x="8661500" y="398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43</a:t>
            </a:r>
            <a:endParaRPr/>
          </a:p>
        </p:txBody>
      </p:sp>
      <p:sp>
        <p:nvSpPr>
          <p:cNvPr id="623" name="Google Shape;623;p27"/>
          <p:cNvSpPr/>
          <p:nvPr/>
        </p:nvSpPr>
        <p:spPr>
          <a:xfrm>
            <a:off x="5752500" y="446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Heures sup.</a:t>
            </a:r>
            <a:endParaRPr/>
          </a:p>
        </p:txBody>
      </p:sp>
      <p:sp>
        <p:nvSpPr>
          <p:cNvPr id="624" name="Google Shape;624;p27"/>
          <p:cNvSpPr/>
          <p:nvPr/>
        </p:nvSpPr>
        <p:spPr>
          <a:xfrm>
            <a:off x="7152500" y="446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5" name="Google Shape;625;p27"/>
          <p:cNvSpPr/>
          <p:nvPr/>
        </p:nvSpPr>
        <p:spPr>
          <a:xfrm>
            <a:off x="10542500" y="443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26" name="Google Shape;626;p27"/>
          <p:cNvSpPr/>
          <p:nvPr/>
        </p:nvSpPr>
        <p:spPr>
          <a:xfrm>
            <a:off x="7152500" y="4738000"/>
            <a:ext cx="70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27" name="Google Shape;627;p27"/>
          <p:cNvSpPr/>
          <p:nvPr/>
        </p:nvSpPr>
        <p:spPr>
          <a:xfrm>
            <a:off x="7312500" y="470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2</a:t>
            </a:r>
            <a:endParaRPr/>
          </a:p>
        </p:txBody>
      </p:sp>
      <p:sp>
        <p:nvSpPr>
          <p:cNvPr id="628" name="Google Shape;628;p27"/>
          <p:cNvSpPr/>
          <p:nvPr/>
        </p:nvSpPr>
        <p:spPr>
          <a:xfrm>
            <a:off x="5752500" y="5188000"/>
            <a:ext cx="1300000" cy="480000"/>
          </a:xfrm>
          <a:prstGeom prst="rect">
            <a:avLst/>
          </a:prstGeom>
          <a:noFill/>
          <a:ln>
            <a:noFill/>
          </a:ln>
        </p:spPr>
        <p:txBody>
          <a:bodyPr anchorCtr="0" anchor="ctr"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1" i="0" lang="en-US" sz="1500" u="none" cap="none" strike="noStrike">
                <a:solidFill>
                  <a:srgbClr val="2B3350"/>
                </a:solidFill>
                <a:latin typeface="DM Sans"/>
                <a:ea typeface="DM Sans"/>
                <a:cs typeface="DM Sans"/>
                <a:sym typeface="DM Sans"/>
              </a:rPr>
              <a:t>Pénalités</a:t>
            </a:r>
            <a:endParaRPr/>
          </a:p>
        </p:txBody>
      </p:sp>
      <p:sp>
        <p:nvSpPr>
          <p:cNvPr id="629" name="Google Shape;629;p27"/>
          <p:cNvSpPr/>
          <p:nvPr/>
        </p:nvSpPr>
        <p:spPr>
          <a:xfrm>
            <a:off x="7152500" y="5188000"/>
            <a:ext cx="3300000" cy="210000"/>
          </a:xfrm>
          <a:prstGeom prst="roundRect">
            <a:avLst>
              <a:gd fmla="val 20000" name="adj"/>
            </a:avLst>
          </a:prstGeom>
          <a:solidFill>
            <a:srgbClr val="C5C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30" name="Google Shape;630;p27"/>
          <p:cNvSpPr/>
          <p:nvPr/>
        </p:nvSpPr>
        <p:spPr>
          <a:xfrm>
            <a:off x="10542500" y="515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7390"/>
              </a:buClr>
              <a:buSzPts val="1400"/>
              <a:buFont typeface="DM Sans"/>
              <a:buNone/>
            </a:pPr>
            <a:r>
              <a:rPr b="1" i="0" lang="en-US" sz="1400" u="none" cap="none" strike="noStrike">
                <a:solidFill>
                  <a:srgbClr val="6B7390"/>
                </a:solidFill>
                <a:latin typeface="DM Sans"/>
                <a:ea typeface="DM Sans"/>
                <a:cs typeface="DM Sans"/>
                <a:sym typeface="DM Sans"/>
              </a:rPr>
              <a:t>100</a:t>
            </a:r>
            <a:endParaRPr/>
          </a:p>
        </p:txBody>
      </p:sp>
      <p:sp>
        <p:nvSpPr>
          <p:cNvPr id="631" name="Google Shape;631;p27"/>
          <p:cNvSpPr/>
          <p:nvPr/>
        </p:nvSpPr>
        <p:spPr>
          <a:xfrm>
            <a:off x="7152500" y="5458000"/>
            <a:ext cx="70000" cy="210000"/>
          </a:xfrm>
          <a:prstGeom prst="roundRect">
            <a:avLst>
              <a:gd fmla="val 20000" name="adj"/>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32" name="Google Shape;632;p27"/>
          <p:cNvSpPr/>
          <p:nvPr/>
        </p:nvSpPr>
        <p:spPr>
          <a:xfrm>
            <a:off x="7312500" y="5423000"/>
            <a:ext cx="600000" cy="2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6B3FA0"/>
              </a:buClr>
              <a:buSzPts val="1400"/>
              <a:buFont typeface="DM Sans"/>
              <a:buNone/>
            </a:pPr>
            <a:r>
              <a:rPr b="1" i="0" lang="en-US" sz="1400" u="none" cap="none" strike="noStrike">
                <a:solidFill>
                  <a:srgbClr val="6B3FA0"/>
                </a:solidFill>
                <a:latin typeface="DM Sans"/>
                <a:ea typeface="DM Sans"/>
                <a:cs typeface="DM Sans"/>
                <a:sym typeface="DM Sans"/>
              </a:rPr>
              <a:t>2</a:t>
            </a:r>
            <a:endParaRPr/>
          </a:p>
        </p:txBody>
      </p:sp>
      <p:sp>
        <p:nvSpPr>
          <p:cNvPr id="633" name="Google Shape;633;p27"/>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 comparaison avec un planning reconduit chaque semaine.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38" name="Shape 638"/>
        <p:cNvGrpSpPr/>
        <p:nvPr/>
      </p:nvGrpSpPr>
      <p:grpSpPr>
        <a:xfrm>
          <a:off x="0" y="0"/>
          <a:ext cx="0" cy="0"/>
          <a:chOff x="0" y="0"/>
          <a:chExt cx="0" cy="0"/>
        </a:xfrm>
      </p:grpSpPr>
      <p:sp>
        <p:nvSpPr>
          <p:cNvPr id="639" name="Google Shape;639;p28"/>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0" name="Google Shape;640;p28"/>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1" name="Google Shape;641;p28"/>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2" name="Google Shape;642;p28"/>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3" name="Google Shape;643;p28"/>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4" name="Google Shape;644;p28"/>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645" name="Google Shape;645;p28"/>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Expédition et stockage concentrent 84 % du gain, qui progresse sur toute la période</a:t>
            </a:r>
            <a:endParaRPr/>
          </a:p>
        </p:txBody>
      </p:sp>
      <p:sp>
        <p:nvSpPr>
          <p:cNvPr id="646" name="Google Shape;646;p28"/>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29</a:t>
            </a:r>
            <a:endParaRPr/>
          </a:p>
        </p:txBody>
      </p:sp>
      <p:pic>
        <p:nvPicPr>
          <p:cNvPr descr="Capture du tableau de bord Workly" id="647" name="Google Shape;647;p28"/>
          <p:cNvPicPr preferRelativeResize="0"/>
          <p:nvPr/>
        </p:nvPicPr>
        <p:blipFill rotWithShape="1">
          <a:blip r:embed="rId3">
            <a:alphaModFix/>
          </a:blip>
          <a:srcRect b="0" l="0" r="0" t="0"/>
          <a:stretch/>
        </p:blipFill>
        <p:spPr>
          <a:xfrm>
            <a:off x="698500" y="1778000"/>
            <a:ext cx="10795000" cy="3196124"/>
          </a:xfrm>
          <a:prstGeom prst="roundRect">
            <a:avLst>
              <a:gd fmla="val 2500" name="adj"/>
            </a:avLst>
          </a:prstGeom>
          <a:noFill/>
          <a:ln>
            <a:noFill/>
          </a:ln>
        </p:spPr>
      </p:pic>
      <p:sp>
        <p:nvSpPr>
          <p:cNvPr id="648" name="Google Shape;648;p28"/>
          <p:cNvSpPr/>
          <p:nvPr/>
        </p:nvSpPr>
        <p:spPr>
          <a:xfrm>
            <a:off x="698500" y="5204124"/>
            <a:ext cx="10795000" cy="900000"/>
          </a:xfrm>
          <a:prstGeom prst="roundRect">
            <a:avLst>
              <a:gd fmla="val 12000" name="adj"/>
            </a:avLst>
          </a:prstGeom>
          <a:solidFill>
            <a:srgbClr val="1B2A4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49" name="Google Shape;649;p28"/>
          <p:cNvSpPr/>
          <p:nvPr/>
        </p:nvSpPr>
        <p:spPr>
          <a:xfrm>
            <a:off x="998500" y="5204124"/>
            <a:ext cx="10195000" cy="900000"/>
          </a:xfrm>
          <a:prstGeom prst="rect">
            <a:avLst/>
          </a:prstGeom>
          <a:noFill/>
          <a:ln>
            <a:noFill/>
          </a:ln>
        </p:spPr>
        <p:txBody>
          <a:bodyPr anchorCtr="0" anchor="ctr" bIns="0" lIns="0" spcFirstLastPara="1" rIns="0" wrap="square" tIns="0">
            <a:normAutofit/>
          </a:bodyPr>
          <a:lstStyle/>
          <a:p>
            <a:pPr indent="0" lvl="0" marL="0" marR="0" rtl="0" algn="l">
              <a:lnSpc>
                <a:spcPct val="137500"/>
              </a:lnSpc>
              <a:spcBef>
                <a:spcPts val="0"/>
              </a:spcBef>
              <a:spcAft>
                <a:spcPts val="0"/>
              </a:spcAft>
              <a:buClr>
                <a:srgbClr val="7ACFC0"/>
              </a:buClr>
              <a:buSzPts val="1600"/>
              <a:buFont typeface="DM Sans"/>
              <a:buNone/>
            </a:pPr>
            <a:r>
              <a:rPr b="1" i="0" lang="en-US" sz="1600" u="none" cap="none" strike="noStrike">
                <a:solidFill>
                  <a:srgbClr val="7ACFC0"/>
                </a:solidFill>
                <a:latin typeface="DM Sans"/>
                <a:ea typeface="DM Sans"/>
                <a:cs typeface="DM Sans"/>
                <a:sym typeface="DM Sans"/>
              </a:rPr>
              <a:t>Expédition (6 054 MAD) et stockage (5 353 MAD) pèsent 84 % des 13 613 MAD économisés ; réception : 1 525 MAD, préparation : 681 MAD.</a:t>
            </a:r>
            <a:endParaRPr/>
          </a:p>
        </p:txBody>
      </p:sp>
      <p:sp>
        <p:nvSpPr>
          <p:cNvPr id="650" name="Google Shape;650;p28"/>
          <p:cNvSpPr/>
          <p:nvPr/>
        </p:nvSpPr>
        <p:spPr>
          <a:xfrm>
            <a:off x="698500" y="6344921"/>
            <a:ext cx="915670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gain cumulé jour après jour et gain par zone (en MAD).</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655" name="Shape 655"/>
        <p:cNvGrpSpPr/>
        <p:nvPr/>
      </p:nvGrpSpPr>
      <p:grpSpPr>
        <a:xfrm>
          <a:off x="0" y="0"/>
          <a:ext cx="0" cy="0"/>
          <a:chOff x="0" y="0"/>
          <a:chExt cx="0" cy="0"/>
        </a:xfrm>
      </p:grpSpPr>
      <p:sp>
        <p:nvSpPr>
          <p:cNvPr id="656" name="Google Shape;656;p29"/>
          <p:cNvSpPr/>
          <p:nvPr/>
        </p:nvSpPr>
        <p:spPr>
          <a:xfrm>
            <a:off x="0" y="0"/>
            <a:ext cx="152400" cy="68580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7" name="Google Shape;657;p2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8" name="Google Shape;658;p2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59" name="Google Shape;659;p2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0" name="Google Shape;660;p2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1" name="Google Shape;661;p29"/>
          <p:cNvSpPr/>
          <p:nvPr/>
        </p:nvSpPr>
        <p:spPr>
          <a:xfrm>
            <a:off x="698500" y="533400"/>
            <a:ext cx="944880" cy="284480"/>
          </a:xfrm>
          <a:prstGeom prst="roundRect">
            <a:avLst>
              <a:gd fmla="val 50000" name="adj"/>
            </a:avLst>
          </a:prstGeom>
          <a:solidFill>
            <a:srgbClr val="B39DDB"/>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i="0" lang="en-US" sz="1200" u="none" cap="none" strike="noStrike">
                <a:solidFill>
                  <a:srgbClr val="1B2A4A"/>
                </a:solidFill>
                <a:latin typeface="DM Sans"/>
                <a:ea typeface="DM Sans"/>
                <a:cs typeface="DM Sans"/>
                <a:sym typeface="DM Sans"/>
              </a:rPr>
              <a:t>PARTIE 4</a:t>
            </a:r>
            <a:endParaRPr/>
          </a:p>
        </p:txBody>
      </p:sp>
      <p:sp>
        <p:nvSpPr>
          <p:cNvPr id="662" name="Google Shape;662;p2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lang="en-US" sz="2100">
                <a:solidFill>
                  <a:srgbClr val="1B2A4A"/>
                </a:solidFill>
                <a:latin typeface="Sora"/>
                <a:ea typeface="Sora"/>
                <a:cs typeface="Sora"/>
                <a:sym typeface="Sora"/>
              </a:rPr>
              <a:t>Le gain annualisé atteint 183 874 MAD ; le retour sur investissement reste à calculer</a:t>
            </a:r>
            <a:endParaRPr/>
          </a:p>
        </p:txBody>
      </p:sp>
      <p:sp>
        <p:nvSpPr>
          <p:cNvPr id="663" name="Google Shape;663;p29"/>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30000"/>
              </a:lnSpc>
              <a:spcBef>
                <a:spcPts val="0"/>
              </a:spcBef>
              <a:spcAft>
                <a:spcPts val="0"/>
              </a:spcAft>
              <a:buClr>
                <a:srgbClr val="1B2A4A"/>
              </a:buClr>
              <a:buSzPts val="1200"/>
              <a:buFont typeface="Sora"/>
              <a:buNone/>
            </a:pPr>
            <a:r>
              <a:rPr b="1" i="0" lang="en-US" sz="1200" u="none" cap="none" strike="noStrike">
                <a:solidFill>
                  <a:srgbClr val="1B2A4A"/>
                </a:solidFill>
                <a:latin typeface="Sora"/>
                <a:ea typeface="Sora"/>
                <a:cs typeface="Sora"/>
                <a:sym typeface="Sora"/>
              </a:rPr>
              <a:t>30</a:t>
            </a:r>
            <a:endParaRPr/>
          </a:p>
        </p:txBody>
      </p:sp>
      <p:sp>
        <p:nvSpPr>
          <p:cNvPr id="664" name="Google Shape;664;p29"/>
          <p:cNvSpPr/>
          <p:nvPr/>
        </p:nvSpPr>
        <p:spPr>
          <a:xfrm>
            <a:off x="698500" y="1778000"/>
            <a:ext cx="5600000" cy="415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5" name="Google Shape;665;p29"/>
          <p:cNvSpPr/>
          <p:nvPr/>
        </p:nvSpPr>
        <p:spPr>
          <a:xfrm>
            <a:off x="698500" y="1778000"/>
            <a:ext cx="5600000" cy="4150000"/>
          </a:xfrm>
          <a:custGeom>
            <a:rect b="b" l="l" r="r" t="t"/>
            <a:pathLst>
              <a:path extrusionOk="0" h="4150000" w="5600000">
                <a:moveTo>
                  <a:pt x="0" y="152400"/>
                </a:moveTo>
                <a:lnTo>
                  <a:pt x="0" y="152400"/>
                </a:lnTo>
                <a:cubicBezTo>
                  <a:pt x="0" y="68232"/>
                  <a:pt x="68232" y="0"/>
                  <a:pt x="152400" y="0"/>
                </a:cubicBezTo>
                <a:lnTo>
                  <a:pt x="5447600" y="0"/>
                </a:lnTo>
                <a:cubicBezTo>
                  <a:pt x="5488019" y="0"/>
                  <a:pt x="5526783" y="16056"/>
                  <a:pt x="5555363" y="44637"/>
                </a:cubicBezTo>
                <a:cubicBezTo>
                  <a:pt x="5583944" y="73217"/>
                  <a:pt x="5600000" y="111981"/>
                  <a:pt x="5600000" y="152400"/>
                </a:cubicBezTo>
                <a:lnTo>
                  <a:pt x="5600000" y="152400"/>
                </a:lnTo>
                <a:cubicBezTo>
                  <a:pt x="5600000" y="103302"/>
                  <a:pt x="5531768" y="63500"/>
                  <a:pt x="5447600" y="63500"/>
                </a:cubicBezTo>
                <a:lnTo>
                  <a:pt x="152400" y="63500"/>
                </a:lnTo>
                <a:cubicBezTo>
                  <a:pt x="68232" y="63500"/>
                  <a:pt x="0" y="103302"/>
                  <a:pt x="0" y="152400"/>
                </a:cubicBezTo>
                <a:close/>
              </a:path>
            </a:pathLst>
          </a:custGeom>
          <a:solidFill>
            <a:srgbClr val="B39DD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6" name="Google Shape;666;p29"/>
          <p:cNvSpPr/>
          <p:nvPr/>
        </p:nvSpPr>
        <p:spPr>
          <a:xfrm>
            <a:off x="952500" y="2038000"/>
            <a:ext cx="5092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Système d’alertes</a:t>
            </a:r>
            <a:endParaRPr/>
          </a:p>
        </p:txBody>
      </p:sp>
      <p:sp>
        <p:nvSpPr>
          <p:cNvPr id="667" name="Google Shape;667;p29"/>
          <p:cNvSpPr/>
          <p:nvPr/>
        </p:nvSpPr>
        <p:spPr>
          <a:xfrm>
            <a:off x="852500" y="257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68" name="Google Shape;668;p29"/>
          <p:cNvSpPr/>
          <p:nvPr/>
        </p:nvSpPr>
        <p:spPr>
          <a:xfrm>
            <a:off x="1012500" y="257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émises</a:t>
            </a:r>
            <a:endParaRPr/>
          </a:p>
        </p:txBody>
      </p:sp>
      <p:sp>
        <p:nvSpPr>
          <p:cNvPr id="669" name="Google Shape;669;p29"/>
          <p:cNvSpPr/>
          <p:nvPr/>
        </p:nvSpPr>
        <p:spPr>
          <a:xfrm>
            <a:off x="3852500" y="257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18</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dont 8 critiques</a:t>
            </a:r>
            <a:endParaRPr/>
          </a:p>
        </p:txBody>
      </p:sp>
      <p:sp>
        <p:nvSpPr>
          <p:cNvPr id="670" name="Google Shape;670;p29"/>
          <p:cNvSpPr/>
          <p:nvPr/>
        </p:nvSpPr>
        <p:spPr>
          <a:xfrm>
            <a:off x="1012500" y="321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traitées</a:t>
            </a:r>
            <a:endParaRPr/>
          </a:p>
        </p:txBody>
      </p:sp>
      <p:sp>
        <p:nvSpPr>
          <p:cNvPr id="671" name="Google Shape;671;p29"/>
          <p:cNvSpPr/>
          <p:nvPr/>
        </p:nvSpPr>
        <p:spPr>
          <a:xfrm>
            <a:off x="3852500" y="321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28 %</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5 sur 18</a:t>
            </a:r>
            <a:endParaRPr/>
          </a:p>
        </p:txBody>
      </p:sp>
      <p:sp>
        <p:nvSpPr>
          <p:cNvPr id="672" name="Google Shape;672;p29"/>
          <p:cNvSpPr/>
          <p:nvPr/>
        </p:nvSpPr>
        <p:spPr>
          <a:xfrm>
            <a:off x="852500" y="385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73" name="Google Shape;673;p29"/>
          <p:cNvSpPr/>
          <p:nvPr/>
        </p:nvSpPr>
        <p:spPr>
          <a:xfrm>
            <a:off x="1012500" y="385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Délai de prise en charge</a:t>
            </a:r>
            <a:endParaRPr/>
          </a:p>
        </p:txBody>
      </p:sp>
      <p:sp>
        <p:nvSpPr>
          <p:cNvPr id="674" name="Google Shape;674;p29"/>
          <p:cNvSpPr/>
          <p:nvPr/>
        </p:nvSpPr>
        <p:spPr>
          <a:xfrm>
            <a:off x="3852500" y="385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18,3 h</a:t>
            </a:r>
            <a:endParaRPr/>
          </a:p>
        </p:txBody>
      </p:sp>
      <p:sp>
        <p:nvSpPr>
          <p:cNvPr id="675" name="Google Shape;675;p29"/>
          <p:cNvSpPr/>
          <p:nvPr/>
        </p:nvSpPr>
        <p:spPr>
          <a:xfrm>
            <a:off x="1012500" y="449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Alertes émises avant la date concernée</a:t>
            </a:r>
            <a:endParaRPr/>
          </a:p>
        </p:txBody>
      </p:sp>
      <p:sp>
        <p:nvSpPr>
          <p:cNvPr id="676" name="Google Shape;676;p29"/>
          <p:cNvSpPr/>
          <p:nvPr/>
        </p:nvSpPr>
        <p:spPr>
          <a:xfrm>
            <a:off x="3852500" y="449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22 %</a:t>
            </a:r>
            <a:endParaRPr/>
          </a:p>
          <a:p>
            <a:pPr indent="0" lvl="0" marL="0" marR="0" rtl="0" algn="r">
              <a:lnSpc>
                <a:spcPct val="125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3,8 j avant en moyenne</a:t>
            </a:r>
            <a:endParaRPr/>
          </a:p>
        </p:txBody>
      </p:sp>
      <p:sp>
        <p:nvSpPr>
          <p:cNvPr id="677" name="Google Shape;677;p29"/>
          <p:cNvSpPr/>
          <p:nvPr/>
        </p:nvSpPr>
        <p:spPr>
          <a:xfrm>
            <a:off x="852500" y="5138000"/>
            <a:ext cx="5292000" cy="58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78" name="Google Shape;678;p29"/>
          <p:cNvSpPr/>
          <p:nvPr/>
        </p:nvSpPr>
        <p:spPr>
          <a:xfrm>
            <a:off x="1012500" y="5138000"/>
            <a:ext cx="2750000" cy="580000"/>
          </a:xfrm>
          <a:prstGeom prst="rect">
            <a:avLst/>
          </a:prstGeom>
          <a:noFill/>
          <a:ln>
            <a:noFill/>
          </a:ln>
        </p:spPr>
        <p:txBody>
          <a:bodyPr anchorCtr="0" anchor="ctr" bIns="0" lIns="0" spcFirstLastPara="1" rIns="0" wrap="square" tIns="0">
            <a:normAutofit/>
          </a:bodyPr>
          <a:lstStyle/>
          <a:p>
            <a:pPr indent="0" lvl="0" marL="0" marR="0" rtl="0" algn="l">
              <a:lnSpc>
                <a:spcPct val="128571"/>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Pénuries d’équipement traitées à l’avance</a:t>
            </a:r>
            <a:endParaRPr/>
          </a:p>
        </p:txBody>
      </p:sp>
      <p:sp>
        <p:nvSpPr>
          <p:cNvPr id="679" name="Google Shape;679;p29"/>
          <p:cNvSpPr/>
          <p:nvPr/>
        </p:nvSpPr>
        <p:spPr>
          <a:xfrm>
            <a:off x="3852500" y="5138000"/>
            <a:ext cx="2132000" cy="580000"/>
          </a:xfrm>
          <a:prstGeom prst="rect">
            <a:avLst/>
          </a:prstGeom>
          <a:noFill/>
          <a:ln>
            <a:noFill/>
          </a:ln>
        </p:spPr>
        <p:txBody>
          <a:bodyPr anchorCtr="0" anchor="ctr" bIns="0" lIns="0" spcFirstLastPara="1" rIns="0" wrap="square" tIns="0">
            <a:normAutofit/>
          </a:bodyPr>
          <a:lstStyle/>
          <a:p>
            <a:pPr indent="0" lvl="0" marL="0" marR="0" rtl="0" algn="r">
              <a:lnSpc>
                <a:spcPct val="125000"/>
              </a:lnSpc>
              <a:spcBef>
                <a:spcPts val="0"/>
              </a:spcBef>
              <a:spcAft>
                <a:spcPts val="0"/>
              </a:spcAft>
              <a:buClr>
                <a:srgbClr val="1B2A4A"/>
              </a:buClr>
              <a:buSzPts val="1600"/>
              <a:buFont typeface="Sora"/>
              <a:buNone/>
            </a:pPr>
            <a:r>
              <a:rPr b="1" i="0" lang="en-US" sz="1600" u="none" cap="none" strike="noStrike">
                <a:solidFill>
                  <a:srgbClr val="1B2A4A"/>
                </a:solidFill>
                <a:latin typeface="Sora"/>
                <a:ea typeface="Sora"/>
                <a:cs typeface="Sora"/>
                <a:sym typeface="Sora"/>
              </a:rPr>
              <a:t>1</a:t>
            </a:r>
            <a:endParaRPr/>
          </a:p>
        </p:txBody>
      </p:sp>
      <p:sp>
        <p:nvSpPr>
          <p:cNvPr id="680" name="Google Shape;680;p29"/>
          <p:cNvSpPr/>
          <p:nvPr/>
        </p:nvSpPr>
        <p:spPr>
          <a:xfrm>
            <a:off x="6498500" y="1778000"/>
            <a:ext cx="4995000" cy="4150000"/>
          </a:xfrm>
          <a:prstGeom prst="roundRect">
            <a:avLst>
              <a:gd fmla="val 7304" name="adj"/>
            </a:avLst>
          </a:pr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1" name="Google Shape;681;p29"/>
          <p:cNvSpPr/>
          <p:nvPr/>
        </p:nvSpPr>
        <p:spPr>
          <a:xfrm>
            <a:off x="6498500" y="1778000"/>
            <a:ext cx="4995000" cy="4150000"/>
          </a:xfrm>
          <a:custGeom>
            <a:rect b="b" l="l" r="r" t="t"/>
            <a:pathLst>
              <a:path extrusionOk="0" h="4150000" w="4995000">
                <a:moveTo>
                  <a:pt x="0" y="152400"/>
                </a:moveTo>
                <a:lnTo>
                  <a:pt x="0" y="152400"/>
                </a:lnTo>
                <a:cubicBezTo>
                  <a:pt x="0" y="68232"/>
                  <a:pt x="68232" y="0"/>
                  <a:pt x="152400" y="0"/>
                </a:cubicBezTo>
                <a:lnTo>
                  <a:pt x="4842600" y="0"/>
                </a:lnTo>
                <a:cubicBezTo>
                  <a:pt x="4883019" y="0"/>
                  <a:pt x="4921783" y="16056"/>
                  <a:pt x="4950363" y="44637"/>
                </a:cubicBezTo>
                <a:cubicBezTo>
                  <a:pt x="4978944" y="73217"/>
                  <a:pt x="4995000" y="111981"/>
                  <a:pt x="4995000" y="152400"/>
                </a:cubicBezTo>
                <a:lnTo>
                  <a:pt x="4995000" y="152400"/>
                </a:lnTo>
                <a:cubicBezTo>
                  <a:pt x="4995000" y="103302"/>
                  <a:pt x="4926768" y="63500"/>
                  <a:pt x="4842600" y="63500"/>
                </a:cubicBezTo>
                <a:lnTo>
                  <a:pt x="152400" y="63500"/>
                </a:lnTo>
                <a:cubicBezTo>
                  <a:pt x="68232" y="63500"/>
                  <a:pt x="0" y="103302"/>
                  <a:pt x="0" y="152400"/>
                </a:cubicBezTo>
                <a:close/>
              </a:path>
            </a:pathLst>
          </a:custGeom>
          <a:solidFill>
            <a:srgbClr val="6B3FA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2" name="Google Shape;682;p29"/>
          <p:cNvSpPr/>
          <p:nvPr/>
        </p:nvSpPr>
        <p:spPr>
          <a:xfrm>
            <a:off x="6752500" y="2038000"/>
            <a:ext cx="4487000" cy="330000"/>
          </a:xfrm>
          <a:prstGeom prst="rect">
            <a:avLst/>
          </a:prstGeom>
          <a:noFill/>
          <a:ln>
            <a:noFill/>
          </a:ln>
        </p:spPr>
        <p:txBody>
          <a:bodyPr anchorCtr="0" anchor="t" bIns="0" lIns="0" spcFirstLastPara="1" rIns="0" wrap="square" tIns="0">
            <a:normAutofit/>
          </a:bodyPr>
          <a:lstStyle/>
          <a:p>
            <a:pPr indent="0" lvl="0" marL="0" marR="0" rtl="0" algn="l">
              <a:lnSpc>
                <a:spcPct val="123529"/>
              </a:lnSpc>
              <a:spcBef>
                <a:spcPts val="0"/>
              </a:spcBef>
              <a:spcAft>
                <a:spcPts val="0"/>
              </a:spcAft>
              <a:buClr>
                <a:srgbClr val="1B2A4A"/>
              </a:buClr>
              <a:buSzPts val="1700"/>
              <a:buFont typeface="Sora"/>
              <a:buNone/>
            </a:pPr>
            <a:r>
              <a:rPr b="1" i="0" lang="en-US" sz="1700" u="none" cap="none" strike="noStrike">
                <a:solidFill>
                  <a:srgbClr val="1B2A4A"/>
                </a:solidFill>
                <a:latin typeface="Sora"/>
                <a:ea typeface="Sora"/>
                <a:cs typeface="Sora"/>
                <a:sym typeface="Sora"/>
              </a:rPr>
              <a:t>Retour sur investissement</a:t>
            </a:r>
            <a:endParaRPr/>
          </a:p>
        </p:txBody>
      </p:sp>
      <p:sp>
        <p:nvSpPr>
          <p:cNvPr id="683" name="Google Shape;683;p29"/>
          <p:cNvSpPr/>
          <p:nvPr/>
        </p:nvSpPr>
        <p:spPr>
          <a:xfrm>
            <a:off x="6752500" y="2558000"/>
            <a:ext cx="4487000" cy="520000"/>
          </a:xfrm>
          <a:prstGeom prst="rect">
            <a:avLst/>
          </a:prstGeom>
          <a:noFill/>
          <a:ln>
            <a:noFill/>
          </a:ln>
        </p:spPr>
        <p:txBody>
          <a:bodyPr anchorCtr="0" anchor="t" bIns="0" lIns="0" spcFirstLastPara="1" rIns="0" wrap="square" tIns="0">
            <a:normAutofit/>
          </a:bodyPr>
          <a:lstStyle/>
          <a:p>
            <a:pPr indent="0" lvl="0" marL="0" marR="0" rtl="0" algn="l">
              <a:lnSpc>
                <a:spcPct val="121428"/>
              </a:lnSpc>
              <a:spcBef>
                <a:spcPts val="0"/>
              </a:spcBef>
              <a:spcAft>
                <a:spcPts val="0"/>
              </a:spcAft>
              <a:buClr>
                <a:srgbClr val="6B3FA0"/>
              </a:buClr>
              <a:buSzPts val="2800"/>
              <a:buFont typeface="Sora"/>
              <a:buNone/>
            </a:pPr>
            <a:r>
              <a:rPr b="1" i="0" lang="en-US" sz="2800" u="none" cap="none" strike="noStrike">
                <a:solidFill>
                  <a:srgbClr val="6B3FA0"/>
                </a:solidFill>
                <a:latin typeface="Sora"/>
                <a:ea typeface="Sora"/>
                <a:cs typeface="Sora"/>
                <a:sym typeface="Sora"/>
              </a:rPr>
              <a:t>183 874 MAD</a:t>
            </a:r>
            <a:endParaRPr/>
          </a:p>
        </p:txBody>
      </p:sp>
      <p:sp>
        <p:nvSpPr>
          <p:cNvPr id="684" name="Google Shape;684;p29"/>
          <p:cNvSpPr/>
          <p:nvPr/>
        </p:nvSpPr>
        <p:spPr>
          <a:xfrm>
            <a:off x="6752500" y="3158000"/>
            <a:ext cx="4487000" cy="30000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2B3350"/>
              </a:buClr>
              <a:buSzPts val="1500"/>
              <a:buFont typeface="DM Sans"/>
              <a:buNone/>
            </a:pPr>
            <a:r>
              <a:rPr b="0" i="0" lang="en-US" sz="1500" u="none" cap="none" strike="noStrike">
                <a:solidFill>
                  <a:srgbClr val="2B3350"/>
                </a:solidFill>
                <a:latin typeface="DM Sans"/>
                <a:ea typeface="DM Sans"/>
                <a:cs typeface="DM Sans"/>
                <a:sym typeface="DM Sans"/>
              </a:rPr>
              <a:t>gain annualisé</a:t>
            </a:r>
            <a:endParaRPr/>
          </a:p>
        </p:txBody>
      </p:sp>
      <p:sp>
        <p:nvSpPr>
          <p:cNvPr id="685" name="Google Shape;685;p29"/>
          <p:cNvSpPr/>
          <p:nvPr/>
        </p:nvSpPr>
        <p:spPr>
          <a:xfrm>
            <a:off x="6652500" y="3628000"/>
            <a:ext cx="4687000" cy="51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86" name="Google Shape;686;p29"/>
          <p:cNvSpPr/>
          <p:nvPr/>
        </p:nvSpPr>
        <p:spPr>
          <a:xfrm>
            <a:off x="6812500" y="362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Coût de mise en place</a:t>
            </a:r>
            <a:endParaRPr/>
          </a:p>
        </p:txBody>
      </p:sp>
      <p:sp>
        <p:nvSpPr>
          <p:cNvPr id="687" name="Google Shape;687;p29"/>
          <p:cNvSpPr/>
          <p:nvPr/>
        </p:nvSpPr>
        <p:spPr>
          <a:xfrm>
            <a:off x="9652500" y="362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Non renseigné</a:t>
            </a:r>
            <a:endParaRPr/>
          </a:p>
        </p:txBody>
      </p:sp>
      <p:sp>
        <p:nvSpPr>
          <p:cNvPr id="688" name="Google Shape;688;p29"/>
          <p:cNvSpPr/>
          <p:nvPr/>
        </p:nvSpPr>
        <p:spPr>
          <a:xfrm>
            <a:off x="6812500" y="418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Retour sur investissement et délai de rentabilisation</a:t>
            </a:r>
            <a:endParaRPr/>
          </a:p>
        </p:txBody>
      </p:sp>
      <p:sp>
        <p:nvSpPr>
          <p:cNvPr id="689" name="Google Shape;689;p29"/>
          <p:cNvSpPr/>
          <p:nvPr/>
        </p:nvSpPr>
        <p:spPr>
          <a:xfrm>
            <a:off x="9652500" y="418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À calculer</a:t>
            </a:r>
            <a:endParaRPr/>
          </a:p>
        </p:txBody>
      </p:sp>
      <p:sp>
        <p:nvSpPr>
          <p:cNvPr id="690" name="Google Shape;690;p29"/>
          <p:cNvSpPr/>
          <p:nvPr/>
        </p:nvSpPr>
        <p:spPr>
          <a:xfrm>
            <a:off x="6652500" y="4748000"/>
            <a:ext cx="4687000" cy="510000"/>
          </a:xfrm>
          <a:prstGeom prst="roundRect">
            <a:avLst>
              <a:gd fmla="val 15000" name="adj"/>
            </a:avLst>
          </a:prstGeom>
          <a:solidFill>
            <a:srgbClr val="F4F6F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DM Sans"/>
              <a:buNone/>
            </a:pPr>
            <a:r>
              <a:t/>
            </a:r>
            <a:endParaRPr b="0" i="0" sz="1800" u="none" cap="none" strike="noStrike">
              <a:solidFill>
                <a:srgbClr val="1B2A4A"/>
              </a:solidFill>
              <a:latin typeface="DM Sans"/>
              <a:ea typeface="DM Sans"/>
              <a:cs typeface="DM Sans"/>
              <a:sym typeface="DM Sans"/>
            </a:endParaRPr>
          </a:p>
        </p:txBody>
      </p:sp>
      <p:sp>
        <p:nvSpPr>
          <p:cNvPr id="691" name="Google Shape;691;p29"/>
          <p:cNvSpPr/>
          <p:nvPr/>
        </p:nvSpPr>
        <p:spPr>
          <a:xfrm>
            <a:off x="6812500" y="474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Tâches automatiques exécutées sur la période</a:t>
            </a:r>
            <a:endParaRPr/>
          </a:p>
        </p:txBody>
      </p:sp>
      <p:sp>
        <p:nvSpPr>
          <p:cNvPr id="692" name="Google Shape;692;p29"/>
          <p:cNvSpPr/>
          <p:nvPr/>
        </p:nvSpPr>
        <p:spPr>
          <a:xfrm>
            <a:off x="9652500" y="474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8 (une nuit)</a:t>
            </a:r>
            <a:endParaRPr/>
          </a:p>
        </p:txBody>
      </p:sp>
      <p:sp>
        <p:nvSpPr>
          <p:cNvPr id="693" name="Google Shape;693;p29"/>
          <p:cNvSpPr/>
          <p:nvPr/>
        </p:nvSpPr>
        <p:spPr>
          <a:xfrm>
            <a:off x="6812500" y="5308000"/>
            <a:ext cx="2800000" cy="510000"/>
          </a:xfrm>
          <a:prstGeom prst="rect">
            <a:avLst/>
          </a:prstGeom>
          <a:noFill/>
          <a:ln>
            <a:noFill/>
          </a:ln>
        </p:spPr>
        <p:txBody>
          <a:bodyPr anchorCtr="0" anchor="ctr" bIns="0" lIns="0" spcFirstLastPara="1" rIns="0" wrap="square" tIns="0">
            <a:normAutofit/>
          </a:bodyPr>
          <a:lstStyle/>
          <a:p>
            <a:pPr indent="0" lvl="0" marL="0" marR="0" rtl="0" algn="l">
              <a:lnSpc>
                <a:spcPct val="125000"/>
              </a:lnSpc>
              <a:spcBef>
                <a:spcPts val="0"/>
              </a:spcBef>
              <a:spcAft>
                <a:spcPts val="0"/>
              </a:spcAft>
              <a:buClr>
                <a:srgbClr val="2B3350"/>
              </a:buClr>
              <a:buSzPts val="1400"/>
              <a:buFont typeface="DM Sans"/>
              <a:buNone/>
            </a:pPr>
            <a:r>
              <a:rPr b="0" i="0" lang="en-US" sz="1400" u="none" cap="none" strike="noStrike">
                <a:solidFill>
                  <a:srgbClr val="2B3350"/>
                </a:solidFill>
                <a:latin typeface="DM Sans"/>
                <a:ea typeface="DM Sans"/>
                <a:cs typeface="DM Sans"/>
                <a:sym typeface="DM Sans"/>
              </a:rPr>
              <a:t>Temps manuel évité</a:t>
            </a:r>
            <a:endParaRPr/>
          </a:p>
        </p:txBody>
      </p:sp>
      <p:sp>
        <p:nvSpPr>
          <p:cNvPr id="694" name="Google Shape;694;p29"/>
          <p:cNvSpPr/>
          <p:nvPr/>
        </p:nvSpPr>
        <p:spPr>
          <a:xfrm>
            <a:off x="9652500" y="5308000"/>
            <a:ext cx="1527000" cy="510000"/>
          </a:xfrm>
          <a:prstGeom prst="rect">
            <a:avLst/>
          </a:prstGeom>
          <a:noFill/>
          <a:ln>
            <a:noFill/>
          </a:ln>
        </p:spPr>
        <p:txBody>
          <a:bodyPr anchorCtr="0" anchor="ctr" bIns="0" lIns="0" spcFirstLastPara="1" rIns="0" wrap="square" tIns="0">
            <a:normAutofit/>
          </a:bodyPr>
          <a:lstStyle/>
          <a:p>
            <a:pPr indent="0" lvl="0" marL="0" marR="0" rtl="0" algn="r">
              <a:lnSpc>
                <a:spcPct val="128571"/>
              </a:lnSpc>
              <a:spcBef>
                <a:spcPts val="0"/>
              </a:spcBef>
              <a:spcAft>
                <a:spcPts val="0"/>
              </a:spcAft>
              <a:buClr>
                <a:srgbClr val="1B2A4A"/>
              </a:buClr>
              <a:buSzPts val="1400"/>
              <a:buFont typeface="DM Sans"/>
              <a:buNone/>
            </a:pPr>
            <a:r>
              <a:rPr b="1" i="0" lang="en-US" sz="1400" u="none" cap="none" strike="noStrike">
                <a:solidFill>
                  <a:srgbClr val="1B2A4A"/>
                </a:solidFill>
                <a:latin typeface="DM Sans"/>
                <a:ea typeface="DM Sans"/>
                <a:cs typeface="DM Sans"/>
                <a:sym typeface="DM Sans"/>
              </a:rPr>
              <a:t>2,7 h</a:t>
            </a:r>
            <a:endParaRPr/>
          </a:p>
        </p:txBody>
      </p:sp>
      <p:sp>
        <p:nvSpPr>
          <p:cNvPr id="695" name="Google Shape;695;p29"/>
          <p:cNvSpPr/>
          <p:nvPr/>
        </p:nvSpPr>
        <p:spPr>
          <a:xfrm>
            <a:off x="698500" y="6344921"/>
            <a:ext cx="9875520" cy="208280"/>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6B7390"/>
              </a:buClr>
              <a:buSzPts val="1200"/>
              <a:buFont typeface="DM Sans"/>
              <a:buNone/>
            </a:pPr>
            <a:r>
              <a:rPr b="0" i="0" lang="en-US" sz="1200" u="none" cap="none" strike="noStrike">
                <a:solidFill>
                  <a:srgbClr val="6B7390"/>
                </a:solidFill>
                <a:latin typeface="DM Sans"/>
                <a:ea typeface="DM Sans"/>
                <a:cs typeface="DM Sans"/>
                <a:sym typeface="DM Sans"/>
              </a:rPr>
              <a:t>Source : onglet Bottom line de l’application Workly (alertes, gain annualisé, automatisation) ; temps évité = 8 étapes × 20 min.</a:t>
            </a:r>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485" name="Google Shape;485;p21"/>
          <p:cNvSpPr/>
          <p:nvPr/>
        </p:nvSpPr>
        <p:spPr>
          <a:xfrm>
            <a:off x="0" y="0"/>
            <a:ext cx="152400" cy="68580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6" name="Google Shape;486;p21"/>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7" name="Google Shape;487;p21"/>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8" name="Google Shape;488;p21"/>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89" name="Google Shape;489;p21"/>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490" name="Google Shape;490;p21"/>
          <p:cNvSpPr/>
          <p:nvPr/>
        </p:nvSpPr>
        <p:spPr>
          <a:xfrm>
            <a:off x="698500" y="533400"/>
            <a:ext cx="934720" cy="284480"/>
          </a:xfrm>
          <a:prstGeom prst="roundRect">
            <a:avLst>
              <a:gd fmla="val 50000" name="adj"/>
            </a:avLst>
          </a:prstGeom>
          <a:solidFill>
            <a:srgbClr val="7ACFC0"/>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1B2A4A"/>
              </a:buClr>
              <a:buSzPts val="1200"/>
              <a:buFont typeface="DM Sans"/>
              <a:buNone/>
            </a:pPr>
            <a:r>
              <a:rPr b="1" lang="en-US" sz="1200">
                <a:solidFill>
                  <a:srgbClr val="1B2A4A"/>
                </a:solidFill>
                <a:latin typeface="DM Sans"/>
                <a:ea typeface="DM Sans"/>
                <a:cs typeface="DM Sans"/>
                <a:sym typeface="DM Sans"/>
              </a:rPr>
              <a:t>PARTIE 3</a:t>
            </a:r>
            <a:endParaRPr sz="1200">
              <a:solidFill>
                <a:schemeClr val="dk1"/>
              </a:solidFill>
              <a:latin typeface="DM Sans"/>
              <a:ea typeface="DM Sans"/>
              <a:cs typeface="DM Sans"/>
              <a:sym typeface="DM Sans"/>
            </a:endParaRPr>
          </a:p>
        </p:txBody>
      </p:sp>
      <p:sp>
        <p:nvSpPr>
          <p:cNvPr id="491" name="Google Shape;491;p21"/>
          <p:cNvSpPr txBox="1"/>
          <p:nvPr>
            <p:ph type="title"/>
          </p:nvPr>
        </p:nvSpPr>
        <p:spPr>
          <a:xfrm>
            <a:off x="698500" y="919485"/>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Alertes, suivi et rapports : le système calcule, les responsables traitent et décident</a:t>
            </a:r>
            <a:endParaRPr sz="2100"/>
          </a:p>
        </p:txBody>
      </p:sp>
      <p:sp>
        <p:nvSpPr>
          <p:cNvPr id="493" name="Google Shape;493;p21"/>
          <p:cNvSpPr/>
          <p:nvPr/>
        </p:nvSpPr>
        <p:spPr>
          <a:xfrm>
            <a:off x="10680700" y="6344927"/>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22</a:t>
            </a:r>
            <a:endParaRPr sz="1200">
              <a:solidFill>
                <a:schemeClr val="dk1"/>
              </a:solidFill>
              <a:latin typeface="DM Sans"/>
              <a:ea typeface="DM Sans"/>
              <a:cs typeface="DM Sans"/>
              <a:sym typeface="DM Sans"/>
            </a:endParaRPr>
          </a:p>
        </p:txBody>
      </p:sp>
      <p:pic>
        <p:nvPicPr>
          <p:cNvPr id="494" name="Picture 493" descr="synthese_2.png"/>
          <p:cNvPicPr>
            <a:picLocks noChangeAspect="1"/>
          </p:cNvPicPr>
          <p:nvPr/>
        </p:nvPicPr>
        <p:blipFill>
          <a:blip r:embed="rId2"/>
          <a:stretch>
            <a:fillRect/>
          </a:stretch>
        </p:blipFill>
        <p:spPr>
          <a:xfrm>
            <a:off x="694944" y="1682496"/>
            <a:ext cx="10799064" cy="4323155"/>
          </a:xfrm>
          <a:prstGeom prst="rect">
            <a:avLst/>
          </a:prstGeom>
          <a:ln w="9525">
            <a:solidFill>
              <a:srgbClr val="D5DAE8"/>
            </a:solidFill>
          </a:ln>
        </p:spPr>
      </p:pic>
      <p:sp>
        <p:nvSpPr>
          <p:cNvPr id="495" name="Rounded Rectangle 494"/>
          <p:cNvSpPr/>
          <p:nvPr/>
        </p:nvSpPr>
        <p:spPr>
          <a:xfrm>
            <a:off x="694944" y="6053328"/>
            <a:ext cx="329184" cy="201168"/>
          </a:xfrm>
          <a:prstGeom prst="roundRect">
            <a:avLst>
              <a:gd name="adj" fmla="val 27272"/>
            </a:avLst>
          </a:prstGeom>
          <a:solidFill>
            <a:srgbClr val="CDEEE8"/>
          </a:solidFill>
          <a:ln w="19050">
            <a:solidFill>
              <a:srgbClr val="2E9C87"/>
            </a:solidFill>
          </a:ln>
        </p:spPr>
        <p:txBody>
          <a:bodyPr rtlCol="0" anchor="ctr"/>
          <a:lstStyle/>
          <a:p>
            <a:pPr algn="ctr"/>
          </a:p>
        </p:txBody>
      </p:sp>
      <p:sp>
        <p:nvSpPr>
          <p:cNvPr id="496" name="TextBox 495"/>
          <p:cNvSpPr txBox="1"/>
          <p:nvPr/>
        </p:nvSpPr>
        <p:spPr>
          <a:xfrm>
            <a:off x="1115568" y="6044184"/>
            <a:ext cx="210312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automatique (calcul)</a:t>
            </a:r>
          </a:p>
        </p:txBody>
      </p:sp>
      <p:sp>
        <p:nvSpPr>
          <p:cNvPr id="497" name="Rounded Rectangle 496"/>
          <p:cNvSpPr/>
          <p:nvPr/>
        </p:nvSpPr>
        <p:spPr>
          <a:xfrm>
            <a:off x="3438144" y="6053328"/>
            <a:ext cx="329184" cy="201168"/>
          </a:xfrm>
          <a:prstGeom prst="roundRect">
            <a:avLst>
              <a:gd name="adj" fmla="val 27272"/>
            </a:avLst>
          </a:prstGeom>
          <a:solidFill>
            <a:srgbClr val="E2D9F3"/>
          </a:solidFill>
          <a:ln w="19050">
            <a:solidFill>
              <a:srgbClr val="6B3FA0"/>
            </a:solidFill>
          </a:ln>
        </p:spPr>
        <p:txBody>
          <a:bodyPr rtlCol="0" anchor="ctr"/>
          <a:lstStyle/>
          <a:p>
            <a:pPr algn="ctr"/>
          </a:p>
        </p:txBody>
      </p:sp>
      <p:sp>
        <p:nvSpPr>
          <p:cNvPr id="498" name="TextBox 497"/>
          <p:cNvSpPr txBox="1"/>
          <p:nvPr/>
        </p:nvSpPr>
        <p:spPr>
          <a:xfrm>
            <a:off x="3858768" y="6044184"/>
            <a:ext cx="292608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Tâche manuelle (saisie ou décision)</a:t>
            </a:r>
          </a:p>
        </p:txBody>
      </p:sp>
      <p:sp>
        <p:nvSpPr>
          <p:cNvPr id="499" name="Diamond 498"/>
          <p:cNvSpPr/>
          <p:nvPr/>
        </p:nvSpPr>
        <p:spPr>
          <a:xfrm>
            <a:off x="7013448" y="6025896"/>
            <a:ext cx="256032" cy="256032"/>
          </a:xfrm>
          <a:prstGeom prst="diamond">
            <a:avLst/>
          </a:prstGeom>
          <a:solidFill>
            <a:srgbClr val="E3F0FC"/>
          </a:solidFill>
          <a:ln w="19050">
            <a:solidFill>
              <a:srgbClr val="2F7FC4"/>
            </a:solidFill>
          </a:ln>
          <a:effectLst/>
        </p:spPr>
        <p:txBody>
          <a:bodyPr rtlCol="0" anchor="ctr"/>
          <a:lstStyle/>
          <a:p>
            <a:pPr algn="ctr"/>
          </a:p>
        </p:txBody>
      </p:sp>
      <p:sp>
        <p:nvSpPr>
          <p:cNvPr id="500" name="TextBox 499"/>
          <p:cNvSpPr txBox="1"/>
          <p:nvPr/>
        </p:nvSpPr>
        <p:spPr>
          <a:xfrm>
            <a:off x="7379208" y="6044184"/>
            <a:ext cx="182880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Passerelle de décision</a:t>
            </a:r>
          </a:p>
        </p:txBody>
      </p:sp>
      <p:sp>
        <p:nvSpPr>
          <p:cNvPr id="501" name="Oval 500"/>
          <p:cNvSpPr/>
          <p:nvPr/>
        </p:nvSpPr>
        <p:spPr>
          <a:xfrm>
            <a:off x="9244584" y="6044184"/>
            <a:ext cx="219456" cy="219456"/>
          </a:xfrm>
          <a:prstGeom prst="ellipse">
            <a:avLst/>
          </a:prstGeom>
          <a:solidFill>
            <a:srgbClr val="FFFFFF"/>
          </a:solidFill>
          <a:ln w="22225">
            <a:solidFill>
              <a:srgbClr val="1B2A4A"/>
            </a:solidFill>
          </a:ln>
        </p:spPr>
        <p:txBody>
          <a:bodyPr rtlCol="0" anchor="ctr"/>
          <a:lstStyle/>
          <a:p>
            <a:pPr algn="ctr"/>
          </a:p>
        </p:txBody>
      </p:sp>
      <p:sp>
        <p:nvSpPr>
          <p:cNvPr id="502" name="TextBox 501"/>
          <p:cNvSpPr txBox="1"/>
          <p:nvPr/>
        </p:nvSpPr>
        <p:spPr>
          <a:xfrm>
            <a:off x="9555480" y="6044184"/>
            <a:ext cx="1463040" cy="237744"/>
          </a:xfrm>
          <a:prstGeom prst="rect">
            <a:avLst/>
          </a:prstGeom>
          <a:noFill/>
        </p:spPr>
        <p:txBody>
          <a:bodyPr wrap="square" lIns="0" tIns="0" rIns="0" bIns="0" anchor="ctr">
            <a:noAutofit/>
          </a:bodyPr>
          <a:lstStyle/>
          <a:p>
            <a:pPr algn="l">
              <a:lnSpc>
                <a:spcPct val="115000"/>
              </a:lnSpc>
              <a:spcBef>
                <a:spcPts val="0"/>
              </a:spcBef>
              <a:spcAft>
                <a:spcPts val="0"/>
              </a:spcAft>
            </a:pPr>
            <a:r>
              <a:rPr sz="1200" b="0" i="0">
                <a:solidFill>
                  <a:srgbClr val="2B3350"/>
                </a:solidFill>
                <a:latin typeface="DM Sans"/>
              </a:rPr>
              <a:t>Début, minuteur, fin</a:t>
            </a:r>
          </a:p>
        </p:txBody>
      </p:sp>
      <p:sp>
        <p:nvSpPr>
          <p:cNvPr id="503" name="TextBox 502"/>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4. Diagramme BPMN du workflow de Workly (2/2). Source : équipe 15, fichier docs/workflow_workly_synthese_2.bpmn.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pilotage s’inverse : Workly planifie sa nuit, la plateforme la surveille et en rend compte</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294376" cy="3474720"/>
          </a:xfrm>
          <a:prstGeom prst="roundRect">
            <a:avLst>
              <a:gd name="adj" fmla="val 4386"/>
            </a:avLst>
          </a:prstGeom>
          <a:solidFill>
            <a:srgbClr val="FFFFFF"/>
          </a:solidFill>
          <a:ln>
            <a:noFill/>
          </a:ln>
        </p:spPr>
        <p:txBody>
          <a:bodyPr rtlCol="0" anchor="ctr"/>
          <a:lstStyle/>
          <a:p>
            <a:pPr algn="ctr"/>
          </a:p>
        </p:txBody>
      </p:sp>
      <p:sp>
        <p:nvSpPr>
          <p:cNvPr id="114" name="Rectangle 113"/>
          <p:cNvSpPr/>
          <p:nvPr/>
        </p:nvSpPr>
        <p:spPr>
          <a:xfrm>
            <a:off x="694944" y="1773936"/>
            <a:ext cx="5294376" cy="3474720"/>
          </a:xfrm>
          <a:custGeom>
            <a:rect b="b" l="l" r="r" t="t"/>
            <a:pathLst>
              <a:path extrusionOk="0" h="3474720" w="5294376">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15" name="TextBox 114"/>
          <p:cNvSpPr txBox="1"/>
          <p:nvPr/>
        </p:nvSpPr>
        <p:spPr>
          <a:xfrm>
            <a:off x="969264"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7390"/>
                </a:solidFill>
                <a:latin typeface="Sora"/>
              </a:rPr>
              <a:t>AVANT · LIVRABLE 2</a:t>
            </a:r>
          </a:p>
        </p:txBody>
      </p:sp>
      <p:sp>
        <p:nvSpPr>
          <p:cNvPr id="116" name="TextBox 115"/>
          <p:cNvSpPr txBox="1"/>
          <p:nvPr/>
        </p:nvSpPr>
        <p:spPr>
          <a:xfrm>
            <a:off x="969264"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La plateforme pilote chaque étape</a:t>
            </a:r>
          </a:p>
        </p:txBody>
      </p:sp>
      <p:pic>
        <p:nvPicPr>
          <p:cNvPr id="117" name="Picture 116" descr="131.png"/>
          <p:cNvPicPr>
            <a:picLocks noChangeAspect="1"/>
          </p:cNvPicPr>
          <p:nvPr/>
        </p:nvPicPr>
        <p:blipFill>
          <a:blip r:embed="rId3"/>
          <a:stretch>
            <a:fillRect/>
          </a:stretch>
        </p:blipFill>
        <p:spPr>
          <a:xfrm>
            <a:off x="969264" y="2825496"/>
            <a:ext cx="4745736" cy="1972254"/>
          </a:xfrm>
          <a:prstGeom prst="rect">
            <a:avLst/>
          </a:prstGeom>
          <a:ln w="9525">
            <a:solidFill>
              <a:srgbClr val="D5DAE8"/>
            </a:solidFill>
          </a:ln>
        </p:spPr>
      </p:pic>
      <p:sp>
        <p:nvSpPr>
          <p:cNvPr id="118" name="TextBox 117"/>
          <p:cNvSpPr txBox="1"/>
          <p:nvPr/>
        </p:nvSpPr>
        <p:spPr>
          <a:xfrm>
            <a:off x="969264" y="4907478"/>
            <a:ext cx="4754880" cy="27432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6B7390"/>
                </a:solidFill>
                <a:latin typeface="DM Sans"/>
              </a:rPr>
              <a:t>Dix-sept nœuds HTTP, un jeton saisi dans chacun</a:t>
            </a:r>
          </a:p>
        </p:txBody>
      </p:sp>
      <p:sp>
        <p:nvSpPr>
          <p:cNvPr id="119" name="Rounded Rectangle 118"/>
          <p:cNvSpPr/>
          <p:nvPr/>
        </p:nvSpPr>
        <p:spPr>
          <a:xfrm>
            <a:off x="6199632" y="1773936"/>
            <a:ext cx="5294376" cy="3474720"/>
          </a:xfrm>
          <a:prstGeom prst="roundRect">
            <a:avLst>
              <a:gd name="adj" fmla="val 4386"/>
            </a:avLst>
          </a:prstGeom>
          <a:solidFill>
            <a:srgbClr val="FFFFFF"/>
          </a:solidFill>
          <a:ln>
            <a:noFill/>
          </a:ln>
        </p:spPr>
        <p:txBody>
          <a:bodyPr rtlCol="0" anchor="ctr"/>
          <a:lstStyle/>
          <a:p>
            <a:pPr algn="ctr"/>
          </a:p>
        </p:txBody>
      </p:sp>
      <p:sp>
        <p:nvSpPr>
          <p:cNvPr id="120" name="Rectangle 119"/>
          <p:cNvSpPr/>
          <p:nvPr/>
        </p:nvSpPr>
        <p:spPr>
          <a:xfrm>
            <a:off x="6199632" y="1773936"/>
            <a:ext cx="5294376" cy="3474720"/>
          </a:xfrm>
          <a:custGeom>
            <a:rect b="b" l="l" r="r" t="t"/>
            <a:pathLst>
              <a:path extrusionOk="0" h="3474720" w="5294376">
                <a:moveTo>
                  <a:pt x="0" y="152400"/>
                </a:moveTo>
                <a:cubicBezTo>
                  <a:pt x="0" y="68229"/>
                  <a:pt x="68229" y="0"/>
                  <a:pt x="152400" y="0"/>
                </a:cubicBezTo>
                <a:lnTo>
                  <a:pt x="5141976" y="0"/>
                </a:lnTo>
                <a:cubicBezTo>
                  <a:pt x="5226146" y="0"/>
                  <a:pt x="5294376" y="68229"/>
                  <a:pt x="5294376" y="152400"/>
                </a:cubicBezTo>
                <a:cubicBezTo>
                  <a:pt x="5294376" y="103311"/>
                  <a:pt x="5226147" y="63500"/>
                  <a:pt x="5141976"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1" name="TextBox 120"/>
          <p:cNvSpPr txBox="1"/>
          <p:nvPr/>
        </p:nvSpPr>
        <p:spPr>
          <a:xfrm>
            <a:off x="6473952" y="2048256"/>
            <a:ext cx="4754880" cy="237744"/>
          </a:xfrm>
          <a:prstGeom prst="rect">
            <a:avLst/>
          </a:prstGeom>
          <a:noFill/>
        </p:spPr>
        <p:txBody>
          <a:bodyPr wrap="square" lIns="0" tIns="0" rIns="0" bIns="0" anchor="t">
            <a:noAutofit/>
          </a:bodyPr>
          <a:lstStyle/>
          <a:p>
            <a:pPr algn="l">
              <a:lnSpc>
                <a:spcPct val="100000"/>
              </a:lnSpc>
              <a:spcBef>
                <a:spcPts val="0"/>
              </a:spcBef>
              <a:spcAft>
                <a:spcPts val="0"/>
              </a:spcAft>
            </a:pPr>
            <a:r>
              <a:rPr sz="1150" b="1" i="0">
                <a:solidFill>
                  <a:srgbClr val="6B3FA0"/>
                </a:solidFill>
                <a:latin typeface="Sora"/>
              </a:rPr>
              <a:t>MAINTENANT · LIVRABLE 3</a:t>
            </a:r>
          </a:p>
        </p:txBody>
      </p:sp>
      <p:sp>
        <p:nvSpPr>
          <p:cNvPr id="122" name="TextBox 121"/>
          <p:cNvSpPr txBox="1"/>
          <p:nvPr/>
        </p:nvSpPr>
        <p:spPr>
          <a:xfrm>
            <a:off x="6473952" y="2304288"/>
            <a:ext cx="4754880" cy="329184"/>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Workly pilote, la plateforme surveille</a:t>
            </a:r>
          </a:p>
        </p:txBody>
      </p:sp>
      <p:sp>
        <p:nvSpPr>
          <p:cNvPr id="123" name="Rounded Rectangle 122"/>
          <p:cNvSpPr/>
          <p:nvPr/>
        </p:nvSpPr>
        <p:spPr>
          <a:xfrm>
            <a:off x="6473952" y="2907792"/>
            <a:ext cx="1280160" cy="329184"/>
          </a:xfrm>
          <a:prstGeom prst="roundRect">
            <a:avLst>
              <a:gd name="adj" fmla="val 50000"/>
            </a:avLst>
          </a:prstGeom>
          <a:solidFill>
            <a:srgbClr val="6B3FA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FFFFFF"/>
                </a:solidFill>
                <a:latin typeface="DM Sans"/>
              </a:rPr>
              <a:t>Workly</a:t>
            </a:r>
          </a:p>
        </p:txBody>
      </p:sp>
      <p:sp>
        <p:nvSpPr>
          <p:cNvPr id="124" name="TextBox 123"/>
          <p:cNvSpPr txBox="1"/>
          <p:nvPr/>
        </p:nvSpPr>
        <p:spPr>
          <a:xfrm>
            <a:off x="7936992" y="2871216"/>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planificateur intégré : huit étapes enchaînées chaque nuit à 00:30 UTC</a:t>
            </a:r>
          </a:p>
        </p:txBody>
      </p:sp>
      <p:sp>
        <p:nvSpPr>
          <p:cNvPr id="125" name="Rounded Rectangle 124"/>
          <p:cNvSpPr/>
          <p:nvPr/>
        </p:nvSpPr>
        <p:spPr>
          <a:xfrm>
            <a:off x="6473952" y="3675888"/>
            <a:ext cx="1280160" cy="329184"/>
          </a:xfrm>
          <a:prstGeom prst="roundRect">
            <a:avLst>
              <a:gd name="adj" fmla="val 50000"/>
            </a:avLst>
          </a:prstGeom>
          <a:solidFill>
            <a:srgbClr val="4A9BE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Fusion</a:t>
            </a:r>
          </a:p>
        </p:txBody>
      </p:sp>
      <p:sp>
        <p:nvSpPr>
          <p:cNvPr id="126" name="TextBox 125"/>
          <p:cNvSpPr txBox="1"/>
          <p:nvPr/>
        </p:nvSpPr>
        <p:spPr>
          <a:xfrm>
            <a:off x="7936992" y="3639312"/>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un Cron à 06:00 UTC et un nœud HTTP, à la place de dix-sept nœuds</a:t>
            </a:r>
          </a:p>
        </p:txBody>
      </p:sp>
      <p:sp>
        <p:nvSpPr>
          <p:cNvPr id="127" name="Rounded Rectangle 126"/>
          <p:cNvSpPr/>
          <p:nvPr/>
        </p:nvSpPr>
        <p:spPr>
          <a:xfrm>
            <a:off x="6473952" y="4443984"/>
            <a:ext cx="1280160" cy="329184"/>
          </a:xfrm>
          <a:prstGeom prst="roundRect">
            <a:avLst>
              <a:gd name="adj" fmla="val 50000"/>
            </a:avLst>
          </a:prstGeom>
          <a:solidFill>
            <a:srgbClr val="7ACFC0"/>
          </a:solidFill>
          <a:ln>
            <a:noFill/>
          </a:ln>
        </p:spPr>
        <p:txBody>
          <a:bodyPr rtlCol="0" anchor="ctr" wrap="square" lIns="36576" tIns="0" rIns="36576" bIns="0">
            <a:noAutofit/>
          </a:bodyPr>
          <a:lstStyle/>
          <a:p>
            <a:pPr algn="ctr">
              <a:lnSpc>
                <a:spcPct val="100000"/>
              </a:lnSpc>
              <a:spcBef>
                <a:spcPts val="0"/>
              </a:spcBef>
              <a:spcAft>
                <a:spcPts val="0"/>
              </a:spcAft>
            </a:pPr>
            <a:r>
              <a:rPr sz="1250" b="1" i="0">
                <a:solidFill>
                  <a:srgbClr val="1B2A4A"/>
                </a:solidFill>
                <a:latin typeface="DM Sans"/>
              </a:rPr>
              <a:t>Agentic AI</a:t>
            </a:r>
          </a:p>
        </p:txBody>
      </p:sp>
      <p:sp>
        <p:nvSpPr>
          <p:cNvPr id="128" name="TextBox 127"/>
          <p:cNvSpPr txBox="1"/>
          <p:nvPr/>
        </p:nvSpPr>
        <p:spPr>
          <a:xfrm>
            <a:off x="7936992" y="4407408"/>
            <a:ext cx="3337560" cy="640080"/>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deux agents lisent GET /bilan et rédigent le message du matin</a:t>
            </a:r>
          </a:p>
        </p:txBody>
      </p:sp>
      <p:sp>
        <p:nvSpPr>
          <p:cNvPr id="129" name="Rounded Rectangle 128"/>
          <p:cNvSpPr/>
          <p:nvPr/>
        </p:nvSpPr>
        <p:spPr>
          <a:xfrm>
            <a:off x="694944" y="5468112"/>
            <a:ext cx="10799064" cy="694944"/>
          </a:xfrm>
          <a:prstGeom prst="roundRect">
            <a:avLst>
              <a:gd name="adj" fmla="val 15789"/>
            </a:avLst>
          </a:prstGeom>
          <a:solidFill>
            <a:srgbClr val="1B2A4A"/>
          </a:solidFill>
          <a:ln>
            <a:noFill/>
          </a:ln>
        </p:spPr>
        <p:txBody>
          <a:bodyPr rtlCol="0" anchor="ctr"/>
          <a:lstStyle/>
          <a:p>
            <a:pPr algn="ctr"/>
          </a:p>
        </p:txBody>
      </p:sp>
      <p:sp>
        <p:nvSpPr>
          <p:cNvPr id="130" name="TextBox 129"/>
          <p:cNvSpPr txBox="1"/>
          <p:nvPr/>
        </p:nvSpPr>
        <p:spPr>
          <a:xfrm>
            <a:off x="987552" y="5468112"/>
            <a:ext cx="10241280" cy="694944"/>
          </a:xfrm>
          <a:prstGeom prst="rect">
            <a:avLst/>
          </a:prstGeom>
          <a:noFill/>
        </p:spPr>
        <p:txBody>
          <a:bodyPr wrap="square" lIns="0" tIns="0" rIns="0" bIns="0" anchor="ctr">
            <a:noAutofit/>
          </a:bodyPr>
          <a:lstStyle/>
          <a:p>
            <a:pPr algn="l">
              <a:lnSpc>
                <a:spcPct val="115000"/>
              </a:lnSpc>
              <a:spcBef>
                <a:spcPts val="0"/>
              </a:spcBef>
              <a:spcAft>
                <a:spcPts val="0"/>
              </a:spcAft>
            </a:pPr>
            <a:r>
              <a:rPr sz="1600" b="1" i="0">
                <a:solidFill>
                  <a:srgbClr val="7ACFC0"/>
                </a:solidFill>
                <a:latin typeface="DM Sans"/>
              </a:rPr>
              <a:t>Principe retenu : </a:t>
            </a:r>
            <a:r>
              <a:rPr sz="1600" b="0" i="0">
                <a:solidFill>
                  <a:srgbClr val="FFFFFF"/>
                </a:solidFill>
                <a:latin typeface="DM Sans"/>
              </a:rPr>
              <a:t>Workly planifie et exécute ; la plateforme surveille, analyse et prévient l’équipe.</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Capture de gauche : canevas Fusion du livrable 2, dix-sept nœuds HTTP enchaînés par la plateforme.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Une chaîne complète de bout en bout : Cron, flux Agentic AI, deux agents et message Slack</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32</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810512"/>
            <a:ext cx="3840480" cy="1280160"/>
          </a:xfrm>
          <a:prstGeom prst="roundRect">
            <a:avLst>
              <a:gd name="adj" fmla="val 11907"/>
            </a:avLst>
          </a:prstGeom>
          <a:solidFill>
            <a:srgbClr val="24375F"/>
          </a:solidFill>
          <a:ln>
            <a:noFill/>
          </a:ln>
        </p:spPr>
        <p:txBody>
          <a:bodyPr rtlCol="0" anchor="ctr"/>
          <a:lstStyle/>
          <a:p>
            <a:pPr algn="ctr"/>
          </a:p>
        </p:txBody>
      </p:sp>
      <p:sp>
        <p:nvSpPr>
          <p:cNvPr id="253" name="Rounded Rectangle 252"/>
          <p:cNvSpPr/>
          <p:nvPr/>
        </p:nvSpPr>
        <p:spPr>
          <a:xfrm>
            <a:off x="896112" y="2011680"/>
            <a:ext cx="1097280" cy="292608"/>
          </a:xfrm>
          <a:prstGeom prst="roundRect">
            <a:avLst>
              <a:gd name="adj" fmla="val 50000"/>
            </a:avLst>
          </a:prstGeom>
          <a:solidFill>
            <a:srgbClr val="6B3FA0"/>
          </a:solidFill>
          <a:ln>
            <a:noFill/>
          </a:ln>
        </p:spPr>
        <p:txBody>
          <a:bodyPr rtlCol="0" anchor="ctr" wrap="square" lIns="36576" tIns="0" rIns="36576" bIns="0">
            <a:noAutofit/>
          </a:bodyPr>
          <a:lstStyle/>
          <a:p>
            <a:pPr algn="ctr">
              <a:lnSpc>
                <a:spcPct val="100000"/>
              </a:lnSpc>
              <a:spcBef>
                <a:spcPts val="0"/>
              </a:spcBef>
              <a:spcAft>
                <a:spcPts val="0"/>
              </a:spcAft>
            </a:pPr>
            <a:r>
              <a:rPr sz="1200" b="1" i="0">
                <a:solidFill>
                  <a:srgbClr val="FFFFFF"/>
                </a:solidFill>
                <a:latin typeface="DM Sans"/>
              </a:rPr>
              <a:t>00:30 UTC</a:t>
            </a:r>
          </a:p>
        </p:txBody>
      </p:sp>
      <p:sp>
        <p:nvSpPr>
          <p:cNvPr id="254" name="TextBox 253"/>
          <p:cNvSpPr txBox="1"/>
          <p:nvPr/>
        </p:nvSpPr>
        <p:spPr>
          <a:xfrm>
            <a:off x="2139696" y="1956816"/>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Workly exécute les huit étapes de la nuit</a:t>
            </a:r>
          </a:p>
        </p:txBody>
      </p:sp>
      <p:sp>
        <p:nvSpPr>
          <p:cNvPr id="255" name="Rounded Rectangle 254"/>
          <p:cNvSpPr/>
          <p:nvPr/>
        </p:nvSpPr>
        <p:spPr>
          <a:xfrm>
            <a:off x="896112" y="2596896"/>
            <a:ext cx="1097280" cy="292608"/>
          </a:xfrm>
          <a:prstGeom prst="roundRect">
            <a:avLst>
              <a:gd name="adj" fmla="val 50000"/>
            </a:avLst>
          </a:prstGeom>
          <a:solidFill>
            <a:srgbClr val="4A9BE0"/>
          </a:solidFill>
          <a:ln>
            <a:noFill/>
          </a:ln>
        </p:spPr>
        <p:txBody>
          <a:bodyPr rtlCol="0" anchor="ctr" wrap="square" lIns="36576" tIns="0" rIns="36576" bIns="0">
            <a:noAutofit/>
          </a:bodyPr>
          <a:lstStyle/>
          <a:p>
            <a:pPr algn="ctr">
              <a:lnSpc>
                <a:spcPct val="100000"/>
              </a:lnSpc>
              <a:spcBef>
                <a:spcPts val="0"/>
              </a:spcBef>
              <a:spcAft>
                <a:spcPts val="0"/>
              </a:spcAft>
            </a:pPr>
            <a:r>
              <a:rPr sz="1200" b="1" i="0">
                <a:solidFill>
                  <a:srgbClr val="1B2A4A"/>
                </a:solidFill>
                <a:latin typeface="DM Sans"/>
              </a:rPr>
              <a:t>06:00 UTC</a:t>
            </a:r>
          </a:p>
        </p:txBody>
      </p:sp>
      <p:sp>
        <p:nvSpPr>
          <p:cNvPr id="256" name="TextBox 255"/>
          <p:cNvSpPr txBox="1"/>
          <p:nvPr/>
        </p:nvSpPr>
        <p:spPr>
          <a:xfrm>
            <a:off x="2139696" y="2542032"/>
            <a:ext cx="2286000" cy="45720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E4E9F5"/>
                </a:solidFill>
                <a:latin typeface="DM Sans"/>
              </a:rPr>
              <a:t>Fusion déclenche le flux et lit le bilan</a:t>
            </a:r>
          </a:p>
        </p:txBody>
      </p:sp>
      <p:sp>
        <p:nvSpPr>
          <p:cNvPr id="257" name="Rounded Rectangle 256"/>
          <p:cNvSpPr/>
          <p:nvPr/>
        </p:nvSpPr>
        <p:spPr>
          <a:xfrm>
            <a:off x="4809744" y="1810512"/>
            <a:ext cx="1554480" cy="1280160"/>
          </a:xfrm>
          <a:prstGeom prst="roundRect">
            <a:avLst>
              <a:gd name="adj" fmla="val 11907"/>
            </a:avLst>
          </a:prstGeom>
          <a:solidFill>
            <a:srgbClr val="24375F"/>
          </a:solidFill>
          <a:ln>
            <a:noFill/>
          </a:ln>
        </p:spPr>
        <p:txBody>
          <a:bodyPr rtlCol="0" anchor="ctr"/>
          <a:lstStyle/>
          <a:p>
            <a:pPr algn="ctr"/>
          </a:p>
        </p:txBody>
      </p:sp>
      <p:sp>
        <p:nvSpPr>
          <p:cNvPr id="258" name="Rectangle 257"/>
          <p:cNvSpPr/>
          <p:nvPr/>
        </p:nvSpPr>
        <p:spPr>
          <a:xfrm>
            <a:off x="4809744" y="1810512"/>
            <a:ext cx="1554480" cy="1280160"/>
          </a:xfrm>
          <a:custGeom>
            <a:rect b="b" l="l" r="r" t="t"/>
            <a:pathLst>
              <a:path extrusionOk="0" h="128016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9" name="TextBox 258"/>
          <p:cNvSpPr txBox="1"/>
          <p:nvPr/>
        </p:nvSpPr>
        <p:spPr>
          <a:xfrm>
            <a:off x="480974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Cron</a:t>
            </a:r>
          </a:p>
        </p:txBody>
      </p:sp>
      <p:sp>
        <p:nvSpPr>
          <p:cNvPr id="260" name="TextBox 259"/>
          <p:cNvSpPr txBox="1"/>
          <p:nvPr/>
        </p:nvSpPr>
        <p:spPr>
          <a:xfrm>
            <a:off x="4809744" y="2395728"/>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400" b="0" i="0">
                <a:solidFill>
                  <a:srgbClr val="7ACFC0"/>
                </a:solidFill>
                <a:latin typeface="Consolas"/>
              </a:rPr>
              <a:t>0 6 * * *</a:t>
            </a:r>
          </a:p>
        </p:txBody>
      </p:sp>
      <p:sp>
        <p:nvSpPr>
          <p:cNvPr id="261" name="TextBox 260"/>
          <p:cNvSpPr txBox="1"/>
          <p:nvPr/>
        </p:nvSpPr>
        <p:spPr>
          <a:xfrm>
            <a:off x="4809744" y="26974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C9D1E8"/>
                </a:solidFill>
                <a:latin typeface="DM Sans"/>
              </a:rPr>
              <a:t>chaque jour (UTC)</a:t>
            </a:r>
          </a:p>
        </p:txBody>
      </p:sp>
      <p:cxnSp>
        <p:nvCxnSpPr>
          <p:cNvPr id="262" name="Connector 261"/>
          <p:cNvCxnSpPr/>
          <p:nvPr/>
        </p:nvCxnSpPr>
        <p:spPr>
          <a:xfrm>
            <a:off x="6382512" y="2450592"/>
            <a:ext cx="329184" cy="0"/>
          </a:xfrm>
          <a:prstGeom prst="line">
            <a:avLst/>
          </a:prstGeom>
          <a:ln w="22225">
            <a:solidFill>
              <a:srgbClr val="7ACFC0"/>
            </a:solidFill>
            <a:tailEnd type="triangle" w="med" len="med"/>
          </a:ln>
        </p:spPr>
      </p:cxnSp>
      <p:sp>
        <p:nvSpPr>
          <p:cNvPr id="263" name="Rounded Rectangle 262"/>
          <p:cNvSpPr/>
          <p:nvPr/>
        </p:nvSpPr>
        <p:spPr>
          <a:xfrm>
            <a:off x="6729984" y="1810512"/>
            <a:ext cx="1554480" cy="1280160"/>
          </a:xfrm>
          <a:prstGeom prst="roundRect">
            <a:avLst>
              <a:gd name="adj" fmla="val 11907"/>
            </a:avLst>
          </a:prstGeom>
          <a:solidFill>
            <a:srgbClr val="24375F"/>
          </a:solidFill>
          <a:ln>
            <a:noFill/>
          </a:ln>
        </p:spPr>
        <p:txBody>
          <a:bodyPr rtlCol="0" anchor="ctr"/>
          <a:lstStyle/>
          <a:p>
            <a:pPr algn="ctr"/>
          </a:p>
        </p:txBody>
      </p:sp>
      <p:sp>
        <p:nvSpPr>
          <p:cNvPr id="264" name="Rectangle 263"/>
          <p:cNvSpPr/>
          <p:nvPr/>
        </p:nvSpPr>
        <p:spPr>
          <a:xfrm>
            <a:off x="6729984" y="1810512"/>
            <a:ext cx="1554480" cy="1280160"/>
          </a:xfrm>
          <a:custGeom>
            <a:rect b="b" l="l" r="r" t="t"/>
            <a:pathLst>
              <a:path extrusionOk="0" h="1280160" w="1554480">
                <a:moveTo>
                  <a:pt x="0" y="152400"/>
                </a:moveTo>
                <a:cubicBezTo>
                  <a:pt x="0" y="68229"/>
                  <a:pt x="68229" y="0"/>
                  <a:pt x="152400" y="0"/>
                </a:cubicBezTo>
                <a:lnTo>
                  <a:pt x="1402080" y="0"/>
                </a:lnTo>
                <a:cubicBezTo>
                  <a:pt x="1486250" y="0"/>
                  <a:pt x="1554480" y="68229"/>
                  <a:pt x="1554480" y="152400"/>
                </a:cubicBezTo>
                <a:cubicBezTo>
                  <a:pt x="1554480" y="103311"/>
                  <a:pt x="1486251" y="63500"/>
                  <a:pt x="140208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65" name="TextBox 264"/>
          <p:cNvSpPr txBox="1"/>
          <p:nvPr/>
        </p:nvSpPr>
        <p:spPr>
          <a:xfrm>
            <a:off x="6729984" y="2011680"/>
            <a:ext cx="1554480" cy="274320"/>
          </a:xfrm>
          <a:prstGeom prst="rect">
            <a:avLst/>
          </a:prstGeom>
          <a:noFill/>
        </p:spPr>
        <p:txBody>
          <a:bodyPr wrap="square" lIns="0" tIns="0" rIns="0" bIns="0" anchor="t">
            <a:noAutofit/>
          </a:bodyPr>
          <a:lstStyle/>
          <a:p>
            <a:pPr algn="ctr">
              <a:lnSpc>
                <a:spcPct val="115000"/>
              </a:lnSpc>
              <a:spcBef>
                <a:spcPts val="0"/>
              </a:spcBef>
              <a:spcAft>
                <a:spcPts val="0"/>
              </a:spcAft>
            </a:pPr>
            <a:r>
              <a:rPr sz="1600" b="1" i="0">
                <a:solidFill>
                  <a:srgbClr val="FFFFFF"/>
                </a:solidFill>
                <a:latin typeface="Sora"/>
              </a:rPr>
              <a:t>Nœud HTTP</a:t>
            </a:r>
          </a:p>
        </p:txBody>
      </p:sp>
      <p:sp>
        <p:nvSpPr>
          <p:cNvPr id="266" name="TextBox 265"/>
          <p:cNvSpPr txBox="1"/>
          <p:nvPr/>
        </p:nvSpPr>
        <p:spPr>
          <a:xfrm>
            <a:off x="6729984" y="2395728"/>
            <a:ext cx="1554480" cy="457200"/>
          </a:xfrm>
          <a:prstGeom prst="rect">
            <a:avLst/>
          </a:prstGeom>
          <a:noFill/>
        </p:spPr>
        <p:txBody>
          <a:bodyPr wrap="square" lIns="0" tIns="0" rIns="0" bIns="0" anchor="t">
            <a:noAutofit/>
          </a:bodyPr>
          <a:lstStyle/>
          <a:p>
            <a:pPr algn="ctr">
              <a:lnSpc>
                <a:spcPct val="110000"/>
              </a:lnSpc>
              <a:spcBef>
                <a:spcPts val="0"/>
              </a:spcBef>
              <a:spcAft>
                <a:spcPts val="0"/>
              </a:spcAft>
            </a:pPr>
            <a:r>
              <a:rPr sz="1200" b="0" i="0">
                <a:solidFill>
                  <a:srgbClr val="C9D1E8"/>
                </a:solidFill>
                <a:latin typeface="DM Sans"/>
              </a:rPr>
              <a:t>POST sans corps</a:t>
            </a:r>
          </a:p>
          <a:p>
            <a:pPr algn="ctr">
              <a:lnSpc>
                <a:spcPct val="110000"/>
              </a:lnSpc>
              <a:spcBef>
                <a:spcPts val="0"/>
              </a:spcBef>
              <a:spcAft>
                <a:spcPts val="0"/>
              </a:spcAft>
            </a:pPr>
            <a:r>
              <a:rPr sz="1200" b="0" i="0">
                <a:solidFill>
                  <a:srgbClr val="C9D1E8"/>
                </a:solidFill>
                <a:latin typeface="DM Sans"/>
              </a:rPr>
              <a:t>jeton Bearer</a:t>
            </a:r>
          </a:p>
        </p:txBody>
      </p:sp>
      <p:cxnSp>
        <p:nvCxnSpPr>
          <p:cNvPr id="267" name="Connector 266"/>
          <p:cNvCxnSpPr/>
          <p:nvPr/>
        </p:nvCxnSpPr>
        <p:spPr>
          <a:xfrm>
            <a:off x="7507224" y="3108960"/>
            <a:ext cx="0" cy="484632"/>
          </a:xfrm>
          <a:prstGeom prst="line">
            <a:avLst/>
          </a:prstGeom>
          <a:ln w="22225">
            <a:solidFill>
              <a:srgbClr val="7ACFC0"/>
            </a:solidFill>
            <a:tailEnd type="triangle" w="med" len="med"/>
          </a:ln>
        </p:spPr>
      </p:cxnSp>
      <p:sp>
        <p:nvSpPr>
          <p:cNvPr id="268" name="TextBox 267"/>
          <p:cNvSpPr txBox="1"/>
          <p:nvPr/>
        </p:nvSpPr>
        <p:spPr>
          <a:xfrm>
            <a:off x="7635240" y="3200400"/>
            <a:ext cx="173736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C9D1E8"/>
                </a:solidFill>
                <a:latin typeface="DM Sans"/>
              </a:rPr>
              <a:t>lance le flux</a:t>
            </a:r>
          </a:p>
        </p:txBody>
      </p:sp>
      <p:sp>
        <p:nvSpPr>
          <p:cNvPr id="269" name="Rounded Rectangle 268"/>
          <p:cNvSpPr/>
          <p:nvPr/>
        </p:nvSpPr>
        <p:spPr>
          <a:xfrm>
            <a:off x="694944" y="3630168"/>
            <a:ext cx="2926080" cy="2057400"/>
          </a:xfrm>
          <a:prstGeom prst="roundRect">
            <a:avLst>
              <a:gd name="adj" fmla="val 7408"/>
            </a:avLst>
          </a:prstGeom>
          <a:solidFill>
            <a:srgbClr val="24375F"/>
          </a:solidFill>
          <a:ln>
            <a:noFill/>
          </a:ln>
        </p:spPr>
        <p:txBody>
          <a:bodyPr rtlCol="0" anchor="ctr"/>
          <a:lstStyle/>
          <a:p>
            <a:pPr algn="ctr"/>
          </a:p>
        </p:txBody>
      </p:sp>
      <p:sp>
        <p:nvSpPr>
          <p:cNvPr id="270" name="Rectangle 269"/>
          <p:cNvSpPr/>
          <p:nvPr/>
        </p:nvSpPr>
        <p:spPr>
          <a:xfrm>
            <a:off x="694944" y="3630168"/>
            <a:ext cx="2926080" cy="2057400"/>
          </a:xfrm>
          <a:custGeom>
            <a:rect b="b" l="l" r="r" t="t"/>
            <a:pathLst>
              <a:path extrusionOk="0" h="2057400" w="2926080">
                <a:moveTo>
                  <a:pt x="0" y="152400"/>
                </a:moveTo>
                <a:cubicBezTo>
                  <a:pt x="0" y="68229"/>
                  <a:pt x="68229" y="0"/>
                  <a:pt x="152400" y="0"/>
                </a:cubicBezTo>
                <a:lnTo>
                  <a:pt x="2773680" y="0"/>
                </a:lnTo>
                <a:cubicBezTo>
                  <a:pt x="2857850" y="0"/>
                  <a:pt x="2926080" y="68229"/>
                  <a:pt x="2926080" y="152400"/>
                </a:cubicBezTo>
                <a:cubicBezTo>
                  <a:pt x="2926080" y="103311"/>
                  <a:pt x="2857851" y="63500"/>
                  <a:pt x="277368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271" name="TextBox 270"/>
          <p:cNvSpPr txBox="1"/>
          <p:nvPr/>
        </p:nvSpPr>
        <p:spPr>
          <a:xfrm>
            <a:off x="914400" y="3867912"/>
            <a:ext cx="256032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Workly (PC)</a:t>
            </a:r>
          </a:p>
        </p:txBody>
      </p:sp>
      <p:sp>
        <p:nvSpPr>
          <p:cNvPr id="272" name="TextBox 271"/>
          <p:cNvSpPr txBox="1"/>
          <p:nvPr/>
        </p:nvSpPr>
        <p:spPr>
          <a:xfrm>
            <a:off x="914400" y="4343400"/>
            <a:ext cx="256032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Planificateur APScheduler</a:t>
            </a:r>
          </a:p>
          <a:p>
            <a:pPr algn="l">
              <a:lnSpc>
                <a:spcPct val="115000"/>
              </a:lnSpc>
              <a:spcBef>
                <a:spcPts val="0"/>
              </a:spcBef>
              <a:spcAft>
                <a:spcPts val="300"/>
              </a:spcAft>
            </a:pPr>
            <a:r>
              <a:rPr sz="1300" b="0" i="0">
                <a:solidFill>
                  <a:srgbClr val="C9D1E8"/>
                </a:solidFill>
                <a:latin typeface="DM Sans"/>
              </a:rPr>
              <a:t>Journal PostgreSQL</a:t>
            </a:r>
          </a:p>
          <a:p>
            <a:pPr algn="l">
              <a:lnSpc>
                <a:spcPct val="115000"/>
              </a:lnSpc>
              <a:spcBef>
                <a:spcPts val="0"/>
              </a:spcBef>
              <a:spcAft>
                <a:spcPts val="300"/>
              </a:spcAft>
            </a:pPr>
            <a:r>
              <a:rPr sz="1300" b="0" i="0">
                <a:solidFill>
                  <a:srgbClr val="C9D1E8"/>
                </a:solidFill>
                <a:latin typeface="DM Sans"/>
              </a:rPr>
              <a:t>Route GET /bilan</a:t>
            </a:r>
          </a:p>
          <a:p>
            <a:pPr algn="l">
              <a:lnSpc>
                <a:spcPct val="115000"/>
              </a:lnSpc>
              <a:spcBef>
                <a:spcPts val="0"/>
              </a:spcBef>
              <a:spcAft>
                <a:spcPts val="300"/>
              </a:spcAft>
            </a:pPr>
            <a:r>
              <a:rPr sz="1300" b="0" i="0">
                <a:solidFill>
                  <a:srgbClr val="C9D1E8"/>
                </a:solidFill>
                <a:latin typeface="DM Sans"/>
              </a:rPr>
              <a:t>Accès par jeton Bearer</a:t>
            </a:r>
          </a:p>
        </p:txBody>
      </p:sp>
      <p:sp>
        <p:nvSpPr>
          <p:cNvPr id="273" name="Rounded Rectangle 272"/>
          <p:cNvSpPr/>
          <p:nvPr/>
        </p:nvSpPr>
        <p:spPr>
          <a:xfrm>
            <a:off x="4809744" y="3630168"/>
            <a:ext cx="3474720" cy="2057400"/>
          </a:xfrm>
          <a:prstGeom prst="roundRect">
            <a:avLst>
              <a:gd name="adj" fmla="val 7408"/>
            </a:avLst>
          </a:prstGeom>
          <a:solidFill>
            <a:srgbClr val="24375F"/>
          </a:solidFill>
          <a:ln>
            <a:noFill/>
          </a:ln>
        </p:spPr>
        <p:txBody>
          <a:bodyPr rtlCol="0" anchor="ctr"/>
          <a:lstStyle/>
          <a:p>
            <a:pPr algn="ctr"/>
          </a:p>
        </p:txBody>
      </p:sp>
      <p:sp>
        <p:nvSpPr>
          <p:cNvPr id="274" name="Rectangle 273"/>
          <p:cNvSpPr/>
          <p:nvPr/>
        </p:nvSpPr>
        <p:spPr>
          <a:xfrm>
            <a:off x="4809744" y="3630168"/>
            <a:ext cx="3474720" cy="2057400"/>
          </a:xfrm>
          <a:custGeom>
            <a:rect b="b" l="l" r="r" t="t"/>
            <a:pathLst>
              <a:path extrusionOk="0" h="2057400" w="3474720">
                <a:moveTo>
                  <a:pt x="0" y="152400"/>
                </a:moveTo>
                <a:cubicBezTo>
                  <a:pt x="0" y="68229"/>
                  <a:pt x="68229" y="0"/>
                  <a:pt x="152400" y="0"/>
                </a:cubicBezTo>
                <a:lnTo>
                  <a:pt x="3322320" y="0"/>
                </a:lnTo>
                <a:cubicBezTo>
                  <a:pt x="3406490" y="0"/>
                  <a:pt x="3474720" y="68229"/>
                  <a:pt x="3474720" y="152400"/>
                </a:cubicBezTo>
                <a:cubicBezTo>
                  <a:pt x="3474720" y="103311"/>
                  <a:pt x="3406491" y="63500"/>
                  <a:pt x="332232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75" name="TextBox 274"/>
          <p:cNvSpPr txBox="1"/>
          <p:nvPr/>
        </p:nvSpPr>
        <p:spPr>
          <a:xfrm>
            <a:off x="5029200" y="3867912"/>
            <a:ext cx="31089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Flux Agentic AI</a:t>
            </a:r>
          </a:p>
        </p:txBody>
      </p:sp>
      <p:sp>
        <p:nvSpPr>
          <p:cNvPr id="276" name="TextBox 275"/>
          <p:cNvSpPr txBox="1"/>
          <p:nvPr/>
        </p:nvSpPr>
        <p:spPr>
          <a:xfrm>
            <a:off x="5029200" y="4343400"/>
            <a:ext cx="310896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API Request, Parser, Prompt</a:t>
            </a:r>
          </a:p>
          <a:p>
            <a:pPr algn="l">
              <a:lnSpc>
                <a:spcPct val="115000"/>
              </a:lnSpc>
              <a:spcBef>
                <a:spcPts val="0"/>
              </a:spcBef>
              <a:spcAft>
                <a:spcPts val="300"/>
              </a:spcAft>
            </a:pPr>
            <a:r>
              <a:rPr sz="1300" b="0" i="0">
                <a:solidFill>
                  <a:srgbClr val="C9D1E8"/>
                </a:solidFill>
                <a:latin typeface="DM Sans"/>
              </a:rPr>
              <a:t>Agent Analyste : gravité en JSON</a:t>
            </a:r>
          </a:p>
          <a:p>
            <a:pPr algn="l">
              <a:lnSpc>
                <a:spcPct val="115000"/>
              </a:lnSpc>
              <a:spcBef>
                <a:spcPts val="0"/>
              </a:spcBef>
              <a:spcAft>
                <a:spcPts val="300"/>
              </a:spcAft>
            </a:pPr>
            <a:r>
              <a:rPr sz="1300" b="0" i="0">
                <a:solidFill>
                  <a:srgbClr val="C9D1E8"/>
                </a:solidFill>
                <a:latin typeface="DM Sans"/>
              </a:rPr>
              <a:t>Agent Rédacteur : message</a:t>
            </a:r>
          </a:p>
          <a:p>
            <a:pPr algn="l">
              <a:lnSpc>
                <a:spcPct val="115000"/>
              </a:lnSpc>
              <a:spcBef>
                <a:spcPts val="0"/>
              </a:spcBef>
              <a:spcAft>
                <a:spcPts val="300"/>
              </a:spcAft>
            </a:pPr>
            <a:r>
              <a:rPr sz="1300" b="0" i="0">
                <a:solidFill>
                  <a:srgbClr val="C9D1E8"/>
                </a:solidFill>
                <a:latin typeface="DM Sans"/>
              </a:rPr>
              <a:t>API Request : webhook Slack</a:t>
            </a:r>
          </a:p>
        </p:txBody>
      </p:sp>
      <p:sp>
        <p:nvSpPr>
          <p:cNvPr id="277" name="Rounded Rectangle 276"/>
          <p:cNvSpPr/>
          <p:nvPr/>
        </p:nvSpPr>
        <p:spPr>
          <a:xfrm>
            <a:off x="9107424" y="3630168"/>
            <a:ext cx="2386584" cy="2057400"/>
          </a:xfrm>
          <a:prstGeom prst="roundRect">
            <a:avLst>
              <a:gd name="adj" fmla="val 7408"/>
            </a:avLst>
          </a:prstGeom>
          <a:solidFill>
            <a:srgbClr val="24375F"/>
          </a:solidFill>
          <a:ln>
            <a:noFill/>
          </a:ln>
        </p:spPr>
        <p:txBody>
          <a:bodyPr rtlCol="0" anchor="ctr"/>
          <a:lstStyle/>
          <a:p>
            <a:pPr algn="ctr"/>
          </a:p>
        </p:txBody>
      </p:sp>
      <p:sp>
        <p:nvSpPr>
          <p:cNvPr id="278" name="Rectangle 277"/>
          <p:cNvSpPr/>
          <p:nvPr/>
        </p:nvSpPr>
        <p:spPr>
          <a:xfrm>
            <a:off x="9107424" y="3630168"/>
            <a:ext cx="2386584" cy="2057400"/>
          </a:xfrm>
          <a:custGeom>
            <a:rect b="b" l="l" r="r" t="t"/>
            <a:pathLst>
              <a:path extrusionOk="0" h="2057400" w="2386584">
                <a:moveTo>
                  <a:pt x="0" y="152400"/>
                </a:moveTo>
                <a:cubicBezTo>
                  <a:pt x="0" y="68229"/>
                  <a:pt x="68229" y="0"/>
                  <a:pt x="152400" y="0"/>
                </a:cubicBezTo>
                <a:lnTo>
                  <a:pt x="2234184" y="0"/>
                </a:lnTo>
                <a:cubicBezTo>
                  <a:pt x="2318354" y="0"/>
                  <a:pt x="2386584" y="68229"/>
                  <a:pt x="2386584" y="152400"/>
                </a:cubicBezTo>
                <a:cubicBezTo>
                  <a:pt x="2386584" y="103311"/>
                  <a:pt x="2318355" y="63500"/>
                  <a:pt x="2234184"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79" name="TextBox 278"/>
          <p:cNvSpPr txBox="1"/>
          <p:nvPr/>
        </p:nvSpPr>
        <p:spPr>
          <a:xfrm>
            <a:off x="9326880" y="3867912"/>
            <a:ext cx="201168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Slack</a:t>
            </a:r>
          </a:p>
        </p:txBody>
      </p:sp>
      <p:sp>
        <p:nvSpPr>
          <p:cNvPr id="280" name="TextBox 279"/>
          <p:cNvSpPr txBox="1"/>
          <p:nvPr/>
        </p:nvSpPr>
        <p:spPr>
          <a:xfrm>
            <a:off x="9326880" y="4343400"/>
            <a:ext cx="2057400" cy="1234440"/>
          </a:xfrm>
          <a:prstGeom prst="rect">
            <a:avLst/>
          </a:prstGeom>
          <a:noFill/>
        </p:spPr>
        <p:txBody>
          <a:bodyPr wrap="square" lIns="0" tIns="0" rIns="0" bIns="0" anchor="t">
            <a:noAutofit/>
          </a:bodyPr>
          <a:lstStyle/>
          <a:p>
            <a:pPr algn="l">
              <a:lnSpc>
                <a:spcPct val="115000"/>
              </a:lnSpc>
              <a:spcBef>
                <a:spcPts val="0"/>
              </a:spcBef>
              <a:spcAft>
                <a:spcPts val="300"/>
              </a:spcAft>
            </a:pPr>
            <a:r>
              <a:rPr sz="1300" b="0" i="0">
                <a:solidFill>
                  <a:srgbClr val="C9D1E8"/>
                </a:solidFill>
                <a:latin typeface="DM Sans"/>
              </a:rPr>
              <a:t>Webhook entrant</a:t>
            </a:r>
          </a:p>
          <a:p>
            <a:pPr algn="l">
              <a:lnSpc>
                <a:spcPct val="115000"/>
              </a:lnSpc>
              <a:spcBef>
                <a:spcPts val="0"/>
              </a:spcBef>
              <a:spcAft>
                <a:spcPts val="300"/>
              </a:spcAft>
            </a:pPr>
            <a:r>
              <a:rPr sz="1300" b="0" i="0">
                <a:solidFill>
                  <a:srgbClr val="C9D1E8"/>
                </a:solidFill>
                <a:latin typeface="DM Sans"/>
              </a:rPr>
              <a:t>Canal dédié à l’équipe</a:t>
            </a:r>
          </a:p>
          <a:p>
            <a:pPr algn="l">
              <a:lnSpc>
                <a:spcPct val="115000"/>
              </a:lnSpc>
              <a:spcBef>
                <a:spcPts val="0"/>
              </a:spcBef>
              <a:spcAft>
                <a:spcPts val="300"/>
              </a:spcAft>
            </a:pPr>
            <a:r>
              <a:rPr sz="1300" b="0" i="0">
                <a:solidFill>
                  <a:srgbClr val="C9D1E8"/>
                </a:solidFill>
                <a:latin typeface="DM Sans"/>
              </a:rPr>
              <a:t>Un message par matin</a:t>
            </a:r>
          </a:p>
        </p:txBody>
      </p:sp>
      <p:cxnSp>
        <p:nvCxnSpPr>
          <p:cNvPr id="281" name="Connector 280"/>
          <p:cNvCxnSpPr/>
          <p:nvPr/>
        </p:nvCxnSpPr>
        <p:spPr>
          <a:xfrm flipH="1">
            <a:off x="3657600" y="4288536"/>
            <a:ext cx="1115568" cy="0"/>
          </a:xfrm>
          <a:prstGeom prst="line">
            <a:avLst/>
          </a:prstGeom>
          <a:ln w="22225">
            <a:solidFill>
              <a:srgbClr val="7ACFC0"/>
            </a:solidFill>
            <a:tailEnd type="triangle" w="med" len="med"/>
          </a:ln>
        </p:spPr>
      </p:cxnSp>
      <p:sp>
        <p:nvSpPr>
          <p:cNvPr id="282" name="TextBox 281"/>
          <p:cNvSpPr txBox="1"/>
          <p:nvPr/>
        </p:nvSpPr>
        <p:spPr>
          <a:xfrm>
            <a:off x="3657600" y="3977640"/>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GET /bilan</a:t>
            </a:r>
          </a:p>
        </p:txBody>
      </p:sp>
      <p:sp>
        <p:nvSpPr>
          <p:cNvPr id="283" name="Rounded Rectangle 282"/>
          <p:cNvSpPr/>
          <p:nvPr/>
        </p:nvSpPr>
        <p:spPr>
          <a:xfrm>
            <a:off x="3703320" y="4544568"/>
            <a:ext cx="1024128" cy="274320"/>
          </a:xfrm>
          <a:prstGeom prst="roundRect">
            <a:avLst>
              <a:gd name="adj" fmla="val 50000"/>
            </a:avLst>
          </a:prstGeom>
          <a:solidFill>
            <a:srgbClr val="142040"/>
          </a:solidFill>
          <a:ln>
            <a:noFill/>
          </a:ln>
        </p:spPr>
        <p:txBody>
          <a:bodyPr rtlCol="0" anchor="ctr" wrap="square" lIns="36576" tIns="0" rIns="36576" bIns="0">
            <a:noAutofit/>
          </a:bodyPr>
          <a:lstStyle/>
          <a:p>
            <a:pPr algn="ctr">
              <a:lnSpc>
                <a:spcPct val="100000"/>
              </a:lnSpc>
              <a:spcBef>
                <a:spcPts val="0"/>
              </a:spcBef>
              <a:spcAft>
                <a:spcPts val="0"/>
              </a:spcAft>
            </a:pPr>
            <a:r>
              <a:rPr sz="1050" b="1" i="0">
                <a:solidFill>
                  <a:srgbClr val="C9D1E8"/>
                </a:solidFill>
                <a:latin typeface="DM Sans"/>
              </a:rPr>
              <a:t>tunnel ngrok</a:t>
            </a:r>
          </a:p>
        </p:txBody>
      </p:sp>
      <p:cxnSp>
        <p:nvCxnSpPr>
          <p:cNvPr id="284" name="Connector 283"/>
          <p:cNvCxnSpPr/>
          <p:nvPr/>
        </p:nvCxnSpPr>
        <p:spPr>
          <a:xfrm>
            <a:off x="3657600" y="5074920"/>
            <a:ext cx="1115568" cy="0"/>
          </a:xfrm>
          <a:prstGeom prst="line">
            <a:avLst/>
          </a:prstGeom>
          <a:ln w="22225">
            <a:solidFill>
              <a:srgbClr val="7ACFC0"/>
            </a:solidFill>
            <a:tailEnd type="triangle" w="med" len="med"/>
          </a:ln>
        </p:spPr>
      </p:cxnSp>
      <p:sp>
        <p:nvSpPr>
          <p:cNvPr id="285" name="TextBox 284"/>
          <p:cNvSpPr txBox="1"/>
          <p:nvPr/>
        </p:nvSpPr>
        <p:spPr>
          <a:xfrm>
            <a:off x="3657600" y="5148072"/>
            <a:ext cx="1115568"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bilan JSON</a:t>
            </a:r>
          </a:p>
        </p:txBody>
      </p:sp>
      <p:cxnSp>
        <p:nvCxnSpPr>
          <p:cNvPr id="286" name="Connector 285"/>
          <p:cNvCxnSpPr/>
          <p:nvPr/>
        </p:nvCxnSpPr>
        <p:spPr>
          <a:xfrm>
            <a:off x="8321040" y="4681728"/>
            <a:ext cx="749808" cy="0"/>
          </a:xfrm>
          <a:prstGeom prst="line">
            <a:avLst/>
          </a:prstGeom>
          <a:ln w="22225">
            <a:solidFill>
              <a:srgbClr val="7ACFC0"/>
            </a:solidFill>
            <a:tailEnd type="triangle" w="med" len="med"/>
          </a:ln>
        </p:spPr>
      </p:cxnSp>
      <p:sp>
        <p:nvSpPr>
          <p:cNvPr id="287" name="TextBox 286"/>
          <p:cNvSpPr txBox="1"/>
          <p:nvPr/>
        </p:nvSpPr>
        <p:spPr>
          <a:xfrm>
            <a:off x="8284464" y="4361688"/>
            <a:ext cx="822960" cy="256032"/>
          </a:xfrm>
          <a:prstGeom prst="rect">
            <a:avLst/>
          </a:prstGeom>
          <a:noFill/>
        </p:spPr>
        <p:txBody>
          <a:bodyPr wrap="square" lIns="0" tIns="0" rIns="0" bIns="0" anchor="t">
            <a:noAutofit/>
          </a:bodyPr>
          <a:lstStyle/>
          <a:p>
            <a:pPr algn="ctr">
              <a:lnSpc>
                <a:spcPct val="115000"/>
              </a:lnSpc>
              <a:spcBef>
                <a:spcPts val="0"/>
              </a:spcBef>
              <a:spcAft>
                <a:spcPts val="0"/>
              </a:spcAft>
            </a:pPr>
            <a:r>
              <a:rPr sz="1200" b="0" i="0">
                <a:solidFill>
                  <a:srgbClr val="E4E9F5"/>
                </a:solidFill>
                <a:latin typeface="DM Sans"/>
              </a:rPr>
              <a:t>webhook</a:t>
            </a:r>
          </a:p>
        </p:txBody>
      </p:sp>
      <p:sp>
        <p:nvSpPr>
          <p:cNvPr id="288" name="TextBox 28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Jetons et adresse du webhook : saisis dans les nœuds, jamais montrés dans ces diapositives.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planificateur démarre sans interface graphique et exécute seul la chaîne de nuit</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33</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pic>
        <p:nvPicPr>
          <p:cNvPr id="113" name="Picture 112" descr="terminal.png"/>
          <p:cNvPicPr>
            <a:picLocks noChangeAspect="1"/>
          </p:cNvPicPr>
          <p:nvPr/>
        </p:nvPicPr>
        <p:blipFill>
          <a:blip r:embed="rId3"/>
          <a:stretch>
            <a:fillRect/>
          </a:stretch>
        </p:blipFill>
        <p:spPr>
          <a:xfrm>
            <a:off x="694944" y="1810512"/>
            <a:ext cx="5577840" cy="1327402"/>
          </a:xfrm>
          <a:prstGeom prst="rect">
            <a:avLst/>
          </a:prstGeom>
          <a:ln w="9525">
            <a:solidFill>
              <a:srgbClr val="D5DAE8"/>
            </a:solidFill>
          </a:ln>
        </p:spPr>
      </p:pic>
      <p:sp>
        <p:nvSpPr>
          <p:cNvPr id="114" name="TextBox 113"/>
          <p:cNvSpPr txBox="1"/>
          <p:nvPr/>
        </p:nvSpPr>
        <p:spPr>
          <a:xfrm>
            <a:off x="694944" y="3229354"/>
            <a:ext cx="5577840" cy="274320"/>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Figure 5. Démarrage du planificateur sur le poste de démonstration.</a:t>
            </a:r>
          </a:p>
        </p:txBody>
      </p:sp>
      <p:sp>
        <p:nvSpPr>
          <p:cNvPr id="115" name="Rounded Rectangle 114"/>
          <p:cNvSpPr/>
          <p:nvPr/>
        </p:nvSpPr>
        <p:spPr>
          <a:xfrm>
            <a:off x="694944" y="3686554"/>
            <a:ext cx="5577840" cy="1417320"/>
          </a:xfrm>
          <a:prstGeom prst="roundRect">
            <a:avLst>
              <a:gd name="adj" fmla="val 10754"/>
            </a:avLst>
          </a:prstGeom>
          <a:solidFill>
            <a:srgbClr val="142040"/>
          </a:solidFill>
          <a:ln>
            <a:noFill/>
          </a:ln>
        </p:spPr>
        <p:txBody>
          <a:bodyPr rtlCol="0" anchor="ctr"/>
          <a:lstStyle/>
          <a:p>
            <a:pPr algn="ctr"/>
          </a:p>
        </p:txBody>
      </p:sp>
      <p:sp>
        <p:nvSpPr>
          <p:cNvPr id="116" name="TextBox 115"/>
          <p:cNvSpPr txBox="1"/>
          <p:nvPr/>
        </p:nvSpPr>
        <p:spPr>
          <a:xfrm>
            <a:off x="950976" y="3869434"/>
            <a:ext cx="512064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1" i="0">
                <a:solidFill>
                  <a:srgbClr val="7ACFC0"/>
                </a:solidFill>
                <a:latin typeface="Sora"/>
              </a:rPr>
              <a:t>COMMANDE</a:t>
            </a:r>
          </a:p>
        </p:txBody>
      </p:sp>
      <p:sp>
        <p:nvSpPr>
          <p:cNvPr id="117" name="TextBox 116"/>
          <p:cNvSpPr txBox="1"/>
          <p:nvPr/>
        </p:nvSpPr>
        <p:spPr>
          <a:xfrm>
            <a:off x="950976" y="4189474"/>
            <a:ext cx="5120640" cy="320040"/>
          </a:xfrm>
          <a:prstGeom prst="rect">
            <a:avLst/>
          </a:prstGeom>
          <a:noFill/>
        </p:spPr>
        <p:txBody>
          <a:bodyPr wrap="square" lIns="0" tIns="0" rIns="0" bIns="0" anchor="t">
            <a:noAutofit/>
          </a:bodyPr>
          <a:lstStyle/>
          <a:p>
            <a:pPr algn="l">
              <a:lnSpc>
                <a:spcPct val="115000"/>
              </a:lnSpc>
              <a:spcBef>
                <a:spcPts val="0"/>
              </a:spcBef>
              <a:spcAft>
                <a:spcPts val="0"/>
              </a:spcAft>
            </a:pPr>
            <a:r>
              <a:rPr sz="1600" b="0" i="0">
                <a:solidFill>
                  <a:srgbClr val="FFFFFF"/>
                </a:solidFill>
                <a:latin typeface="Consolas"/>
              </a:rPr>
              <a:t>python -m app.taches planifier</a:t>
            </a:r>
          </a:p>
        </p:txBody>
      </p:sp>
      <p:sp>
        <p:nvSpPr>
          <p:cNvPr id="118" name="TextBox 117"/>
          <p:cNvSpPr txBox="1"/>
          <p:nvPr/>
        </p:nvSpPr>
        <p:spPr>
          <a:xfrm>
            <a:off x="950976" y="4600954"/>
            <a:ext cx="5120640" cy="365760"/>
          </a:xfrm>
          <a:prstGeom prst="rect">
            <a:avLst/>
          </a:prstGeom>
          <a:noFill/>
        </p:spPr>
        <p:txBody>
          <a:bodyPr wrap="square" lIns="0" tIns="0" rIns="0" bIns="0" anchor="t">
            <a:noAutofit/>
          </a:bodyPr>
          <a:lstStyle/>
          <a:p>
            <a:pPr algn="l">
              <a:lnSpc>
                <a:spcPct val="115000"/>
              </a:lnSpc>
              <a:spcBef>
                <a:spcPts val="0"/>
              </a:spcBef>
              <a:spcAft>
                <a:spcPts val="0"/>
              </a:spcAft>
            </a:pPr>
            <a:r>
              <a:rPr sz="1300" b="0" i="0">
                <a:solidFill>
                  <a:srgbClr val="C9D1E8"/>
                </a:solidFill>
                <a:latin typeface="DM Sans"/>
              </a:rPr>
              <a:t>Un seul processus : planificateur et serveur local sur le port 8765.</a:t>
            </a:r>
          </a:p>
        </p:txBody>
      </p:sp>
      <p:sp>
        <p:nvSpPr>
          <p:cNvPr id="119" name="Rounded Rectangle 118"/>
          <p:cNvSpPr/>
          <p:nvPr/>
        </p:nvSpPr>
        <p:spPr>
          <a:xfrm>
            <a:off x="6583680" y="1810512"/>
            <a:ext cx="4910328" cy="1212291"/>
          </a:xfrm>
          <a:prstGeom prst="roundRect">
            <a:avLst>
              <a:gd name="adj" fmla="val 12573"/>
            </a:avLst>
          </a:prstGeom>
          <a:solidFill>
            <a:srgbClr val="FFFFFF"/>
          </a:solidFill>
          <a:ln>
            <a:noFill/>
          </a:ln>
        </p:spPr>
        <p:txBody>
          <a:bodyPr rtlCol="0" anchor="ctr"/>
          <a:lstStyle/>
          <a:p>
            <a:pPr algn="ctr"/>
          </a:p>
        </p:txBody>
      </p:sp>
      <p:sp>
        <p:nvSpPr>
          <p:cNvPr id="120" name="Rectangle 119"/>
          <p:cNvSpPr/>
          <p:nvPr/>
        </p:nvSpPr>
        <p:spPr>
          <a:xfrm>
            <a:off x="6583680" y="1810512"/>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21" name="TextBox 120"/>
          <p:cNvSpPr txBox="1"/>
          <p:nvPr/>
        </p:nvSpPr>
        <p:spPr>
          <a:xfrm>
            <a:off x="6812280" y="2011680"/>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Une chaîne</a:t>
            </a:r>
          </a:p>
        </p:txBody>
      </p:sp>
      <p:sp>
        <p:nvSpPr>
          <p:cNvPr id="122" name="TextBox 121"/>
          <p:cNvSpPr txBox="1"/>
          <p:nvPr/>
        </p:nvSpPr>
        <p:spPr>
          <a:xfrm>
            <a:off x="6812280" y="2359152"/>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Sauvegarde, import, comparaison, KPI, alertes, prévisions et rapport, dans l’ordre des dépendances.</a:t>
            </a:r>
          </a:p>
        </p:txBody>
      </p:sp>
      <p:sp>
        <p:nvSpPr>
          <p:cNvPr id="123" name="Rounded Rectangle 122"/>
          <p:cNvSpPr/>
          <p:nvPr/>
        </p:nvSpPr>
        <p:spPr>
          <a:xfrm>
            <a:off x="6583680" y="3187395"/>
            <a:ext cx="4910328" cy="1212291"/>
          </a:xfrm>
          <a:prstGeom prst="roundRect">
            <a:avLst>
              <a:gd name="adj" fmla="val 12573"/>
            </a:avLst>
          </a:prstGeom>
          <a:solidFill>
            <a:srgbClr val="FFFFFF"/>
          </a:solidFill>
          <a:ln>
            <a:noFill/>
          </a:ln>
        </p:spPr>
        <p:txBody>
          <a:bodyPr rtlCol="0" anchor="ctr"/>
          <a:lstStyle/>
          <a:p>
            <a:pPr algn="ctr"/>
          </a:p>
        </p:txBody>
      </p:sp>
      <p:sp>
        <p:nvSpPr>
          <p:cNvPr id="124" name="Rectangle 123"/>
          <p:cNvSpPr/>
          <p:nvPr/>
        </p:nvSpPr>
        <p:spPr>
          <a:xfrm>
            <a:off x="6583680" y="3187395"/>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25" name="TextBox 124"/>
          <p:cNvSpPr txBox="1"/>
          <p:nvPr/>
        </p:nvSpPr>
        <p:spPr>
          <a:xfrm>
            <a:off x="6812280" y="3388563"/>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Heure explicite</a:t>
            </a:r>
          </a:p>
        </p:txBody>
      </p:sp>
      <p:sp>
        <p:nvSpPr>
          <p:cNvPr id="126" name="TextBox 125"/>
          <p:cNvSpPr txBox="1"/>
          <p:nvPr/>
        </p:nvSpPr>
        <p:spPr>
          <a:xfrm>
            <a:off x="6812280" y="3736035"/>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00:30 UTC quel que soit le fuseau du PC ; le terminal affiche l’heure du PC et l’heure UTC.</a:t>
            </a:r>
          </a:p>
        </p:txBody>
      </p:sp>
      <p:sp>
        <p:nvSpPr>
          <p:cNvPr id="127" name="Rounded Rectangle 126"/>
          <p:cNvSpPr/>
          <p:nvPr/>
        </p:nvSpPr>
        <p:spPr>
          <a:xfrm>
            <a:off x="6583680" y="4564278"/>
            <a:ext cx="4910328" cy="1212291"/>
          </a:xfrm>
          <a:prstGeom prst="roundRect">
            <a:avLst>
              <a:gd name="adj" fmla="val 12573"/>
            </a:avLst>
          </a:prstGeom>
          <a:solidFill>
            <a:srgbClr val="FFFFFF"/>
          </a:solidFill>
          <a:ln>
            <a:noFill/>
          </a:ln>
        </p:spPr>
        <p:txBody>
          <a:bodyPr rtlCol="0" anchor="ctr"/>
          <a:lstStyle/>
          <a:p>
            <a:pPr algn="ctr"/>
          </a:p>
        </p:txBody>
      </p:sp>
      <p:sp>
        <p:nvSpPr>
          <p:cNvPr id="128" name="Rectangle 127"/>
          <p:cNvSpPr/>
          <p:nvPr/>
        </p:nvSpPr>
        <p:spPr>
          <a:xfrm>
            <a:off x="6583680" y="4564278"/>
            <a:ext cx="4910328" cy="1212291"/>
          </a:xfrm>
          <a:custGeom>
            <a:rect b="b" l="l" r="r" t="t"/>
            <a:pathLst>
              <a:path extrusionOk="0" h="1212291" w="4910328">
                <a:moveTo>
                  <a:pt x="0" y="152400"/>
                </a:moveTo>
                <a:cubicBezTo>
                  <a:pt x="0" y="68229"/>
                  <a:pt x="68229" y="0"/>
                  <a:pt x="152400" y="0"/>
                </a:cubicBezTo>
                <a:lnTo>
                  <a:pt x="4757928" y="0"/>
                </a:lnTo>
                <a:cubicBezTo>
                  <a:pt x="4842098" y="0"/>
                  <a:pt x="4910328" y="68229"/>
                  <a:pt x="4910328" y="152400"/>
                </a:cubicBezTo>
                <a:cubicBezTo>
                  <a:pt x="4910328" y="103311"/>
                  <a:pt x="4842099" y="63500"/>
                  <a:pt x="475792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9" name="TextBox 128"/>
          <p:cNvSpPr txBox="1"/>
          <p:nvPr/>
        </p:nvSpPr>
        <p:spPr>
          <a:xfrm>
            <a:off x="6812280" y="4765446"/>
            <a:ext cx="4434840" cy="274320"/>
          </a:xfrm>
          <a:prstGeom prst="rect">
            <a:avLst/>
          </a:prstGeom>
          <a:noFill/>
        </p:spPr>
        <p:txBody>
          <a:bodyPr wrap="square" lIns="0" tIns="0" rIns="0" bIns="0" anchor="t">
            <a:noAutofit/>
          </a:bodyPr>
          <a:lstStyle/>
          <a:p>
            <a:pPr algn="l">
              <a:lnSpc>
                <a:spcPct val="115000"/>
              </a:lnSpc>
              <a:spcBef>
                <a:spcPts val="0"/>
              </a:spcBef>
              <a:spcAft>
                <a:spcPts val="0"/>
              </a:spcAft>
            </a:pPr>
            <a:r>
              <a:rPr sz="1500" b="1" i="0">
                <a:solidFill>
                  <a:srgbClr val="1B2A4A"/>
                </a:solidFill>
                <a:latin typeface="Sora"/>
              </a:rPr>
              <a:t>Reprise après veille</a:t>
            </a:r>
          </a:p>
        </p:txBody>
      </p:sp>
      <p:sp>
        <p:nvSpPr>
          <p:cNvPr id="130" name="TextBox 129"/>
          <p:cNvSpPr txBox="1"/>
          <p:nvPr/>
        </p:nvSpPr>
        <p:spPr>
          <a:xfrm>
            <a:off x="6812280" y="5112918"/>
            <a:ext cx="4434840" cy="645363"/>
          </a:xfrm>
          <a:prstGeom prst="rect">
            <a:avLst/>
          </a:prstGeom>
          <a:noFill/>
        </p:spPr>
        <p:txBody>
          <a:bodyPr wrap="square" lIns="0" tIns="0" rIns="0" bIns="0" anchor="t">
            <a:noAutofit/>
          </a:bodyPr>
          <a:lstStyle/>
          <a:p>
            <a:pPr algn="l">
              <a:lnSpc>
                <a:spcPct val="112000"/>
              </a:lnSpc>
              <a:spcBef>
                <a:spcPts val="0"/>
              </a:spcBef>
              <a:spcAft>
                <a:spcPts val="0"/>
              </a:spcAft>
            </a:pPr>
            <a:r>
              <a:rPr sz="1300" b="0" i="0">
                <a:solidFill>
                  <a:srgbClr val="2B3350"/>
                </a:solidFill>
                <a:latin typeface="DM Sans"/>
              </a:rPr>
              <a:t>Si le PC dort à l’heure prévue, la nuit part au réveil (tolérance de 3 h) ; un verrou évite les doublons.</a:t>
            </a:r>
          </a:p>
        </p:txBody>
      </p:sp>
      <p:sp>
        <p:nvSpPr>
          <p:cNvPr id="131" name="TextBox 130"/>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terminal du poste de démonstration, scripts/demarrer_workly.ps1 avec l’option -Planifier.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L’écran Tâches de Workly montre l’état de chaque tâche et ouvre le journal d’exécution</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34</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126480" cy="4224528"/>
          </a:xfrm>
          <a:prstGeom prst="roundRect">
            <a:avLst>
              <a:gd name="adj" fmla="val 2164"/>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capture_workly_taches]</a:t>
            </a:r>
          </a:p>
        </p:txBody>
      </p:sp>
      <p:sp>
        <p:nvSpPr>
          <p:cNvPr id="114" name="Rounded Rectangle 113"/>
          <p:cNvSpPr/>
          <p:nvPr/>
        </p:nvSpPr>
        <p:spPr>
          <a:xfrm>
            <a:off x="7059168" y="1773936"/>
            <a:ext cx="4434840" cy="4224528"/>
          </a:xfrm>
          <a:prstGeom prst="roundRect">
            <a:avLst>
              <a:gd name="adj" fmla="val 3608"/>
            </a:avLst>
          </a:prstGeom>
          <a:solidFill>
            <a:srgbClr val="FFFFFF"/>
          </a:solidFill>
          <a:ln>
            <a:noFill/>
          </a:ln>
        </p:spPr>
        <p:txBody>
          <a:bodyPr rtlCol="0" anchor="ctr"/>
          <a:lstStyle/>
          <a:p>
            <a:pPr algn="ctr"/>
          </a:p>
        </p:txBody>
      </p:sp>
      <p:sp>
        <p:nvSpPr>
          <p:cNvPr id="115" name="Rectangle 114"/>
          <p:cNvSpPr/>
          <p:nvPr/>
        </p:nvSpPr>
        <p:spPr>
          <a:xfrm>
            <a:off x="7059168" y="1773936"/>
            <a:ext cx="4434840" cy="4224528"/>
          </a:xfrm>
          <a:custGeom>
            <a:rect b="b" l="l" r="r" t="t"/>
            <a:pathLst>
              <a:path extrusionOk="0" h="4224528" w="4434840">
                <a:moveTo>
                  <a:pt x="0" y="152400"/>
                </a:moveTo>
                <a:cubicBezTo>
                  <a:pt x="0" y="68229"/>
                  <a:pt x="68229" y="0"/>
                  <a:pt x="152400" y="0"/>
                </a:cubicBezTo>
                <a:lnTo>
                  <a:pt x="4282440" y="0"/>
                </a:lnTo>
                <a:cubicBezTo>
                  <a:pt x="4366610" y="0"/>
                  <a:pt x="4434840" y="68229"/>
                  <a:pt x="4434840" y="152400"/>
                </a:cubicBezTo>
                <a:cubicBezTo>
                  <a:pt x="4434840" y="103311"/>
                  <a:pt x="4366611" y="63500"/>
                  <a:pt x="428244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6" name="TextBox 115"/>
          <p:cNvSpPr txBox="1"/>
          <p:nvPr/>
        </p:nvSpPr>
        <p:spPr>
          <a:xfrm>
            <a:off x="7315200" y="2011680"/>
            <a:ext cx="3931920" cy="310896"/>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Ce que l’écran affiche</a:t>
            </a:r>
          </a:p>
        </p:txBody>
      </p:sp>
      <p:sp>
        <p:nvSpPr>
          <p:cNvPr id="117" name="Rectangle 116"/>
          <p:cNvSpPr/>
          <p:nvPr/>
        </p:nvSpPr>
        <p:spPr>
          <a:xfrm>
            <a:off x="7315200" y="2606040"/>
            <a:ext cx="100584" cy="100584"/>
          </a:xfrm>
          <a:prstGeom prst="rect">
            <a:avLst/>
          </a:prstGeom>
          <a:solidFill>
            <a:srgbClr val="6B3FA0"/>
          </a:solidFill>
          <a:ln>
            <a:noFill/>
          </a:ln>
        </p:spPr>
        <p:txBody>
          <a:bodyPr rtlCol="0" anchor="ctr"/>
          <a:lstStyle/>
          <a:p>
            <a:pPr algn="ctr"/>
          </a:p>
        </p:txBody>
      </p:sp>
      <p:sp>
        <p:nvSpPr>
          <p:cNvPr id="118" name="TextBox 117"/>
          <p:cNvSpPr txBox="1"/>
          <p:nvPr/>
        </p:nvSpPr>
        <p:spPr>
          <a:xfrm>
            <a:off x="7543800" y="2542032"/>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L’étape du pipeline, de P1 à P9</a:t>
            </a:r>
          </a:p>
        </p:txBody>
      </p:sp>
      <p:sp>
        <p:nvSpPr>
          <p:cNvPr id="119" name="Rectangle 118"/>
          <p:cNvSpPr/>
          <p:nvPr/>
        </p:nvSpPr>
        <p:spPr>
          <a:xfrm>
            <a:off x="7315200" y="2983687"/>
            <a:ext cx="100584" cy="100584"/>
          </a:xfrm>
          <a:prstGeom prst="rect">
            <a:avLst/>
          </a:prstGeom>
          <a:solidFill>
            <a:srgbClr val="6B3FA0"/>
          </a:solidFill>
          <a:ln>
            <a:noFill/>
          </a:ln>
        </p:spPr>
        <p:txBody>
          <a:bodyPr rtlCol="0" anchor="ctr"/>
          <a:lstStyle/>
          <a:p>
            <a:pPr algn="ctr"/>
          </a:p>
        </p:txBody>
      </p:sp>
      <p:sp>
        <p:nvSpPr>
          <p:cNvPr id="120" name="TextBox 119"/>
          <p:cNvSpPr txBox="1"/>
          <p:nvPr/>
        </p:nvSpPr>
        <p:spPr>
          <a:xfrm>
            <a:off x="7543800" y="2919679"/>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La dernière et la prochaine exécution</a:t>
            </a:r>
          </a:p>
        </p:txBody>
      </p:sp>
      <p:sp>
        <p:nvSpPr>
          <p:cNvPr id="121" name="Rectangle 120"/>
          <p:cNvSpPr/>
          <p:nvPr/>
        </p:nvSpPr>
        <p:spPr>
          <a:xfrm>
            <a:off x="7315200" y="3361334"/>
            <a:ext cx="100584" cy="100584"/>
          </a:xfrm>
          <a:prstGeom prst="rect">
            <a:avLst/>
          </a:prstGeom>
          <a:solidFill>
            <a:srgbClr val="6B3FA0"/>
          </a:solidFill>
          <a:ln>
            <a:noFill/>
          </a:ln>
        </p:spPr>
        <p:txBody>
          <a:bodyPr rtlCol="0" anchor="ctr"/>
          <a:lstStyle/>
          <a:p>
            <a:pPr algn="ctr"/>
          </a:p>
        </p:txBody>
      </p:sp>
      <p:sp>
        <p:nvSpPr>
          <p:cNvPr id="122" name="TextBox 121"/>
          <p:cNvSpPr txBox="1"/>
          <p:nvPr/>
        </p:nvSpPr>
        <p:spPr>
          <a:xfrm>
            <a:off x="7543800" y="3297326"/>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dernier statut, en vert, rouge ou orange</a:t>
            </a:r>
          </a:p>
        </p:txBody>
      </p:sp>
      <p:sp>
        <p:nvSpPr>
          <p:cNvPr id="123" name="Rectangle 122"/>
          <p:cNvSpPr/>
          <p:nvPr/>
        </p:nvSpPr>
        <p:spPr>
          <a:xfrm>
            <a:off x="7315200" y="3738982"/>
            <a:ext cx="100584" cy="100584"/>
          </a:xfrm>
          <a:prstGeom prst="rect">
            <a:avLst/>
          </a:prstGeom>
          <a:solidFill>
            <a:srgbClr val="6B3FA0"/>
          </a:solidFill>
          <a:ln>
            <a:noFill/>
          </a:ln>
        </p:spPr>
        <p:txBody>
          <a:bodyPr rtlCol="0" anchor="ctr"/>
          <a:lstStyle/>
          <a:p>
            <a:pPr algn="ctr"/>
          </a:p>
        </p:txBody>
      </p:sp>
      <p:sp>
        <p:nvSpPr>
          <p:cNvPr id="124" name="TextBox 123"/>
          <p:cNvSpPr txBox="1"/>
          <p:nvPr/>
        </p:nvSpPr>
        <p:spPr>
          <a:xfrm>
            <a:off x="7543800" y="3674974"/>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Un bouton pour exécuter la tâche choisie</a:t>
            </a:r>
          </a:p>
        </p:txBody>
      </p:sp>
      <p:sp>
        <p:nvSpPr>
          <p:cNvPr id="125" name="Rectangle 124"/>
          <p:cNvSpPr/>
          <p:nvPr/>
        </p:nvSpPr>
        <p:spPr>
          <a:xfrm>
            <a:off x="7315200" y="4116629"/>
            <a:ext cx="100584" cy="100584"/>
          </a:xfrm>
          <a:prstGeom prst="rect">
            <a:avLst/>
          </a:prstGeom>
          <a:solidFill>
            <a:srgbClr val="6B3FA0"/>
          </a:solidFill>
          <a:ln>
            <a:noFill/>
          </a:ln>
        </p:spPr>
        <p:txBody>
          <a:bodyPr rtlCol="0" anchor="ctr"/>
          <a:lstStyle/>
          <a:p>
            <a:pPr algn="ctr"/>
          </a:p>
        </p:txBody>
      </p:sp>
      <p:sp>
        <p:nvSpPr>
          <p:cNvPr id="126" name="TextBox 125"/>
          <p:cNvSpPr txBox="1"/>
          <p:nvPr/>
        </p:nvSpPr>
        <p:spPr>
          <a:xfrm>
            <a:off x="7543800" y="4052621"/>
            <a:ext cx="3703320" cy="249631"/>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2B3350"/>
                </a:solidFill>
                <a:latin typeface="DM Sans"/>
              </a:rPr>
              <a:t>Le journal : tâche, début, fin, statut, message</a:t>
            </a:r>
          </a:p>
        </p:txBody>
      </p:sp>
      <p:sp>
        <p:nvSpPr>
          <p:cNvPr id="127" name="Rounded Rectangle 126"/>
          <p:cNvSpPr/>
          <p:nvPr/>
        </p:nvSpPr>
        <p:spPr>
          <a:xfrm>
            <a:off x="7315200" y="4521708"/>
            <a:ext cx="3931920" cy="777240"/>
          </a:xfrm>
          <a:prstGeom prst="roundRect">
            <a:avLst>
              <a:gd name="adj" fmla="val 11764"/>
            </a:avLst>
          </a:prstGeom>
          <a:solidFill>
            <a:srgbClr val="E2D9F3"/>
          </a:solidFill>
          <a:ln>
            <a:noFill/>
          </a:ln>
        </p:spPr>
        <p:txBody>
          <a:bodyPr rtlCol="0" anchor="ctr"/>
          <a:lstStyle/>
          <a:p>
            <a:pPr algn="ctr"/>
          </a:p>
        </p:txBody>
      </p:sp>
      <p:sp>
        <p:nvSpPr>
          <p:cNvPr id="128" name="TextBox 127"/>
          <p:cNvSpPr txBox="1"/>
          <p:nvPr/>
        </p:nvSpPr>
        <p:spPr>
          <a:xfrm>
            <a:off x="7479792" y="4521708"/>
            <a:ext cx="3611880" cy="777240"/>
          </a:xfrm>
          <a:prstGeom prst="rect">
            <a:avLst/>
          </a:prstGeom>
          <a:noFill/>
        </p:spPr>
        <p:txBody>
          <a:bodyPr wrap="square" lIns="0" tIns="0" rIns="0" bIns="0" anchor="ctr">
            <a:noAutofit/>
          </a:bodyPr>
          <a:lstStyle/>
          <a:p>
            <a:pPr algn="l">
              <a:lnSpc>
                <a:spcPct val="112000"/>
              </a:lnSpc>
              <a:spcBef>
                <a:spcPts val="0"/>
              </a:spcBef>
              <a:spcAft>
                <a:spcPts val="0"/>
              </a:spcAft>
            </a:pPr>
            <a:r>
              <a:rPr sz="1250" b="0" i="0">
                <a:solidFill>
                  <a:srgbClr val="1B2A4A"/>
                </a:solidFill>
                <a:latin typeface="DM Sans"/>
              </a:rPr>
              <a:t>Les exécutions lancées de l’extérieur apparaissent aussi dans ce journal.</a:t>
            </a:r>
          </a:p>
        </p:txBody>
      </p:sp>
      <p:sp>
        <p:nvSpPr>
          <p:cNvPr id="129" name="TextBox 128"/>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6. Application Workly, Administration, onglet Tâches.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La route GET /bilan résume l’état des automatisations en un statut : succès, incomplet ou échec</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35</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graphicFrame>
        <p:nvGraphicFramePr>
          <p:cNvPr id="113" name="Table 112"/>
          <p:cNvGraphicFramePr>
            <a:graphicFrameLocks noGrp="1"/>
          </p:cNvGraphicFramePr>
          <p:nvPr/>
        </p:nvGraphicFramePr>
        <p:xfrm>
          <a:off x="694944" y="1773936"/>
          <a:ext cx="6492240" cy="2660904"/>
        </p:xfrm>
        <a:graphic>
          <a:graphicData uri="http://schemas.openxmlformats.org/drawingml/2006/table">
            <a:tbl>
              <a:tblPr/>
              <a:tblGrid>
                <a:gridCol w="1325880"/>
                <a:gridCol w="3657600"/>
                <a:gridCol w="1508760"/>
              </a:tblGrid>
              <a:tr h="411480">
                <a:tc>
                  <a:txBody>
                    <a:bodyPr wrap="square"/>
                    <a:lstStyle/>
                    <a:p>
                      <a:pPr algn="l">
                        <a:lnSpc>
                          <a:spcPct val="110000"/>
                        </a:lnSpc>
                        <a:spcBef>
                          <a:spcPts val="0"/>
                        </a:spcBef>
                        <a:spcAft>
                          <a:spcPts val="0"/>
                        </a:spcAft>
                      </a:pPr>
                      <a:r>
                        <a:rPr sz="1300" b="1" i="0">
                          <a:solidFill>
                            <a:srgbClr val="FFFFFF"/>
                          </a:solidFill>
                          <a:latin typeface="DM Sans"/>
                        </a:rPr>
                        <a:t>Statut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Règle appliquée par Workly</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Gravité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succes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Aucun échec depuis 24 h et les huit étapes de la nuit réussies depuis 30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ok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incomplet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300" b="0" i="0">
                          <a:solidFill>
                            <a:srgbClr val="2B3350"/>
                          </a:solidFill>
                          <a:latin typeface="DM Sans"/>
                        </a:rPr>
                        <a:t>Une étape de la nuit sans succès depuis 30 h (PC éteint, planificateur arrêté)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300" b="0" i="0">
                          <a:solidFill>
                            <a:srgbClr val="2B3350"/>
                          </a:solidFill>
                          <a:latin typeface="DM Sans"/>
                        </a:rPr>
                        <a:t>attention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49808">
                <a:tc>
                  <a:txBody>
                    <a:bodyPr wrap="square"/>
                    <a:lstStyle/>
                    <a:p>
                      <a:pPr algn="l">
                        <a:lnSpc>
                          <a:spcPct val="110000"/>
                        </a:lnSpc>
                        <a:spcBef>
                          <a:spcPts val="0"/>
                        </a:spcBef>
                        <a:spcAft>
                          <a:spcPts val="0"/>
                        </a:spcAft>
                      </a:pPr>
                      <a:r>
                        <a:rPr sz="1300" b="1" i="0">
                          <a:solidFill>
                            <a:srgbClr val="6B3FA0"/>
                          </a:solidFill>
                          <a:latin typeface="DM Sans"/>
                        </a:rPr>
                        <a:t>echec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Une tâche a échoué depuis moins de 24 h</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300" b="0" i="0">
                          <a:solidFill>
                            <a:srgbClr val="2B3350"/>
                          </a:solidFill>
                          <a:latin typeface="DM Sans"/>
                        </a:rPr>
                        <a:t>critique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bl>
          </a:graphicData>
        </a:graphic>
      </p:graphicFrame>
      <p:sp>
        <p:nvSpPr>
          <p:cNvPr id="114" name="Rounded Rectangle 113"/>
          <p:cNvSpPr/>
          <p:nvPr/>
        </p:nvSpPr>
        <p:spPr>
          <a:xfrm>
            <a:off x="694944" y="4553712"/>
            <a:ext cx="6492240" cy="1627632"/>
          </a:xfrm>
          <a:prstGeom prst="roundRect">
            <a:avLst>
              <a:gd name="adj" fmla="val 6741"/>
            </a:avLst>
          </a:prstGeom>
          <a:solidFill>
            <a:srgbClr val="142040"/>
          </a:solidFill>
          <a:ln>
            <a:noFill/>
          </a:ln>
        </p:spPr>
        <p:txBody>
          <a:bodyPr rtlCol="0" anchor="ctr"/>
          <a:lstStyle/>
          <a:p>
            <a:pPr algn="ctr"/>
          </a:p>
        </p:txBody>
      </p:sp>
      <p:sp>
        <p:nvSpPr>
          <p:cNvPr id="115" name="TextBox 114"/>
          <p:cNvSpPr txBox="1"/>
          <p:nvPr/>
        </p:nvSpPr>
        <p:spPr>
          <a:xfrm>
            <a:off x="932688" y="4663440"/>
            <a:ext cx="6126480" cy="1463040"/>
          </a:xfrm>
          <a:prstGeom prst="rect">
            <a:avLst/>
          </a:prstGeom>
          <a:noFill/>
        </p:spPr>
        <p:txBody>
          <a:bodyPr wrap="square" lIns="0" tIns="0" rIns="0" bIns="0" anchor="t">
            <a:noAutofit/>
          </a:bodyPr>
          <a:lstStyle/>
          <a:p>
            <a:pPr algn="l">
              <a:lnSpc>
                <a:spcPct val="105000"/>
              </a:lnSpc>
              <a:spcBef>
                <a:spcPts val="0"/>
              </a:spcBef>
              <a:spcAft>
                <a:spcPts val="0"/>
              </a:spcAft>
            </a:pPr>
            <a:r>
              <a:rPr sz="1150" b="0" i="0">
                <a:solidFill>
                  <a:srgbClr val="C9D1E8"/>
                </a:solidFill>
                <a:latin typeface="Consolas"/>
              </a:rPr>
              <a:t>{</a:t>
            </a:r>
          </a:p>
          <a:p>
            <a:pPr algn="l">
              <a:lnSpc>
                <a:spcPct val="105000"/>
              </a:lnSpc>
              <a:spcBef>
                <a:spcPts val="0"/>
              </a:spcBef>
              <a:spcAft>
                <a:spcPts val="0"/>
              </a:spcAft>
            </a:pPr>
            <a:r>
              <a:rPr sz="1150" b="0" i="0">
                <a:solidFill>
                  <a:srgbClr val="7ACFC0"/>
                </a:solidFill>
                <a:latin typeface="Consolas"/>
              </a:rPr>
              <a:t>  "statut_global": </a:t>
            </a:r>
            <a:r>
              <a:rPr sz="1150" b="0" i="0">
                <a:solidFill>
                  <a:srgbClr val="FFFFFF"/>
                </a:solidFill>
                <a:latin typeface="Consolas"/>
              </a:rPr>
              <a:t>"succes"</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"nb_echecs_24h": </a:t>
            </a:r>
            <a:r>
              <a:rPr sz="1150" b="0" i="0">
                <a:solidFill>
                  <a:srgbClr val="FFFFFF"/>
                </a:solidFill>
                <a:latin typeface="Consolas"/>
              </a:rPr>
              <a:t>0</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"etapes_nuit_manquantes": </a:t>
            </a:r>
            <a:r>
              <a:rPr sz="1150" b="0" i="0">
                <a:solidFill>
                  <a:srgbClr val="FFFFFF"/>
                </a:solidFill>
                <a:latin typeface="Consolas"/>
              </a:rPr>
              <a:t>[]</a:t>
            </a:r>
            <a:r>
              <a:rPr sz="1150" b="0" i="0">
                <a:solidFill>
                  <a:srgbClr val="FFFFFF"/>
                </a:solidFill>
                <a:latin typeface="Consolas"/>
              </a:rPr>
              <a:t>,</a:t>
            </a:r>
          </a:p>
          <a:p>
            <a:pPr algn="l">
              <a:lnSpc>
                <a:spcPct val="105000"/>
              </a:lnSpc>
              <a:spcBef>
                <a:spcPts val="0"/>
              </a:spcBef>
              <a:spcAft>
                <a:spcPts val="0"/>
              </a:spcAft>
            </a:pPr>
            <a:r>
              <a:rPr sz="1150" b="0" i="0">
                <a:solidFill>
                  <a:srgbClr val="7ACFC0"/>
                </a:solidFill>
                <a:latin typeface="Consolas"/>
              </a:rPr>
              <a:t>  "jamais_executees": </a:t>
            </a:r>
            <a:r>
              <a:rPr sz="1150" b="0" i="0">
                <a:solidFill>
                  <a:srgbClr val="FFFFFF"/>
                </a:solidFill>
                <a:latin typeface="Consolas"/>
              </a:rPr>
              <a:t>["annuel", "capacites_semaine",</a:t>
            </a:r>
          </a:p>
          <a:p>
            <a:pPr algn="l">
              <a:lnSpc>
                <a:spcPct val="105000"/>
              </a:lnSpc>
              <a:spcBef>
                <a:spcPts val="0"/>
              </a:spcBef>
              <a:spcAft>
                <a:spcPts val="0"/>
              </a:spcAft>
            </a:pPr>
            <a:r>
              <a:rPr sz="1150" b="0" i="0">
                <a:solidFill>
                  <a:srgbClr val="FFFFFF"/>
                </a:solidFill>
                <a:latin typeface="Consolas"/>
              </a:rPr>
              <a:t>                       "hebdomadaire", "mensuel"]</a:t>
            </a:r>
          </a:p>
          <a:p>
            <a:pPr algn="l">
              <a:lnSpc>
                <a:spcPct val="105000"/>
              </a:lnSpc>
              <a:spcBef>
                <a:spcPts val="0"/>
              </a:spcBef>
              <a:spcAft>
                <a:spcPts val="0"/>
              </a:spcAft>
            </a:pPr>
            <a:r>
              <a:rPr sz="1150" b="0" i="0">
                <a:solidFill>
                  <a:srgbClr val="C9D1E8"/>
                </a:solidFill>
                <a:latin typeface="Consolas"/>
              </a:rPr>
              <a:t>}</a:t>
            </a:r>
          </a:p>
        </p:txBody>
      </p:sp>
      <p:sp>
        <p:nvSpPr>
          <p:cNvPr id="116" name="Rounded Rectangle 115"/>
          <p:cNvSpPr/>
          <p:nvPr/>
        </p:nvSpPr>
        <p:spPr>
          <a:xfrm>
            <a:off x="7424928" y="1773936"/>
            <a:ext cx="4069080" cy="4407408"/>
          </a:xfrm>
          <a:prstGeom prst="roundRect">
            <a:avLst>
              <a:gd name="adj" fmla="val 3746"/>
            </a:avLst>
          </a:prstGeom>
          <a:solidFill>
            <a:srgbClr val="FFFFFF"/>
          </a:solidFill>
          <a:ln>
            <a:noFill/>
          </a:ln>
        </p:spPr>
        <p:txBody>
          <a:bodyPr rtlCol="0" anchor="ctr"/>
          <a:lstStyle/>
          <a:p>
            <a:pPr algn="ctr"/>
          </a:p>
        </p:txBody>
      </p:sp>
      <p:sp>
        <p:nvSpPr>
          <p:cNvPr id="117" name="Rectangle 116"/>
          <p:cNvSpPr/>
          <p:nvPr/>
        </p:nvSpPr>
        <p:spPr>
          <a:xfrm>
            <a:off x="7424928" y="1773936"/>
            <a:ext cx="4069080" cy="4407408"/>
          </a:xfrm>
          <a:custGeom>
            <a:rect b="b" l="l" r="r" t="t"/>
            <a:pathLst>
              <a:path extrusionOk="0" h="4407408" w="4069080">
                <a:moveTo>
                  <a:pt x="0" y="152400"/>
                </a:moveTo>
                <a:cubicBezTo>
                  <a:pt x="0" y="68229"/>
                  <a:pt x="68229" y="0"/>
                  <a:pt x="152400" y="0"/>
                </a:cubicBezTo>
                <a:lnTo>
                  <a:pt x="3916680" y="0"/>
                </a:lnTo>
                <a:cubicBezTo>
                  <a:pt x="4000850" y="0"/>
                  <a:pt x="4069080" y="68229"/>
                  <a:pt x="4069080" y="152400"/>
                </a:cubicBezTo>
                <a:cubicBezTo>
                  <a:pt x="4069080" y="103311"/>
                  <a:pt x="4000851" y="63500"/>
                  <a:pt x="391668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18" name="TextBox 117"/>
          <p:cNvSpPr txBox="1"/>
          <p:nvPr/>
        </p:nvSpPr>
        <p:spPr>
          <a:xfrm>
            <a:off x="7680960" y="2011680"/>
            <a:ext cx="356616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Nuit du 6 au 7 octobre</a:t>
            </a:r>
          </a:p>
        </p:txBody>
      </p:sp>
      <p:sp>
        <p:nvSpPr>
          <p:cNvPr id="119" name="TextBox 118"/>
          <p:cNvSpPr txBox="1"/>
          <p:nvPr/>
        </p:nvSpPr>
        <p:spPr>
          <a:xfrm>
            <a:off x="7680960" y="2359152"/>
            <a:ext cx="3566160" cy="274320"/>
          </a:xfrm>
          <a:prstGeom prst="rect">
            <a:avLst/>
          </a:prstGeom>
          <a:noFill/>
        </p:spPr>
        <p:txBody>
          <a:bodyPr wrap="square" lIns="0" tIns="0" rIns="0" bIns="0" anchor="t">
            <a:noAutofit/>
          </a:bodyPr>
          <a:lstStyle/>
          <a:p>
            <a:pPr algn="l">
              <a:lnSpc>
                <a:spcPct val="115000"/>
              </a:lnSpc>
              <a:spcBef>
                <a:spcPts val="0"/>
              </a:spcBef>
              <a:spcAft>
                <a:spcPts val="0"/>
              </a:spcAft>
            </a:pPr>
            <a:r>
              <a:rPr sz="1250" b="0" i="0">
                <a:solidFill>
                  <a:srgbClr val="6B7390"/>
                </a:solidFill>
                <a:latin typeface="DM Sans"/>
              </a:rPr>
              <a:t>Mesures lues dans le journal</a:t>
            </a:r>
          </a:p>
        </p:txBody>
      </p:sp>
      <p:sp>
        <p:nvSpPr>
          <p:cNvPr id="120" name="Rounded Rectangle 119"/>
          <p:cNvSpPr/>
          <p:nvPr/>
        </p:nvSpPr>
        <p:spPr>
          <a:xfrm>
            <a:off x="7589520" y="2743200"/>
            <a:ext cx="3739896" cy="420624"/>
          </a:xfrm>
          <a:prstGeom prst="roundRect">
            <a:avLst>
              <a:gd name="adj" fmla="val 17391"/>
            </a:avLst>
          </a:prstGeom>
          <a:solidFill>
            <a:srgbClr val="F4F6FB"/>
          </a:solidFill>
          <a:ln>
            <a:noFill/>
          </a:ln>
        </p:spPr>
        <p:txBody>
          <a:bodyPr rtlCol="0" anchor="ctr"/>
          <a:lstStyle/>
          <a:p>
            <a:pPr algn="ctr"/>
          </a:p>
        </p:txBody>
      </p:sp>
      <p:sp>
        <p:nvSpPr>
          <p:cNvPr id="121" name="TextBox 120"/>
          <p:cNvSpPr txBox="1"/>
          <p:nvPr/>
        </p:nvSpPr>
        <p:spPr>
          <a:xfrm>
            <a:off x="7699248" y="2743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Étapes réussies</a:t>
            </a:r>
          </a:p>
        </p:txBody>
      </p:sp>
      <p:sp>
        <p:nvSpPr>
          <p:cNvPr id="122" name="TextBox 121"/>
          <p:cNvSpPr txBox="1"/>
          <p:nvPr/>
        </p:nvSpPr>
        <p:spPr>
          <a:xfrm>
            <a:off x="9881921" y="2743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8 sur 8</a:t>
            </a:r>
          </a:p>
        </p:txBody>
      </p:sp>
      <p:sp>
        <p:nvSpPr>
          <p:cNvPr id="123" name="TextBox 122"/>
          <p:cNvSpPr txBox="1"/>
          <p:nvPr/>
        </p:nvSpPr>
        <p:spPr>
          <a:xfrm>
            <a:off x="7699248" y="3200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Durée totale</a:t>
            </a:r>
          </a:p>
        </p:txBody>
      </p:sp>
      <p:sp>
        <p:nvSpPr>
          <p:cNvPr id="124" name="TextBox 123"/>
          <p:cNvSpPr txBox="1"/>
          <p:nvPr/>
        </p:nvSpPr>
        <p:spPr>
          <a:xfrm>
            <a:off x="9881921" y="3200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2,1 s</a:t>
            </a:r>
          </a:p>
        </p:txBody>
      </p:sp>
      <p:sp>
        <p:nvSpPr>
          <p:cNvPr id="125" name="Rounded Rectangle 124"/>
          <p:cNvSpPr/>
          <p:nvPr/>
        </p:nvSpPr>
        <p:spPr>
          <a:xfrm>
            <a:off x="7589520" y="3657600"/>
            <a:ext cx="3739896" cy="420624"/>
          </a:xfrm>
          <a:prstGeom prst="roundRect">
            <a:avLst>
              <a:gd name="adj" fmla="val 17391"/>
            </a:avLst>
          </a:prstGeom>
          <a:solidFill>
            <a:srgbClr val="F4F6FB"/>
          </a:solidFill>
          <a:ln>
            <a:noFill/>
          </a:ln>
        </p:spPr>
        <p:txBody>
          <a:bodyPr rtlCol="0" anchor="ctr"/>
          <a:lstStyle/>
          <a:p>
            <a:pPr algn="ctr"/>
          </a:p>
        </p:txBody>
      </p:sp>
      <p:sp>
        <p:nvSpPr>
          <p:cNvPr id="126" name="TextBox 125"/>
          <p:cNvSpPr txBox="1"/>
          <p:nvPr/>
        </p:nvSpPr>
        <p:spPr>
          <a:xfrm>
            <a:off x="7699248" y="36576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Sauvegarde</a:t>
            </a:r>
          </a:p>
        </p:txBody>
      </p:sp>
      <p:sp>
        <p:nvSpPr>
          <p:cNvPr id="127" name="TextBox 126"/>
          <p:cNvSpPr txBox="1"/>
          <p:nvPr/>
        </p:nvSpPr>
        <p:spPr>
          <a:xfrm>
            <a:off x="9881921" y="36576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224 Ko</a:t>
            </a:r>
          </a:p>
        </p:txBody>
      </p:sp>
      <p:sp>
        <p:nvSpPr>
          <p:cNvPr id="128" name="TextBox 127"/>
          <p:cNvSpPr txBox="1"/>
          <p:nvPr/>
        </p:nvSpPr>
        <p:spPr>
          <a:xfrm>
            <a:off x="7699248" y="41148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Prévisions rapprochées</a:t>
            </a:r>
          </a:p>
        </p:txBody>
      </p:sp>
      <p:sp>
        <p:nvSpPr>
          <p:cNvPr id="129" name="TextBox 128"/>
          <p:cNvSpPr txBox="1"/>
          <p:nvPr/>
        </p:nvSpPr>
        <p:spPr>
          <a:xfrm>
            <a:off x="9881921" y="41148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60</a:t>
            </a:r>
          </a:p>
        </p:txBody>
      </p:sp>
      <p:sp>
        <p:nvSpPr>
          <p:cNvPr id="130" name="Rounded Rectangle 129"/>
          <p:cNvSpPr/>
          <p:nvPr/>
        </p:nvSpPr>
        <p:spPr>
          <a:xfrm>
            <a:off x="7589520" y="4572000"/>
            <a:ext cx="3739896" cy="420624"/>
          </a:xfrm>
          <a:prstGeom prst="roundRect">
            <a:avLst>
              <a:gd name="adj" fmla="val 17391"/>
            </a:avLst>
          </a:prstGeom>
          <a:solidFill>
            <a:srgbClr val="F4F6FB"/>
          </a:solidFill>
          <a:ln>
            <a:noFill/>
          </a:ln>
        </p:spPr>
        <p:txBody>
          <a:bodyPr rtlCol="0" anchor="ctr"/>
          <a:lstStyle/>
          <a:p>
            <a:pPr algn="ctr"/>
          </a:p>
        </p:txBody>
      </p:sp>
      <p:sp>
        <p:nvSpPr>
          <p:cNvPr id="131" name="TextBox 130"/>
          <p:cNvSpPr txBox="1"/>
          <p:nvPr/>
        </p:nvSpPr>
        <p:spPr>
          <a:xfrm>
            <a:off x="7699248" y="45720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Valeurs de KPI</a:t>
            </a:r>
          </a:p>
        </p:txBody>
      </p:sp>
      <p:sp>
        <p:nvSpPr>
          <p:cNvPr id="132" name="TextBox 131"/>
          <p:cNvSpPr txBox="1"/>
          <p:nvPr/>
        </p:nvSpPr>
        <p:spPr>
          <a:xfrm>
            <a:off x="9881921" y="45720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34</a:t>
            </a:r>
          </a:p>
        </p:txBody>
      </p:sp>
      <p:sp>
        <p:nvSpPr>
          <p:cNvPr id="133" name="TextBox 132"/>
          <p:cNvSpPr txBox="1"/>
          <p:nvPr/>
        </p:nvSpPr>
        <p:spPr>
          <a:xfrm>
            <a:off x="7699248" y="50292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Alertes de capacité</a:t>
            </a:r>
          </a:p>
        </p:txBody>
      </p:sp>
      <p:sp>
        <p:nvSpPr>
          <p:cNvPr id="134" name="TextBox 133"/>
          <p:cNvSpPr txBox="1"/>
          <p:nvPr/>
        </p:nvSpPr>
        <p:spPr>
          <a:xfrm>
            <a:off x="9881921" y="50292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20</a:t>
            </a:r>
          </a:p>
        </p:txBody>
      </p:sp>
      <p:sp>
        <p:nvSpPr>
          <p:cNvPr id="135" name="Rounded Rectangle 134"/>
          <p:cNvSpPr/>
          <p:nvPr/>
        </p:nvSpPr>
        <p:spPr>
          <a:xfrm>
            <a:off x="7589520" y="5486400"/>
            <a:ext cx="3739896" cy="420624"/>
          </a:xfrm>
          <a:prstGeom prst="roundRect">
            <a:avLst>
              <a:gd name="adj" fmla="val 17391"/>
            </a:avLst>
          </a:prstGeom>
          <a:solidFill>
            <a:srgbClr val="F4F6FB"/>
          </a:solidFill>
          <a:ln>
            <a:noFill/>
          </a:ln>
        </p:spPr>
        <p:txBody>
          <a:bodyPr rtlCol="0" anchor="ctr"/>
          <a:lstStyle/>
          <a:p>
            <a:pPr algn="ctr"/>
          </a:p>
        </p:txBody>
      </p:sp>
      <p:sp>
        <p:nvSpPr>
          <p:cNvPr id="136" name="TextBox 135"/>
          <p:cNvSpPr txBox="1"/>
          <p:nvPr/>
        </p:nvSpPr>
        <p:spPr>
          <a:xfrm>
            <a:off x="7699248" y="5486400"/>
            <a:ext cx="2182673"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Lignes de prévision</a:t>
            </a:r>
          </a:p>
        </p:txBody>
      </p:sp>
      <p:sp>
        <p:nvSpPr>
          <p:cNvPr id="137" name="TextBox 136"/>
          <p:cNvSpPr txBox="1"/>
          <p:nvPr/>
        </p:nvSpPr>
        <p:spPr>
          <a:xfrm>
            <a:off x="9881921" y="5486400"/>
            <a:ext cx="1337767"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144</a:t>
            </a:r>
          </a:p>
        </p:txBody>
      </p:sp>
      <p:sp>
        <p:nvSpPr>
          <p:cNvPr id="138" name="TextBox 13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réponse réelle de GET /bilan, nuit du 6 au 7 octobre 2026 (journal des tâches de Workly).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Le flux Agentic AI lit le bilan, le fait analyser puis rédiger, et l’envoie sur Slack</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36</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Oval 112"/>
          <p:cNvSpPr/>
          <p:nvPr/>
        </p:nvSpPr>
        <p:spPr>
          <a:xfrm>
            <a:off x="694944" y="1874520"/>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114" name="TextBox 113"/>
          <p:cNvSpPr txBox="1"/>
          <p:nvPr/>
        </p:nvSpPr>
        <p:spPr>
          <a:xfrm>
            <a:off x="1197864" y="1773936"/>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a:t>
            </a:r>
            <a:r>
              <a:rPr sz="1300" b="0" i="0">
                <a:solidFill>
                  <a:srgbClr val="2B3350"/>
                </a:solidFill>
                <a:latin typeface="DM Sans"/>
              </a:rPr>
              <a:t> — lit GET /bilan sur l’adresse publique de Workly (en-tête Bearer)</a:t>
            </a:r>
          </a:p>
        </p:txBody>
      </p:sp>
      <p:sp>
        <p:nvSpPr>
          <p:cNvPr id="115" name="Oval 114"/>
          <p:cNvSpPr/>
          <p:nvPr/>
        </p:nvSpPr>
        <p:spPr>
          <a:xfrm>
            <a:off x="694944" y="2496312"/>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116" name="TextBox 115"/>
          <p:cNvSpPr txBox="1"/>
          <p:nvPr/>
        </p:nvSpPr>
        <p:spPr>
          <a:xfrm>
            <a:off x="1197864" y="2395728"/>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Parser</a:t>
            </a:r>
            <a:r>
              <a:rPr sz="1300" b="0" i="0">
                <a:solidFill>
                  <a:srgbClr val="2B3350"/>
                </a:solidFill>
                <a:latin typeface="DM Sans"/>
              </a:rPr>
              <a:t> — convertit la réponse JSON en texte (mode Stringify)</a:t>
            </a:r>
          </a:p>
        </p:txBody>
      </p:sp>
      <p:sp>
        <p:nvSpPr>
          <p:cNvPr id="117" name="Oval 116"/>
          <p:cNvSpPr/>
          <p:nvPr/>
        </p:nvSpPr>
        <p:spPr>
          <a:xfrm>
            <a:off x="694944" y="3118104"/>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118" name="TextBox 117"/>
          <p:cNvSpPr txBox="1"/>
          <p:nvPr/>
        </p:nvSpPr>
        <p:spPr>
          <a:xfrm>
            <a:off x="1197864" y="3017520"/>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Prompt Template</a:t>
            </a:r>
            <a:r>
              <a:rPr sz="1300" b="0" i="0">
                <a:solidFill>
                  <a:srgbClr val="2B3350"/>
                </a:solidFill>
                <a:latin typeface="DM Sans"/>
              </a:rPr>
              <a:t> — insère le bilan dans la consigne grâce à la variable {bilan}</a:t>
            </a:r>
          </a:p>
        </p:txBody>
      </p:sp>
      <p:sp>
        <p:nvSpPr>
          <p:cNvPr id="119" name="Oval 118"/>
          <p:cNvSpPr/>
          <p:nvPr/>
        </p:nvSpPr>
        <p:spPr>
          <a:xfrm>
            <a:off x="694944" y="3739896"/>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4</a:t>
            </a:r>
          </a:p>
        </p:txBody>
      </p:sp>
      <p:sp>
        <p:nvSpPr>
          <p:cNvPr id="120" name="TextBox 119"/>
          <p:cNvSpPr txBox="1"/>
          <p:nvPr/>
        </p:nvSpPr>
        <p:spPr>
          <a:xfrm>
            <a:off x="1197864" y="3639312"/>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Analyste</a:t>
            </a:r>
            <a:r>
              <a:rPr sz="1300" b="0" i="0">
                <a:solidFill>
                  <a:srgbClr val="2B3350"/>
                </a:solidFill>
                <a:latin typeface="DM Sans"/>
              </a:rPr>
              <a:t> — évalue la gravité (ok, attention, critique) et répond en JSON</a:t>
            </a:r>
          </a:p>
        </p:txBody>
      </p:sp>
      <p:sp>
        <p:nvSpPr>
          <p:cNvPr id="121" name="Oval 120"/>
          <p:cNvSpPr/>
          <p:nvPr/>
        </p:nvSpPr>
        <p:spPr>
          <a:xfrm>
            <a:off x="694944" y="4361688"/>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5</a:t>
            </a:r>
          </a:p>
        </p:txBody>
      </p:sp>
      <p:sp>
        <p:nvSpPr>
          <p:cNvPr id="122" name="TextBox 121"/>
          <p:cNvSpPr txBox="1"/>
          <p:nvPr/>
        </p:nvSpPr>
        <p:spPr>
          <a:xfrm>
            <a:off x="1197864" y="4261104"/>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Agent Rédacteur</a:t>
            </a:r>
            <a:r>
              <a:rPr sz="1300" b="0" i="0">
                <a:solidFill>
                  <a:srgbClr val="2B3350"/>
                </a:solidFill>
                <a:latin typeface="DM Sans"/>
              </a:rPr>
              <a:t> — écrit le message du matin, 120 mots au maximum</a:t>
            </a:r>
          </a:p>
        </p:txBody>
      </p:sp>
      <p:sp>
        <p:nvSpPr>
          <p:cNvPr id="123" name="Oval 122"/>
          <p:cNvSpPr/>
          <p:nvPr/>
        </p:nvSpPr>
        <p:spPr>
          <a:xfrm>
            <a:off x="694944" y="4983480"/>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6</a:t>
            </a:r>
          </a:p>
        </p:txBody>
      </p:sp>
      <p:sp>
        <p:nvSpPr>
          <p:cNvPr id="124" name="TextBox 123"/>
          <p:cNvSpPr txBox="1"/>
          <p:nvPr/>
        </p:nvSpPr>
        <p:spPr>
          <a:xfrm>
            <a:off x="1197864" y="4882896"/>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Dynamic Create Data</a:t>
            </a:r>
            <a:r>
              <a:rPr sz="1300" b="0" i="0">
                <a:solidFill>
                  <a:srgbClr val="2B3350"/>
                </a:solidFill>
                <a:latin typeface="DM Sans"/>
              </a:rPr>
              <a:t> — fabrique l’objet {text : message} attendu par Slack</a:t>
            </a:r>
          </a:p>
        </p:txBody>
      </p:sp>
      <p:sp>
        <p:nvSpPr>
          <p:cNvPr id="125" name="Oval 124"/>
          <p:cNvSpPr/>
          <p:nvPr/>
        </p:nvSpPr>
        <p:spPr>
          <a:xfrm>
            <a:off x="694944" y="5605272"/>
            <a:ext cx="365760" cy="365760"/>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7</a:t>
            </a:r>
          </a:p>
        </p:txBody>
      </p:sp>
      <p:sp>
        <p:nvSpPr>
          <p:cNvPr id="126" name="TextBox 125"/>
          <p:cNvSpPr txBox="1"/>
          <p:nvPr/>
        </p:nvSpPr>
        <p:spPr>
          <a:xfrm>
            <a:off x="1197864" y="5504688"/>
            <a:ext cx="4892040" cy="566928"/>
          </a:xfrm>
          <a:prstGeom prst="rect">
            <a:avLst/>
          </a:prstGeom>
          <a:noFill/>
        </p:spPr>
        <p:txBody>
          <a:bodyPr wrap="square" lIns="0" tIns="0" rIns="0" bIns="0" anchor="ctr">
            <a:noAutofit/>
          </a:bodyPr>
          <a:lstStyle/>
          <a:p>
            <a:pPr algn="l">
              <a:lnSpc>
                <a:spcPct val="110000"/>
              </a:lnSpc>
              <a:spcBef>
                <a:spcPts val="0"/>
              </a:spcBef>
              <a:spcAft>
                <a:spcPts val="0"/>
              </a:spcAft>
            </a:pPr>
            <a:r>
              <a:rPr sz="1300" b="1" i="0">
                <a:solidFill>
                  <a:srgbClr val="1B2A4A"/>
                </a:solidFill>
                <a:latin typeface="Sora"/>
              </a:rPr>
              <a:t>API Request Slack</a:t>
            </a:r>
            <a:r>
              <a:rPr sz="1300" b="0" i="0">
                <a:solidFill>
                  <a:srgbClr val="2B3350"/>
                </a:solidFill>
                <a:latin typeface="DM Sans"/>
              </a:rPr>
              <a:t> — envoie le message au webhook ; réponse 200 attendue</a:t>
            </a:r>
          </a:p>
        </p:txBody>
      </p:sp>
      <p:sp>
        <p:nvSpPr>
          <p:cNvPr id="127" name="Rounded Rectangle 126"/>
          <p:cNvSpPr/>
          <p:nvPr/>
        </p:nvSpPr>
        <p:spPr>
          <a:xfrm>
            <a:off x="6400800" y="1773936"/>
            <a:ext cx="5093208" cy="4224528"/>
          </a:xfrm>
          <a:prstGeom prst="roundRect">
            <a:avLst>
              <a:gd name="adj" fmla="val 2164"/>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capture_flux_agentic_ai]</a:t>
            </a:r>
          </a:p>
        </p:txBody>
      </p:sp>
      <p:sp>
        <p:nvSpPr>
          <p:cNvPr id="128" name="TextBox 127"/>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7. Flux Agentic AI du livrable 3. Source : plateforme Fusion AI Automation, module Agentic AI.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Deux agents aux rôles séparés : l’un analyse en JSON, l’autre rédige le message</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37</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120640" cy="2240280"/>
          </a:xfrm>
          <a:prstGeom prst="roundRect">
            <a:avLst>
              <a:gd name="adj" fmla="val 6804"/>
            </a:avLst>
          </a:prstGeom>
          <a:solidFill>
            <a:srgbClr val="24375F"/>
          </a:solidFill>
          <a:ln>
            <a:noFill/>
          </a:ln>
        </p:spPr>
        <p:txBody>
          <a:bodyPr rtlCol="0" anchor="ctr"/>
          <a:lstStyle/>
          <a:p>
            <a:pPr algn="ctr"/>
          </a:p>
        </p:txBody>
      </p:sp>
      <p:sp>
        <p:nvSpPr>
          <p:cNvPr id="253" name="Rectangle 252"/>
          <p:cNvSpPr/>
          <p:nvPr/>
        </p:nvSpPr>
        <p:spPr>
          <a:xfrm>
            <a:off x="694944" y="1773936"/>
            <a:ext cx="5120640" cy="2240280"/>
          </a:xfrm>
          <a:custGeom>
            <a:rect b="b" l="l" r="r" t="t"/>
            <a:pathLst>
              <a:path extrusionOk="0" h="22402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254" name="TextBox 253"/>
          <p:cNvSpPr txBox="1"/>
          <p:nvPr/>
        </p:nvSpPr>
        <p:spPr>
          <a:xfrm>
            <a:off x="932688"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1 · Analyste</a:t>
            </a:r>
          </a:p>
        </p:txBody>
      </p:sp>
      <p:sp>
        <p:nvSpPr>
          <p:cNvPr id="255" name="TextBox 254"/>
          <p:cNvSpPr txBox="1"/>
          <p:nvPr/>
        </p:nvSpPr>
        <p:spPr>
          <a:xfrm>
            <a:off x="932688"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le bilan JSON de Workly</a:t>
            </a:r>
          </a:p>
          <a:p>
            <a:pPr algn="l">
              <a:lnSpc>
                <a:spcPct val="115000"/>
              </a:lnSpc>
              <a:spcBef>
                <a:spcPts val="0"/>
              </a:spcBef>
              <a:spcAft>
                <a:spcPts val="400"/>
              </a:spcAft>
            </a:pPr>
            <a:r>
              <a:rPr sz="1300" b="0" i="0">
                <a:solidFill>
                  <a:srgbClr val="C9D1E8"/>
                </a:solidFill>
                <a:latin typeface="DM Sans"/>
              </a:rPr>
              <a:t>Règle : n’analyse que les données reçues, n’invente rien</a:t>
            </a:r>
          </a:p>
          <a:p>
            <a:pPr algn="l">
              <a:lnSpc>
                <a:spcPct val="115000"/>
              </a:lnSpc>
              <a:spcBef>
                <a:spcPts val="0"/>
              </a:spcBef>
              <a:spcAft>
                <a:spcPts val="400"/>
              </a:spcAft>
            </a:pPr>
            <a:r>
              <a:rPr sz="1300" b="0" i="0">
                <a:solidFill>
                  <a:srgbClr val="C9D1E8"/>
                </a:solidFill>
                <a:latin typeface="DM Sans"/>
              </a:rPr>
              <a:t>Sortie : gravite, resume, problemes</a:t>
            </a:r>
          </a:p>
          <a:p>
            <a:pPr algn="l">
              <a:lnSpc>
                <a:spcPct val="115000"/>
              </a:lnSpc>
              <a:spcBef>
                <a:spcPts val="0"/>
              </a:spcBef>
              <a:spcAft>
                <a:spcPts val="400"/>
              </a:spcAft>
            </a:pPr>
            <a:r>
              <a:rPr sz="1300" b="0" i="0">
                <a:solidFill>
                  <a:srgbClr val="C9D1E8"/>
                </a:solidFill>
                <a:latin typeface="DM Sans"/>
              </a:rPr>
              <a:t>gravite = ok si succes, attention si incomplet, critique si echec</a:t>
            </a:r>
          </a:p>
        </p:txBody>
      </p:sp>
      <p:sp>
        <p:nvSpPr>
          <p:cNvPr id="256" name="Rounded Rectangle 255"/>
          <p:cNvSpPr/>
          <p:nvPr/>
        </p:nvSpPr>
        <p:spPr>
          <a:xfrm>
            <a:off x="6373368" y="1773936"/>
            <a:ext cx="5120640" cy="2240280"/>
          </a:xfrm>
          <a:prstGeom prst="roundRect">
            <a:avLst>
              <a:gd name="adj" fmla="val 6804"/>
            </a:avLst>
          </a:prstGeom>
          <a:solidFill>
            <a:srgbClr val="24375F"/>
          </a:solidFill>
          <a:ln>
            <a:noFill/>
          </a:ln>
        </p:spPr>
        <p:txBody>
          <a:bodyPr rtlCol="0" anchor="ctr"/>
          <a:lstStyle/>
          <a:p>
            <a:pPr algn="ctr"/>
          </a:p>
        </p:txBody>
      </p:sp>
      <p:sp>
        <p:nvSpPr>
          <p:cNvPr id="257" name="Rectangle 256"/>
          <p:cNvSpPr/>
          <p:nvPr/>
        </p:nvSpPr>
        <p:spPr>
          <a:xfrm>
            <a:off x="6373368" y="1773936"/>
            <a:ext cx="5120640" cy="2240280"/>
          </a:xfrm>
          <a:custGeom>
            <a:rect b="b" l="l" r="r" t="t"/>
            <a:pathLst>
              <a:path extrusionOk="0" h="22402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58" name="TextBox 257"/>
          <p:cNvSpPr txBox="1"/>
          <p:nvPr/>
        </p:nvSpPr>
        <p:spPr>
          <a:xfrm>
            <a:off x="6611112" y="1993392"/>
            <a:ext cx="4663440" cy="274320"/>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FFFFFF"/>
                </a:solidFill>
                <a:latin typeface="Sora"/>
              </a:rPr>
              <a:t>Agent 2 · Rédacteur</a:t>
            </a:r>
          </a:p>
        </p:txBody>
      </p:sp>
      <p:sp>
        <p:nvSpPr>
          <p:cNvPr id="259" name="TextBox 258"/>
          <p:cNvSpPr txBox="1"/>
          <p:nvPr/>
        </p:nvSpPr>
        <p:spPr>
          <a:xfrm>
            <a:off x="6611112" y="2432304"/>
            <a:ext cx="4663440" cy="1463040"/>
          </a:xfrm>
          <a:prstGeom prst="rect">
            <a:avLst/>
          </a:prstGeom>
          <a:noFill/>
        </p:spPr>
        <p:txBody>
          <a:bodyPr wrap="square" lIns="0" tIns="0" rIns="0" bIns="0" anchor="t">
            <a:noAutofit/>
          </a:bodyPr>
          <a:lstStyle/>
          <a:p>
            <a:pPr algn="l">
              <a:lnSpc>
                <a:spcPct val="115000"/>
              </a:lnSpc>
              <a:spcBef>
                <a:spcPts val="0"/>
              </a:spcBef>
              <a:spcAft>
                <a:spcPts val="400"/>
              </a:spcAft>
            </a:pPr>
            <a:r>
              <a:rPr sz="1300" b="0" i="0">
                <a:solidFill>
                  <a:srgbClr val="C9D1E8"/>
                </a:solidFill>
                <a:latin typeface="DM Sans"/>
              </a:rPr>
              <a:t>Entrée : l’analyse JSON de l’Analyste</a:t>
            </a:r>
          </a:p>
          <a:p>
            <a:pPr algn="l">
              <a:lnSpc>
                <a:spcPct val="115000"/>
              </a:lnSpc>
              <a:spcBef>
                <a:spcPts val="0"/>
              </a:spcBef>
              <a:spcAft>
                <a:spcPts val="400"/>
              </a:spcAft>
            </a:pPr>
            <a:r>
              <a:rPr sz="1300" b="0" i="0">
                <a:solidFill>
                  <a:srgbClr val="C9D1E8"/>
                </a:solidFill>
                <a:latin typeface="DM Sans"/>
              </a:rPr>
              <a:t>Consigne : français, ton factuel, 120 mots au maximum</a:t>
            </a:r>
          </a:p>
          <a:p>
            <a:pPr algn="l">
              <a:lnSpc>
                <a:spcPct val="115000"/>
              </a:lnSpc>
              <a:spcBef>
                <a:spcPts val="0"/>
              </a:spcBef>
              <a:spcAft>
                <a:spcPts val="400"/>
              </a:spcAft>
            </a:pPr>
            <a:r>
              <a:rPr sz="1300" b="0" i="0">
                <a:solidFill>
                  <a:srgbClr val="C9D1E8"/>
                </a:solidFill>
                <a:latin typeface="DM Sans"/>
              </a:rPr>
              <a:t>Interdit : adresse, jeton, détail technique interne</a:t>
            </a:r>
          </a:p>
          <a:p>
            <a:pPr algn="l">
              <a:lnSpc>
                <a:spcPct val="115000"/>
              </a:lnSpc>
              <a:spcBef>
                <a:spcPts val="0"/>
              </a:spcBef>
              <a:spcAft>
                <a:spcPts val="400"/>
              </a:spcAft>
            </a:pPr>
            <a:r>
              <a:rPr sz="1300" b="0" i="0">
                <a:solidFill>
                  <a:srgbClr val="C9D1E8"/>
                </a:solidFill>
                <a:latin typeface="DM Sans"/>
              </a:rPr>
              <a:t>Sortie : un objet et un corps de message</a:t>
            </a:r>
          </a:p>
        </p:txBody>
      </p:sp>
      <p:cxnSp>
        <p:nvCxnSpPr>
          <p:cNvPr id="260" name="Connector 259"/>
          <p:cNvCxnSpPr/>
          <p:nvPr/>
        </p:nvCxnSpPr>
        <p:spPr>
          <a:xfrm>
            <a:off x="5852160" y="2889504"/>
            <a:ext cx="493776" cy="0"/>
          </a:xfrm>
          <a:prstGeom prst="line">
            <a:avLst/>
          </a:prstGeom>
          <a:ln w="28575">
            <a:solidFill>
              <a:srgbClr val="7ACFC0"/>
            </a:solidFill>
            <a:tailEnd type="triangle" w="med" len="med"/>
          </a:ln>
        </p:spPr>
      </p:cxnSp>
      <p:sp>
        <p:nvSpPr>
          <p:cNvPr id="261" name="Rounded Rectangle 260"/>
          <p:cNvSpPr/>
          <p:nvPr/>
        </p:nvSpPr>
        <p:spPr>
          <a:xfrm>
            <a:off x="694944" y="4224528"/>
            <a:ext cx="5120640" cy="1783080"/>
          </a:xfrm>
          <a:prstGeom prst="roundRect">
            <a:avLst>
              <a:gd name="adj" fmla="val 6153"/>
            </a:avLst>
          </a:prstGeom>
          <a:solidFill>
            <a:srgbClr val="142040"/>
          </a:solidFill>
          <a:ln>
            <a:noFill/>
          </a:ln>
        </p:spPr>
        <p:txBody>
          <a:bodyPr rtlCol="0" anchor="ctr"/>
          <a:lstStyle/>
          <a:p>
            <a:pPr algn="ctr"/>
          </a:p>
        </p:txBody>
      </p:sp>
      <p:sp>
        <p:nvSpPr>
          <p:cNvPr id="262" name="TextBox 261"/>
          <p:cNvSpPr txBox="1"/>
          <p:nvPr/>
        </p:nvSpPr>
        <p:spPr>
          <a:xfrm>
            <a:off x="914400"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SORTIE RÉELLE DE L’ANALYSTE</a:t>
            </a:r>
          </a:p>
        </p:txBody>
      </p:sp>
      <p:sp>
        <p:nvSpPr>
          <p:cNvPr id="263" name="TextBox 262"/>
          <p:cNvSpPr txBox="1"/>
          <p:nvPr/>
        </p:nvSpPr>
        <p:spPr>
          <a:xfrm>
            <a:off x="914400" y="4663440"/>
            <a:ext cx="4709160" cy="1280160"/>
          </a:xfrm>
          <a:prstGeom prst="rect">
            <a:avLst/>
          </a:prstGeom>
          <a:noFill/>
        </p:spPr>
        <p:txBody>
          <a:bodyPr wrap="square" lIns="0" tIns="0" rIns="0" bIns="0" anchor="t">
            <a:noAutofit/>
          </a:bodyPr>
          <a:lstStyle/>
          <a:p>
            <a:pPr algn="l">
              <a:lnSpc>
                <a:spcPct val="105000"/>
              </a:lnSpc>
              <a:spcBef>
                <a:spcPts val="0"/>
              </a:spcBef>
              <a:spcAft>
                <a:spcPts val="0"/>
              </a:spcAft>
            </a:pPr>
            <a:r>
              <a:rPr sz="1100" b="0" i="0">
                <a:solidFill>
                  <a:srgbClr val="7ACFC0"/>
                </a:solidFill>
                <a:latin typeface="Consolas"/>
              </a:rPr>
              <a:t>{ "gravite": </a:t>
            </a:r>
            <a:r>
              <a:rPr sz="1100" b="0" i="0">
                <a:solidFill>
                  <a:srgbClr val="FFFFFF"/>
                </a:solidFill>
                <a:latin typeface="Consolas"/>
              </a:rPr>
              <a:t>"ok"</a:t>
            </a:r>
            <a:r>
              <a:rPr sz="1100" b="0" i="0">
                <a:solidFill>
                  <a:srgbClr val="C9D1E8"/>
                </a:solidFill>
                <a:latin typeface="Consolas"/>
              </a:rPr>
              <a:t>,</a:t>
            </a:r>
          </a:p>
          <a:p>
            <a:pPr algn="l">
              <a:lnSpc>
                <a:spcPct val="105000"/>
              </a:lnSpc>
              <a:spcBef>
                <a:spcPts val="0"/>
              </a:spcBef>
              <a:spcAft>
                <a:spcPts val="0"/>
              </a:spcAft>
            </a:pPr>
            <a:r>
              <a:rPr sz="1100" b="0" i="0">
                <a:solidFill>
                  <a:srgbClr val="7ACFC0"/>
                </a:solidFill>
                <a:latin typeface="Consolas"/>
              </a:rPr>
              <a:t>  "resume": </a:t>
            </a:r>
            <a:r>
              <a:rPr sz="1100" b="0" i="0">
                <a:solidFill>
                  <a:srgbClr val="FFFFFF"/>
                </a:solidFill>
                <a:latin typeface="Consolas"/>
              </a:rPr>
              <a:t>"Toutes les automatisations se sont déroulées avec succès, aucun échec ni étape manquante."</a:t>
            </a:r>
            <a:r>
              <a:rPr sz="1100" b="0" i="0">
                <a:solidFill>
                  <a:srgbClr val="C9D1E8"/>
                </a:solidFill>
                <a:latin typeface="Consolas"/>
              </a:rPr>
              <a:t>,</a:t>
            </a:r>
          </a:p>
          <a:p>
            <a:pPr algn="l">
              <a:lnSpc>
                <a:spcPct val="105000"/>
              </a:lnSpc>
              <a:spcBef>
                <a:spcPts val="0"/>
              </a:spcBef>
              <a:spcAft>
                <a:spcPts val="0"/>
              </a:spcAft>
            </a:pPr>
            <a:r>
              <a:rPr sz="1100" b="0" i="0">
                <a:solidFill>
                  <a:srgbClr val="7ACFC0"/>
                </a:solidFill>
                <a:latin typeface="Consolas"/>
              </a:rPr>
              <a:t>  "problemes": </a:t>
            </a:r>
            <a:r>
              <a:rPr sz="1100" b="0" i="0">
                <a:solidFill>
                  <a:srgbClr val="FFFFFF"/>
                </a:solidFill>
                <a:latin typeface="Consolas"/>
              </a:rPr>
              <a:t>[] }</a:t>
            </a:r>
          </a:p>
        </p:txBody>
      </p:sp>
      <p:sp>
        <p:nvSpPr>
          <p:cNvPr id="264" name="Rounded Rectangle 263"/>
          <p:cNvSpPr/>
          <p:nvPr/>
        </p:nvSpPr>
        <p:spPr>
          <a:xfrm>
            <a:off x="6373368" y="4224528"/>
            <a:ext cx="5120640" cy="1783080"/>
          </a:xfrm>
          <a:prstGeom prst="roundRect">
            <a:avLst>
              <a:gd name="adj" fmla="val 6153"/>
            </a:avLst>
          </a:prstGeom>
          <a:solidFill>
            <a:srgbClr val="142040"/>
          </a:solidFill>
          <a:ln>
            <a:noFill/>
          </a:ln>
        </p:spPr>
        <p:txBody>
          <a:bodyPr rtlCol="0" anchor="ctr"/>
          <a:lstStyle/>
          <a:p>
            <a:pPr algn="ctr"/>
          </a:p>
        </p:txBody>
      </p:sp>
      <p:sp>
        <p:nvSpPr>
          <p:cNvPr id="265" name="TextBox 264"/>
          <p:cNvSpPr txBox="1"/>
          <p:nvPr/>
        </p:nvSpPr>
        <p:spPr>
          <a:xfrm>
            <a:off x="6592824" y="4352544"/>
            <a:ext cx="4754880" cy="228600"/>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7ACFC0"/>
                </a:solidFill>
                <a:latin typeface="Sora"/>
              </a:rPr>
              <a:t>SORTIE RÉELLE DU RÉDACTEUR</a:t>
            </a:r>
          </a:p>
        </p:txBody>
      </p:sp>
      <p:sp>
        <p:nvSpPr>
          <p:cNvPr id="266" name="TextBox 265"/>
          <p:cNvSpPr txBox="1"/>
          <p:nvPr/>
        </p:nvSpPr>
        <p:spPr>
          <a:xfrm>
            <a:off x="6592824" y="4663440"/>
            <a:ext cx="4709160" cy="1280160"/>
          </a:xfrm>
          <a:prstGeom prst="rect">
            <a:avLst/>
          </a:prstGeom>
          <a:noFill/>
        </p:spPr>
        <p:txBody>
          <a:bodyPr wrap="square" lIns="0" tIns="0" rIns="0" bIns="0" anchor="t">
            <a:noAutofit/>
          </a:bodyPr>
          <a:lstStyle/>
          <a:p>
            <a:pPr algn="l">
              <a:lnSpc>
                <a:spcPct val="112000"/>
              </a:lnSpc>
              <a:spcBef>
                <a:spcPts val="0"/>
              </a:spcBef>
              <a:spcAft>
                <a:spcPts val="400"/>
              </a:spcAft>
            </a:pPr>
            <a:r>
              <a:rPr sz="1250" b="1" i="0">
                <a:solidFill>
                  <a:srgbClr val="FFFFFF"/>
                </a:solidFill>
                <a:latin typeface="DM Sans"/>
              </a:rPr>
              <a:t>Objet : Point exploitation – Bilan stable</a:t>
            </a:r>
          </a:p>
          <a:p>
            <a:pPr algn="l">
              <a:lnSpc>
                <a:spcPct val="112000"/>
              </a:lnSpc>
              <a:spcBef>
                <a:spcPts val="0"/>
              </a:spcBef>
              <a:spcAft>
                <a:spcPts val="400"/>
              </a:spcAft>
            </a:pPr>
            <a:r>
              <a:rPr sz="1250" b="0" i="0">
                <a:solidFill>
                  <a:srgbClr val="E4E9F5"/>
                </a:solidFill>
                <a:latin typeface="DM Sans"/>
              </a:rPr>
              <a:t>Toutes les automatisations se sont déroulées avec succès, sans aucun échec ni étape manquante. Aucune intervention n’est requise ce matin.</a:t>
            </a:r>
          </a:p>
        </p:txBody>
      </p:sp>
      <p:sp>
        <p:nvSpPr>
          <p:cNvPr id="267" name="TextBox 266"/>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 réelle du flux Agentic AI, modèle Gemini flash-lite pour les deux agents.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Un Cron Fusion déclenche le flux chaque matin à 06:00 UTC par un simple nœud HTTP</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38</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6309360" cy="3246120"/>
          </a:xfrm>
          <a:prstGeom prst="roundRect">
            <a:avLst>
              <a:gd name="adj" fmla="val 2816"/>
            </a:avLst>
          </a:prstGeom>
          <a:solidFill>
            <a:srgbClr val="FFFFFF"/>
          </a:solidFill>
          <a:ln w="15875">
            <a:solidFill>
              <a:srgbClr val="6B3FA0"/>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6B7390"/>
                </a:solidFill>
                <a:latin typeface="DM Sans"/>
              </a:rPr>
              <a:t>[Insérer : capture_fusion_cron]</a:t>
            </a:r>
          </a:p>
        </p:txBody>
      </p:sp>
      <p:sp>
        <p:nvSpPr>
          <p:cNvPr id="114" name="Rounded Rectangle 113"/>
          <p:cNvSpPr/>
          <p:nvPr/>
        </p:nvSpPr>
        <p:spPr>
          <a:xfrm>
            <a:off x="7269480" y="1773936"/>
            <a:ext cx="4224528" cy="3246120"/>
          </a:xfrm>
          <a:prstGeom prst="roundRect">
            <a:avLst>
              <a:gd name="adj" fmla="val 4695"/>
            </a:avLst>
          </a:prstGeom>
          <a:solidFill>
            <a:srgbClr val="FFFFFF"/>
          </a:solidFill>
          <a:ln>
            <a:noFill/>
          </a:ln>
        </p:spPr>
        <p:txBody>
          <a:bodyPr rtlCol="0" anchor="ctr"/>
          <a:lstStyle/>
          <a:p>
            <a:pPr algn="ctr"/>
          </a:p>
        </p:txBody>
      </p:sp>
      <p:sp>
        <p:nvSpPr>
          <p:cNvPr id="115" name="Rectangle 114"/>
          <p:cNvSpPr/>
          <p:nvPr/>
        </p:nvSpPr>
        <p:spPr>
          <a:xfrm>
            <a:off x="7269480" y="1773936"/>
            <a:ext cx="4224528" cy="3246120"/>
          </a:xfrm>
          <a:custGeom>
            <a:rect b="b" l="l" r="r" t="t"/>
            <a:pathLst>
              <a:path extrusionOk="0" h="3246120" w="4224528">
                <a:moveTo>
                  <a:pt x="0" y="152400"/>
                </a:moveTo>
                <a:cubicBezTo>
                  <a:pt x="0" y="68229"/>
                  <a:pt x="68229" y="0"/>
                  <a:pt x="152400" y="0"/>
                </a:cubicBezTo>
                <a:lnTo>
                  <a:pt x="4072128" y="0"/>
                </a:lnTo>
                <a:cubicBezTo>
                  <a:pt x="4156298" y="0"/>
                  <a:pt x="4224528" y="68229"/>
                  <a:pt x="4224528" y="152400"/>
                </a:cubicBezTo>
                <a:cubicBezTo>
                  <a:pt x="4224528" y="103311"/>
                  <a:pt x="4156299" y="63500"/>
                  <a:pt x="4072128"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6" name="TextBox 115"/>
          <p:cNvSpPr txBox="1"/>
          <p:nvPr/>
        </p:nvSpPr>
        <p:spPr>
          <a:xfrm>
            <a:off x="7516368" y="1956816"/>
            <a:ext cx="3749040" cy="292608"/>
          </a:xfrm>
          <a:prstGeom prst="rect">
            <a:avLst/>
          </a:prstGeom>
          <a:noFill/>
        </p:spPr>
        <p:txBody>
          <a:bodyPr wrap="square" lIns="0" tIns="0" rIns="0" bIns="0" anchor="t">
            <a:noAutofit/>
          </a:bodyPr>
          <a:lstStyle/>
          <a:p>
            <a:pPr algn="l">
              <a:lnSpc>
                <a:spcPct val="115000"/>
              </a:lnSpc>
              <a:spcBef>
                <a:spcPts val="0"/>
              </a:spcBef>
              <a:spcAft>
                <a:spcPts val="0"/>
              </a:spcAft>
            </a:pPr>
            <a:r>
              <a:rPr sz="1600" b="1" i="0">
                <a:solidFill>
                  <a:srgbClr val="1B2A4A"/>
                </a:solidFill>
                <a:latin typeface="Sora"/>
              </a:rPr>
              <a:t>Réglages du nœud HTTP</a:t>
            </a:r>
          </a:p>
        </p:txBody>
      </p:sp>
      <p:sp>
        <p:nvSpPr>
          <p:cNvPr id="117" name="Rounded Rectangle 116"/>
          <p:cNvSpPr/>
          <p:nvPr/>
        </p:nvSpPr>
        <p:spPr>
          <a:xfrm>
            <a:off x="7424928" y="2395728"/>
            <a:ext cx="3922776" cy="365760"/>
          </a:xfrm>
          <a:prstGeom prst="roundRect">
            <a:avLst>
              <a:gd name="adj" fmla="val 20000"/>
            </a:avLst>
          </a:prstGeom>
          <a:solidFill>
            <a:srgbClr val="F4F6FB"/>
          </a:solidFill>
          <a:ln>
            <a:noFill/>
          </a:ln>
        </p:spPr>
        <p:txBody>
          <a:bodyPr rtlCol="0" anchor="ctr"/>
          <a:lstStyle/>
          <a:p>
            <a:pPr algn="ctr"/>
          </a:p>
        </p:txBody>
      </p:sp>
      <p:sp>
        <p:nvSpPr>
          <p:cNvPr id="118" name="TextBox 117"/>
          <p:cNvSpPr txBox="1"/>
          <p:nvPr/>
        </p:nvSpPr>
        <p:spPr>
          <a:xfrm>
            <a:off x="7534656" y="239572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Cron</a:t>
            </a:r>
          </a:p>
        </p:txBody>
      </p:sp>
      <p:sp>
        <p:nvSpPr>
          <p:cNvPr id="119" name="TextBox 118"/>
          <p:cNvSpPr txBox="1"/>
          <p:nvPr/>
        </p:nvSpPr>
        <p:spPr>
          <a:xfrm>
            <a:off x="9363456" y="239572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0 6 * * * (UTC)</a:t>
            </a:r>
          </a:p>
        </p:txBody>
      </p:sp>
      <p:sp>
        <p:nvSpPr>
          <p:cNvPr id="120" name="TextBox 119"/>
          <p:cNvSpPr txBox="1"/>
          <p:nvPr/>
        </p:nvSpPr>
        <p:spPr>
          <a:xfrm>
            <a:off x="7534656" y="2798064"/>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Méthode</a:t>
            </a:r>
          </a:p>
        </p:txBody>
      </p:sp>
      <p:sp>
        <p:nvSpPr>
          <p:cNvPr id="121" name="TextBox 120"/>
          <p:cNvSpPr txBox="1"/>
          <p:nvPr/>
        </p:nvSpPr>
        <p:spPr>
          <a:xfrm>
            <a:off x="9363456" y="2798064"/>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POST</a:t>
            </a:r>
          </a:p>
        </p:txBody>
      </p:sp>
      <p:sp>
        <p:nvSpPr>
          <p:cNvPr id="122" name="Rounded Rectangle 121"/>
          <p:cNvSpPr/>
          <p:nvPr/>
        </p:nvSpPr>
        <p:spPr>
          <a:xfrm>
            <a:off x="7424928" y="3200400"/>
            <a:ext cx="3922776" cy="365760"/>
          </a:xfrm>
          <a:prstGeom prst="roundRect">
            <a:avLst>
              <a:gd name="adj" fmla="val 20000"/>
            </a:avLst>
          </a:prstGeom>
          <a:solidFill>
            <a:srgbClr val="F4F6FB"/>
          </a:solidFill>
          <a:ln>
            <a:noFill/>
          </a:ln>
        </p:spPr>
        <p:txBody>
          <a:bodyPr rtlCol="0" anchor="ctr"/>
          <a:lstStyle/>
          <a:p>
            <a:pPr algn="ctr"/>
          </a:p>
        </p:txBody>
      </p:sp>
      <p:sp>
        <p:nvSpPr>
          <p:cNvPr id="123" name="TextBox 122"/>
          <p:cNvSpPr txBox="1"/>
          <p:nvPr/>
        </p:nvSpPr>
        <p:spPr>
          <a:xfrm>
            <a:off x="7534656" y="3200400"/>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Authentification</a:t>
            </a:r>
          </a:p>
        </p:txBody>
      </p:sp>
      <p:sp>
        <p:nvSpPr>
          <p:cNvPr id="124" name="TextBox 123"/>
          <p:cNvSpPr txBox="1"/>
          <p:nvPr/>
        </p:nvSpPr>
        <p:spPr>
          <a:xfrm>
            <a:off x="9363456" y="3200400"/>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Bearer</a:t>
            </a:r>
          </a:p>
        </p:txBody>
      </p:sp>
      <p:sp>
        <p:nvSpPr>
          <p:cNvPr id="125" name="TextBox 124"/>
          <p:cNvSpPr txBox="1"/>
          <p:nvPr/>
        </p:nvSpPr>
        <p:spPr>
          <a:xfrm>
            <a:off x="7534656" y="3602736"/>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Corps</a:t>
            </a:r>
          </a:p>
        </p:txBody>
      </p:sp>
      <p:sp>
        <p:nvSpPr>
          <p:cNvPr id="126" name="TextBox 125"/>
          <p:cNvSpPr txBox="1"/>
          <p:nvPr/>
        </p:nvSpPr>
        <p:spPr>
          <a:xfrm>
            <a:off x="9363456" y="3602736"/>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aucun</a:t>
            </a:r>
          </a:p>
        </p:txBody>
      </p:sp>
      <p:sp>
        <p:nvSpPr>
          <p:cNvPr id="127" name="Rounded Rectangle 126"/>
          <p:cNvSpPr/>
          <p:nvPr/>
        </p:nvSpPr>
        <p:spPr>
          <a:xfrm>
            <a:off x="7424928" y="4005072"/>
            <a:ext cx="3922776" cy="365760"/>
          </a:xfrm>
          <a:prstGeom prst="roundRect">
            <a:avLst>
              <a:gd name="adj" fmla="val 20000"/>
            </a:avLst>
          </a:prstGeom>
          <a:solidFill>
            <a:srgbClr val="F4F6FB"/>
          </a:solidFill>
          <a:ln>
            <a:noFill/>
          </a:ln>
        </p:spPr>
        <p:txBody>
          <a:bodyPr rtlCol="0" anchor="ctr"/>
          <a:lstStyle/>
          <a:p>
            <a:pPr algn="ctr"/>
          </a:p>
        </p:txBody>
      </p:sp>
      <p:sp>
        <p:nvSpPr>
          <p:cNvPr id="128" name="TextBox 127"/>
          <p:cNvSpPr txBox="1"/>
          <p:nvPr/>
        </p:nvSpPr>
        <p:spPr>
          <a:xfrm>
            <a:off x="7534656" y="4005072"/>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Délai</a:t>
            </a:r>
          </a:p>
        </p:txBody>
      </p:sp>
      <p:sp>
        <p:nvSpPr>
          <p:cNvPr id="129" name="TextBox 128"/>
          <p:cNvSpPr txBox="1"/>
          <p:nvPr/>
        </p:nvSpPr>
        <p:spPr>
          <a:xfrm>
            <a:off x="9363456" y="4005072"/>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120 000 ms</a:t>
            </a:r>
          </a:p>
        </p:txBody>
      </p:sp>
      <p:sp>
        <p:nvSpPr>
          <p:cNvPr id="130" name="TextBox 129"/>
          <p:cNvSpPr txBox="1"/>
          <p:nvPr/>
        </p:nvSpPr>
        <p:spPr>
          <a:xfrm>
            <a:off x="7534656" y="4407408"/>
            <a:ext cx="1828800" cy="365760"/>
          </a:xfrm>
          <a:prstGeom prst="rect">
            <a:avLst/>
          </a:prstGeom>
          <a:noFill/>
        </p:spPr>
        <p:txBody>
          <a:bodyPr wrap="square" lIns="0" tIns="0" rIns="0" bIns="0" anchor="ctr">
            <a:noAutofit/>
          </a:bodyPr>
          <a:lstStyle/>
          <a:p>
            <a:pPr algn="l">
              <a:lnSpc>
                <a:spcPct val="115000"/>
              </a:lnSpc>
              <a:spcBef>
                <a:spcPts val="0"/>
              </a:spcBef>
              <a:spcAft>
                <a:spcPts val="0"/>
              </a:spcAft>
            </a:pPr>
            <a:r>
              <a:rPr sz="1300" b="0" i="0">
                <a:solidFill>
                  <a:srgbClr val="2B3350"/>
                </a:solidFill>
                <a:latin typeface="DM Sans"/>
              </a:rPr>
              <a:t>Sorties</a:t>
            </a:r>
          </a:p>
        </p:txBody>
      </p:sp>
      <p:sp>
        <p:nvSpPr>
          <p:cNvPr id="131" name="TextBox 130"/>
          <p:cNvSpPr txBox="1"/>
          <p:nvPr/>
        </p:nvSpPr>
        <p:spPr>
          <a:xfrm>
            <a:off x="9363456" y="4407408"/>
            <a:ext cx="1874520" cy="365760"/>
          </a:xfrm>
          <a:prstGeom prst="rect">
            <a:avLst/>
          </a:prstGeom>
          <a:noFill/>
        </p:spPr>
        <p:txBody>
          <a:bodyPr wrap="square" lIns="0" tIns="0" rIns="0" bIns="0" anchor="ctr">
            <a:noAutofit/>
          </a:bodyPr>
          <a:lstStyle/>
          <a:p>
            <a:pPr algn="r">
              <a:lnSpc>
                <a:spcPct val="115000"/>
              </a:lnSpc>
              <a:spcBef>
                <a:spcPts val="0"/>
              </a:spcBef>
              <a:spcAft>
                <a:spcPts val="0"/>
              </a:spcAft>
            </a:pPr>
            <a:r>
              <a:rPr sz="1300" b="1" i="0">
                <a:solidFill>
                  <a:srgbClr val="1B2A4A"/>
                </a:solidFill>
                <a:latin typeface="DM Sans"/>
              </a:rPr>
              <a:t>verte ou rouge</a:t>
            </a:r>
          </a:p>
        </p:txBody>
      </p:sp>
      <p:sp>
        <p:nvSpPr>
          <p:cNvPr id="132" name="Rounded Rectangle 131"/>
          <p:cNvSpPr/>
          <p:nvPr/>
        </p:nvSpPr>
        <p:spPr>
          <a:xfrm>
            <a:off x="694944" y="5230368"/>
            <a:ext cx="10799064" cy="914400"/>
          </a:xfrm>
          <a:prstGeom prst="roundRect">
            <a:avLst>
              <a:gd name="adj" fmla="val 12000"/>
            </a:avLst>
          </a:prstGeom>
          <a:solidFill>
            <a:srgbClr val="E3F0FC"/>
          </a:solidFill>
          <a:ln>
            <a:noFill/>
          </a:ln>
        </p:spPr>
        <p:txBody>
          <a:bodyPr rtlCol="0" anchor="ctr"/>
          <a:lstStyle/>
          <a:p>
            <a:pPr algn="ctr"/>
          </a:p>
        </p:txBody>
      </p:sp>
      <p:sp>
        <p:nvSpPr>
          <p:cNvPr id="133" name="Rectangle 132"/>
          <p:cNvSpPr/>
          <p:nvPr/>
        </p:nvSpPr>
        <p:spPr>
          <a:xfrm>
            <a:off x="694944" y="5230368"/>
            <a:ext cx="10799064" cy="914400"/>
          </a:xfrm>
          <a:custGeom>
            <a:rect b="b" l="l" r="r" t="t"/>
            <a:pathLst>
              <a:path extrusionOk="0" h="914400" w="10799064">
                <a:moveTo>
                  <a:pt x="0" y="152400"/>
                </a:moveTo>
                <a:cubicBezTo>
                  <a:pt x="0" y="68229"/>
                  <a:pt x="68229" y="0"/>
                  <a:pt x="152400" y="0"/>
                </a:cubicBezTo>
                <a:lnTo>
                  <a:pt x="10646664" y="0"/>
                </a:lnTo>
                <a:cubicBezTo>
                  <a:pt x="10730834" y="0"/>
                  <a:pt x="10799064" y="68229"/>
                  <a:pt x="10799064" y="152400"/>
                </a:cubicBezTo>
                <a:cubicBezTo>
                  <a:pt x="10799064" y="103311"/>
                  <a:pt x="10730835" y="63500"/>
                  <a:pt x="10646664"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4" name="TextBox 133"/>
          <p:cNvSpPr txBox="1"/>
          <p:nvPr/>
        </p:nvSpPr>
        <p:spPr>
          <a:xfrm>
            <a:off x="987552" y="5230368"/>
            <a:ext cx="10241280" cy="914400"/>
          </a:xfrm>
          <a:prstGeom prst="rect">
            <a:avLst/>
          </a:prstGeom>
          <a:noFill/>
        </p:spPr>
        <p:txBody>
          <a:bodyPr wrap="square" lIns="0" tIns="0" rIns="0" bIns="0" anchor="ctr">
            <a:noAutofit/>
          </a:bodyPr>
          <a:lstStyle/>
          <a:p>
            <a:pPr algn="l">
              <a:lnSpc>
                <a:spcPct val="115000"/>
              </a:lnSpc>
              <a:spcBef>
                <a:spcPts val="0"/>
              </a:spcBef>
              <a:spcAft>
                <a:spcPts val="0"/>
              </a:spcAft>
            </a:pPr>
            <a:r>
              <a:rPr sz="1500" b="1" i="0">
                <a:solidFill>
                  <a:srgbClr val="6B3FA0"/>
                </a:solidFill>
                <a:latin typeface="DM Sans"/>
              </a:rPr>
              <a:t>À retenir : </a:t>
            </a:r>
            <a:r>
              <a:rPr sz="1500" b="0" i="0">
                <a:solidFill>
                  <a:srgbClr val="2B3350"/>
                </a:solidFill>
                <a:latin typeface="DM Sans"/>
              </a:rPr>
              <a:t>le nœud ne transporte aucune donnée. Toute l’intelligence est dans Workly, qui calcule le bilan, et dans le flux, qui l’analyse ; Fusion ne fait que lancer l’exécution à heure fixe.</a:t>
            </a:r>
          </a:p>
        </p:txBody>
      </p:sp>
      <p:sp>
        <p:nvSpPr>
          <p:cNvPr id="135" name="TextBox 134"/>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Figure 8. Canevas Fusion du livrable 3. Source : plateforme Fusion AI Automation.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Démonstration : le message Slack du matin change selon l’état de la nuit</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39</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577840" cy="3840480"/>
          </a:xfrm>
          <a:prstGeom prst="roundRect">
            <a:avLst>
              <a:gd name="adj" fmla="val 2380"/>
            </a:avLst>
          </a:prstGeom>
          <a:solidFill>
            <a:srgbClr val="24375F"/>
          </a:solidFill>
          <a:ln w="15875">
            <a:solidFill>
              <a:srgbClr val="B39DDB"/>
            </a:solidFill>
            <a:prstDash val="dash"/>
          </a:ln>
        </p:spPr>
        <p:txBody>
          <a:bodyPr rtlCol="0" anchor="ctr" wrap="square" lIns="137160" rIns="137160">
            <a:noAutofit/>
          </a:bodyPr>
          <a:lstStyle/>
          <a:p>
            <a:pPr algn="ctr">
              <a:lnSpc>
                <a:spcPct val="110000"/>
              </a:lnSpc>
              <a:spcBef>
                <a:spcPts val="0"/>
              </a:spcBef>
              <a:spcAft>
                <a:spcPts val="0"/>
              </a:spcAft>
            </a:pPr>
            <a:r>
              <a:rPr sz="1300" b="0" i="0">
                <a:solidFill>
                  <a:srgbClr val="A9B4D0"/>
                </a:solidFill>
                <a:latin typeface="DM Sans"/>
              </a:rPr>
              <a:t>[Insérer : capture_slack]</a:t>
            </a:r>
          </a:p>
        </p:txBody>
      </p:sp>
      <p:sp>
        <p:nvSpPr>
          <p:cNvPr id="253" name="TextBox 252"/>
          <p:cNvSpPr txBox="1"/>
          <p:nvPr/>
        </p:nvSpPr>
        <p:spPr>
          <a:xfrm>
            <a:off x="694944" y="5724144"/>
            <a:ext cx="5577840" cy="457200"/>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A9B4D0"/>
                </a:solidFill>
                <a:latin typeface="DM Sans"/>
              </a:rPr>
              <a:t>Le message du Rédacteur arrive dans le canal Slack ; la réponse du webhook est 200.</a:t>
            </a:r>
          </a:p>
        </p:txBody>
      </p:sp>
      <p:sp>
        <p:nvSpPr>
          <p:cNvPr id="254" name="Rounded Rectangle 253"/>
          <p:cNvSpPr/>
          <p:nvPr/>
        </p:nvSpPr>
        <p:spPr>
          <a:xfrm>
            <a:off x="6537960" y="1773936"/>
            <a:ext cx="4956048" cy="2194560"/>
          </a:xfrm>
          <a:prstGeom prst="roundRect">
            <a:avLst>
              <a:gd name="adj" fmla="val 6945"/>
            </a:avLst>
          </a:prstGeom>
          <a:solidFill>
            <a:srgbClr val="24375F"/>
          </a:solidFill>
          <a:ln>
            <a:noFill/>
          </a:ln>
        </p:spPr>
        <p:txBody>
          <a:bodyPr rtlCol="0" anchor="ctr"/>
          <a:lstStyle/>
          <a:p>
            <a:pPr algn="ctr"/>
          </a:p>
        </p:txBody>
      </p:sp>
      <p:sp>
        <p:nvSpPr>
          <p:cNvPr id="255" name="Rectangle 254"/>
          <p:cNvSpPr/>
          <p:nvPr/>
        </p:nvSpPr>
        <p:spPr>
          <a:xfrm>
            <a:off x="6537960" y="1773936"/>
            <a:ext cx="4956048" cy="2194560"/>
          </a:xfrm>
          <a:custGeom>
            <a:rect b="b" l="l" r="r" t="t"/>
            <a:pathLst>
              <a:path extrusionOk="0" h="2194560" w="4956048">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56" name="Rounded Rectangle 255"/>
          <p:cNvSpPr/>
          <p:nvPr/>
        </p:nvSpPr>
        <p:spPr>
          <a:xfrm>
            <a:off x="6784848" y="1975104"/>
            <a:ext cx="2057400" cy="274320"/>
          </a:xfrm>
          <a:prstGeom prst="roundRect">
            <a:avLst>
              <a:gd name="adj" fmla="val 50000"/>
            </a:avLst>
          </a:prstGeom>
          <a:solidFill>
            <a:srgbClr val="B39DDB"/>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NUIT INCOMPLÈTE</a:t>
            </a:r>
          </a:p>
        </p:txBody>
      </p:sp>
      <p:sp>
        <p:nvSpPr>
          <p:cNvPr id="257" name="TextBox 256"/>
          <p:cNvSpPr txBox="1"/>
          <p:nvPr/>
        </p:nvSpPr>
        <p:spPr>
          <a:xfrm>
            <a:off x="6784848" y="2395728"/>
            <a:ext cx="4526280" cy="155448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Étapes de la nuit incomplètes</a:t>
            </a:r>
          </a:p>
          <a:p>
            <a:pPr algn="l">
              <a:lnSpc>
                <a:spcPct val="112000"/>
              </a:lnSpc>
              <a:spcBef>
                <a:spcPts val="0"/>
              </a:spcBef>
              <a:spcAft>
                <a:spcPts val="500"/>
              </a:spcAft>
            </a:pPr>
            <a:r>
              <a:rPr sz="1300" b="0" i="0">
                <a:solidFill>
                  <a:srgbClr val="C9D1E8"/>
                </a:solidFill>
                <a:latin typeface="DM Sans"/>
              </a:rPr>
              <a:t>Problème : les tâches de la nuit n’ont pas été lancées.</a:t>
            </a:r>
          </a:p>
          <a:p>
            <a:pPr algn="l">
              <a:lnSpc>
                <a:spcPct val="112000"/>
              </a:lnSpc>
              <a:spcBef>
                <a:spcPts val="0"/>
              </a:spcBef>
              <a:spcAft>
                <a:spcPts val="500"/>
              </a:spcAft>
            </a:pPr>
            <a:r>
              <a:rPr sz="1300" b="0" i="0">
                <a:solidFill>
                  <a:srgbClr val="C9D1E8"/>
                </a:solidFill>
                <a:latin typeface="DM Sans"/>
              </a:rPr>
              <a:t>Actions : vérifier le planificateur, puis relancer les étapes manquantes.</a:t>
            </a:r>
          </a:p>
        </p:txBody>
      </p:sp>
      <p:sp>
        <p:nvSpPr>
          <p:cNvPr id="258" name="Rounded Rectangle 257"/>
          <p:cNvSpPr/>
          <p:nvPr/>
        </p:nvSpPr>
        <p:spPr>
          <a:xfrm>
            <a:off x="6537960" y="4169664"/>
            <a:ext cx="4956048" cy="1691640"/>
          </a:xfrm>
          <a:prstGeom prst="roundRect">
            <a:avLst>
              <a:gd name="adj" fmla="val 9010"/>
            </a:avLst>
          </a:prstGeom>
          <a:solidFill>
            <a:srgbClr val="24375F"/>
          </a:solidFill>
          <a:ln>
            <a:noFill/>
          </a:ln>
        </p:spPr>
        <p:txBody>
          <a:bodyPr rtlCol="0" anchor="ctr"/>
          <a:lstStyle/>
          <a:p>
            <a:pPr algn="ctr"/>
          </a:p>
        </p:txBody>
      </p:sp>
      <p:sp>
        <p:nvSpPr>
          <p:cNvPr id="259" name="Rectangle 258"/>
          <p:cNvSpPr/>
          <p:nvPr/>
        </p:nvSpPr>
        <p:spPr>
          <a:xfrm>
            <a:off x="6537960" y="4169664"/>
            <a:ext cx="4956048" cy="1691640"/>
          </a:xfrm>
          <a:custGeom>
            <a:rect b="b" l="l" r="r" t="t"/>
            <a:pathLst>
              <a:path extrusionOk="0" h="1691640" w="4956048">
                <a:moveTo>
                  <a:pt x="0" y="152400"/>
                </a:moveTo>
                <a:cubicBezTo>
                  <a:pt x="0" y="68229"/>
                  <a:pt x="68229" y="0"/>
                  <a:pt x="152400" y="0"/>
                </a:cubicBezTo>
                <a:lnTo>
                  <a:pt x="4803648" y="0"/>
                </a:lnTo>
                <a:cubicBezTo>
                  <a:pt x="4887818" y="0"/>
                  <a:pt x="4956048" y="68229"/>
                  <a:pt x="4956048" y="152400"/>
                </a:cubicBezTo>
                <a:cubicBezTo>
                  <a:pt x="4956048" y="103311"/>
                  <a:pt x="4887819" y="63500"/>
                  <a:pt x="4803648"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60" name="Rounded Rectangle 259"/>
          <p:cNvSpPr/>
          <p:nvPr/>
        </p:nvSpPr>
        <p:spPr>
          <a:xfrm>
            <a:off x="6784848" y="4370832"/>
            <a:ext cx="1828800" cy="274320"/>
          </a:xfrm>
          <a:prstGeom prst="roundRect">
            <a:avLst>
              <a:gd name="adj" fmla="val 50000"/>
            </a:avLst>
          </a:prstGeom>
          <a:solidFill>
            <a:srgbClr val="7ACFC0"/>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NUIT RÉUSSIE</a:t>
            </a:r>
          </a:p>
        </p:txBody>
      </p:sp>
      <p:sp>
        <p:nvSpPr>
          <p:cNvPr id="261" name="TextBox 260"/>
          <p:cNvSpPr txBox="1"/>
          <p:nvPr/>
        </p:nvSpPr>
        <p:spPr>
          <a:xfrm>
            <a:off x="6784848" y="4791456"/>
            <a:ext cx="4526280" cy="1005840"/>
          </a:xfrm>
          <a:prstGeom prst="rect">
            <a:avLst/>
          </a:prstGeom>
          <a:noFill/>
        </p:spPr>
        <p:txBody>
          <a:bodyPr wrap="square" lIns="0" tIns="0" rIns="0" bIns="0" anchor="t">
            <a:noAutofit/>
          </a:bodyPr>
          <a:lstStyle/>
          <a:p>
            <a:pPr algn="l">
              <a:lnSpc>
                <a:spcPct val="112000"/>
              </a:lnSpc>
              <a:spcBef>
                <a:spcPts val="0"/>
              </a:spcBef>
              <a:spcAft>
                <a:spcPts val="500"/>
              </a:spcAft>
            </a:pPr>
            <a:r>
              <a:rPr sz="1300" b="1" i="0">
                <a:solidFill>
                  <a:srgbClr val="FFFFFF"/>
                </a:solidFill>
                <a:latin typeface="DM Sans"/>
              </a:rPr>
              <a:t>Objet : Point exploitation – Bilan stable</a:t>
            </a:r>
          </a:p>
          <a:p>
            <a:pPr algn="l">
              <a:lnSpc>
                <a:spcPct val="112000"/>
              </a:lnSpc>
              <a:spcBef>
                <a:spcPts val="0"/>
              </a:spcBef>
              <a:spcAft>
                <a:spcPts val="500"/>
              </a:spcAft>
            </a:pPr>
            <a:r>
              <a:rPr sz="1300" b="0" i="0">
                <a:solidFill>
                  <a:srgbClr val="C9D1E8"/>
                </a:solidFill>
                <a:latin typeface="DM Sans"/>
              </a:rPr>
              <a:t>Toutes les automatisations se sont déroulées avec succès ; aucune intervention requise.</a:t>
            </a:r>
          </a:p>
        </p:txBody>
      </p:sp>
      <p:sp>
        <p:nvSpPr>
          <p:cNvPr id="262" name="TextBox 261"/>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Source : exécutions réelles du flux Agentic AI déclenché depuis Fusion.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Cinq obstacles levés ; le plus structurant : Gemini refuse les outils de Composio</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40</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graphicFrame>
        <p:nvGraphicFramePr>
          <p:cNvPr id="113" name="Table 112"/>
          <p:cNvGraphicFramePr>
            <a:graphicFrameLocks noGrp="1"/>
          </p:cNvGraphicFramePr>
          <p:nvPr/>
        </p:nvGraphicFramePr>
        <p:xfrm>
          <a:off x="694944" y="1773936"/>
          <a:ext cx="10799064" cy="4069080"/>
        </p:xfrm>
        <a:graphic>
          <a:graphicData uri="http://schemas.openxmlformats.org/drawingml/2006/table">
            <a:tbl>
              <a:tblPr/>
              <a:tblGrid>
                <a:gridCol w="3246120"/>
                <a:gridCol w="3611880"/>
                <a:gridCol w="3941064"/>
              </a:tblGrid>
              <a:tr h="411480">
                <a:tc>
                  <a:txBody>
                    <a:bodyPr wrap="square"/>
                    <a:lstStyle/>
                    <a:p>
                      <a:pPr algn="l">
                        <a:lnSpc>
                          <a:spcPct val="110000"/>
                        </a:lnSpc>
                        <a:spcBef>
                          <a:spcPts val="0"/>
                        </a:spcBef>
                        <a:spcAft>
                          <a:spcPts val="0"/>
                        </a:spcAft>
                      </a:pPr>
                      <a:r>
                        <a:rPr sz="1300" b="1" i="0">
                          <a:solidFill>
                            <a:srgbClr val="FFFFFF"/>
                          </a:solidFill>
                          <a:latin typeface="DM Sans"/>
                        </a:rPr>
                        <a:t>Obstacle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Cause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c>
                  <a:txBody>
                    <a:bodyPr wrap="square"/>
                    <a:lstStyle/>
                    <a:p>
                      <a:pPr algn="l">
                        <a:lnSpc>
                          <a:spcPct val="110000"/>
                        </a:lnSpc>
                        <a:spcBef>
                          <a:spcPts val="0"/>
                        </a:spcBef>
                        <a:spcAft>
                          <a:spcPts val="0"/>
                        </a:spcAft>
                      </a:pPr>
                      <a:r>
                        <a:rPr sz="1300" b="1" i="0">
                          <a:solidFill>
                            <a:srgbClr val="FFFFFF"/>
                          </a:solidFill>
                          <a:latin typeface="DM Sans"/>
                        </a:rPr>
                        <a:t>Correction</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1B2A4A"/>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Appel du flux refusé (401, jeton manquant)</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Seul l’en-tête x-api-key était envoyé</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En-tête Authorization: Bearer, que le nœud HTTP sait envoyer</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Erreur KeyError dans le Prompt Template</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Les accolades du JSON d’exemple sont lues comme des variables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Doubler les accolades ({{ et }}) pour les écrire telles quelles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Erreur 400 de Gemini avec les outils Composio</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Schéma de tableau sans « items », refusé par Gemini</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Envoi d’e-mail abandonné ; message envoyé par webhook Slack</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 timeout of 120ms » dans le nœud HTTP</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Le délai se saisit en millisecondes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c>
                  <a:txBody>
                    <a:bodyPr wrap="square"/>
                    <a:lstStyle/>
                    <a:p>
                      <a:pPr algn="l">
                        <a:lnSpc>
                          <a:spcPct val="110000"/>
                        </a:lnSpc>
                        <a:spcBef>
                          <a:spcPts val="0"/>
                        </a:spcBef>
                        <a:spcAft>
                          <a:spcPts val="0"/>
                        </a:spcAft>
                      </a:pPr>
                      <a:r>
                        <a:rPr sz="1250" b="0" i="0">
                          <a:solidFill>
                            <a:srgbClr val="2B3350"/>
                          </a:solidFill>
                          <a:latin typeface="DM Sans"/>
                        </a:rPr>
                        <a:t>Délai réglé à 120 000 ms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4F6FB"/>
                    </a:solidFill>
                  </a:tcPr>
                </a:tc>
              </a:tr>
              <a:tr h="731520">
                <a:tc>
                  <a:txBody>
                    <a:bodyPr wrap="square"/>
                    <a:lstStyle/>
                    <a:p>
                      <a:pPr algn="l">
                        <a:lnSpc>
                          <a:spcPct val="110000"/>
                        </a:lnSpc>
                        <a:spcBef>
                          <a:spcPts val="0"/>
                        </a:spcBef>
                        <a:spcAft>
                          <a:spcPts val="0"/>
                        </a:spcAft>
                      </a:pPr>
                      <a:r>
                        <a:rPr sz="1250" b="1" i="0">
                          <a:solidFill>
                            <a:srgbClr val="6B3FA0"/>
                          </a:solidFill>
                          <a:latin typeface="DM Sans"/>
                        </a:rPr>
                        <a:t>Nuit lancée à l’heure du PC, pas en UTC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Le déclencheur prenait le fuseau du PC</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c>
                  <a:txBody>
                    <a:bodyPr wrap="square"/>
                    <a:lstStyle/>
                    <a:p>
                      <a:pPr algn="l">
                        <a:lnSpc>
                          <a:spcPct val="110000"/>
                        </a:lnSpc>
                        <a:spcBef>
                          <a:spcPts val="0"/>
                        </a:spcBef>
                        <a:spcAft>
                          <a:spcPts val="0"/>
                        </a:spcAft>
                      </a:pPr>
                      <a:r>
                        <a:rPr sz="1250" b="0" i="0">
                          <a:solidFill>
                            <a:srgbClr val="2B3350"/>
                          </a:solidFill>
                          <a:latin typeface="DM Sans"/>
                        </a:rPr>
                        <a:t>Fuseau UTC explicite ; le terminal affiche les deux heures</a:t>
                      </a:r>
                    </a:p>
                  </a:txBody>
                  <a:tcPr marL="88697" marR="88697" marT="57150" marB="57150" anchor="ctr">
                    <a:lnL w="12700" cap="flat" cmpd="sng">
                      <a:solidFill>
                        <a:srgbClr val="D5DAE8"/>
                      </a:solidFill>
                      <a:prstDash val="solid"/>
                    </a:lnL>
                    <a:lnR w="12700" cap="flat" cmpd="sng">
                      <a:solidFill>
                        <a:srgbClr val="D5DAE8"/>
                      </a:solidFill>
                      <a:prstDash val="solid"/>
                    </a:lnR>
                    <a:lnT w="12700" cap="flat" cmpd="sng">
                      <a:solidFill>
                        <a:srgbClr val="D5DAE8"/>
                      </a:solidFill>
                      <a:prstDash val="solid"/>
                    </a:lnT>
                    <a:lnB w="12700" cap="flat" cmpd="sng">
                      <a:solidFill>
                        <a:srgbClr val="D5DAE8"/>
                      </a:solidFill>
                      <a:prstDash val="solid"/>
                    </a:lnB>
                    <a:solidFill>
                      <a:srgbClr val="FFFFFF"/>
                    </a:solidFill>
                  </a:tcPr>
                </a:tc>
              </a:tr>
            </a:tbl>
          </a:graphicData>
        </a:graphic>
      </p:graphicFrame>
      <p:sp>
        <p:nvSpPr>
          <p:cNvPr id="114" name="TextBox 113"/>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Source : journal de travail de l’équipe 15, semaine du livrable 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Workly se connecte à Odoo par son API externe ; l’import des volumes reste à brancher</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41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73936"/>
            <a:ext cx="5760720" cy="3657600"/>
          </a:xfrm>
          <a:prstGeom prst="roundRect">
            <a:avLst>
              <a:gd name="adj" fmla="val 4167"/>
            </a:avLst>
          </a:prstGeom>
          <a:solidFill>
            <a:srgbClr val="FFFFFF"/>
          </a:solidFill>
          <a:ln>
            <a:noFill/>
          </a:ln>
        </p:spPr>
        <p:txBody>
          <a:bodyPr rtlCol="0" anchor="ctr"/>
          <a:lstStyle/>
          <a:p>
            <a:pPr algn="ctr"/>
          </a:p>
        </p:txBody>
      </p:sp>
      <p:sp>
        <p:nvSpPr>
          <p:cNvPr id="114" name="Rectangle 113"/>
          <p:cNvSpPr/>
          <p:nvPr/>
        </p:nvSpPr>
        <p:spPr>
          <a:xfrm>
            <a:off x="694944" y="1773936"/>
            <a:ext cx="5760720" cy="3657600"/>
          </a:xfrm>
          <a:custGeom>
            <a:rect b="b" l="l" r="r" t="t"/>
            <a:pathLst>
              <a:path extrusionOk="0" h="3657600" w="5760720">
                <a:moveTo>
                  <a:pt x="0" y="152400"/>
                </a:moveTo>
                <a:cubicBezTo>
                  <a:pt x="0" y="68229"/>
                  <a:pt x="68229" y="0"/>
                  <a:pt x="152400" y="0"/>
                </a:cubicBezTo>
                <a:lnTo>
                  <a:pt x="5608320" y="0"/>
                </a:lnTo>
                <a:cubicBezTo>
                  <a:pt x="5692490" y="0"/>
                  <a:pt x="5760720" y="68229"/>
                  <a:pt x="5760720" y="152400"/>
                </a:cubicBezTo>
                <a:cubicBezTo>
                  <a:pt x="5760720" y="103311"/>
                  <a:pt x="5692491" y="63500"/>
                  <a:pt x="5608320" y="63500"/>
                </a:cubicBezTo>
                <a:lnTo>
                  <a:pt x="152400" y="63500"/>
                </a:lnTo>
                <a:cubicBezTo>
                  <a:pt x="68229" y="63500"/>
                  <a:pt x="0" y="103311"/>
                  <a:pt x="0" y="152400"/>
                </a:cubicBezTo>
                <a:close/>
              </a:path>
            </a:pathLst>
          </a:custGeom>
          <a:solidFill>
            <a:srgbClr val="6B3FA0"/>
          </a:solidFill>
          <a:ln>
            <a:noFill/>
          </a:ln>
        </p:spPr>
        <p:txBody>
          <a:bodyPr rtlCol="0" anchor="ctr"/>
          <a:lstStyle/>
          <a:p>
            <a:pPr algn="ctr"/>
          </a:p>
        </p:txBody>
      </p:sp>
      <p:sp>
        <p:nvSpPr>
          <p:cNvPr id="115" name="TextBox 114"/>
          <p:cNvSpPr txBox="1"/>
          <p:nvPr/>
        </p:nvSpPr>
        <p:spPr>
          <a:xfrm>
            <a:off x="950976" y="2011680"/>
            <a:ext cx="52120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Connexion testée</a:t>
            </a:r>
          </a:p>
        </p:txBody>
      </p:sp>
      <p:sp>
        <p:nvSpPr>
          <p:cNvPr id="116" name="Rounded Rectangle 115"/>
          <p:cNvSpPr/>
          <p:nvPr/>
        </p:nvSpPr>
        <p:spPr>
          <a:xfrm>
            <a:off x="859536" y="2542032"/>
            <a:ext cx="5431536" cy="420624"/>
          </a:xfrm>
          <a:prstGeom prst="roundRect">
            <a:avLst>
              <a:gd name="adj" fmla="val 17391"/>
            </a:avLst>
          </a:prstGeom>
          <a:solidFill>
            <a:srgbClr val="F4F6FB"/>
          </a:solidFill>
          <a:ln>
            <a:noFill/>
          </a:ln>
        </p:spPr>
        <p:txBody>
          <a:bodyPr rtlCol="0" anchor="ctr"/>
          <a:lstStyle/>
          <a:p>
            <a:pPr algn="ctr"/>
          </a:p>
        </p:txBody>
      </p:sp>
      <p:sp>
        <p:nvSpPr>
          <p:cNvPr id="117" name="TextBox 116"/>
          <p:cNvSpPr txBox="1"/>
          <p:nvPr/>
        </p:nvSpPr>
        <p:spPr>
          <a:xfrm>
            <a:off x="969264" y="2542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Odoo</a:t>
            </a:r>
          </a:p>
        </p:txBody>
      </p:sp>
      <p:sp>
        <p:nvSpPr>
          <p:cNvPr id="118" name="TextBox 117"/>
          <p:cNvSpPr txBox="1"/>
          <p:nvPr/>
        </p:nvSpPr>
        <p:spPr>
          <a:xfrm>
            <a:off x="3438144" y="2542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version 20.0+e</a:t>
            </a:r>
          </a:p>
        </p:txBody>
      </p:sp>
      <p:sp>
        <p:nvSpPr>
          <p:cNvPr id="119" name="TextBox 118"/>
          <p:cNvSpPr txBox="1"/>
          <p:nvPr/>
        </p:nvSpPr>
        <p:spPr>
          <a:xfrm>
            <a:off x="969264" y="29992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Base</a:t>
            </a:r>
          </a:p>
        </p:txBody>
      </p:sp>
      <p:sp>
        <p:nvSpPr>
          <p:cNvPr id="120" name="TextBox 119"/>
          <p:cNvSpPr txBox="1"/>
          <p:nvPr/>
        </p:nvSpPr>
        <p:spPr>
          <a:xfrm>
            <a:off x="3438144" y="29992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workly1</a:t>
            </a:r>
          </a:p>
        </p:txBody>
      </p:sp>
      <p:sp>
        <p:nvSpPr>
          <p:cNvPr id="121" name="Rounded Rectangle 120"/>
          <p:cNvSpPr/>
          <p:nvPr/>
        </p:nvSpPr>
        <p:spPr>
          <a:xfrm>
            <a:off x="859536" y="3456432"/>
            <a:ext cx="5431536" cy="420624"/>
          </a:xfrm>
          <a:prstGeom prst="roundRect">
            <a:avLst>
              <a:gd name="adj" fmla="val 17391"/>
            </a:avLst>
          </a:prstGeom>
          <a:solidFill>
            <a:srgbClr val="F4F6FB"/>
          </a:solidFill>
          <a:ln>
            <a:noFill/>
          </a:ln>
        </p:spPr>
        <p:txBody>
          <a:bodyPr rtlCol="0" anchor="ctr"/>
          <a:lstStyle/>
          <a:p>
            <a:pPr algn="ctr"/>
          </a:p>
        </p:txBody>
      </p:sp>
      <p:sp>
        <p:nvSpPr>
          <p:cNvPr id="122" name="TextBox 121"/>
          <p:cNvSpPr txBox="1"/>
          <p:nvPr/>
        </p:nvSpPr>
        <p:spPr>
          <a:xfrm>
            <a:off x="969264" y="34564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Interface</a:t>
            </a:r>
          </a:p>
        </p:txBody>
      </p:sp>
      <p:sp>
        <p:nvSpPr>
          <p:cNvPr id="123" name="TextBox 122"/>
          <p:cNvSpPr txBox="1"/>
          <p:nvPr/>
        </p:nvSpPr>
        <p:spPr>
          <a:xfrm>
            <a:off x="3438144" y="34564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API externe XML-RPC</a:t>
            </a:r>
          </a:p>
        </p:txBody>
      </p:sp>
      <p:sp>
        <p:nvSpPr>
          <p:cNvPr id="124" name="TextBox 123"/>
          <p:cNvSpPr txBox="1"/>
          <p:nvPr/>
        </p:nvSpPr>
        <p:spPr>
          <a:xfrm>
            <a:off x="969264" y="39136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Authentification</a:t>
            </a:r>
          </a:p>
        </p:txBody>
      </p:sp>
      <p:sp>
        <p:nvSpPr>
          <p:cNvPr id="125" name="TextBox 124"/>
          <p:cNvSpPr txBox="1"/>
          <p:nvPr/>
        </p:nvSpPr>
        <p:spPr>
          <a:xfrm>
            <a:off x="3438144" y="39136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clé API de l’administrateur</a:t>
            </a:r>
          </a:p>
        </p:txBody>
      </p:sp>
      <p:sp>
        <p:nvSpPr>
          <p:cNvPr id="126" name="Rounded Rectangle 125"/>
          <p:cNvSpPr/>
          <p:nvPr/>
        </p:nvSpPr>
        <p:spPr>
          <a:xfrm>
            <a:off x="859536" y="4370832"/>
            <a:ext cx="5431536" cy="420624"/>
          </a:xfrm>
          <a:prstGeom prst="roundRect">
            <a:avLst>
              <a:gd name="adj" fmla="val 17391"/>
            </a:avLst>
          </a:prstGeom>
          <a:solidFill>
            <a:srgbClr val="F4F6FB"/>
          </a:solidFill>
          <a:ln>
            <a:noFill/>
          </a:ln>
        </p:spPr>
        <p:txBody>
          <a:bodyPr rtlCol="0" anchor="ctr"/>
          <a:lstStyle/>
          <a:p>
            <a:pPr algn="ctr"/>
          </a:p>
        </p:txBody>
      </p:sp>
      <p:sp>
        <p:nvSpPr>
          <p:cNvPr id="127" name="TextBox 126"/>
          <p:cNvSpPr txBox="1"/>
          <p:nvPr/>
        </p:nvSpPr>
        <p:spPr>
          <a:xfrm>
            <a:off x="969264" y="43708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Route de test</a:t>
            </a:r>
          </a:p>
        </p:txBody>
      </p:sp>
      <p:sp>
        <p:nvSpPr>
          <p:cNvPr id="128" name="TextBox 127"/>
          <p:cNvSpPr txBox="1"/>
          <p:nvPr/>
        </p:nvSpPr>
        <p:spPr>
          <a:xfrm>
            <a:off x="3438144" y="43708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POST /test-odoo</a:t>
            </a:r>
          </a:p>
        </p:txBody>
      </p:sp>
      <p:sp>
        <p:nvSpPr>
          <p:cNvPr id="129" name="TextBox 128"/>
          <p:cNvSpPr txBox="1"/>
          <p:nvPr/>
        </p:nvSpPr>
        <p:spPr>
          <a:xfrm>
            <a:off x="969264" y="4828032"/>
            <a:ext cx="2468880" cy="420624"/>
          </a:xfrm>
          <a:prstGeom prst="rect">
            <a:avLst/>
          </a:prstGeom>
          <a:noFill/>
        </p:spPr>
        <p:txBody>
          <a:bodyPr wrap="square" lIns="0" tIns="0" rIns="0" bIns="0" anchor="ctr">
            <a:noAutofit/>
          </a:bodyPr>
          <a:lstStyle/>
          <a:p>
            <a:pPr algn="l">
              <a:lnSpc>
                <a:spcPct val="115000"/>
              </a:lnSpc>
              <a:spcBef>
                <a:spcPts val="0"/>
              </a:spcBef>
              <a:spcAft>
                <a:spcPts val="0"/>
              </a:spcAft>
            </a:pPr>
            <a:r>
              <a:rPr sz="1350" b="0" i="0">
                <a:solidFill>
                  <a:srgbClr val="2B3350"/>
                </a:solidFill>
                <a:latin typeface="DM Sans"/>
              </a:rPr>
              <a:t>Commandes de vente</a:t>
            </a:r>
          </a:p>
        </p:txBody>
      </p:sp>
      <p:sp>
        <p:nvSpPr>
          <p:cNvPr id="130" name="TextBox 129"/>
          <p:cNvSpPr txBox="1"/>
          <p:nvPr/>
        </p:nvSpPr>
        <p:spPr>
          <a:xfrm>
            <a:off x="3438144" y="4828032"/>
            <a:ext cx="2743200" cy="420624"/>
          </a:xfrm>
          <a:prstGeom prst="rect">
            <a:avLst/>
          </a:prstGeom>
          <a:noFill/>
        </p:spPr>
        <p:txBody>
          <a:bodyPr wrap="square" lIns="0" tIns="0" rIns="0" bIns="0" anchor="ctr">
            <a:noAutofit/>
          </a:bodyPr>
          <a:lstStyle/>
          <a:p>
            <a:pPr algn="r">
              <a:lnSpc>
                <a:spcPct val="115000"/>
              </a:lnSpc>
              <a:spcBef>
                <a:spcPts val="0"/>
              </a:spcBef>
              <a:spcAft>
                <a:spcPts val="0"/>
              </a:spcAft>
            </a:pPr>
            <a:r>
              <a:rPr sz="1350" b="1" i="0">
                <a:solidFill>
                  <a:srgbClr val="1B2A4A"/>
                </a:solidFill>
                <a:latin typeface="DM Sans"/>
              </a:rPr>
              <a:t>0 (base vide)</a:t>
            </a:r>
          </a:p>
        </p:txBody>
      </p:sp>
      <p:sp>
        <p:nvSpPr>
          <p:cNvPr id="131" name="Rounded Rectangle 130"/>
          <p:cNvSpPr/>
          <p:nvPr/>
        </p:nvSpPr>
        <p:spPr>
          <a:xfrm>
            <a:off x="6702552" y="1773936"/>
            <a:ext cx="4791456" cy="3657600"/>
          </a:xfrm>
          <a:prstGeom prst="roundRect">
            <a:avLst>
              <a:gd name="adj" fmla="val 4167"/>
            </a:avLst>
          </a:prstGeom>
          <a:solidFill>
            <a:srgbClr val="FFFFFF"/>
          </a:solidFill>
          <a:ln>
            <a:noFill/>
          </a:ln>
        </p:spPr>
        <p:txBody>
          <a:bodyPr rtlCol="0" anchor="ctr"/>
          <a:lstStyle/>
          <a:p>
            <a:pPr algn="ctr"/>
          </a:p>
        </p:txBody>
      </p:sp>
      <p:sp>
        <p:nvSpPr>
          <p:cNvPr id="132" name="Rectangle 131"/>
          <p:cNvSpPr/>
          <p:nvPr/>
        </p:nvSpPr>
        <p:spPr>
          <a:xfrm>
            <a:off x="6702552" y="1773936"/>
            <a:ext cx="4791456" cy="3657600"/>
          </a:xfrm>
          <a:custGeom>
            <a:rect b="b" l="l" r="r" t="t"/>
            <a:pathLst>
              <a:path extrusionOk="0" h="3657600" w="4791456">
                <a:moveTo>
                  <a:pt x="0" y="152400"/>
                </a:moveTo>
                <a:cubicBezTo>
                  <a:pt x="0" y="68229"/>
                  <a:pt x="68229" y="0"/>
                  <a:pt x="152400" y="0"/>
                </a:cubicBezTo>
                <a:lnTo>
                  <a:pt x="4639056" y="0"/>
                </a:lnTo>
                <a:cubicBezTo>
                  <a:pt x="4723226" y="0"/>
                  <a:pt x="4791456" y="68229"/>
                  <a:pt x="4791456" y="152400"/>
                </a:cubicBezTo>
                <a:cubicBezTo>
                  <a:pt x="4791456" y="103311"/>
                  <a:pt x="4723227" y="63500"/>
                  <a:pt x="4639056"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33" name="Rounded Rectangle 132"/>
          <p:cNvSpPr/>
          <p:nvPr/>
        </p:nvSpPr>
        <p:spPr>
          <a:xfrm>
            <a:off x="6949440" y="2011680"/>
            <a:ext cx="1143000" cy="274320"/>
          </a:xfrm>
          <a:prstGeom prst="roundRect">
            <a:avLst>
              <a:gd name="adj" fmla="val 50000"/>
            </a:avLst>
          </a:prstGeom>
          <a:solidFill>
            <a:srgbClr val="B39DDB"/>
          </a:solidFill>
          <a:ln>
            <a:noFill/>
          </a:ln>
        </p:spPr>
        <p:txBody>
          <a:bodyPr rtlCol="0" anchor="ctr" wrap="square" lIns="36576" tIns="0" rIns="36576" bIns="0">
            <a:noAutofit/>
          </a:bodyPr>
          <a:lstStyle/>
          <a:p>
            <a:pPr algn="ctr">
              <a:lnSpc>
                <a:spcPct val="100000"/>
              </a:lnSpc>
              <a:spcBef>
                <a:spcPts val="0"/>
              </a:spcBef>
              <a:spcAft>
                <a:spcPts val="0"/>
              </a:spcAft>
            </a:pPr>
            <a:r>
              <a:rPr sz="1100" b="1" i="0">
                <a:solidFill>
                  <a:srgbClr val="1B2A4A"/>
                </a:solidFill>
                <a:latin typeface="DM Sans"/>
              </a:rPr>
              <a:t>À RÉALISER</a:t>
            </a:r>
          </a:p>
        </p:txBody>
      </p:sp>
      <p:sp>
        <p:nvSpPr>
          <p:cNvPr id="134" name="TextBox 133"/>
          <p:cNvSpPr txBox="1"/>
          <p:nvPr/>
        </p:nvSpPr>
        <p:spPr>
          <a:xfrm>
            <a:off x="6949440" y="2432304"/>
            <a:ext cx="438912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1B2A4A"/>
                </a:solidFill>
                <a:latin typeface="Sora"/>
              </a:rPr>
              <a:t>Étape suivante</a:t>
            </a:r>
          </a:p>
        </p:txBody>
      </p:sp>
      <p:sp>
        <p:nvSpPr>
          <p:cNvPr id="135" name="Rectangle 134"/>
          <p:cNvSpPr/>
          <p:nvPr/>
        </p:nvSpPr>
        <p:spPr>
          <a:xfrm>
            <a:off x="6949440" y="2990088"/>
            <a:ext cx="100584" cy="100584"/>
          </a:xfrm>
          <a:prstGeom prst="rect">
            <a:avLst/>
          </a:prstGeom>
          <a:solidFill>
            <a:srgbClr val="6B3FA0"/>
          </a:solidFill>
          <a:ln>
            <a:noFill/>
          </a:ln>
        </p:spPr>
        <p:txBody>
          <a:bodyPr rtlCol="0" anchor="ctr"/>
          <a:lstStyle/>
          <a:p>
            <a:pPr algn="ctr"/>
          </a:p>
        </p:txBody>
      </p:sp>
      <p:sp>
        <p:nvSpPr>
          <p:cNvPr id="136" name="TextBox 135"/>
          <p:cNvSpPr txBox="1"/>
          <p:nvPr/>
        </p:nvSpPr>
        <p:spPr>
          <a:xfrm>
            <a:off x="7178040" y="2926080"/>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Lire les commandes de vente d’Odoo comme volumes prévus.</a:t>
            </a:r>
          </a:p>
        </p:txBody>
      </p:sp>
      <p:sp>
        <p:nvSpPr>
          <p:cNvPr id="137" name="Rectangle 136"/>
          <p:cNvSpPr/>
          <p:nvPr/>
        </p:nvSpPr>
        <p:spPr>
          <a:xfrm>
            <a:off x="6949440" y="3690722"/>
            <a:ext cx="100584" cy="100584"/>
          </a:xfrm>
          <a:prstGeom prst="rect">
            <a:avLst/>
          </a:prstGeom>
          <a:solidFill>
            <a:srgbClr val="6B3FA0"/>
          </a:solidFill>
          <a:ln>
            <a:noFill/>
          </a:ln>
        </p:spPr>
        <p:txBody>
          <a:bodyPr rtlCol="0" anchor="ctr"/>
          <a:lstStyle/>
          <a:p>
            <a:pPr algn="ctr"/>
          </a:p>
        </p:txBody>
      </p:sp>
      <p:sp>
        <p:nvSpPr>
          <p:cNvPr id="138" name="TextBox 137"/>
          <p:cNvSpPr txBox="1"/>
          <p:nvPr/>
        </p:nvSpPr>
        <p:spPr>
          <a:xfrm>
            <a:off x="7178040" y="3626714"/>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Alimenter l’import des prévisions de volume sans fichier déposé à la main.</a:t>
            </a:r>
          </a:p>
        </p:txBody>
      </p:sp>
      <p:sp>
        <p:nvSpPr>
          <p:cNvPr id="139" name="Rectangle 138"/>
          <p:cNvSpPr/>
          <p:nvPr/>
        </p:nvSpPr>
        <p:spPr>
          <a:xfrm>
            <a:off x="6949440" y="4391355"/>
            <a:ext cx="100584" cy="100584"/>
          </a:xfrm>
          <a:prstGeom prst="rect">
            <a:avLst/>
          </a:prstGeom>
          <a:solidFill>
            <a:srgbClr val="6B3FA0"/>
          </a:solidFill>
          <a:ln>
            <a:noFill/>
          </a:ln>
        </p:spPr>
        <p:txBody>
          <a:bodyPr rtlCol="0" anchor="ctr"/>
          <a:lstStyle/>
          <a:p>
            <a:pPr algn="ctr"/>
          </a:p>
        </p:txBody>
      </p:sp>
      <p:sp>
        <p:nvSpPr>
          <p:cNvPr id="140" name="TextBox 139"/>
          <p:cNvSpPr txBox="1"/>
          <p:nvPr/>
        </p:nvSpPr>
        <p:spPr>
          <a:xfrm>
            <a:off x="7178040" y="4327347"/>
            <a:ext cx="4114800" cy="517754"/>
          </a:xfrm>
          <a:prstGeom prst="rect">
            <a:avLst/>
          </a:prstGeom>
          <a:noFill/>
        </p:spPr>
        <p:txBody>
          <a:bodyPr wrap="square" lIns="0" tIns="0" rIns="0" bIns="0" anchor="t">
            <a:noAutofit/>
          </a:bodyPr>
          <a:lstStyle/>
          <a:p>
            <a:pPr algn="l">
              <a:lnSpc>
                <a:spcPct val="112000"/>
              </a:lnSpc>
              <a:spcBef>
                <a:spcPts val="0"/>
              </a:spcBef>
              <a:spcAft>
                <a:spcPts val="0"/>
              </a:spcAft>
            </a:pPr>
            <a:r>
              <a:rPr sz="1400" b="0" i="0">
                <a:solidFill>
                  <a:srgbClr val="2B3350"/>
                </a:solidFill>
                <a:latin typeface="DM Sans"/>
              </a:rPr>
              <a:t>Ajouter une source de données extérieure à l’application dans la chaîne de nuit.</a:t>
            </a:r>
          </a:p>
        </p:txBody>
      </p:sp>
      <p:sp>
        <p:nvSpPr>
          <p:cNvPr id="141" name="Rounded Rectangle 140"/>
          <p:cNvSpPr/>
          <p:nvPr/>
        </p:nvSpPr>
        <p:spPr>
          <a:xfrm>
            <a:off x="694944" y="5623560"/>
            <a:ext cx="10799064" cy="566928"/>
          </a:xfrm>
          <a:prstGeom prst="roundRect">
            <a:avLst>
              <a:gd name="adj" fmla="val 19354"/>
            </a:avLst>
          </a:prstGeom>
          <a:solidFill>
            <a:srgbClr val="1B2A4A"/>
          </a:solidFill>
          <a:ln>
            <a:noFill/>
          </a:ln>
        </p:spPr>
        <p:txBody>
          <a:bodyPr rtlCol="0" anchor="ctr"/>
          <a:lstStyle/>
          <a:p>
            <a:pPr algn="ctr"/>
          </a:p>
        </p:txBody>
      </p:sp>
      <p:sp>
        <p:nvSpPr>
          <p:cNvPr id="142" name="TextBox 141"/>
          <p:cNvSpPr txBox="1"/>
          <p:nvPr/>
        </p:nvSpPr>
        <p:spPr>
          <a:xfrm>
            <a:off x="987552" y="5623560"/>
            <a:ext cx="10241280" cy="566928"/>
          </a:xfrm>
          <a:prstGeom prst="rect">
            <a:avLst/>
          </a:prstGeom>
          <a:noFill/>
        </p:spPr>
        <p:txBody>
          <a:bodyPr wrap="square" lIns="0" tIns="0" rIns="0" bIns="0" anchor="ctr">
            <a:noAutofit/>
          </a:bodyPr>
          <a:lstStyle/>
          <a:p>
            <a:pPr algn="l">
              <a:lnSpc>
                <a:spcPct val="115000"/>
              </a:lnSpc>
              <a:spcBef>
                <a:spcPts val="0"/>
              </a:spcBef>
              <a:spcAft>
                <a:spcPts val="0"/>
              </a:spcAft>
            </a:pPr>
            <a:r>
              <a:rPr sz="1400" b="1" i="0">
                <a:solidFill>
                  <a:srgbClr val="7ACFC0"/>
                </a:solidFill>
                <a:latin typeface="DM Sans"/>
              </a:rPr>
              <a:t>Sécurité : </a:t>
            </a:r>
            <a:r>
              <a:rPr sz="1400" b="0" i="0">
                <a:solidFill>
                  <a:srgbClr val="FFFFFF"/>
                </a:solidFill>
                <a:latin typeface="DM Sans"/>
              </a:rPr>
              <a:t>la clé API reste dans des variables d’environnement du PC, jamais dans le dépôt ni dans ces diapositives.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B2A4A"/>
        </a:solidFill>
      </p:bgPr>
    </p:bg>
    <p:spTree>
      <p:nvGrpSpPr>
        <p:cNvPr id="1" name=""/>
        <p:cNvGrpSpPr/>
        <p:nvPr/>
      </p:nvGrpSpPr>
      <p:grpSpPr/>
      <p:sp>
        <p:nvSpPr>
          <p:cNvPr id="222" name="Google Shape;222;p9"/>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3" name="Google Shape;223;p9"/>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4" name="Google Shape;224;p9"/>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5" name="Google Shape;225;p9"/>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226" name="Google Shape;226;p9"/>
          <p:cNvSpPr/>
          <p:nvPr/>
        </p:nvSpPr>
        <p:spPr>
          <a:xfrm>
            <a:off x="698500" y="533400"/>
            <a:ext cx="899160" cy="284480"/>
          </a:xfrm>
          <a:prstGeom prst="roundRect">
            <a:avLst>
              <a:gd fmla="val 50000" name="adj"/>
            </a:avLst>
          </a:prstGeom>
          <a:solidFill>
            <a:srgbClr val="FFFFFF"/>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1B2A4A"/>
                </a:solidFill>
                <a:latin typeface="DM Sans"/>
                <a:ea typeface="DM Sans"/>
                <a:cs typeface="DM Sans"/>
                <a:sym typeface="DM Sans"/>
              </a:rPr>
              <a:t>PARTIE 5</a:t>
            </a:r>
            <a:endParaRPr sz="1200">
              <a:solidFill>
                <a:schemeClr val="dk1"/>
              </a:solidFill>
              <a:latin typeface="DM Sans"/>
              <a:ea typeface="DM Sans"/>
              <a:cs typeface="DM Sans"/>
              <a:sym typeface="DM Sans"/>
            </a:endParaRPr>
          </a:p>
        </p:txBody>
      </p:sp>
      <p:sp>
        <p:nvSpPr>
          <p:cNvPr id="227" name="Google Shape;227;p9"/>
          <p:cNvSpPr txBox="1"/>
          <p:nvPr>
            <p:ph type="title"/>
          </p:nvPr>
        </p:nvSpPr>
        <p:spPr>
          <a:xfrm>
            <a:off x="698500" y="919479"/>
            <a:ext cx="11118850" cy="66548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FFFFFF"/>
              </a:buClr>
              <a:buSzPts val="2100"/>
              <a:buFont typeface="Sora"/>
              <a:buNone/>
            </a:pPr>
            <a:r>
              <a:rPr b="1" i="0" lang="en-US" sz="2100">
                <a:solidFill>
                  <a:srgbClr val="FFFFFF"/>
                </a:solidFill>
                <a:latin typeface="Sora"/>
                <a:ea typeface="Sora"/>
                <a:cs typeface="Sora"/>
                <a:sym typeface="Sora"/>
              </a:rPr>
              <a:t>Limites et prochaines étapes : signaler une panne, puis fiabiliser l’hébergement</a:t>
            </a:r>
            <a:endParaRPr sz="2100"/>
          </a:p>
        </p:txBody>
      </p:sp>
      <p:sp>
        <p:nvSpPr>
          <p:cNvPr id="247" name="Google Shape;247;p9"/>
          <p:cNvSpPr/>
          <p:nvPr/>
        </p:nvSpPr>
        <p:spPr>
          <a:xfrm>
            <a:off x="10680700" y="6344921"/>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FFFFFF"/>
              </a:buClr>
              <a:buSzPts val="1200"/>
              <a:buFont typeface="Sora"/>
              <a:buNone/>
            </a:pPr>
            <a:r>
              <a:rPr b="1" lang="en-US" sz="1200">
                <a:solidFill>
                  <a:srgbClr val="FFFFFF"/>
                </a:solidFill>
                <a:latin typeface="Sora"/>
                <a:ea typeface="Sora"/>
                <a:cs typeface="Sora"/>
                <a:sym typeface="Sora"/>
              </a:rPr>
              <a:t>42</a:t>
            </a:r>
            <a:endParaRPr sz="1200">
              <a:solidFill>
                <a:schemeClr val="dk1"/>
              </a:solidFill>
              <a:latin typeface="DM Sans"/>
              <a:ea typeface="DM Sans"/>
              <a:cs typeface="DM Sans"/>
              <a:sym typeface="DM Sans"/>
            </a:endParaRPr>
          </a:p>
        </p:txBody>
      </p:sp>
      <p:sp>
        <p:nvSpPr>
          <p:cNvPr id="248" name="Rectangle 247"/>
          <p:cNvSpPr/>
          <p:nvPr/>
        </p:nvSpPr>
        <p:spPr>
          <a:xfrm>
            <a:off x="0" y="0"/>
            <a:ext cx="155448" cy="1714500"/>
          </a:xfrm>
          <a:prstGeom prst="rect">
            <a:avLst/>
          </a:prstGeom>
          <a:solidFill>
            <a:srgbClr val="6B3FA0"/>
          </a:solidFill>
          <a:ln>
            <a:noFill/>
          </a:ln>
        </p:spPr>
        <p:txBody>
          <a:bodyPr rtlCol="0" anchor="ctr"/>
          <a:lstStyle/>
          <a:p>
            <a:pPr algn="ctr"/>
          </a:p>
        </p:txBody>
      </p:sp>
      <p:sp>
        <p:nvSpPr>
          <p:cNvPr id="249" name="Rectangle 248"/>
          <p:cNvSpPr/>
          <p:nvPr/>
        </p:nvSpPr>
        <p:spPr>
          <a:xfrm>
            <a:off x="0" y="1714500"/>
            <a:ext cx="155448" cy="1714500"/>
          </a:xfrm>
          <a:prstGeom prst="rect">
            <a:avLst/>
          </a:prstGeom>
          <a:solidFill>
            <a:srgbClr val="4A9BE0"/>
          </a:solidFill>
          <a:ln>
            <a:noFill/>
          </a:ln>
        </p:spPr>
        <p:txBody>
          <a:bodyPr rtlCol="0" anchor="ctr"/>
          <a:lstStyle/>
          <a:p>
            <a:pPr algn="ctr"/>
          </a:p>
        </p:txBody>
      </p:sp>
      <p:sp>
        <p:nvSpPr>
          <p:cNvPr id="250" name="Rectangle 249"/>
          <p:cNvSpPr/>
          <p:nvPr/>
        </p:nvSpPr>
        <p:spPr>
          <a:xfrm>
            <a:off x="0" y="3429000"/>
            <a:ext cx="155448" cy="1714500"/>
          </a:xfrm>
          <a:prstGeom prst="rect">
            <a:avLst/>
          </a:prstGeom>
          <a:solidFill>
            <a:srgbClr val="7ACFC0"/>
          </a:solidFill>
          <a:ln>
            <a:noFill/>
          </a:ln>
        </p:spPr>
        <p:txBody>
          <a:bodyPr rtlCol="0" anchor="ctr"/>
          <a:lstStyle/>
          <a:p>
            <a:pPr algn="ctr"/>
          </a:p>
        </p:txBody>
      </p:sp>
      <p:sp>
        <p:nvSpPr>
          <p:cNvPr id="251" name="Rectangle 250"/>
          <p:cNvSpPr/>
          <p:nvPr/>
        </p:nvSpPr>
        <p:spPr>
          <a:xfrm>
            <a:off x="0" y="5143500"/>
            <a:ext cx="155448" cy="1714500"/>
          </a:xfrm>
          <a:prstGeom prst="rect">
            <a:avLst/>
          </a:prstGeom>
          <a:solidFill>
            <a:srgbClr val="B39DDB"/>
          </a:solidFill>
          <a:ln>
            <a:noFill/>
          </a:ln>
        </p:spPr>
        <p:txBody>
          <a:bodyPr rtlCol="0" anchor="ctr"/>
          <a:lstStyle/>
          <a:p>
            <a:pPr algn="ctr"/>
          </a:p>
        </p:txBody>
      </p:sp>
      <p:sp>
        <p:nvSpPr>
          <p:cNvPr id="252" name="Rounded Rectangle 251"/>
          <p:cNvSpPr/>
          <p:nvPr/>
        </p:nvSpPr>
        <p:spPr>
          <a:xfrm>
            <a:off x="694944" y="1773936"/>
            <a:ext cx="5303520" cy="4297680"/>
          </a:xfrm>
          <a:prstGeom prst="roundRect">
            <a:avLst>
              <a:gd name="adj" fmla="val 3546"/>
            </a:avLst>
          </a:prstGeom>
          <a:solidFill>
            <a:srgbClr val="24375F"/>
          </a:solidFill>
          <a:ln>
            <a:noFill/>
          </a:ln>
        </p:spPr>
        <p:txBody>
          <a:bodyPr rtlCol="0" anchor="ctr"/>
          <a:lstStyle/>
          <a:p>
            <a:pPr algn="ctr"/>
          </a:p>
        </p:txBody>
      </p:sp>
      <p:sp>
        <p:nvSpPr>
          <p:cNvPr id="253" name="Rectangle 252"/>
          <p:cNvSpPr/>
          <p:nvPr/>
        </p:nvSpPr>
        <p:spPr>
          <a:xfrm>
            <a:off x="694944" y="1773936"/>
            <a:ext cx="5303520" cy="4297680"/>
          </a:xfrm>
          <a:custGeom>
            <a:rect b="b" l="l" r="r" t="t"/>
            <a:pathLst>
              <a:path extrusionOk="0" h="4297680" w="5303520">
                <a:moveTo>
                  <a:pt x="0" y="152400"/>
                </a:moveTo>
                <a:cubicBezTo>
                  <a:pt x="0" y="68229"/>
                  <a:pt x="68229" y="0"/>
                  <a:pt x="152400" y="0"/>
                </a:cubicBezTo>
                <a:lnTo>
                  <a:pt x="5151120" y="0"/>
                </a:lnTo>
                <a:cubicBezTo>
                  <a:pt x="5235290" y="0"/>
                  <a:pt x="5303520" y="68229"/>
                  <a:pt x="5303520" y="152400"/>
                </a:cubicBezTo>
                <a:cubicBezTo>
                  <a:pt x="5303520" y="103311"/>
                  <a:pt x="5235291" y="63500"/>
                  <a:pt x="515112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254" name="TextBox 253"/>
          <p:cNvSpPr txBox="1"/>
          <p:nvPr/>
        </p:nvSpPr>
        <p:spPr>
          <a:xfrm>
            <a:off x="950976" y="1993392"/>
            <a:ext cx="475488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Limites assumées</a:t>
            </a:r>
          </a:p>
        </p:txBody>
      </p:sp>
      <p:sp>
        <p:nvSpPr>
          <p:cNvPr id="255" name="Rectangle 254"/>
          <p:cNvSpPr/>
          <p:nvPr/>
        </p:nvSpPr>
        <p:spPr>
          <a:xfrm>
            <a:off x="950976" y="2615184"/>
            <a:ext cx="100584" cy="100584"/>
          </a:xfrm>
          <a:prstGeom prst="rect">
            <a:avLst/>
          </a:prstGeom>
          <a:solidFill>
            <a:srgbClr val="B39DDB"/>
          </a:solidFill>
          <a:ln>
            <a:noFill/>
          </a:ln>
        </p:spPr>
        <p:txBody>
          <a:bodyPr rtlCol="0" anchor="ctr"/>
          <a:lstStyle/>
          <a:p>
            <a:pPr algn="ctr"/>
          </a:p>
        </p:txBody>
      </p:sp>
      <p:sp>
        <p:nvSpPr>
          <p:cNvPr id="256" name="TextBox 255"/>
          <p:cNvSpPr txBox="1"/>
          <p:nvPr/>
        </p:nvSpPr>
        <p:spPr>
          <a:xfrm>
            <a:off x="1188720" y="254203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Le PC doit rester allumé : sinon le bilan est injoignable et aucune alerte ne part.</a:t>
            </a:r>
          </a:p>
        </p:txBody>
      </p:sp>
      <p:sp>
        <p:nvSpPr>
          <p:cNvPr id="257" name="Rectangle 256"/>
          <p:cNvSpPr/>
          <p:nvPr/>
        </p:nvSpPr>
        <p:spPr>
          <a:xfrm>
            <a:off x="950976" y="3269894"/>
            <a:ext cx="100584" cy="100584"/>
          </a:xfrm>
          <a:prstGeom prst="rect">
            <a:avLst/>
          </a:prstGeom>
          <a:solidFill>
            <a:srgbClr val="B39DDB"/>
          </a:solidFill>
          <a:ln>
            <a:noFill/>
          </a:ln>
        </p:spPr>
        <p:txBody>
          <a:bodyPr rtlCol="0" anchor="ctr"/>
          <a:lstStyle/>
          <a:p>
            <a:pPr algn="ctr"/>
          </a:p>
        </p:txBody>
      </p:sp>
      <p:sp>
        <p:nvSpPr>
          <p:cNvPr id="258" name="TextBox 257"/>
          <p:cNvSpPr txBox="1"/>
          <p:nvPr/>
        </p:nvSpPr>
        <p:spPr>
          <a:xfrm>
            <a:off x="1188720" y="3196742"/>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Message Slack seulement : l’e-mail via Composio est incompatible avec Gemini.</a:t>
            </a:r>
          </a:p>
        </p:txBody>
      </p:sp>
      <p:sp>
        <p:nvSpPr>
          <p:cNvPr id="259" name="Rectangle 258"/>
          <p:cNvSpPr/>
          <p:nvPr/>
        </p:nvSpPr>
        <p:spPr>
          <a:xfrm>
            <a:off x="950976" y="3924605"/>
            <a:ext cx="100584" cy="100584"/>
          </a:xfrm>
          <a:prstGeom prst="rect">
            <a:avLst/>
          </a:prstGeom>
          <a:solidFill>
            <a:srgbClr val="B39DDB"/>
          </a:solidFill>
          <a:ln>
            <a:noFill/>
          </a:ln>
        </p:spPr>
        <p:txBody>
          <a:bodyPr rtlCol="0" anchor="ctr"/>
          <a:lstStyle/>
          <a:p>
            <a:pPr algn="ctr"/>
          </a:p>
        </p:txBody>
      </p:sp>
      <p:sp>
        <p:nvSpPr>
          <p:cNvPr id="260" name="TextBox 259"/>
          <p:cNvSpPr txBox="1"/>
          <p:nvPr/>
        </p:nvSpPr>
        <p:spPr>
          <a:xfrm>
            <a:off x="1188720" y="3851453"/>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Pas encore d’alerte « Workly injoignable » sur la sortie rouge du nœud HTTP.</a:t>
            </a:r>
          </a:p>
        </p:txBody>
      </p:sp>
      <p:sp>
        <p:nvSpPr>
          <p:cNvPr id="261" name="Rectangle 260"/>
          <p:cNvSpPr/>
          <p:nvPr/>
        </p:nvSpPr>
        <p:spPr>
          <a:xfrm>
            <a:off x="950976" y="4579315"/>
            <a:ext cx="100584" cy="100584"/>
          </a:xfrm>
          <a:prstGeom prst="rect">
            <a:avLst/>
          </a:prstGeom>
          <a:solidFill>
            <a:srgbClr val="B39DDB"/>
          </a:solidFill>
          <a:ln>
            <a:noFill/>
          </a:ln>
        </p:spPr>
        <p:txBody>
          <a:bodyPr rtlCol="0" anchor="ctr"/>
          <a:lstStyle/>
          <a:p>
            <a:pPr algn="ctr"/>
          </a:p>
        </p:txBody>
      </p:sp>
      <p:sp>
        <p:nvSpPr>
          <p:cNvPr id="262" name="TextBox 261"/>
          <p:cNvSpPr txBox="1"/>
          <p:nvPr/>
        </p:nvSpPr>
        <p:spPr>
          <a:xfrm>
            <a:off x="1188720" y="4506163"/>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Adresse publique ngrok gratuite, liée à un compte personnel.</a:t>
            </a:r>
          </a:p>
        </p:txBody>
      </p:sp>
      <p:sp>
        <p:nvSpPr>
          <p:cNvPr id="263" name="Rectangle 262"/>
          <p:cNvSpPr/>
          <p:nvPr/>
        </p:nvSpPr>
        <p:spPr>
          <a:xfrm>
            <a:off x="950976" y="5234026"/>
            <a:ext cx="100584" cy="100584"/>
          </a:xfrm>
          <a:prstGeom prst="rect">
            <a:avLst/>
          </a:prstGeom>
          <a:solidFill>
            <a:srgbClr val="B39DDB"/>
          </a:solidFill>
          <a:ln>
            <a:noFill/>
          </a:ln>
        </p:spPr>
        <p:txBody>
          <a:bodyPr rtlCol="0" anchor="ctr"/>
          <a:lstStyle/>
          <a:p>
            <a:pPr algn="ctr"/>
          </a:p>
        </p:txBody>
      </p:sp>
      <p:sp>
        <p:nvSpPr>
          <p:cNvPr id="264" name="TextBox 263"/>
          <p:cNvSpPr txBox="1"/>
          <p:nvPr/>
        </p:nvSpPr>
        <p:spPr>
          <a:xfrm>
            <a:off x="1188720" y="5160874"/>
            <a:ext cx="4572000" cy="499262"/>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 Odoo non réalisé : la connexion est testée, pas encore exploitée.</a:t>
            </a:r>
          </a:p>
        </p:txBody>
      </p:sp>
      <p:sp>
        <p:nvSpPr>
          <p:cNvPr id="265" name="Rounded Rectangle 264"/>
          <p:cNvSpPr/>
          <p:nvPr/>
        </p:nvSpPr>
        <p:spPr>
          <a:xfrm>
            <a:off x="6373368" y="1773936"/>
            <a:ext cx="5120640" cy="4297680"/>
          </a:xfrm>
          <a:prstGeom prst="roundRect">
            <a:avLst>
              <a:gd name="adj" fmla="val 3546"/>
            </a:avLst>
          </a:prstGeom>
          <a:solidFill>
            <a:srgbClr val="24375F"/>
          </a:solidFill>
          <a:ln>
            <a:noFill/>
          </a:ln>
        </p:spPr>
        <p:txBody>
          <a:bodyPr rtlCol="0" anchor="ctr"/>
          <a:lstStyle/>
          <a:p>
            <a:pPr algn="ctr"/>
          </a:p>
        </p:txBody>
      </p:sp>
      <p:sp>
        <p:nvSpPr>
          <p:cNvPr id="266" name="Rectangle 265"/>
          <p:cNvSpPr/>
          <p:nvPr/>
        </p:nvSpPr>
        <p:spPr>
          <a:xfrm>
            <a:off x="6373368" y="1773936"/>
            <a:ext cx="5120640" cy="4297680"/>
          </a:xfrm>
          <a:custGeom>
            <a:rect b="b" l="l" r="r" t="t"/>
            <a:pathLst>
              <a:path extrusionOk="0" h="4297680" w="5120640">
                <a:moveTo>
                  <a:pt x="0" y="152400"/>
                </a:moveTo>
                <a:cubicBezTo>
                  <a:pt x="0" y="68229"/>
                  <a:pt x="68229" y="0"/>
                  <a:pt x="152400" y="0"/>
                </a:cubicBezTo>
                <a:lnTo>
                  <a:pt x="4968240" y="0"/>
                </a:lnTo>
                <a:cubicBezTo>
                  <a:pt x="5052410" y="0"/>
                  <a:pt x="5120640" y="68229"/>
                  <a:pt x="5120640" y="152400"/>
                </a:cubicBezTo>
                <a:cubicBezTo>
                  <a:pt x="5120640" y="103311"/>
                  <a:pt x="5052411" y="63500"/>
                  <a:pt x="49682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267" name="TextBox 266"/>
          <p:cNvSpPr txBox="1"/>
          <p:nvPr/>
        </p:nvSpPr>
        <p:spPr>
          <a:xfrm>
            <a:off x="6629400" y="1993392"/>
            <a:ext cx="4572000" cy="310896"/>
          </a:xfrm>
          <a:prstGeom prst="rect">
            <a:avLst/>
          </a:prstGeom>
          <a:noFill/>
        </p:spPr>
        <p:txBody>
          <a:bodyPr wrap="square" lIns="0" tIns="0" rIns="0" bIns="0" anchor="t">
            <a:noAutofit/>
          </a:bodyPr>
          <a:lstStyle/>
          <a:p>
            <a:pPr algn="l">
              <a:lnSpc>
                <a:spcPct val="115000"/>
              </a:lnSpc>
              <a:spcBef>
                <a:spcPts val="0"/>
              </a:spcBef>
              <a:spcAft>
                <a:spcPts val="0"/>
              </a:spcAft>
            </a:pPr>
            <a:r>
              <a:rPr sz="1700" b="1" i="0">
                <a:solidFill>
                  <a:srgbClr val="FFFFFF"/>
                </a:solidFill>
                <a:latin typeface="Sora"/>
              </a:rPr>
              <a:t>Prochaines étapes</a:t>
            </a:r>
          </a:p>
        </p:txBody>
      </p:sp>
      <p:sp>
        <p:nvSpPr>
          <p:cNvPr id="268" name="Oval 267"/>
          <p:cNvSpPr/>
          <p:nvPr/>
        </p:nvSpPr>
        <p:spPr>
          <a:xfrm>
            <a:off x="6629400" y="2542032"/>
            <a:ext cx="365760" cy="365760"/>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269" name="TextBox 268"/>
          <p:cNvSpPr txBox="1"/>
          <p:nvPr/>
        </p:nvSpPr>
        <p:spPr>
          <a:xfrm>
            <a:off x="7178040" y="2578608"/>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Brancher la sortie rouge du nœud HTTP : une alerte Slack quand Workly ne répond pas.</a:t>
            </a:r>
          </a:p>
        </p:txBody>
      </p:sp>
      <p:sp>
        <p:nvSpPr>
          <p:cNvPr id="270" name="Oval 269"/>
          <p:cNvSpPr/>
          <p:nvPr/>
        </p:nvSpPr>
        <p:spPr>
          <a:xfrm>
            <a:off x="6629400" y="3310128"/>
            <a:ext cx="365760" cy="365760"/>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271" name="TextBox 270"/>
          <p:cNvSpPr txBox="1"/>
          <p:nvPr/>
        </p:nvSpPr>
        <p:spPr>
          <a:xfrm>
            <a:off x="7178040" y="3346704"/>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Héberger Workly sur un serveur permanent, hors du PC personnel.</a:t>
            </a:r>
          </a:p>
        </p:txBody>
      </p:sp>
      <p:sp>
        <p:nvSpPr>
          <p:cNvPr id="272" name="Oval 271"/>
          <p:cNvSpPr/>
          <p:nvPr/>
        </p:nvSpPr>
        <p:spPr>
          <a:xfrm>
            <a:off x="6629400" y="4078224"/>
            <a:ext cx="365760" cy="365760"/>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273" name="TextBox 272"/>
          <p:cNvSpPr txBox="1"/>
          <p:nvPr/>
        </p:nvSpPr>
        <p:spPr>
          <a:xfrm>
            <a:off x="7178040" y="4114800"/>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Importer les commandes Odoo comme volumes prévus.</a:t>
            </a:r>
          </a:p>
        </p:txBody>
      </p:sp>
      <p:sp>
        <p:nvSpPr>
          <p:cNvPr id="274" name="Oval 273"/>
          <p:cNvSpPr/>
          <p:nvPr/>
        </p:nvSpPr>
        <p:spPr>
          <a:xfrm>
            <a:off x="6629400" y="4846320"/>
            <a:ext cx="365760" cy="365760"/>
          </a:xfrm>
          <a:prstGeom prst="ellipse">
            <a:avLst/>
          </a:prstGeom>
          <a:solidFill>
            <a:srgbClr val="6B3FA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FFFFFF"/>
                </a:solidFill>
                <a:latin typeface="Sora"/>
              </a:rPr>
              <a:t>4</a:t>
            </a:r>
          </a:p>
        </p:txBody>
      </p:sp>
      <p:sp>
        <p:nvSpPr>
          <p:cNvPr id="275" name="TextBox 274"/>
          <p:cNvSpPr txBox="1"/>
          <p:nvPr/>
        </p:nvSpPr>
        <p:spPr>
          <a:xfrm>
            <a:off x="7178040" y="4882896"/>
            <a:ext cx="4069080" cy="548640"/>
          </a:xfrm>
          <a:prstGeom prst="rect">
            <a:avLst/>
          </a:prstGeom>
          <a:noFill/>
        </p:spPr>
        <p:txBody>
          <a:bodyPr wrap="square" lIns="0" tIns="0" rIns="0" bIns="0" anchor="t">
            <a:noAutofit/>
          </a:bodyPr>
          <a:lstStyle/>
          <a:p>
            <a:pPr algn="l">
              <a:lnSpc>
                <a:spcPct val="112000"/>
              </a:lnSpc>
              <a:spcBef>
                <a:spcPts val="0"/>
              </a:spcBef>
              <a:spcAft>
                <a:spcPts val="0"/>
              </a:spcAft>
            </a:pPr>
            <a:r>
              <a:rPr sz="1350" b="0" i="0">
                <a:solidFill>
                  <a:srgbClr val="E4E9F5"/>
                </a:solidFill>
                <a:latin typeface="DM Sans"/>
              </a:rPr>
              <a:t>Mesurer sur plusieurs nuits la fiabilité de Fusion et de n8n.</a:t>
            </a:r>
          </a:p>
        </p:txBody>
      </p:sp>
      <p:sp>
        <p:nvSpPr>
          <p:cNvPr id="276" name="TextBox 275"/>
          <p:cNvSpPr txBox="1"/>
          <p:nvPr/>
        </p:nvSpPr>
        <p:spPr>
          <a:xfrm>
            <a:off x="694944" y="6345936"/>
            <a:ext cx="9692640" cy="210312"/>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A9B4D0"/>
                </a:solidFill>
                <a:latin typeface="DM Sans"/>
              </a:rPr>
              <a:t>Ordre de priorité : d’abord signaler une panne, ensuite durcir l’hébergement.</a:t>
            </a:r>
          </a:p>
        </p:txBody>
      </p:sp>
    </p:spTree>
  </p:cSld>
  <p:clrMapOvr>
    <a:masterClrMapping/>
  </p:clrMapOvr>
</p:sld>
</file>

<file path=ppt/theme/theme1.xml><?xml version="1.0" encoding="utf-8"?>
<a:theme xmlns:a="http://schemas.openxmlformats.org/drawingml/2006/main" xmlns:r="http://schemas.openxmlformats.org/officeDocument/2006/relationships"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2026-10-02T20:17:43Z</dcterms:created>
</cp:coreProperties>
</file>