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32"/>
  </p:notesMasterIdLst>
  <p:sldIdLst>
    <p:sldId id="256" r:id="rId3"/>
    <p:sldId id="298" r:id="rId4"/>
    <p:sldId id="299" r:id="rId5"/>
    <p:sldId id="300" r:id="rId6"/>
    <p:sldId id="307" r:id="rId48"/>
    <p:sldId id="308" r:id="rId49"/>
    <p:sldId id="301" r:id="rId7"/>
    <p:sldId id="302" r:id="rId8"/>
    <p:sldId id="303" r:id="rId9"/>
    <p:sldId id="304" r:id="rId10"/>
    <p:sldId id="309" r:id="rId50"/>
    <p:sldId id="305" r:id="rId11"/>
    <p:sldId id="264" r:id="rId12"/>
    <p:sldId id="271" r:id="rId13"/>
    <p:sldId id="274" r:id="rId14"/>
    <p:sldId id="275" r:id="rId15"/>
    <p:sldId id="297" r:id="rId16"/>
    <p:sldId id="276" r:id="rId17"/>
    <p:sldId id="281" r:id="rId18"/>
    <p:sldId id="306" r:id="rId19"/>
    <p:sldId id="285" r:id="rId20"/>
    <p:sldId id="286" r:id="rId21"/>
    <p:sldId id="287" r:id="rId22"/>
    <p:sldId id="288" r:id="rId23"/>
    <p:sldId id="289" r:id="rId24"/>
    <p:sldId id="290" r:id="rId25"/>
    <p:sldId id="291" r:id="rId26"/>
    <p:sldId id="310" r:id="rId51"/>
    <p:sldId id="311" r:id="rId52"/>
    <p:sldId id="292" r:id="rId27"/>
    <p:sldId id="293" r:id="rId28"/>
    <p:sldId id="295" r:id="rId30"/>
    <p:sldId id="312" r:id="rId53"/>
    <p:sldId id="296" r:id="rId31"/>
  </p:sldIdLst>
  <p:sldSz cx="12192000" cy="6858000"/>
  <p:notesSz cx="6858000" cy="12192000"/>
  <p:embeddedFontLst>
    <p:embeddedFont>
      <p:font typeface="Consolas" panose="020B0609020204030204" pitchFamily="49" charset="0"/>
      <p:regular r:id="rId33"/>
      <p:bold r:id="rId34"/>
      <p:italic r:id="rId35"/>
      <p:boldItalic r:id="rId36"/>
    </p:embeddedFont>
    <p:embeddedFont>
      <p:font typeface="DM Sans" pitchFamily="2" charset="0"/>
      <p:regular r:id="rId37"/>
      <p:bold r:id="rId38"/>
      <p:italic r:id="rId39"/>
      <p:boldItalic r:id="rId40"/>
    </p:embeddedFont>
    <p:embeddedFont>
      <p:font typeface="Sora" panose="020B0604020202020204" charset="0"/>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5" roundtripDataSignature="AMtx7mgw+XJJYjX9oEtzHzcteUKfSoJj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09B6FF-CDFB-4AB1-8E42-484B63002EFC}">
  <a:tblStyle styleId="{2709B6FF-CDFB-4AB1-8E42-484B63002EF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4660"/>
  </p:normalViewPr>
  <p:slideViewPr>
    <p:cSldViewPr snapToGrid="0">
      <p:cViewPr varScale="1">
        <p:scale>
          <a:sx n="78" d="100"/>
          <a:sy n="78" d="100"/>
        </p:scale>
        <p:origin x="89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notesMaster" Target="notesMasters/notesMaster1.xml"/><Relationship Id="rId33" Type="http://schemas.openxmlformats.org/officeDocument/2006/relationships/font" Target="fonts/font1.fntdata"/><Relationship Id="rId34" Type="http://schemas.openxmlformats.org/officeDocument/2006/relationships/font" Target="fonts/font2.fntdata"/><Relationship Id="rId35" Type="http://schemas.openxmlformats.org/officeDocument/2006/relationships/font" Target="fonts/font3.fntdata"/><Relationship Id="rId36" Type="http://schemas.openxmlformats.org/officeDocument/2006/relationships/font" Target="fonts/font4.fntdata"/><Relationship Id="rId37" Type="http://schemas.openxmlformats.org/officeDocument/2006/relationships/font" Target="fonts/font5.fntdata"/><Relationship Id="rId38" Type="http://schemas.openxmlformats.org/officeDocument/2006/relationships/font" Target="fonts/font6.fntdata"/><Relationship Id="rId39" Type="http://schemas.openxmlformats.org/officeDocument/2006/relationships/font" Target="fonts/font7.fntdata"/><Relationship Id="rId40" Type="http://schemas.openxmlformats.org/officeDocument/2006/relationships/font" Target="fonts/font8.fntdata"/><Relationship Id="rId41" Type="http://schemas.openxmlformats.org/officeDocument/2006/relationships/font" Target="fonts/font9.fntdata"/><Relationship Id="rId42" Type="http://schemas.openxmlformats.org/officeDocument/2006/relationships/font" Target="fonts/font10.fntdata"/><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2.xml"/><Relationship Id="rId51" Type="http://schemas.openxmlformats.org/officeDocument/2006/relationships/slide" Target="slides/slide33.xml"/><Relationship Id="rId52" Type="http://schemas.openxmlformats.org/officeDocument/2006/relationships/slide" Target="slides/slide34.xml"/><Relationship Id="rId53" Type="http://schemas.openxmlformats.org/officeDocument/2006/relationships/slide" Target="slides/slide35.xml"/><Relationship Id="rId65" Type="http://customschemas.google.com/relationships/presentationmetadata" Target="metadata"/><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 name="Google Shape;27;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8" name="Google Shape;28;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rgbClr val="000000"/>
                </a:solidFill>
                <a:latin typeface="Arial"/>
                <a:ea typeface="Arial"/>
                <a:cs typeface="Arial"/>
                <a:sym typeface="Arial"/>
              </a:rPr>
              <a:t>1</a:t>
            </a:fld>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r>
              <a:rPr lang="en-US" dirty="0"/>
              <a:t>Partir de la définition de référence du CSCMP, qui sert de cadre à toute la cartographie. Faire remarquer que la définition ne se limite pas à l'entreprise : elle inclut les partenaires, en amont comme en aval. Relier les trois mots-clés à la suite : planifier renvoie au métier 2, coordonner aux relations avec fournisseurs et clients, intégrer offre et demande à l'ensemble du flux. Préciser que la traduction est la nôtre et que l'original est affiché en dessous.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r>
              <a:rPr lang="en-US" dirty="0"/>
              <a:t>Montrer que la gestion logistique est une partie du supply chain management, pas un synonyme. Insister sur les deux sens du flux : le sens retour fera l'objet d'un métier à part entière, la logistique inverse. Faire remarquer que l'information circule avec les biens, ce qui justifie les outils de planification. Transition : la cartographie qui suit découpe ce périmètre en métiers.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r>
              <a:rPr lang="en-US" dirty="0"/>
              <a:t>Replacer le 2.3.3 dans sa famille : ses deux voisins dimensionnent l'espace et les véhicules, lui dimensionne les personnes et les machines. Insister sur le mot « transforme » : le 2.3.3 ne prévoit pas la demande, il part d'une prévision déjà faite. Lire la question à voix haute et marquer un temps : c'est la question que se pose chaque responsable de plateforme. Annoncer la diapositive suivante, qui détaille ses entrées et ses sorties.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r>
              <a:rPr lang="en-US" dirty="0"/>
              <a:t>Lire le schéma de gauche à droite. À l'entrée, insister sur le fait que la prévision de volume vient d'un autre sous-processus, le 2.1.1 : le 2.3.3 la reçoit, il ne la produit pas. Au centre, le calcul est le cœur de notre application. À la sortie, montrer grâce aux couleurs que le plan sert à la fois la planification (vert) et les métiers d'exécution dans l'entrepôt (orange et violet).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r>
              <a:rPr lang="en-US" dirty="0"/>
              <a:t>Désamorcer une objection fréquente : la prévision n'est pas en cause, puisque le pic était connu dès le lundi. Pointer la case en pointillés du schéma, c'est exactement le maillon qui manque. Souligner les deux limites actuelles : l'intuition, qui dépend d'une personne, et les ratios figés, qui ne suivent pas les variations de volume. Lire ensuite la problématique lentement, en insistant sur la fin : il faut aussi pouvoir mesurer la fiabilité.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r>
              <a:t>Un objectif est un résultat à atteindre, formulé de façon précise et mesurable : c’est la définition de la norme ISO 9000. Notre application poursuit quatre objectifs. Prévoir et planifier les besoins en main-d’œuvre et en équipements, avec des alertes à l’avance. Suivre la performance par des KPI comparés à des cibles. Comparer le réel aux prévisions de trois modèles : régression linéaire, réseau de neurones et gradient boosting. Restituer par des tableaux de bord et des rapports automatiques.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Nous retenons le Gradient Boosting pour trois raisons : il capte la congestion non linéaire, il s’intègre sans modifier l’architecture, et il compare trois approches sur les mêmes métriques, soit MAE, RMSE, MAPE et biais, avec le même taux de victoire. Nous assumons sa limite : pas d’extrapolation, la RL reste le filet de sécurité. L’intégration dans l’application reste à venir. La partie 2 examine les courbes d’apprentissage.</a:t>
            </a:r>
            <a:endParaRPr/>
          </a:p>
        </p:txBody>
      </p:sp>
      <p:sp>
        <p:nvSpPr>
          <p:cNvPr id="219" name="Google Shape;219;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6" name="Google Shape;376;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Douze tâches planifiées automatisent les calculs : huit chaque nuit, et quatre périodiques (hebdomadaire, capacités de la semaine, mensuel, annuel). Sur les 24 cas d’usage, 11 sont entièrement automatiques, 12 exigent une décision humaine, UC01 compris, et un seul est mixte, UC22. Le jury doit retenir que ce qui reste manuel engage une responsabilité et ne résulte pas d’un manque d’outillage.</a:t>
            </a:r>
          </a:p>
        </p:txBody>
      </p:sp>
      <p:sp>
        <p:nvSpPr>
          <p:cNvPr id="377" name="Google Shape;377;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8" name="Google Shape;448;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Cette première moitié couvre les cas d’usage UC01 à UC13. Le critère est unique : un calcul sans jugement est automatique, un choix ou un arbitrage est manuel. Le jury peut vérifier en particulier que l’activation d’un modèle, UC10, n’est jamais automatique, même après un bon score. La diapositive suivante couvre les cas d’usage UC14 à UC24.</a:t>
            </a:r>
            <a:endParaRPr/>
          </a:p>
        </p:txBody>
      </p:sp>
      <p:sp>
        <p:nvSpPr>
          <p:cNvPr id="449" name="Google Shape;449;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5" name="Google Shape;465;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Cette seconde moitié couvre les cas d’usage UC14 à UC24. Le calcul des KPI, des alertes, de la dérive et des rapports est automatique. Valider un plan, définir les cibles, traiter les alertes et exporter un rapport restent manuels. UC22 est le seul cas mixte : la vue est automatique, la consultation est manuelle. Le diagramme BPMN regroupe l’ensemble de ces workflows.</a:t>
            </a:r>
            <a:endParaRPr/>
          </a:p>
        </p:txBody>
      </p:sp>
      <p:sp>
        <p:nvSpPr>
          <p:cNvPr id="466" name="Google Shape;466;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Le diagramme BPMN rassemble tous les workflows ; la légende distingue les tâches automatiques, les tâches manuelles et les passerelles de décision. Le jury doit retenir que le processus automatise les calculs et réserve les décisions engageantes à un responsable. [à compléter : lecture du diagramme une fois la figure insérée]. La partie 4 présente les limites et l’apport attendu.</a:t>
            </a:r>
            <a:endParaRPr/>
          </a:p>
        </p:txBody>
      </p:sp>
      <p:sp>
        <p:nvSpPr>
          <p:cNvPr id="483" name="Google Shape;483;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extLst>
      <p:ext uri="{BB962C8B-B14F-4D97-AF65-F5344CB8AC3E}">
        <p14:creationId xmlns:p14="http://schemas.microsoft.com/office/powerpoint/2010/main" val="3805258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2" name="Google Shape;482;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Le diagramme BPMN rassemble tous les workflows ; la légende distingue les tâches automatiques, les tâches manuelles et les passerelles de décision. Le jury doit retenir que le processus automatise les calculs et réserve les décisions engageantes à un responsable. [à compléter : lecture du diagramme une fois la figure insérée]. La partie 4 présente les limites et l’apport attendu.</a:t>
            </a:r>
            <a:endParaRPr/>
          </a:p>
        </p:txBody>
      </p:sp>
      <p:sp>
        <p:nvSpPr>
          <p:cNvPr id="483" name="Google Shape;483;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1" name="Google Shape;551;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Le Bottom line compare deux façons de planifier sur le même besoin réel : reconduire chaque semaine le plan de la semaine précédente, ou suivre la prévision de Workly. Résultat : 771 heures mal allouées évitées, 542 commandes en retard évitées, un taux de service qui passe de 94,6 % à 99,9 % et un gain net de 15 113 MAD, soit 183 874 MAD par an. Ce sont des résultats de simulation sur le jeu de données de démonstration.</a:t>
            </a:r>
          </a:p>
        </p:txBody>
      </p:sp>
      <p:sp>
        <p:nvSpPr>
          <p:cNvPr id="552" name="Google Shape;552;p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rgbClr val="000000"/>
                </a:solidFill>
                <a:latin typeface="Arial"/>
                <a:ea typeface="Arial"/>
                <a:cs typeface="Arial"/>
                <a:sym typeface="Arial"/>
              </a:rPr>
              <a:t>16</a:t>
            </a:fld>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Description du use case. Aujourd’hui, Workly exécute seul sa chaîne de nuit, mais personne n’est prévenu si elle échoue ou si elle ne tourne pas, par exemple parce que le PC est éteint : Workly ne peut pas signaler sa propre absence, et le contrôle du journal reste manuel. Le use case ajoute une supervision automatique : chaque matin, la plateforme lit la route de bilan, deux agents analysent et rédigent, et un message part sur Slack. La cible Bottom line est proposée par l’équipe : toutes les nuits supervisées sans action manuelle, une panne détectée en six heures au plus, et une meilleure prise en charge des alertes. Les valeurs de départ viennent de l’onglet Bottom line du livrable 2 (alertes traitées 28 %, prise en charge 18,3 h) et de la nuit mesurée du 7 octobre (2,7 h de temps manuel évité). Les cibles restent à valider.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Jusqu’au livrable 2, la plateforme pilotait chaque étape : dix-sept nœuds HTTP, un par tâche, et un jeton saisi dans chacun. Cette semaine, nous avons inversé le pilotage. Workly enchaîne lui-même ses huit étapes de nuit ; la plateforme se contente de lire un bilan, de le faire analyser par deux agents et de prévenir l’équipe. Le jury doit retenir le principe : Workly planifie et exécute, la plateforme surveille et prévient.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Voici la chaîne complète. À 00:30 UTC, Workly exécute seul les huit étapes de la nuit. À 06:00 UTC, un Cron Fusion lance le flux Agentic AI. Le flux lit le bilan de Workly, accompagné des passages utiles de la base de connaissances, deux agents l’analysent puis rédigent le message, et un message arrive sur Slack.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Le planificateur de Workly démarre sans interface graphique et exécute seul la chaîne de nuit : sauvegarde, import, comparaison, KPI, alertes, prévisions et rapport, dans l’ordre des dépendances. L’heure est explicite, 00:30 UTC. Si le PC dort à l’heure prévue, la nuit part au réveil.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Dans Workly, l’onglet Tâches de l’administration liste les douze tâches avec leur étape de pipeline, leur dernière et leur prochaine exécution et leur dernier statut. Un bouton exécute la tâche sélectionnée, un autre ouvre le journal. Les exécutions lancées de l’extérieur, par la plateforme, apparaissent au même endroit : le journal est la source unique que lit la route de bilan. [à compléter : lecture de la capture une fois insérée]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Le bilan lit le journal des tâches et le résume en un statut : succès, incomplet ou échec. Incomplet signifie qu’une étape de la nuit n’a pas réussi depuis trente heures, par exemple parce que le PC était éteint. Ce cas s’est produit en réel : le bilan l’a signalé et la chaîne a été relancée. À droite, les mesures de la nuit du 6 au 7 octobre : huit étapes réussies sur huit en 2,1 secondes.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Le flux comporte cinq étapes. Une API Request lit le bilan de Workly avec, en cas de panne, les passages de la base de connaissances. Le Parser et le Prompt Template le mettent en forme. L’agent Analyste évalue la gravité et cite sa source. L’agent Rédacteur écrit le message. Enfin le message est envoyé sur Slack.</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Nous avons séparé deux rôles. L’Analyste ne travaille que sur les données reçues : le bilan et les passages de la base de connaissances ; il évalue la gravité, la cause probable et l’action, et cite sa source. Le Rédacteur transforme cette analyse en un court message en français, sans adresse ni jeton. L’exemple montré est celui d’une nuit non exécutée parce que le PC était éteint.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Côté Fusion, il ne reste qu’un Cron et un nœud HTTP. Le Cron s’exprime en UTC et s’active dès l’enregistrement du workflow. Le nœud appelle le flux avec un jeton Bearer, sans corps. Son délai se règle en millisecondes : nous avons perdu du temps avec la valeur 120, qui produisait une erreur de délai, avant de saisir 120 000. [à compléter : lecture de la capture du canevas une fois insérée]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Démonstration. Le même flux produit des messages différents selon l’état de la nuit. Pour une nuit non exécutée, le message donne la cause probable et l’action, tirées de la base de connaissances. Quand tout va bien, il le dit en deux lignes et aucune intervention n’est requise.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Workly se connecte à Odoo par l’API externe XML-RPC, avec une clé API conservée dans des variables d’environnement du PC. Le test renvoie la version 20.0+e et zéro commande de vente, car la base de démonstration est vide. L’import des commandes comme volumes prévus reste à réaliser : c’est la prochaine source de données, en plus de l’application.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35000" y="914400"/>
            <a:ext cx="8128000" cy="4572000"/>
          </a:xfrm>
        </p:spPr>
      </p:sp>
      <p:sp>
        <p:nvSpPr>
          <p:cNvPr id="3" name="Notes Placeholder 2"/>
          <p:cNvSpPr>
            <a:spLocks noGrp="1"/>
          </p:cNvSpPr>
          <p:nvPr>
            <p:ph type="body" idx="1"/>
          </p:nvPr>
        </p:nvSpPr>
        <p:spPr/>
        <p:txBody>
          <a:bodyPr/>
          <a:lstStyle/>
          <a:p>
            <a:r>
              <a:t>Limites assumées : le PC doit rester allumé, sinon le bilan est injoignable ; l’alerte passe par Slack ; l’adresse publique gratuite est liée à un compte personnel ; la base de connaissances ne couvre que les pannes déjà décrites, et l’agent le dit quand il ne sait pas. Prochaines étapes : alerter quand Workly ne répond pas, héberger Workly sur un serveur permanent, importer les commandes Odoo, et mesurer la fiabilité sur plusieurs nuits.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Clarifions deux notions. Un processus est un ensemble d’activités liées qui transforment des éléments d’entrée en un résultat attendu : c’est la définition de la norme ISO 9000, reformulée. Un sous-processus est une partie d’un processus : un groupe d’activités plus fin, avec ses propres entrées et son propre résultat. Dans la cartographie CSCMP, trois niveaux s’emboîtent : le métier, qui est le grand processus, le sous-métier, et le sous-processus. Notre exemple : le métier 2, Prévision et planification, contient le sous-métier 2.3, Planification des capacités, qui contient le sous-processus 2.3.3, Ressources humaines et équipements.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la cartographie CSCMP complète, avec ses neuf métiers et ses cinquante-cinq sous-processus. Tout est atténué, sauf l’endroit qui nous intéresse. Il se trouve dans le métier 2, Prévision et planification, dans le sous-métier 2.3, Planification des capacités. Ce sous-métier compte trois sous-processus : les capacités d’entreposage, les capacités de transport, et le 2.3.3, Ressources humaines et équipements, qui est le nôtre. Il transforme une prévision de volume en heures de main-d’œuvre, en effectif et en équipements, par zone et par jour.</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diagramme de cas d’utilisation montre ce que fait l’application et qui l’utilise. Six acteurs : quatre utilisateurs humains, le planificateur, le responsable d’exploitation, la direction et l’administrateur, et deux acteurs techniques, le système source, WMS ou SIRH, qui fournit les données, et le planificateur de tâches, qui lance les traitements automatiques. Vingt-quatre cas d’utilisation sont regroupés en sept paquets, un par grande fonction. La relation include désigne une étape toujours exécutée, la relation extend une étape sous condition.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RAG suit trois étapes. Recherche : à partir des pannes du bilan, Workly construit une question et retrouve les passages les plus proches dans la base de connaissances. Augmentation : ces passages sont ajoutés au bilan, puis donnés à l’agent avec sa consigne. Génération : l’agent Analyste explique la panne à partir de ces passages et cite la section utilisée, puis le Rédacteur écrit le message. La base compte vingt-sept sections tirées du fonctionnement réel de Workly. Si aucune section ne correspond, l’agent répond « cause inconnue dans la base » au lieu d’inventer.</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Premier constat : pour la même situation, une nuit incomplète, le message sans RAG restait générique : vérifier le planificateur ou les services. Avec le RAG, il donne la cause probable, un PC éteint ou en veille à 00:30 UTC, et la procédure de reprise. Deuxième constat : le flux produit trois messages différents selon l’état de la nuit. Pour une panne simulée de la sauvegarde, il indique que l’outil de sauvegarde est introuvable ; pour une nuit non exécutée, il propose de relancer le planificateur ; quand tout va bien, il le dit en deux lignes.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ce que nous avons atteint. Les modèles : trois approches comparées, dont le gradient boosting, retenu et intégré. L’automatisation : douze tâches planifiées, dont huit étapes chaque nuit, sans interface graphique. Le Bottom line : un gain net de 15 113 MAD sur la période de démonstration, soit 183 874 MAD par an, et un taux de service de 94,6 % à 99,9 %. La supervision : un bilan en trois statuts, analysé par deux agents et envoyé sur Slack chaque matin. Le RAG : vingt-sept sections de connaissances, dont les agents citent la source. Enfin la connexion à Odoo, testée.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F4F6FB"/>
        </a:solidFill>
        <a:effectLst/>
      </p:bgPr>
    </p:bg>
    <p:spTree>
      <p:nvGrpSpPr>
        <p:cNvPr id="1" name="Shape 10"/>
        <p:cNvGrpSpPr/>
        <p:nvPr/>
      </p:nvGrpSpPr>
      <p:grpSpPr>
        <a:xfrm>
          <a:off x="0" y="0"/>
          <a:ext cx="0" cy="0"/>
          <a:chOff x="0" y="0"/>
          <a:chExt cx="0" cy="0"/>
        </a:xfrm>
      </p:grpSpPr>
      <p:sp>
        <p:nvSpPr>
          <p:cNvPr id="11" name="Google Shape;11;p33"/>
          <p:cNvSpPr txBox="1">
            <a:spLocks noGrp="1"/>
          </p:cNvSpPr>
          <p:nvPr>
            <p:ph type="title"/>
          </p:nvPr>
        </p:nvSpPr>
        <p:spPr>
          <a:xfrm>
            <a:off x="698500" y="919481"/>
            <a:ext cx="10795000" cy="64008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1B2A4A"/>
              </a:buClr>
              <a:buSzPts val="2100"/>
              <a:buFont typeface="Sora"/>
              <a:buNone/>
              <a:defRPr sz="2100">
                <a:solidFill>
                  <a:srgbClr val="1B2A4A"/>
                </a:solidFill>
                <a:latin typeface="Sora"/>
                <a:ea typeface="Sora"/>
                <a:cs typeface="Sora"/>
                <a:sym typeface="So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 name="Google Shape;12;p33"/>
          <p:cNvSpPr txBox="1">
            <a:spLocks noGrp="1"/>
          </p:cNvSpPr>
          <p:nvPr>
            <p:ph type="body" idx="1"/>
          </p:nvPr>
        </p:nvSpPr>
        <p:spPr>
          <a:xfrm>
            <a:off x="698500" y="1864361"/>
            <a:ext cx="10680700" cy="4180839"/>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1B2A4A"/>
              </a:buClr>
              <a:buSzPts val="1600"/>
              <a:buNone/>
              <a:defRPr sz="1600">
                <a:solidFill>
                  <a:srgbClr val="1B2A4A"/>
                </a:solidFill>
                <a:latin typeface="DM Sans"/>
                <a:ea typeface="DM Sans"/>
                <a:cs typeface="DM Sans"/>
                <a:sym typeface="DM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7"/>
        <p:cNvGrpSpPr/>
        <p:nvPr/>
      </p:nvGrpSpPr>
      <p:grpSpPr>
        <a:xfrm>
          <a:off x="0" y="0"/>
          <a:ext cx="0" cy="0"/>
          <a:chOff x="0" y="0"/>
          <a:chExt cx="0" cy="0"/>
        </a:xfrm>
      </p:grpSpPr>
      <p:sp>
        <p:nvSpPr>
          <p:cNvPr id="8" name="Google Shape;8;p32"/>
          <p:cNvSpPr txBox="1">
            <a:spLocks noGrp="1"/>
          </p:cNvSpPr>
          <p:nvPr>
            <p:ph type="title"/>
          </p:nvPr>
        </p:nvSpPr>
        <p:spPr>
          <a:xfrm>
            <a:off x="698500" y="919481"/>
            <a:ext cx="10795000" cy="640080"/>
          </a:xfrm>
          <a:prstGeom prst="rect">
            <a:avLst/>
          </a:prstGeom>
          <a:noFill/>
          <a:ln>
            <a:noFill/>
          </a:ln>
        </p:spPr>
        <p:txBody>
          <a:bodyPr spcFirstLastPara="1" wrap="square" lIns="0" tIns="0" rIns="0" bIns="0" anchor="t" anchorCtr="0">
            <a:noAutofit/>
          </a:bodyPr>
          <a:lstStyle>
            <a:lvl1pPr marR="0" lvl="0" algn="l" rtl="0">
              <a:lnSpc>
                <a:spcPct val="115000"/>
              </a:lnSpc>
              <a:spcBef>
                <a:spcPts val="0"/>
              </a:spcBef>
              <a:spcAft>
                <a:spcPts val="0"/>
              </a:spcAft>
              <a:buClr>
                <a:srgbClr val="1B2A4A"/>
              </a:buClr>
              <a:buSzPts val="2100"/>
              <a:buFont typeface="Sora"/>
              <a:buNone/>
              <a:defRPr sz="2100" b="0" i="0" u="none" strike="noStrike" cap="none">
                <a:solidFill>
                  <a:srgbClr val="1B2A4A"/>
                </a:solidFill>
                <a:latin typeface="Sora"/>
                <a:ea typeface="Sora"/>
                <a:cs typeface="Sora"/>
                <a:sym typeface="Sor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32"/>
          <p:cNvSpPr txBox="1">
            <a:spLocks noGrp="1"/>
          </p:cNvSpPr>
          <p:nvPr>
            <p:ph type="body" idx="1"/>
          </p:nvPr>
        </p:nvSpPr>
        <p:spPr>
          <a:xfrm>
            <a:off x="698500" y="1864361"/>
            <a:ext cx="10680700" cy="4180839"/>
          </a:xfrm>
          <a:prstGeom prst="rect">
            <a:avLst/>
          </a:prstGeom>
          <a:noFill/>
          <a:ln>
            <a:noFill/>
          </a:ln>
        </p:spPr>
        <p:txBody>
          <a:bodyPr spcFirstLastPara="1" wrap="square" lIns="0" tIns="0" rIns="0" bIns="0" anchor="t" anchorCtr="0">
            <a:noAutofit/>
          </a:bodyPr>
          <a:lstStyle>
            <a:lvl1pPr marL="457200" marR="0" lvl="0" indent="-228600" algn="l" rtl="0">
              <a:lnSpc>
                <a:spcPct val="140000"/>
              </a:lnSpc>
              <a:spcBef>
                <a:spcPts val="320"/>
              </a:spcBef>
              <a:spcAft>
                <a:spcPts val="0"/>
              </a:spcAft>
              <a:buClr>
                <a:srgbClr val="1B2A4A"/>
              </a:buClr>
              <a:buSzPts val="1600"/>
              <a:buFont typeface="Arial"/>
              <a:buNone/>
              <a:defRPr sz="1600" b="0" i="0" u="none" strike="noStrike" cap="none">
                <a:solidFill>
                  <a:srgbClr val="1B2A4A"/>
                </a:solidFill>
                <a:latin typeface="DM Sans"/>
                <a:ea typeface="DM Sans"/>
                <a:cs typeface="DM Sans"/>
                <a:sym typeface="DM Sans"/>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DM Sans"/>
                <a:ea typeface="DM Sans"/>
                <a:cs typeface="DM Sans"/>
                <a:sym typeface="DM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DM Sans"/>
                <a:ea typeface="DM Sans"/>
                <a:cs typeface="DM Sans"/>
                <a:sym typeface="DM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29"/>
        <p:cNvGrpSpPr/>
        <p:nvPr/>
      </p:nvGrpSpPr>
      <p:grpSpPr>
        <a:xfrm>
          <a:off x="0" y="0"/>
          <a:ext cx="0" cy="0"/>
          <a:chOff x="0" y="0"/>
          <a:chExt cx="0" cy="0"/>
        </a:xfrm>
      </p:grpSpPr>
      <p:sp>
        <p:nvSpPr>
          <p:cNvPr id="30" name="Google Shape;30;p1"/>
          <p:cNvSpPr/>
          <p:nvPr/>
        </p:nvSpPr>
        <p:spPr>
          <a:xfrm>
            <a:off x="8778240" y="5114544"/>
            <a:ext cx="609600" cy="1743456"/>
          </a:xfrm>
          <a:prstGeom prst="rect">
            <a:avLst/>
          </a:prstGeom>
          <a:solidFill>
            <a:srgbClr val="4A9BE0"/>
          </a:solidFill>
          <a:ln w="12700" cap="flat" cmpd="sng">
            <a:solidFill>
              <a:srgbClr val="4A9B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1" name="Google Shape;31;p1"/>
          <p:cNvSpPr/>
          <p:nvPr/>
        </p:nvSpPr>
        <p:spPr>
          <a:xfrm>
            <a:off x="9485376" y="4322064"/>
            <a:ext cx="609600" cy="2535936"/>
          </a:xfrm>
          <a:prstGeom prst="rect">
            <a:avLst/>
          </a:prstGeom>
          <a:solidFill>
            <a:srgbClr val="B39DDB"/>
          </a:solidFill>
          <a:ln w="12700" cap="flat" cmpd="sng">
            <a:solidFill>
              <a:srgbClr val="B39DDB"/>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2" name="Google Shape;32;p1"/>
          <p:cNvSpPr/>
          <p:nvPr/>
        </p:nvSpPr>
        <p:spPr>
          <a:xfrm>
            <a:off x="10192512" y="4639056"/>
            <a:ext cx="609600" cy="2218944"/>
          </a:xfrm>
          <a:prstGeom prst="rect">
            <a:avLst/>
          </a:prstGeom>
          <a:solidFill>
            <a:srgbClr val="7ACFC0"/>
          </a:solidFill>
          <a:ln w="12700" cap="flat" cmpd="sng">
            <a:solidFill>
              <a:srgbClr val="7ACF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3" name="Google Shape;33;p1"/>
          <p:cNvSpPr/>
          <p:nvPr/>
        </p:nvSpPr>
        <p:spPr>
          <a:xfrm>
            <a:off x="10899648" y="3846576"/>
            <a:ext cx="609600" cy="3011424"/>
          </a:xfrm>
          <a:prstGeom prst="rect">
            <a:avLst/>
          </a:prstGeom>
          <a:solidFill>
            <a:srgbClr val="6B3FA0"/>
          </a:solidFill>
          <a:ln w="12700" cap="flat" cmpd="sng">
            <a:solidFill>
              <a:srgbClr val="6B3F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4" name="Google Shape;34;p1"/>
          <p:cNvSpPr/>
          <p:nvPr/>
        </p:nvSpPr>
        <p:spPr>
          <a:xfrm>
            <a:off x="11606784" y="4480560"/>
            <a:ext cx="609600" cy="2377440"/>
          </a:xfrm>
          <a:prstGeom prst="rect">
            <a:avLst/>
          </a:prstGeom>
          <a:solidFill>
            <a:srgbClr val="4A9BE0"/>
          </a:solidFill>
          <a:ln w="12700" cap="flat" cmpd="sng">
            <a:solidFill>
              <a:srgbClr val="4A9BE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5" name="Google Shape;35;p1"/>
          <p:cNvSpPr/>
          <p:nvPr/>
        </p:nvSpPr>
        <p:spPr>
          <a:xfrm>
            <a:off x="0" y="0"/>
            <a:ext cx="219456" cy="6858000"/>
          </a:xfrm>
          <a:prstGeom prst="rect">
            <a:avLst/>
          </a:prstGeom>
          <a:solidFill>
            <a:srgbClr val="7ACFC0"/>
          </a:solidFill>
          <a:ln w="12700" cap="flat" cmpd="sng">
            <a:solidFill>
              <a:srgbClr val="7ACF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36" name="Google Shape;36;p1"/>
          <p:cNvSpPr/>
          <p:nvPr/>
        </p:nvSpPr>
        <p:spPr>
          <a:xfrm>
            <a:off x="731520" y="487680"/>
            <a:ext cx="1755648" cy="799795"/>
          </a:xfrm>
          <a:prstGeom prst="roundRect">
            <a:avLst>
              <a:gd name="adj" fmla="val 12195"/>
            </a:avLst>
          </a:prstGeom>
          <a:solidFill>
            <a:srgbClr val="FFFFFF"/>
          </a:solidFill>
          <a:ln w="127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pic>
        <p:nvPicPr>
          <p:cNvPr id="37" name="Google Shape;37;p1" descr="logo.png"/>
          <p:cNvPicPr preferRelativeResize="0"/>
          <p:nvPr/>
        </p:nvPicPr>
        <p:blipFill rotWithShape="1">
          <a:blip r:embed="rId3">
            <a:alphaModFix/>
          </a:blip>
          <a:srcRect/>
          <a:stretch/>
        </p:blipFill>
        <p:spPr>
          <a:xfrm>
            <a:off x="914400" y="609600"/>
            <a:ext cx="1389888" cy="555955"/>
          </a:xfrm>
          <a:prstGeom prst="rect">
            <a:avLst/>
          </a:prstGeom>
          <a:noFill/>
          <a:ln>
            <a:noFill/>
          </a:ln>
        </p:spPr>
      </p:pic>
      <p:sp>
        <p:nvSpPr>
          <p:cNvPr id="38" name="Google Shape;38;p1"/>
          <p:cNvSpPr/>
          <p:nvPr/>
        </p:nvSpPr>
        <p:spPr>
          <a:xfrm>
            <a:off x="9022080" y="548640"/>
            <a:ext cx="2560320" cy="414528"/>
          </a:xfrm>
          <a:prstGeom prst="rect">
            <a:avLst/>
          </a:prstGeom>
          <a:solidFill>
            <a:srgbClr val="6B3FA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467" b="1" i="0" u="none" strike="noStrike" cap="none">
                <a:solidFill>
                  <a:srgbClr val="FFFFFF"/>
                </a:solidFill>
                <a:latin typeface="Calibri"/>
                <a:ea typeface="Calibri"/>
                <a:cs typeface="Calibri"/>
                <a:sym typeface="Calibri"/>
              </a:rPr>
              <a:t>LIVRABLE 3</a:t>
            </a:r>
            <a:endParaRPr sz="1467" b="0" i="0" u="none" strike="noStrike" cap="none">
              <a:solidFill>
                <a:srgbClr val="000000"/>
              </a:solidFill>
              <a:latin typeface="Calibri"/>
              <a:ea typeface="Calibri"/>
              <a:cs typeface="Calibri"/>
              <a:sym typeface="Calibri"/>
            </a:endParaRPr>
          </a:p>
        </p:txBody>
      </p:sp>
      <p:sp>
        <p:nvSpPr>
          <p:cNvPr id="39" name="Google Shape;39;p1"/>
          <p:cNvSpPr/>
          <p:nvPr/>
        </p:nvSpPr>
        <p:spPr>
          <a:xfrm>
            <a:off x="682752" y="1575816"/>
            <a:ext cx="97536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467" b="1" i="0" u="none" strike="noStrike" cap="none">
                <a:solidFill>
                  <a:srgbClr val="B39DDB"/>
                </a:solidFill>
                <a:latin typeface="Calibri"/>
                <a:ea typeface="Calibri"/>
                <a:cs typeface="Calibri"/>
                <a:sym typeface="Calibri"/>
              </a:rPr>
              <a:t> ANNÉE UNIVERSITAIRE 2026/2027</a:t>
            </a:r>
            <a:endParaRPr sz="1467" b="0" i="0" u="none" strike="noStrike" cap="none">
              <a:solidFill>
                <a:srgbClr val="000000"/>
              </a:solidFill>
              <a:latin typeface="Calibri"/>
              <a:ea typeface="Calibri"/>
              <a:cs typeface="Calibri"/>
              <a:sym typeface="Calibri"/>
            </a:endParaRPr>
          </a:p>
        </p:txBody>
      </p:sp>
      <p:sp>
        <p:nvSpPr>
          <p:cNvPr id="40" name="Google Shape;40;p1"/>
          <p:cNvSpPr/>
          <p:nvPr/>
        </p:nvSpPr>
        <p:spPr>
          <a:xfrm>
            <a:off x="731520" y="2072640"/>
            <a:ext cx="9997440" cy="1828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5867" b="1" i="0" u="none" strike="noStrike" cap="none" dirty="0">
                <a:solidFill>
                  <a:srgbClr val="7ACFC0"/>
                </a:solidFill>
                <a:latin typeface="Calibri"/>
                <a:ea typeface="Calibri"/>
                <a:cs typeface="Calibri"/>
                <a:sym typeface="Calibri"/>
              </a:rPr>
              <a:t>WORKLY</a:t>
            </a:r>
            <a:endParaRPr sz="5867"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3733" b="0" i="0" u="none" strike="noStrike" cap="none" dirty="0" err="1">
                <a:solidFill>
                  <a:srgbClr val="FFFFFF"/>
                </a:solidFill>
                <a:latin typeface="Calibri"/>
                <a:ea typeface="Calibri"/>
                <a:cs typeface="Calibri"/>
                <a:sym typeface="Calibri"/>
              </a:rPr>
              <a:t>Modèles</a:t>
            </a:r>
            <a:r>
              <a:rPr lang="en-US" sz="3733" b="0" i="0" u="none" strike="noStrike" cap="none" dirty="0">
                <a:solidFill>
                  <a:srgbClr val="FFFFFF"/>
                </a:solidFill>
                <a:latin typeface="Calibri"/>
                <a:ea typeface="Calibri"/>
                <a:cs typeface="Calibri"/>
                <a:sym typeface="Calibri"/>
              </a:rPr>
              <a:t> de </a:t>
            </a:r>
            <a:r>
              <a:rPr lang="en-US" sz="3733" b="0" i="0" u="none" strike="noStrike" cap="none" dirty="0" err="1">
                <a:solidFill>
                  <a:srgbClr val="FFFFFF"/>
                </a:solidFill>
                <a:latin typeface="Calibri"/>
                <a:ea typeface="Calibri"/>
                <a:cs typeface="Calibri"/>
                <a:sym typeface="Calibri"/>
              </a:rPr>
              <a:t>prévision</a:t>
            </a:r>
            <a:r>
              <a:rPr lang="en-US" sz="3733" b="0" i="0" u="none" strike="noStrike" cap="none" dirty="0">
                <a:solidFill>
                  <a:srgbClr val="FFFFFF"/>
                </a:solidFill>
                <a:latin typeface="Calibri"/>
                <a:ea typeface="Calibri"/>
                <a:cs typeface="Calibri"/>
                <a:sym typeface="Calibri"/>
              </a:rPr>
              <a:t>, </a:t>
            </a:r>
            <a:r>
              <a:rPr lang="en-US" sz="3733" b="0" i="0" u="none" strike="noStrike" cap="none" dirty="0" err="1">
                <a:solidFill>
                  <a:srgbClr val="FFFFFF"/>
                </a:solidFill>
                <a:latin typeface="Calibri"/>
                <a:ea typeface="Calibri"/>
                <a:cs typeface="Calibri"/>
                <a:sym typeface="Calibri"/>
              </a:rPr>
              <a:t>automatisation</a:t>
            </a:r>
            <a:r>
              <a:rPr lang="en-US" sz="3733" b="0" i="0" u="none" strike="noStrike" cap="none" dirty="0">
                <a:solidFill>
                  <a:srgbClr val="FFFFFF"/>
                </a:solidFill>
                <a:latin typeface="Calibri"/>
                <a:ea typeface="Calibri"/>
                <a:cs typeface="Calibri"/>
                <a:sym typeface="Calibri"/>
              </a:rPr>
              <a:t> et agents IA</a:t>
            </a:r>
            <a:endParaRPr sz="5867" b="0" i="0" u="none" strike="noStrike" cap="none" dirty="0">
              <a:solidFill>
                <a:srgbClr val="000000"/>
              </a:solidFill>
              <a:latin typeface="Calibri"/>
              <a:ea typeface="Calibri"/>
              <a:cs typeface="Calibri"/>
              <a:sym typeface="Calibri"/>
            </a:endParaRPr>
          </a:p>
        </p:txBody>
      </p:sp>
      <p:sp>
        <p:nvSpPr>
          <p:cNvPr id="41" name="Google Shape;41;p1"/>
          <p:cNvSpPr/>
          <p:nvPr/>
        </p:nvSpPr>
        <p:spPr>
          <a:xfrm>
            <a:off x="731520" y="3962400"/>
            <a:ext cx="7802880" cy="4267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67" b="0" i="0" u="none" strike="noStrike" cap="none" dirty="0">
                <a:solidFill>
                  <a:srgbClr val="C9D1E0"/>
                </a:solidFill>
                <a:latin typeface="Calibri"/>
                <a:ea typeface="Calibri"/>
                <a:cs typeface="Calibri"/>
                <a:sym typeface="Calibri"/>
              </a:rPr>
              <a:t>Planification des </a:t>
            </a:r>
            <a:r>
              <a:rPr lang="en-US" sz="1867" b="0" i="0" u="none" strike="noStrike" cap="none" dirty="0" err="1">
                <a:solidFill>
                  <a:srgbClr val="C9D1E0"/>
                </a:solidFill>
                <a:latin typeface="Calibri"/>
                <a:ea typeface="Calibri"/>
                <a:cs typeface="Calibri"/>
                <a:sym typeface="Calibri"/>
              </a:rPr>
              <a:t>ressources</a:t>
            </a:r>
            <a:r>
              <a:rPr lang="en-US" sz="1867" b="0" i="0" u="none" strike="noStrike" cap="none" dirty="0">
                <a:solidFill>
                  <a:srgbClr val="C9D1E0"/>
                </a:solidFill>
                <a:latin typeface="Calibri"/>
                <a:ea typeface="Calibri"/>
                <a:cs typeface="Calibri"/>
                <a:sym typeface="Calibri"/>
              </a:rPr>
              <a:t> </a:t>
            </a:r>
            <a:r>
              <a:rPr lang="en-US" sz="1867" b="0" i="0" u="none" strike="noStrike" cap="none" dirty="0" err="1">
                <a:solidFill>
                  <a:srgbClr val="C9D1E0"/>
                </a:solidFill>
                <a:latin typeface="Calibri"/>
                <a:ea typeface="Calibri"/>
                <a:cs typeface="Calibri"/>
                <a:sym typeface="Calibri"/>
              </a:rPr>
              <a:t>humaines</a:t>
            </a:r>
            <a:r>
              <a:rPr lang="en-US" sz="1867" b="0" i="0" u="none" strike="noStrike" cap="none" dirty="0">
                <a:solidFill>
                  <a:srgbClr val="C9D1E0"/>
                </a:solidFill>
                <a:latin typeface="Calibri"/>
                <a:ea typeface="Calibri"/>
                <a:cs typeface="Calibri"/>
                <a:sym typeface="Calibri"/>
              </a:rPr>
              <a:t> et </a:t>
            </a:r>
            <a:r>
              <a:rPr lang="en-US" sz="1867" b="0" i="0" u="none" strike="noStrike" cap="none" dirty="0" err="1">
                <a:solidFill>
                  <a:srgbClr val="C9D1E0"/>
                </a:solidFill>
                <a:latin typeface="Calibri"/>
                <a:ea typeface="Calibri"/>
                <a:cs typeface="Calibri"/>
                <a:sym typeface="Calibri"/>
              </a:rPr>
              <a:t>équipements</a:t>
            </a:r>
            <a:r>
              <a:rPr lang="en-US" sz="1867" b="0" i="0" u="none" strike="noStrike" cap="none" dirty="0">
                <a:solidFill>
                  <a:srgbClr val="C9D1E0"/>
                </a:solidFill>
                <a:latin typeface="Calibri"/>
                <a:ea typeface="Calibri"/>
                <a:cs typeface="Calibri"/>
                <a:sym typeface="Calibri"/>
              </a:rPr>
              <a:t>, sous-processus</a:t>
            </a:r>
            <a:endParaRPr sz="1867" b="0" i="0" u="none" strike="noStrike" cap="none" dirty="0">
              <a:solidFill>
                <a:srgbClr val="000000"/>
              </a:solidFill>
              <a:latin typeface="Calibri"/>
              <a:ea typeface="Calibri"/>
              <a:cs typeface="Calibri"/>
              <a:sym typeface="Calibri"/>
            </a:endParaRPr>
          </a:p>
        </p:txBody>
      </p:sp>
      <p:cxnSp>
        <p:nvCxnSpPr>
          <p:cNvPr id="42" name="Google Shape;42;p1"/>
          <p:cNvCxnSpPr/>
          <p:nvPr/>
        </p:nvCxnSpPr>
        <p:spPr>
          <a:xfrm>
            <a:off x="731520" y="4632960"/>
            <a:ext cx="7559040" cy="0"/>
          </a:xfrm>
          <a:prstGeom prst="straightConnector1">
            <a:avLst/>
          </a:prstGeom>
          <a:noFill/>
          <a:ln w="12700" cap="flat" cmpd="sng">
            <a:solidFill>
              <a:srgbClr val="3A4A6E"/>
            </a:solidFill>
            <a:prstDash val="solid"/>
            <a:round/>
            <a:headEnd type="none" w="sm" len="sm"/>
            <a:tailEnd type="none" w="sm" len="sm"/>
          </a:ln>
        </p:spPr>
      </p:cxnSp>
      <p:sp>
        <p:nvSpPr>
          <p:cNvPr id="43" name="Google Shape;43;p1"/>
          <p:cNvSpPr/>
          <p:nvPr/>
        </p:nvSpPr>
        <p:spPr>
          <a:xfrm>
            <a:off x="731520" y="4815840"/>
            <a:ext cx="3657600" cy="304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33" b="1" i="0" u="none" strike="noStrike" cap="none">
                <a:solidFill>
                  <a:srgbClr val="7ACFC0"/>
                </a:solidFill>
                <a:latin typeface="Calibri"/>
                <a:ea typeface="Calibri"/>
                <a:cs typeface="Calibri"/>
                <a:sym typeface="Calibri"/>
              </a:rPr>
              <a:t>ÉQUIPE 15</a:t>
            </a:r>
            <a:endParaRPr sz="1333" b="0" i="0" u="none" strike="noStrike" cap="none">
              <a:solidFill>
                <a:srgbClr val="000000"/>
              </a:solidFill>
              <a:latin typeface="Calibri"/>
              <a:ea typeface="Calibri"/>
              <a:cs typeface="Calibri"/>
              <a:sym typeface="Calibri"/>
            </a:endParaRPr>
          </a:p>
        </p:txBody>
      </p:sp>
      <p:sp>
        <p:nvSpPr>
          <p:cNvPr id="44" name="Google Shape;44;p1"/>
          <p:cNvSpPr/>
          <p:nvPr/>
        </p:nvSpPr>
        <p:spPr>
          <a:xfrm>
            <a:off x="731520" y="5181600"/>
            <a:ext cx="4023360" cy="1158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67" b="0" i="0" u="none" strike="noStrike" cap="none" dirty="0">
                <a:solidFill>
                  <a:srgbClr val="FFFFFF"/>
                </a:solidFill>
                <a:latin typeface="Calibri"/>
                <a:ea typeface="Calibri"/>
                <a:cs typeface="Calibri"/>
                <a:sym typeface="Calibri"/>
              </a:rPr>
              <a:t>EL WARDI </a:t>
            </a:r>
            <a:r>
              <a:rPr lang="en-US" sz="1867" b="0" i="0" u="none" strike="noStrike" cap="none" dirty="0" err="1">
                <a:solidFill>
                  <a:srgbClr val="FFFFFF"/>
                </a:solidFill>
                <a:latin typeface="Calibri"/>
                <a:ea typeface="Calibri"/>
                <a:cs typeface="Calibri"/>
                <a:sym typeface="Calibri"/>
              </a:rPr>
              <a:t>Noha</a:t>
            </a:r>
            <a:endParaRPr sz="1867" b="0" i="0" u="none" strike="noStrike" cap="none"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1867" b="0" i="0" u="none" strike="noStrike" cap="none" dirty="0">
                <a:solidFill>
                  <a:srgbClr val="FFFFFF"/>
                </a:solidFill>
                <a:latin typeface="Calibri"/>
                <a:ea typeface="Calibri"/>
                <a:cs typeface="Calibri"/>
                <a:sym typeface="Calibri"/>
              </a:rPr>
              <a:t>BENYAACOUB Ibrahim</a:t>
            </a:r>
            <a:endParaRPr sz="1867" b="0" i="0" u="none" strike="noStrike" cap="none" dirty="0">
              <a:solidFill>
                <a:srgbClr val="000000"/>
              </a:solidFill>
              <a:latin typeface="Calibri"/>
              <a:ea typeface="Calibri"/>
              <a:cs typeface="Calibri"/>
              <a:sym typeface="Calibri"/>
            </a:endParaRPr>
          </a:p>
        </p:txBody>
      </p:sp>
      <p:sp>
        <p:nvSpPr>
          <p:cNvPr id="45" name="Google Shape;45;p1"/>
          <p:cNvSpPr/>
          <p:nvPr/>
        </p:nvSpPr>
        <p:spPr>
          <a:xfrm>
            <a:off x="5120640" y="4815840"/>
            <a:ext cx="3169920" cy="304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333" b="1" i="0" u="none" strike="noStrike" cap="none">
                <a:solidFill>
                  <a:srgbClr val="7ACFC0"/>
                </a:solidFill>
                <a:latin typeface="Calibri"/>
                <a:ea typeface="Calibri"/>
                <a:cs typeface="Calibri"/>
                <a:sym typeface="Calibri"/>
              </a:rPr>
              <a:t>ENCADRANT</a:t>
            </a:r>
            <a:endParaRPr sz="1333" b="0" i="0" u="none" strike="noStrike" cap="none">
              <a:solidFill>
                <a:srgbClr val="000000"/>
              </a:solidFill>
              <a:latin typeface="Calibri"/>
              <a:ea typeface="Calibri"/>
              <a:cs typeface="Calibri"/>
              <a:sym typeface="Calibri"/>
            </a:endParaRPr>
          </a:p>
        </p:txBody>
      </p:sp>
      <p:sp>
        <p:nvSpPr>
          <p:cNvPr id="46" name="Google Shape;46;p1"/>
          <p:cNvSpPr/>
          <p:nvPr/>
        </p:nvSpPr>
        <p:spPr>
          <a:xfrm>
            <a:off x="5120640" y="5181600"/>
            <a:ext cx="3169920" cy="4267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67" b="0" i="0" u="none" strike="noStrike" cap="none" dirty="0">
                <a:solidFill>
                  <a:srgbClr val="FFFFFF"/>
                </a:solidFill>
                <a:latin typeface="Calibri"/>
                <a:ea typeface="Calibri"/>
                <a:cs typeface="Calibri"/>
                <a:sym typeface="Calibri"/>
              </a:rPr>
              <a:t>Monsieur BELKHAYAT Najib</a:t>
            </a:r>
            <a:endParaRPr sz="1867"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6346" y="203127"/>
            <a:ext cx="2792069" cy="309887"/>
          </a:xfrm>
          <a:prstGeom prst="rect">
            <a:avLst/>
          </a:prstGeom>
          <a:noFill/>
          <a:ln/>
        </p:spPr>
        <p:txBody>
          <a:bodyPr wrap="square" lIns="0" tIns="0" rIns="0" bIns="0" rtlCol="0" anchor="t">
            <a:normAutofit lnSpcReduction="10000"/>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Supply chain › Définition CSCMP</a:t>
            </a:r>
            <a:endParaRPr lang="en-US" sz="1600" dirty="0"/>
          </a:p>
        </p:txBody>
      </p:sp>
      <p:sp>
        <p:nvSpPr>
          <p:cNvPr id="3" name="Text 1"/>
          <p:cNvSpPr/>
          <p:nvPr/>
        </p:nvSpPr>
        <p:spPr>
          <a:xfrm>
            <a:off x="11330239" y="203127"/>
            <a:ext cx="506214"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2 / 34</a:t>
            </a:r>
            <a:endParaRPr lang="en-US" sz="1600" dirty="0"/>
          </a:p>
        </p:txBody>
      </p:sp>
      <p:sp>
        <p:nvSpPr>
          <p:cNvPr id="4" name="Shape 2"/>
          <p:cNvSpPr/>
          <p:nvPr/>
        </p:nvSpPr>
        <p:spPr>
          <a:xfrm>
            <a:off x="406346" y="614615"/>
            <a:ext cx="11379308" cy="645102"/>
          </a:xfrm>
          <a:prstGeom prst="roundRect">
            <a:avLst>
              <a:gd name="adj" fmla="val 11812"/>
            </a:avLst>
          </a:prstGeom>
          <a:solidFill>
            <a:srgbClr val="12263A"/>
          </a:solidFill>
          <a:ln/>
        </p:spPr>
        <p:txBody>
          <a:bodyPr/>
          <a:lstStyle/>
          <a:p>
            <a:endParaRPr lang="fr-MA"/>
          </a:p>
        </p:txBody>
      </p:sp>
      <p:sp>
        <p:nvSpPr>
          <p:cNvPr id="5" name="Text 3"/>
          <p:cNvSpPr/>
          <p:nvPr/>
        </p:nvSpPr>
        <p:spPr>
          <a:xfrm>
            <a:off x="609474" y="741615"/>
            <a:ext cx="11302243"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6F7F5"/>
                </a:solidFill>
                <a:latin typeface="Source Sans 3" pitchFamily="34" charset="0"/>
                <a:ea typeface="Source Sans 3" pitchFamily="34" charset="-122"/>
                <a:cs typeface="Source Sans 3" pitchFamily="34" charset="-120"/>
              </a:rPr>
              <a:t>La supply chain selon le CSCMP</a:t>
            </a:r>
            <a:endParaRPr lang="en-US" sz="2800" dirty="0"/>
          </a:p>
        </p:txBody>
      </p:sp>
      <p:sp>
        <p:nvSpPr>
          <p:cNvPr id="6" name="Shape 4"/>
          <p:cNvSpPr/>
          <p:nvPr/>
        </p:nvSpPr>
        <p:spPr>
          <a:xfrm>
            <a:off x="406346" y="1386717"/>
            <a:ext cx="1126133" cy="386051"/>
          </a:xfrm>
          <a:prstGeom prst="roundRect">
            <a:avLst>
              <a:gd name="adj" fmla="val 46056"/>
            </a:avLst>
          </a:prstGeom>
          <a:solidFill>
            <a:srgbClr val="1F6F8B"/>
          </a:solidFill>
          <a:ln/>
        </p:spPr>
        <p:txBody>
          <a:bodyPr/>
          <a:lstStyle/>
          <a:p>
            <a:endParaRPr lang="fr-MA"/>
          </a:p>
        </p:txBody>
      </p:sp>
      <p:sp>
        <p:nvSpPr>
          <p:cNvPr id="7" name="Text 5"/>
          <p:cNvSpPr/>
          <p:nvPr/>
        </p:nvSpPr>
        <p:spPr>
          <a:xfrm>
            <a:off x="584146" y="1437517"/>
            <a:ext cx="821333" cy="30985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6F7F5"/>
                </a:solidFill>
                <a:latin typeface="Source Sans 3" pitchFamily="34" charset="0"/>
                <a:ea typeface="Source Sans 3" pitchFamily="34" charset="-122"/>
                <a:cs typeface="Source Sans 3" pitchFamily="34" charset="-120"/>
              </a:rPr>
              <a:t>Planifier</a:t>
            </a:r>
            <a:endParaRPr lang="en-US" sz="1600" dirty="0"/>
          </a:p>
        </p:txBody>
      </p:sp>
      <p:sp>
        <p:nvSpPr>
          <p:cNvPr id="8" name="Shape 6"/>
          <p:cNvSpPr/>
          <p:nvPr/>
        </p:nvSpPr>
        <p:spPr>
          <a:xfrm>
            <a:off x="1659479" y="1386717"/>
            <a:ext cx="1426044" cy="386051"/>
          </a:xfrm>
          <a:prstGeom prst="roundRect">
            <a:avLst>
              <a:gd name="adj" fmla="val 46056"/>
            </a:avLst>
          </a:prstGeom>
          <a:solidFill>
            <a:srgbClr val="1F6F8B"/>
          </a:solidFill>
          <a:ln/>
        </p:spPr>
        <p:txBody>
          <a:bodyPr/>
          <a:lstStyle/>
          <a:p>
            <a:endParaRPr lang="fr-MA"/>
          </a:p>
        </p:txBody>
      </p:sp>
      <p:sp>
        <p:nvSpPr>
          <p:cNvPr id="9" name="Text 7"/>
          <p:cNvSpPr/>
          <p:nvPr/>
        </p:nvSpPr>
        <p:spPr>
          <a:xfrm>
            <a:off x="1837279" y="1437517"/>
            <a:ext cx="1121244" cy="309851"/>
          </a:xfrm>
          <a:prstGeom prst="rect">
            <a:avLst/>
          </a:prstGeom>
          <a:noFill/>
          <a:ln/>
        </p:spPr>
        <p:txBody>
          <a:bodyPr wrap="square" lIns="0" tIns="0" rIns="0" bIns="0" rtlCol="0" anchor="t">
            <a:normAutofit fontScale="92500"/>
          </a:bodyPr>
          <a:lstStyle/>
          <a:p>
            <a:pPr marL="0" indent="0" algn="l">
              <a:lnSpc>
                <a:spcPts val="2240"/>
              </a:lnSpc>
              <a:buNone/>
            </a:pPr>
            <a:r>
              <a:rPr lang="en-US" sz="1600" b="1" dirty="0">
                <a:solidFill>
                  <a:srgbClr val="F6F7F5"/>
                </a:solidFill>
                <a:latin typeface="Source Sans 3" pitchFamily="34" charset="0"/>
                <a:ea typeface="Source Sans 3" pitchFamily="34" charset="-122"/>
                <a:cs typeface="Source Sans 3" pitchFamily="34" charset="-120"/>
              </a:rPr>
              <a:t>Coordonner</a:t>
            </a:r>
            <a:endParaRPr lang="en-US" sz="1600" dirty="0"/>
          </a:p>
        </p:txBody>
      </p:sp>
      <p:sp>
        <p:nvSpPr>
          <p:cNvPr id="10" name="Shape 8"/>
          <p:cNvSpPr/>
          <p:nvPr/>
        </p:nvSpPr>
        <p:spPr>
          <a:xfrm>
            <a:off x="3212523" y="1386717"/>
            <a:ext cx="2656988" cy="386051"/>
          </a:xfrm>
          <a:prstGeom prst="roundRect">
            <a:avLst>
              <a:gd name="adj" fmla="val 46056"/>
            </a:avLst>
          </a:prstGeom>
          <a:solidFill>
            <a:srgbClr val="1F6F8B"/>
          </a:solidFill>
          <a:ln/>
        </p:spPr>
        <p:txBody>
          <a:bodyPr/>
          <a:lstStyle/>
          <a:p>
            <a:endParaRPr lang="fr-MA"/>
          </a:p>
        </p:txBody>
      </p:sp>
      <p:sp>
        <p:nvSpPr>
          <p:cNvPr id="11" name="Text 9"/>
          <p:cNvSpPr/>
          <p:nvPr/>
        </p:nvSpPr>
        <p:spPr>
          <a:xfrm>
            <a:off x="3390323" y="1437517"/>
            <a:ext cx="2370429" cy="309851"/>
          </a:xfrm>
          <a:prstGeom prst="rect">
            <a:avLst/>
          </a:prstGeom>
          <a:noFill/>
          <a:ln/>
        </p:spPr>
        <p:txBody>
          <a:bodyPr wrap="square" lIns="0" tIns="0" rIns="0" bIns="0" rtlCol="0" anchor="t">
            <a:normAutofit lnSpcReduction="10000"/>
          </a:bodyPr>
          <a:lstStyle/>
          <a:p>
            <a:pPr marL="0" indent="0" algn="l">
              <a:lnSpc>
                <a:spcPts val="2240"/>
              </a:lnSpc>
              <a:buNone/>
            </a:pPr>
            <a:r>
              <a:rPr lang="en-US" sz="1600" b="1" dirty="0">
                <a:solidFill>
                  <a:srgbClr val="F6F7F5"/>
                </a:solidFill>
                <a:latin typeface="Source Sans 3" pitchFamily="34" charset="0"/>
                <a:ea typeface="Source Sans 3" pitchFamily="34" charset="-122"/>
                <a:cs typeface="Source Sans 3" pitchFamily="34" charset="-120"/>
              </a:rPr>
              <a:t>Intégrer offre et demande</a:t>
            </a:r>
            <a:endParaRPr lang="en-US" sz="1600" dirty="0"/>
          </a:p>
        </p:txBody>
      </p:sp>
      <p:sp>
        <p:nvSpPr>
          <p:cNvPr id="12" name="Shape 10"/>
          <p:cNvSpPr/>
          <p:nvPr/>
        </p:nvSpPr>
        <p:spPr>
          <a:xfrm>
            <a:off x="431746" y="1899768"/>
            <a:ext cx="0" cy="1713959"/>
          </a:xfrm>
          <a:prstGeom prst="line">
            <a:avLst/>
          </a:prstGeom>
          <a:noFill/>
          <a:ln w="50800">
            <a:solidFill>
              <a:srgbClr val="12263A"/>
            </a:solidFill>
            <a:prstDash val="solid"/>
          </a:ln>
        </p:spPr>
        <p:txBody>
          <a:bodyPr/>
          <a:lstStyle/>
          <a:p>
            <a:endParaRPr lang="fr-MA"/>
          </a:p>
        </p:txBody>
      </p:sp>
      <p:sp>
        <p:nvSpPr>
          <p:cNvPr id="13" name="Text 11"/>
          <p:cNvSpPr/>
          <p:nvPr/>
        </p:nvSpPr>
        <p:spPr>
          <a:xfrm>
            <a:off x="655656" y="1925114"/>
            <a:ext cx="11463898" cy="61963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2263A"/>
                </a:solidFill>
                <a:latin typeface="Source Sans 3" pitchFamily="34" charset="0"/>
                <a:ea typeface="Source Sans 3" pitchFamily="34" charset="-122"/>
                <a:cs typeface="Source Sans 3" pitchFamily="34" charset="-120"/>
              </a:rPr>
              <a:t>« Le supply chain management englobe la planification et la gestion de toutes les activités liées au sourcing et aux achats, à la transformation, ainsi que de toutes les activités de gestion logistique.</a:t>
            </a:r>
            <a:endParaRPr lang="en-US" sz="1800" dirty="0"/>
          </a:p>
        </p:txBody>
      </p:sp>
      <p:sp>
        <p:nvSpPr>
          <p:cNvPr id="14" name="Text 12"/>
          <p:cNvSpPr/>
          <p:nvPr/>
        </p:nvSpPr>
        <p:spPr>
          <a:xfrm>
            <a:off x="655656" y="2608190"/>
            <a:ext cx="11463898" cy="61963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2263A"/>
                </a:solidFill>
                <a:latin typeface="Source Sans 3" pitchFamily="34" charset="0"/>
                <a:ea typeface="Source Sans 3" pitchFamily="34" charset="-122"/>
                <a:cs typeface="Source Sans 3" pitchFamily="34" charset="-120"/>
              </a:rPr>
              <a:t>Il inclut aussi la coordination et la collaboration avec les partenaires du canal : fournisseurs, intermédiaires, prestataires de services et clients.</a:t>
            </a:r>
            <a:endParaRPr lang="en-US" sz="1800" dirty="0"/>
          </a:p>
        </p:txBody>
      </p:sp>
      <p:sp>
        <p:nvSpPr>
          <p:cNvPr id="15" name="Text 13"/>
          <p:cNvSpPr/>
          <p:nvPr/>
        </p:nvSpPr>
        <p:spPr>
          <a:xfrm>
            <a:off x="655656" y="3291266"/>
            <a:ext cx="11463898" cy="322515"/>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2263A"/>
                </a:solidFill>
                <a:latin typeface="Source Sans 3" pitchFamily="34" charset="0"/>
                <a:ea typeface="Source Sans 3" pitchFamily="34" charset="-122"/>
                <a:cs typeface="Source Sans 3" pitchFamily="34" charset="-120"/>
              </a:rPr>
              <a:t>En substance, il intègre la gestion de l'offre et de la demande au sein des entreprises et entre elles. »</a:t>
            </a:r>
            <a:endParaRPr lang="en-US" sz="1800" dirty="0"/>
          </a:p>
        </p:txBody>
      </p:sp>
      <p:sp>
        <p:nvSpPr>
          <p:cNvPr id="16" name="Text 14"/>
          <p:cNvSpPr/>
          <p:nvPr/>
        </p:nvSpPr>
        <p:spPr>
          <a:xfrm>
            <a:off x="511278" y="3726655"/>
            <a:ext cx="11608136" cy="450959"/>
          </a:xfrm>
          <a:prstGeom prst="rect">
            <a:avLst/>
          </a:prstGeom>
          <a:noFill/>
          <a:ln/>
        </p:spPr>
        <p:txBody>
          <a:bodyPr wrap="square" lIns="0" tIns="0" rIns="0" bIns="0" rtlCol="0" anchor="t">
            <a:normAutofit/>
          </a:bodyPr>
          <a:lstStyle/>
          <a:p>
            <a:pPr marL="0" indent="0" algn="l">
              <a:lnSpc>
                <a:spcPts val="1620"/>
              </a:lnSpc>
              <a:buNone/>
            </a:pPr>
            <a:r>
              <a:rPr lang="en-US" sz="1200" i="1" dirty="0">
                <a:solidFill>
                  <a:srgbClr val="4A5568"/>
                </a:solidFill>
                <a:latin typeface="Source Sans 3" pitchFamily="34" charset="0"/>
                <a:ea typeface="Source Sans 3" pitchFamily="34" charset="-122"/>
                <a:cs typeface="Source Sans 3" pitchFamily="34" charset="-120"/>
              </a:rPr>
              <a:t>Original : “Supply chain management encompasses the planning and management of all activities involved in sourcing and procurement, conversion, and all logistics management activities.</a:t>
            </a:r>
            <a:endParaRPr lang="en-US" sz="1200" dirty="0"/>
          </a:p>
        </p:txBody>
      </p:sp>
      <p:sp>
        <p:nvSpPr>
          <p:cNvPr id="17" name="Text 15"/>
          <p:cNvSpPr/>
          <p:nvPr/>
        </p:nvSpPr>
        <p:spPr>
          <a:xfrm>
            <a:off x="660346" y="4190278"/>
            <a:ext cx="11459067" cy="231144"/>
          </a:xfrm>
          <a:prstGeom prst="rect">
            <a:avLst/>
          </a:prstGeom>
          <a:noFill/>
          <a:ln/>
        </p:spPr>
        <p:txBody>
          <a:bodyPr wrap="square" lIns="0" tIns="0" rIns="0" bIns="0" rtlCol="0" anchor="t">
            <a:normAutofit/>
          </a:bodyPr>
          <a:lstStyle/>
          <a:p>
            <a:pPr marL="0" indent="0" algn="l">
              <a:lnSpc>
                <a:spcPts val="1620"/>
              </a:lnSpc>
              <a:buNone/>
            </a:pPr>
            <a:r>
              <a:rPr lang="en-US" sz="1200" i="1" dirty="0">
                <a:solidFill>
                  <a:srgbClr val="4A5568"/>
                </a:solidFill>
                <a:latin typeface="Source Sans 3" pitchFamily="34" charset="0"/>
                <a:ea typeface="Source Sans 3" pitchFamily="34" charset="-122"/>
                <a:cs typeface="Source Sans 3" pitchFamily="34" charset="-120"/>
              </a:rPr>
              <a:t>Importantly, it also includes coordination and collaboration with channel partners, which can be suppliers, intermediaries, third party service providers, and customers.</a:t>
            </a:r>
            <a:endParaRPr lang="en-US" sz="1200" dirty="0"/>
          </a:p>
        </p:txBody>
      </p:sp>
      <p:sp>
        <p:nvSpPr>
          <p:cNvPr id="18" name="Text 16"/>
          <p:cNvSpPr/>
          <p:nvPr/>
        </p:nvSpPr>
        <p:spPr>
          <a:xfrm>
            <a:off x="660346" y="4434086"/>
            <a:ext cx="11459067" cy="231144"/>
          </a:xfrm>
          <a:prstGeom prst="rect">
            <a:avLst/>
          </a:prstGeom>
          <a:noFill/>
          <a:ln/>
        </p:spPr>
        <p:txBody>
          <a:bodyPr wrap="square" lIns="0" tIns="0" rIns="0" bIns="0" rtlCol="0" anchor="t">
            <a:normAutofit/>
          </a:bodyPr>
          <a:lstStyle/>
          <a:p>
            <a:pPr marL="0" indent="0" algn="l">
              <a:lnSpc>
                <a:spcPts val="1620"/>
              </a:lnSpc>
              <a:buNone/>
            </a:pPr>
            <a:r>
              <a:rPr lang="en-US" sz="1200" i="1" dirty="0">
                <a:solidFill>
                  <a:srgbClr val="4A5568"/>
                </a:solidFill>
                <a:latin typeface="Source Sans 3" pitchFamily="34" charset="0"/>
                <a:ea typeface="Source Sans 3" pitchFamily="34" charset="-122"/>
                <a:cs typeface="Source Sans 3" pitchFamily="34" charset="-120"/>
              </a:rPr>
              <a:t>In essence, supply chain management integrates supply and demand management within and across companies.”</a:t>
            </a:r>
            <a:endParaRPr lang="en-US" sz="1200" dirty="0"/>
          </a:p>
        </p:txBody>
      </p:sp>
      <p:sp>
        <p:nvSpPr>
          <p:cNvPr id="19" name="Text 17"/>
          <p:cNvSpPr/>
          <p:nvPr/>
        </p:nvSpPr>
        <p:spPr>
          <a:xfrm>
            <a:off x="406346" y="6441461"/>
            <a:ext cx="11720687"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Source Sans 3" pitchFamily="34" charset="0"/>
                <a:ea typeface="Source Sans 3" pitchFamily="34" charset="-122"/>
                <a:cs typeface="Source Sans 3" pitchFamily="34" charset="-120"/>
              </a:rPr>
              <a:t>Source : CSCMP (Council of Supply Chain Management Professionals), </a:t>
            </a:r>
            <a:r>
              <a:rPr lang="en-US" sz="1200" i="1" dirty="0">
                <a:solidFill>
                  <a:srgbClr val="5F6B77"/>
                </a:solidFill>
                <a:latin typeface="Source Sans 3" pitchFamily="34" charset="0"/>
                <a:ea typeface="Source Sans 3" pitchFamily="34" charset="-122"/>
                <a:cs typeface="Source Sans 3" pitchFamily="34" charset="-120"/>
              </a:rPr>
              <a:t>SCM Definitions and Glossary of Terms</a:t>
            </a:r>
            <a:r>
              <a:rPr lang="en-US" sz="1200" dirty="0">
                <a:solidFill>
                  <a:srgbClr val="5F6B77"/>
                </a:solidFill>
                <a:latin typeface="Source Sans 3" pitchFamily="34" charset="0"/>
                <a:ea typeface="Source Sans 3" pitchFamily="34" charset="-122"/>
                <a:cs typeface="Source Sans 3" pitchFamily="34" charset="-120"/>
              </a:rPr>
              <a:t>. Traduction proposée.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6346" y="203127"/>
            <a:ext cx="2844839"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Supply chain › Gestion logistique</a:t>
            </a:r>
            <a:endParaRPr lang="en-US" sz="1600" dirty="0"/>
          </a:p>
        </p:txBody>
      </p:sp>
      <p:sp>
        <p:nvSpPr>
          <p:cNvPr id="3" name="Text 1"/>
          <p:cNvSpPr/>
          <p:nvPr/>
        </p:nvSpPr>
        <p:spPr>
          <a:xfrm>
            <a:off x="11330239" y="203127"/>
            <a:ext cx="506214"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3 / 34</a:t>
            </a:r>
            <a:endParaRPr lang="en-US" sz="1600" dirty="0"/>
          </a:p>
        </p:txBody>
      </p:sp>
      <p:sp>
        <p:nvSpPr>
          <p:cNvPr id="4" name="Shape 2"/>
          <p:cNvSpPr/>
          <p:nvPr/>
        </p:nvSpPr>
        <p:spPr>
          <a:xfrm>
            <a:off x="406346" y="614614"/>
            <a:ext cx="11379308" cy="645102"/>
          </a:xfrm>
          <a:prstGeom prst="roundRect">
            <a:avLst>
              <a:gd name="adj" fmla="val 11812"/>
            </a:avLst>
          </a:prstGeom>
          <a:solidFill>
            <a:srgbClr val="12263A"/>
          </a:solidFill>
          <a:ln/>
        </p:spPr>
        <p:txBody>
          <a:bodyPr/>
          <a:lstStyle/>
          <a:p>
            <a:endParaRPr lang="fr-MA"/>
          </a:p>
        </p:txBody>
      </p:sp>
      <p:sp>
        <p:nvSpPr>
          <p:cNvPr id="5" name="Text 3"/>
          <p:cNvSpPr/>
          <p:nvPr/>
        </p:nvSpPr>
        <p:spPr>
          <a:xfrm>
            <a:off x="609474" y="741614"/>
            <a:ext cx="11302243"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6F7F5"/>
                </a:solidFill>
                <a:latin typeface="Source Sans 3" pitchFamily="34" charset="0"/>
                <a:ea typeface="Source Sans 3" pitchFamily="34" charset="-122"/>
                <a:cs typeface="Source Sans 3" pitchFamily="34" charset="-120"/>
              </a:rPr>
              <a:t>La gestion logistique selon le CSCMP</a:t>
            </a:r>
            <a:endParaRPr lang="en-US" sz="2800" dirty="0"/>
          </a:p>
        </p:txBody>
      </p:sp>
      <p:sp>
        <p:nvSpPr>
          <p:cNvPr id="6" name="Shape 4"/>
          <p:cNvSpPr/>
          <p:nvPr/>
        </p:nvSpPr>
        <p:spPr>
          <a:xfrm>
            <a:off x="412696" y="1393067"/>
            <a:ext cx="11366608" cy="1478197"/>
          </a:xfrm>
          <a:prstGeom prst="roundRect">
            <a:avLst>
              <a:gd name="adj" fmla="val 4725"/>
            </a:avLst>
          </a:prstGeom>
          <a:solidFill>
            <a:srgbClr val="FDFDFB"/>
          </a:solidFill>
          <a:ln w="12700">
            <a:solidFill>
              <a:srgbClr val="D5DBE0"/>
            </a:solidFill>
            <a:prstDash val="solid"/>
          </a:ln>
          <a:effectLst>
            <a:outerShdw blurRad="38100" dist="12700" dir="5400000" algn="bl" rotWithShape="0">
              <a:srgbClr val="12263A">
                <a:alpha val="8000"/>
              </a:srgbClr>
            </a:outerShdw>
          </a:effectLst>
        </p:spPr>
        <p:txBody>
          <a:bodyPr/>
          <a:lstStyle/>
          <a:p>
            <a:endParaRPr lang="fr-MA"/>
          </a:p>
        </p:txBody>
      </p:sp>
      <p:sp>
        <p:nvSpPr>
          <p:cNvPr id="7" name="Text 5"/>
          <p:cNvSpPr/>
          <p:nvPr/>
        </p:nvSpPr>
        <p:spPr>
          <a:xfrm>
            <a:off x="646455" y="1576043"/>
            <a:ext cx="11226062" cy="26920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8B"/>
                </a:solidFill>
                <a:latin typeface="Source Sans 3" pitchFamily="34" charset="0"/>
                <a:ea typeface="Source Sans 3" pitchFamily="34" charset="-122"/>
                <a:cs typeface="Source Sans 3" pitchFamily="34" charset="-120"/>
              </a:rPr>
              <a:t>En complément : la gestion logistique</a:t>
            </a:r>
            <a:endParaRPr lang="en-US" sz="1600" dirty="0"/>
          </a:p>
        </p:txBody>
      </p:sp>
      <p:sp>
        <p:nvSpPr>
          <p:cNvPr id="8" name="Text 6"/>
          <p:cNvSpPr/>
          <p:nvPr/>
        </p:nvSpPr>
        <p:spPr>
          <a:xfrm>
            <a:off x="646455" y="1895979"/>
            <a:ext cx="11226062" cy="817707"/>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2263A"/>
                </a:solidFill>
                <a:latin typeface="Source Sans 3" pitchFamily="34" charset="0"/>
                <a:ea typeface="Source Sans 3" pitchFamily="34" charset="-122"/>
                <a:cs typeface="Source Sans 3" pitchFamily="34" charset="-120"/>
              </a:rPr>
              <a:t>« la partie du supply chain management qui planifie, met en œuvre et contrôle l'écoulement et le stockage efficaces, dans le sens aller comme dans le sens retour, des biens, des services et des informations associées, du point d'origine au point de consommation, afin de répondre aux exigences des clients. »</a:t>
            </a:r>
            <a:endParaRPr lang="en-US" sz="1600" dirty="0"/>
          </a:p>
        </p:txBody>
      </p:sp>
      <p:sp>
        <p:nvSpPr>
          <p:cNvPr id="9" name="Shape 7"/>
          <p:cNvSpPr/>
          <p:nvPr/>
        </p:nvSpPr>
        <p:spPr>
          <a:xfrm>
            <a:off x="4009159" y="3900108"/>
            <a:ext cx="1046397" cy="386051"/>
          </a:xfrm>
          <a:prstGeom prst="roundRect">
            <a:avLst>
              <a:gd name="adj" fmla="val 39477"/>
            </a:avLst>
          </a:prstGeom>
          <a:solidFill>
            <a:srgbClr val="E4EAEF"/>
          </a:solidFill>
          <a:ln/>
        </p:spPr>
        <p:txBody>
          <a:bodyPr/>
          <a:lstStyle/>
          <a:p>
            <a:endParaRPr lang="fr-MA"/>
          </a:p>
        </p:txBody>
      </p:sp>
      <p:sp>
        <p:nvSpPr>
          <p:cNvPr id="10" name="Text 8"/>
          <p:cNvSpPr/>
          <p:nvPr/>
        </p:nvSpPr>
        <p:spPr>
          <a:xfrm>
            <a:off x="4161559" y="3950908"/>
            <a:ext cx="792397" cy="309851"/>
          </a:xfrm>
          <a:prstGeom prst="rect">
            <a:avLst/>
          </a:prstGeom>
          <a:noFill/>
          <a:ln/>
        </p:spPr>
        <p:txBody>
          <a:bodyPr wrap="square" lIns="0" tIns="0" rIns="0" bIns="0" rtlCol="0" anchor="t">
            <a:normAutofit fontScale="92500"/>
          </a:bodyPr>
          <a:lstStyle/>
          <a:p>
            <a:pPr marL="0" indent="0" algn="l">
              <a:lnSpc>
                <a:spcPts val="2240"/>
              </a:lnSpc>
              <a:buNone/>
            </a:pPr>
            <a:r>
              <a:rPr lang="en-US" sz="1600" b="1" dirty="0">
                <a:solidFill>
                  <a:srgbClr val="12263A"/>
                </a:solidFill>
                <a:latin typeface="Source Sans 3" pitchFamily="34" charset="0"/>
                <a:ea typeface="Source Sans 3" pitchFamily="34" charset="-122"/>
                <a:cs typeface="Source Sans 3" pitchFamily="34" charset="-120"/>
              </a:rPr>
              <a:t>Planifier</a:t>
            </a:r>
            <a:endParaRPr lang="en-US" sz="1600" dirty="0"/>
          </a:p>
        </p:txBody>
      </p:sp>
      <p:sp>
        <p:nvSpPr>
          <p:cNvPr id="11" name="Shape 9"/>
          <p:cNvSpPr/>
          <p:nvPr/>
        </p:nvSpPr>
        <p:spPr>
          <a:xfrm>
            <a:off x="5182556" y="3900108"/>
            <a:ext cx="1733622" cy="386051"/>
          </a:xfrm>
          <a:prstGeom prst="roundRect">
            <a:avLst>
              <a:gd name="adj" fmla="val 39477"/>
            </a:avLst>
          </a:prstGeom>
          <a:solidFill>
            <a:srgbClr val="E4EAEF"/>
          </a:solidFill>
          <a:ln/>
        </p:spPr>
        <p:txBody>
          <a:bodyPr/>
          <a:lstStyle/>
          <a:p>
            <a:endParaRPr lang="fr-MA"/>
          </a:p>
        </p:txBody>
      </p:sp>
      <p:sp>
        <p:nvSpPr>
          <p:cNvPr id="12" name="Text 10"/>
          <p:cNvSpPr/>
          <p:nvPr/>
        </p:nvSpPr>
        <p:spPr>
          <a:xfrm>
            <a:off x="5334956" y="3950908"/>
            <a:ext cx="1479622" cy="30985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263A"/>
                </a:solidFill>
                <a:latin typeface="Source Sans 3" pitchFamily="34" charset="0"/>
                <a:ea typeface="Source Sans 3" pitchFamily="34" charset="-122"/>
                <a:cs typeface="Source Sans 3" pitchFamily="34" charset="-120"/>
              </a:rPr>
              <a:t>Mettre en œuvre</a:t>
            </a:r>
            <a:endParaRPr lang="en-US" sz="1600" dirty="0"/>
          </a:p>
        </p:txBody>
      </p:sp>
      <p:sp>
        <p:nvSpPr>
          <p:cNvPr id="13" name="Shape 11"/>
          <p:cNvSpPr/>
          <p:nvPr/>
        </p:nvSpPr>
        <p:spPr>
          <a:xfrm>
            <a:off x="7043178" y="3900108"/>
            <a:ext cx="1139663" cy="386051"/>
          </a:xfrm>
          <a:prstGeom prst="roundRect">
            <a:avLst>
              <a:gd name="adj" fmla="val 39477"/>
            </a:avLst>
          </a:prstGeom>
          <a:solidFill>
            <a:srgbClr val="E4EAEF"/>
          </a:solidFill>
          <a:ln/>
        </p:spPr>
        <p:txBody>
          <a:bodyPr/>
          <a:lstStyle/>
          <a:p>
            <a:endParaRPr lang="fr-MA"/>
          </a:p>
        </p:txBody>
      </p:sp>
      <p:sp>
        <p:nvSpPr>
          <p:cNvPr id="14" name="Text 12"/>
          <p:cNvSpPr/>
          <p:nvPr/>
        </p:nvSpPr>
        <p:spPr>
          <a:xfrm>
            <a:off x="7195578" y="3950908"/>
            <a:ext cx="885663" cy="30985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263A"/>
                </a:solidFill>
                <a:latin typeface="Source Sans 3" pitchFamily="34" charset="0"/>
                <a:ea typeface="Source Sans 3" pitchFamily="34" charset="-122"/>
                <a:cs typeface="Source Sans 3" pitchFamily="34" charset="-120"/>
              </a:rPr>
              <a:t>Contrôler</a:t>
            </a:r>
            <a:endParaRPr lang="en-US" sz="1600" dirty="0"/>
          </a:p>
        </p:txBody>
      </p:sp>
      <p:sp>
        <p:nvSpPr>
          <p:cNvPr id="15" name="Shape 13"/>
          <p:cNvSpPr/>
          <p:nvPr/>
        </p:nvSpPr>
        <p:spPr>
          <a:xfrm>
            <a:off x="406346" y="4595992"/>
            <a:ext cx="2032000" cy="640051"/>
          </a:xfrm>
          <a:prstGeom prst="roundRect">
            <a:avLst>
              <a:gd name="adj" fmla="val 11905"/>
            </a:avLst>
          </a:prstGeom>
          <a:solidFill>
            <a:srgbClr val="12263A"/>
          </a:solidFill>
          <a:ln/>
        </p:spPr>
        <p:txBody>
          <a:bodyPr/>
          <a:lstStyle/>
          <a:p>
            <a:endParaRPr lang="fr-MA"/>
          </a:p>
        </p:txBody>
      </p:sp>
      <p:sp>
        <p:nvSpPr>
          <p:cNvPr id="16" name="Text 14"/>
          <p:cNvSpPr/>
          <p:nvPr/>
        </p:nvSpPr>
        <p:spPr>
          <a:xfrm>
            <a:off x="731368" y="4773774"/>
            <a:ext cx="1381955" cy="30988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6F7F5"/>
                </a:solidFill>
                <a:latin typeface="Source Sans 3" pitchFamily="34" charset="0"/>
                <a:ea typeface="Source Sans 3" pitchFamily="34" charset="-122"/>
                <a:cs typeface="Source Sans 3" pitchFamily="34" charset="-120"/>
              </a:rPr>
              <a:t>Point d'origine</a:t>
            </a:r>
            <a:endParaRPr lang="en-US" sz="1600" dirty="0"/>
          </a:p>
        </p:txBody>
      </p:sp>
      <p:sp>
        <p:nvSpPr>
          <p:cNvPr id="17" name="Text 15"/>
          <p:cNvSpPr/>
          <p:nvPr/>
        </p:nvSpPr>
        <p:spPr>
          <a:xfrm>
            <a:off x="2590692" y="4413159"/>
            <a:ext cx="1447800"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6F8B"/>
                </a:solidFill>
                <a:latin typeface="Source Sans 3" pitchFamily="34" charset="0"/>
                <a:ea typeface="Source Sans 3" pitchFamily="34" charset="-122"/>
                <a:cs typeface="Source Sans 3" pitchFamily="34" charset="-120"/>
              </a:rPr>
              <a:t>Sens aller</a:t>
            </a:r>
            <a:endParaRPr lang="en-US" sz="1600" dirty="0"/>
          </a:p>
        </p:txBody>
      </p:sp>
      <p:sp>
        <p:nvSpPr>
          <p:cNvPr id="18" name="Shape 16"/>
          <p:cNvSpPr/>
          <p:nvPr/>
        </p:nvSpPr>
        <p:spPr>
          <a:xfrm>
            <a:off x="4089255" y="4536371"/>
            <a:ext cx="5054924" cy="38064"/>
          </a:xfrm>
          <a:prstGeom prst="rect">
            <a:avLst/>
          </a:prstGeom>
          <a:solidFill>
            <a:srgbClr val="1F6F8B"/>
          </a:solidFill>
          <a:ln/>
        </p:spPr>
        <p:txBody>
          <a:bodyPr/>
          <a:lstStyle/>
          <a:p>
            <a:endParaRPr lang="fr-MA"/>
          </a:p>
        </p:txBody>
      </p:sp>
      <p:pic>
        <p:nvPicPr>
          <p:cNvPr id="19" name="Image 0" descr="arrow-right"/>
          <p:cNvPicPr>
            <a:picLocks noChangeAspect="1"/>
          </p:cNvPicPr>
          <p:nvPr/>
        </p:nvPicPr>
        <p:blipFill>
          <a:blip r:embed="rId3"/>
          <a:srcRect l="-13" r="-13"/>
          <a:stretch/>
        </p:blipFill>
        <p:spPr>
          <a:xfrm>
            <a:off x="9245744" y="4453838"/>
            <a:ext cx="355564" cy="203128"/>
          </a:xfrm>
          <a:prstGeom prst="rect">
            <a:avLst/>
          </a:prstGeom>
        </p:spPr>
      </p:pic>
      <p:sp>
        <p:nvSpPr>
          <p:cNvPr id="20" name="Text 17"/>
          <p:cNvSpPr/>
          <p:nvPr/>
        </p:nvSpPr>
        <p:spPr>
          <a:xfrm>
            <a:off x="2485532" y="4773774"/>
            <a:ext cx="7220935" cy="309887"/>
          </a:xfrm>
          <a:prstGeom prst="rect">
            <a:avLst/>
          </a:prstGeom>
          <a:noFill/>
          <a:ln/>
        </p:spPr>
        <p:txBody>
          <a:bodyPr wrap="square" lIns="0" tIns="0" rIns="0" bIns="0" rtlCol="0" anchor="t">
            <a:normAutofit/>
          </a:bodyPr>
          <a:lstStyle/>
          <a:p>
            <a:pPr marL="0" indent="0" algn="ctr">
              <a:lnSpc>
                <a:spcPts val="2240"/>
              </a:lnSpc>
              <a:buNone/>
            </a:pPr>
            <a:r>
              <a:rPr lang="en-US" sz="1600" dirty="0">
                <a:solidFill>
                  <a:srgbClr val="2B3A48"/>
                </a:solidFill>
                <a:latin typeface="Source Sans 3" pitchFamily="34" charset="0"/>
                <a:ea typeface="Source Sans 3" pitchFamily="34" charset="-122"/>
                <a:cs typeface="Source Sans 3" pitchFamily="34" charset="-120"/>
              </a:rPr>
              <a:t>Biens · services · informations associées</a:t>
            </a:r>
            <a:endParaRPr lang="en-US" sz="1600" dirty="0"/>
          </a:p>
        </p:txBody>
      </p:sp>
      <p:pic>
        <p:nvPicPr>
          <p:cNvPr id="21" name="Image 1" descr="arrow-left"/>
          <p:cNvPicPr>
            <a:picLocks noChangeAspect="1"/>
          </p:cNvPicPr>
          <p:nvPr/>
        </p:nvPicPr>
        <p:blipFill>
          <a:blip r:embed="rId4"/>
          <a:srcRect l="-13" r="-13"/>
          <a:stretch/>
        </p:blipFill>
        <p:spPr>
          <a:xfrm>
            <a:off x="2590692" y="5175069"/>
            <a:ext cx="355564" cy="203128"/>
          </a:xfrm>
          <a:prstGeom prst="rect">
            <a:avLst/>
          </a:prstGeom>
        </p:spPr>
      </p:pic>
      <p:sp>
        <p:nvSpPr>
          <p:cNvPr id="22" name="Shape 18"/>
          <p:cNvSpPr/>
          <p:nvPr/>
        </p:nvSpPr>
        <p:spPr>
          <a:xfrm>
            <a:off x="3047820" y="5257600"/>
            <a:ext cx="5054924" cy="38064"/>
          </a:xfrm>
          <a:prstGeom prst="rect">
            <a:avLst/>
          </a:prstGeom>
          <a:solidFill>
            <a:srgbClr val="8D6E63"/>
          </a:solidFill>
          <a:ln/>
        </p:spPr>
        <p:txBody>
          <a:bodyPr/>
          <a:lstStyle/>
          <a:p>
            <a:endParaRPr lang="fr-MA"/>
          </a:p>
        </p:txBody>
      </p:sp>
      <p:sp>
        <p:nvSpPr>
          <p:cNvPr id="23" name="Text 19"/>
          <p:cNvSpPr/>
          <p:nvPr/>
        </p:nvSpPr>
        <p:spPr>
          <a:xfrm>
            <a:off x="8153508" y="5134389"/>
            <a:ext cx="1447800" cy="30988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6D5249"/>
                </a:solidFill>
                <a:latin typeface="Source Sans 3" pitchFamily="34" charset="0"/>
                <a:ea typeface="Source Sans 3" pitchFamily="34" charset="-122"/>
                <a:cs typeface="Source Sans 3" pitchFamily="34" charset="-120"/>
              </a:rPr>
              <a:t>Sens retour</a:t>
            </a:r>
            <a:endParaRPr lang="en-US" sz="1600" dirty="0"/>
          </a:p>
        </p:txBody>
      </p:sp>
      <p:sp>
        <p:nvSpPr>
          <p:cNvPr id="24" name="Shape 20"/>
          <p:cNvSpPr/>
          <p:nvPr/>
        </p:nvSpPr>
        <p:spPr>
          <a:xfrm>
            <a:off x="9753653" y="4453748"/>
            <a:ext cx="2032000" cy="924538"/>
          </a:xfrm>
          <a:prstGeom prst="roundRect">
            <a:avLst>
              <a:gd name="adj" fmla="val 8242"/>
            </a:avLst>
          </a:prstGeom>
          <a:solidFill>
            <a:srgbClr val="12263A"/>
          </a:solidFill>
          <a:ln/>
        </p:spPr>
        <p:txBody>
          <a:bodyPr/>
          <a:lstStyle/>
          <a:p>
            <a:endParaRPr lang="fr-MA"/>
          </a:p>
        </p:txBody>
      </p:sp>
      <p:sp>
        <p:nvSpPr>
          <p:cNvPr id="25" name="Text 21"/>
          <p:cNvSpPr/>
          <p:nvPr/>
        </p:nvSpPr>
        <p:spPr>
          <a:xfrm>
            <a:off x="9827785" y="4631530"/>
            <a:ext cx="1883738" cy="594374"/>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6F7F5"/>
                </a:solidFill>
                <a:latin typeface="Source Sans 3" pitchFamily="34" charset="0"/>
                <a:ea typeface="Source Sans 3" pitchFamily="34" charset="-122"/>
                <a:cs typeface="Source Sans 3" pitchFamily="34" charset="-120"/>
              </a:rPr>
              <a:t>Point de consommation</a:t>
            </a:r>
            <a:endParaRPr lang="en-US" sz="1600" dirty="0"/>
          </a:p>
        </p:txBody>
      </p:sp>
      <p:sp>
        <p:nvSpPr>
          <p:cNvPr id="26" name="Text 22"/>
          <p:cNvSpPr/>
          <p:nvPr/>
        </p:nvSpPr>
        <p:spPr>
          <a:xfrm>
            <a:off x="406346" y="6441461"/>
            <a:ext cx="11720687"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7"/>
                </a:solidFill>
                <a:latin typeface="Source Sans 3" pitchFamily="34" charset="0"/>
                <a:ea typeface="Source Sans 3" pitchFamily="34" charset="-122"/>
                <a:cs typeface="Source Sans 3" pitchFamily="34" charset="-120"/>
              </a:rPr>
              <a:t>Source : CSCMP, </a:t>
            </a:r>
            <a:r>
              <a:rPr lang="en-US" sz="1200" i="1" dirty="0">
                <a:solidFill>
                  <a:srgbClr val="5F6B77"/>
                </a:solidFill>
                <a:latin typeface="Source Sans 3" pitchFamily="34" charset="0"/>
                <a:ea typeface="Source Sans 3" pitchFamily="34" charset="-122"/>
                <a:cs typeface="Source Sans 3" pitchFamily="34" charset="-120"/>
              </a:rPr>
              <a:t>SCM Definitions and Glossary of Terms</a:t>
            </a:r>
            <a:r>
              <a:rPr lang="en-US" sz="1200" dirty="0">
                <a:solidFill>
                  <a:srgbClr val="5F6B77"/>
                </a:solidFill>
                <a:latin typeface="Source Sans 3" pitchFamily="34" charset="0"/>
                <a:ea typeface="Source Sans 3" pitchFamily="34" charset="-122"/>
                <a:cs typeface="Source Sans 3" pitchFamily="34" charset="-120"/>
              </a:rPr>
              <a:t>. Traduction proposée.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619ED4F-F2A6-4EA1-0C32-DD21758EDAB2}"/>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315199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6346" y="203126"/>
            <a:ext cx="2538903"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Cartographie › Métier 2 ›</a:t>
            </a:r>
            <a:endParaRPr lang="en-US" sz="1600" dirty="0"/>
          </a:p>
        </p:txBody>
      </p:sp>
      <p:sp>
        <p:nvSpPr>
          <p:cNvPr id="3" name="Text 1"/>
          <p:cNvSpPr/>
          <p:nvPr/>
        </p:nvSpPr>
        <p:spPr>
          <a:xfrm>
            <a:off x="11229217" y="203126"/>
            <a:ext cx="607237"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7 / 34</a:t>
            </a:r>
            <a:endParaRPr lang="en-US" sz="1600" dirty="0"/>
          </a:p>
        </p:txBody>
      </p:sp>
      <p:sp>
        <p:nvSpPr>
          <p:cNvPr id="4" name="Shape 2"/>
          <p:cNvSpPr/>
          <p:nvPr/>
        </p:nvSpPr>
        <p:spPr>
          <a:xfrm>
            <a:off x="406346" y="639961"/>
            <a:ext cx="11379308" cy="645102"/>
          </a:xfrm>
          <a:prstGeom prst="roundRect">
            <a:avLst>
              <a:gd name="adj" fmla="val 11812"/>
            </a:avLst>
          </a:prstGeom>
          <a:solidFill>
            <a:srgbClr val="2E7D32"/>
          </a:solidFill>
          <a:ln/>
        </p:spPr>
        <p:txBody>
          <a:bodyPr/>
          <a:lstStyle/>
          <a:p>
            <a:endParaRPr lang="fr-MA"/>
          </a:p>
        </p:txBody>
      </p:sp>
      <p:sp>
        <p:nvSpPr>
          <p:cNvPr id="5" name="Text 3"/>
          <p:cNvSpPr/>
          <p:nvPr/>
        </p:nvSpPr>
        <p:spPr>
          <a:xfrm>
            <a:off x="609474" y="766961"/>
            <a:ext cx="11302243"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BFBF8"/>
                </a:solidFill>
                <a:latin typeface="Source Sans 3" pitchFamily="34" charset="0"/>
                <a:ea typeface="Source Sans 3" pitchFamily="34" charset="-122"/>
                <a:cs typeface="Source Sans 3" pitchFamily="34" charset="-120"/>
              </a:rPr>
              <a:t>Zoom sur </a:t>
            </a:r>
            <a:r>
              <a:rPr lang="en-US" sz="2800" b="1" dirty="0" err="1">
                <a:solidFill>
                  <a:srgbClr val="FBFBF8"/>
                </a:solidFill>
                <a:latin typeface="Source Sans 3" pitchFamily="34" charset="0"/>
                <a:ea typeface="Source Sans 3" pitchFamily="34" charset="-122"/>
                <a:cs typeface="Source Sans 3" pitchFamily="34" charset="-120"/>
              </a:rPr>
              <a:t>Ressources</a:t>
            </a:r>
            <a:r>
              <a:rPr lang="en-US" sz="2800" b="1" dirty="0">
                <a:solidFill>
                  <a:srgbClr val="FBFBF8"/>
                </a:solidFill>
                <a:latin typeface="Source Sans 3" pitchFamily="34" charset="0"/>
                <a:ea typeface="Source Sans 3" pitchFamily="34" charset="-122"/>
                <a:cs typeface="Source Sans 3" pitchFamily="34" charset="-120"/>
              </a:rPr>
              <a:t> humaines et équipements</a:t>
            </a:r>
            <a:endParaRPr lang="en-US" sz="2800" dirty="0"/>
          </a:p>
        </p:txBody>
      </p:sp>
      <p:sp>
        <p:nvSpPr>
          <p:cNvPr id="6" name="Text 4"/>
          <p:cNvSpPr/>
          <p:nvPr/>
        </p:nvSpPr>
        <p:spPr>
          <a:xfrm>
            <a:off x="406346" y="1437407"/>
            <a:ext cx="11720687"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E7D32"/>
                </a:solidFill>
                <a:latin typeface="Source Sans 3" pitchFamily="34" charset="0"/>
                <a:ea typeface="Source Sans 3" pitchFamily="34" charset="-122"/>
                <a:cs typeface="Source Sans 3" pitchFamily="34" charset="-120"/>
              </a:rPr>
              <a:t>Métier . Prévision et planification › Planification des capacités ›</a:t>
            </a:r>
            <a:endParaRPr lang="en-US" sz="1600" dirty="0"/>
          </a:p>
        </p:txBody>
      </p:sp>
      <p:sp>
        <p:nvSpPr>
          <p:cNvPr id="7" name="Shape 5"/>
          <p:cNvSpPr/>
          <p:nvPr/>
        </p:nvSpPr>
        <p:spPr>
          <a:xfrm>
            <a:off x="406346" y="1798017"/>
            <a:ext cx="3272144" cy="797448"/>
          </a:xfrm>
          <a:prstGeom prst="roundRect">
            <a:avLst>
              <a:gd name="adj" fmla="val 9555"/>
            </a:avLst>
          </a:prstGeom>
          <a:solidFill>
            <a:srgbClr val="E9ECEF"/>
          </a:solidFill>
          <a:ln/>
        </p:spPr>
        <p:txBody>
          <a:bodyPr/>
          <a:lstStyle/>
          <a:p>
            <a:endParaRPr lang="fr-MA"/>
          </a:p>
        </p:txBody>
      </p:sp>
      <p:sp>
        <p:nvSpPr>
          <p:cNvPr id="8" name="Text 6"/>
          <p:cNvSpPr/>
          <p:nvPr/>
        </p:nvSpPr>
        <p:spPr>
          <a:xfrm>
            <a:off x="558692" y="1899580"/>
            <a:ext cx="3056476" cy="309887"/>
          </a:xfrm>
          <a:prstGeom prst="rect">
            <a:avLst/>
          </a:prstGeom>
          <a:noFill/>
          <a:ln/>
        </p:spPr>
        <p:txBody>
          <a:bodyPr wrap="square" lIns="0" tIns="0" rIns="0" bIns="0" rtlCol="0" anchor="t">
            <a:normAutofit/>
          </a:bodyPr>
          <a:lstStyle/>
          <a:p>
            <a:pPr marL="0" indent="0" algn="l">
              <a:lnSpc>
                <a:spcPts val="2240"/>
              </a:lnSpc>
              <a:buNone/>
            </a:pPr>
            <a:r>
              <a:rPr lang="en-US" sz="1600" b="1" dirty="0" err="1">
                <a:solidFill>
                  <a:srgbClr val="5F6B77"/>
                </a:solidFill>
                <a:latin typeface="Source Sans 3" pitchFamily="34" charset="0"/>
                <a:ea typeface="Source Sans 3" pitchFamily="34" charset="-122"/>
                <a:cs typeface="Source Sans 3" pitchFamily="34" charset="-120"/>
              </a:rPr>
              <a:t>Capacités</a:t>
            </a:r>
            <a:r>
              <a:rPr lang="en-US" sz="1600" b="1" dirty="0">
                <a:solidFill>
                  <a:srgbClr val="5F6B77"/>
                </a:solidFill>
                <a:latin typeface="Source Sans 3" pitchFamily="34" charset="0"/>
                <a:ea typeface="Source Sans 3" pitchFamily="34" charset="-122"/>
                <a:cs typeface="Source Sans 3" pitchFamily="34" charset="-120"/>
              </a:rPr>
              <a:t> d'entreposage</a:t>
            </a:r>
            <a:endParaRPr lang="en-US" sz="1600" dirty="0"/>
          </a:p>
        </p:txBody>
      </p:sp>
      <p:sp>
        <p:nvSpPr>
          <p:cNvPr id="9" name="Text 7"/>
          <p:cNvSpPr/>
          <p:nvPr/>
        </p:nvSpPr>
        <p:spPr>
          <a:xfrm>
            <a:off x="558692" y="2209416"/>
            <a:ext cx="3056476"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dimensionne l'espace</a:t>
            </a:r>
            <a:endParaRPr lang="en-US" sz="1600" dirty="0"/>
          </a:p>
        </p:txBody>
      </p:sp>
      <p:sp>
        <p:nvSpPr>
          <p:cNvPr id="10" name="Shape 8"/>
          <p:cNvSpPr/>
          <p:nvPr/>
        </p:nvSpPr>
        <p:spPr>
          <a:xfrm>
            <a:off x="3805490" y="1798017"/>
            <a:ext cx="3272144" cy="797448"/>
          </a:xfrm>
          <a:prstGeom prst="roundRect">
            <a:avLst>
              <a:gd name="adj" fmla="val 9555"/>
            </a:avLst>
          </a:prstGeom>
          <a:solidFill>
            <a:srgbClr val="E9ECEF"/>
          </a:solidFill>
          <a:ln/>
        </p:spPr>
        <p:txBody>
          <a:bodyPr/>
          <a:lstStyle/>
          <a:p>
            <a:endParaRPr lang="fr-MA"/>
          </a:p>
        </p:txBody>
      </p:sp>
      <p:sp>
        <p:nvSpPr>
          <p:cNvPr id="11" name="Text 9"/>
          <p:cNvSpPr/>
          <p:nvPr/>
        </p:nvSpPr>
        <p:spPr>
          <a:xfrm>
            <a:off x="3957836" y="1899580"/>
            <a:ext cx="3056476" cy="309887"/>
          </a:xfrm>
          <a:prstGeom prst="rect">
            <a:avLst/>
          </a:prstGeom>
          <a:noFill/>
          <a:ln/>
        </p:spPr>
        <p:txBody>
          <a:bodyPr wrap="square" lIns="0" tIns="0" rIns="0" bIns="0" rtlCol="0" anchor="t">
            <a:normAutofit/>
          </a:bodyPr>
          <a:lstStyle/>
          <a:p>
            <a:pPr marL="0" indent="0" algn="l">
              <a:lnSpc>
                <a:spcPts val="2240"/>
              </a:lnSpc>
              <a:buNone/>
            </a:pPr>
            <a:r>
              <a:rPr lang="en-US" sz="1600" b="1" dirty="0" err="1">
                <a:solidFill>
                  <a:srgbClr val="5F6B77"/>
                </a:solidFill>
                <a:latin typeface="Source Sans 3" pitchFamily="34" charset="0"/>
                <a:ea typeface="Source Sans 3" pitchFamily="34" charset="-122"/>
                <a:cs typeface="Source Sans 3" pitchFamily="34" charset="-120"/>
              </a:rPr>
              <a:t>Capacités</a:t>
            </a:r>
            <a:r>
              <a:rPr lang="en-US" sz="1600" b="1" dirty="0">
                <a:solidFill>
                  <a:srgbClr val="5F6B77"/>
                </a:solidFill>
                <a:latin typeface="Source Sans 3" pitchFamily="34" charset="0"/>
                <a:ea typeface="Source Sans 3" pitchFamily="34" charset="-122"/>
                <a:cs typeface="Source Sans 3" pitchFamily="34" charset="-120"/>
              </a:rPr>
              <a:t> de transport</a:t>
            </a:r>
            <a:endParaRPr lang="en-US" sz="1600" dirty="0"/>
          </a:p>
        </p:txBody>
      </p:sp>
      <p:sp>
        <p:nvSpPr>
          <p:cNvPr id="12" name="Text 10"/>
          <p:cNvSpPr/>
          <p:nvPr/>
        </p:nvSpPr>
        <p:spPr>
          <a:xfrm>
            <a:off x="3957836" y="2209416"/>
            <a:ext cx="3056476"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dimensionne les véhicules</a:t>
            </a:r>
            <a:endParaRPr lang="en-US" sz="1600" dirty="0"/>
          </a:p>
        </p:txBody>
      </p:sp>
      <p:sp>
        <p:nvSpPr>
          <p:cNvPr id="13" name="Shape 11"/>
          <p:cNvSpPr/>
          <p:nvPr/>
        </p:nvSpPr>
        <p:spPr>
          <a:xfrm>
            <a:off x="7204634" y="1798017"/>
            <a:ext cx="4581020" cy="797448"/>
          </a:xfrm>
          <a:prstGeom prst="roundRect">
            <a:avLst>
              <a:gd name="adj" fmla="val 9555"/>
            </a:avLst>
          </a:prstGeom>
          <a:solidFill>
            <a:srgbClr val="2E7D32"/>
          </a:solidFill>
          <a:ln/>
          <a:effectLst>
            <a:outerShdw blurRad="50800" dist="12700" dir="5400000" algn="bl" rotWithShape="0">
              <a:srgbClr val="2E7D32">
                <a:alpha val="30000"/>
              </a:srgbClr>
            </a:outerShdw>
          </a:effectLst>
        </p:spPr>
        <p:txBody>
          <a:bodyPr/>
          <a:lstStyle/>
          <a:p>
            <a:endParaRPr lang="fr-MA"/>
          </a:p>
        </p:txBody>
      </p:sp>
      <p:sp>
        <p:nvSpPr>
          <p:cNvPr id="14" name="Text 12"/>
          <p:cNvSpPr/>
          <p:nvPr/>
        </p:nvSpPr>
        <p:spPr>
          <a:xfrm>
            <a:off x="7356980" y="1899580"/>
            <a:ext cx="4404618" cy="309887"/>
          </a:xfrm>
          <a:prstGeom prst="rect">
            <a:avLst/>
          </a:prstGeom>
          <a:noFill/>
          <a:ln/>
        </p:spPr>
        <p:txBody>
          <a:bodyPr wrap="square" lIns="0" tIns="0" rIns="0" bIns="0" rtlCol="0" anchor="t">
            <a:normAutofit/>
          </a:bodyPr>
          <a:lstStyle/>
          <a:p>
            <a:pPr marL="0" indent="0" algn="l">
              <a:lnSpc>
                <a:spcPts val="2240"/>
              </a:lnSpc>
              <a:buNone/>
            </a:pPr>
            <a:r>
              <a:rPr lang="en-US" sz="1600" b="1" dirty="0" err="1">
                <a:solidFill>
                  <a:srgbClr val="FBFBF8"/>
                </a:solidFill>
                <a:latin typeface="Source Sans 3" pitchFamily="34" charset="0"/>
                <a:ea typeface="Source Sans 3" pitchFamily="34" charset="-122"/>
                <a:cs typeface="Source Sans 3" pitchFamily="34" charset="-120"/>
              </a:rPr>
              <a:t>Ressources</a:t>
            </a:r>
            <a:r>
              <a:rPr lang="en-US" sz="1600" b="1" dirty="0">
                <a:solidFill>
                  <a:srgbClr val="FBFBF8"/>
                </a:solidFill>
                <a:latin typeface="Source Sans 3" pitchFamily="34" charset="0"/>
                <a:ea typeface="Source Sans 3" pitchFamily="34" charset="-122"/>
                <a:cs typeface="Source Sans 3" pitchFamily="34" charset="-120"/>
              </a:rPr>
              <a:t> humaines et équipements</a:t>
            </a:r>
            <a:endParaRPr lang="en-US" sz="1600" dirty="0"/>
          </a:p>
        </p:txBody>
      </p:sp>
      <p:sp>
        <p:nvSpPr>
          <p:cNvPr id="15" name="Text 13"/>
          <p:cNvSpPr/>
          <p:nvPr/>
        </p:nvSpPr>
        <p:spPr>
          <a:xfrm>
            <a:off x="7356980" y="2209416"/>
            <a:ext cx="4404618"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BF8"/>
                </a:solidFill>
                <a:latin typeface="Source Sans 3" pitchFamily="34" charset="0"/>
                <a:ea typeface="Source Sans 3" pitchFamily="34" charset="-122"/>
                <a:cs typeface="Source Sans 3" pitchFamily="34" charset="-120"/>
              </a:rPr>
              <a:t>Notre sous-processus</a:t>
            </a:r>
            <a:endParaRPr lang="en-US" sz="1600" dirty="0"/>
          </a:p>
        </p:txBody>
      </p:sp>
      <p:sp>
        <p:nvSpPr>
          <p:cNvPr id="16" name="Shape 14"/>
          <p:cNvSpPr/>
          <p:nvPr/>
        </p:nvSpPr>
        <p:spPr>
          <a:xfrm>
            <a:off x="406346" y="2747814"/>
            <a:ext cx="11379308" cy="1272165"/>
          </a:xfrm>
          <a:prstGeom prst="roundRect">
            <a:avLst>
              <a:gd name="adj" fmla="val 5990"/>
            </a:avLst>
          </a:prstGeom>
          <a:solidFill>
            <a:srgbClr val="FFFFFF"/>
          </a:solidFill>
          <a:ln/>
          <a:effectLst>
            <a:outerShdw blurRad="25400" dist="6350" dir="5400000" algn="bl" rotWithShape="0">
              <a:srgbClr val="12263A">
                <a:alpha val="12000"/>
              </a:srgbClr>
            </a:outerShdw>
          </a:effectLst>
        </p:spPr>
        <p:txBody>
          <a:bodyPr/>
          <a:lstStyle/>
          <a:p>
            <a:endParaRPr lang="fr-MA"/>
          </a:p>
        </p:txBody>
      </p:sp>
      <p:sp>
        <p:nvSpPr>
          <p:cNvPr id="17" name="Shape 15"/>
          <p:cNvSpPr/>
          <p:nvPr/>
        </p:nvSpPr>
        <p:spPr>
          <a:xfrm>
            <a:off x="406346" y="2747814"/>
            <a:ext cx="11379308" cy="1272165"/>
          </a:xfrm>
          <a:custGeom>
            <a:avLst/>
            <a:gdLst/>
            <a:ahLst/>
            <a:cxnLst/>
            <a:rect l="l" t="t" r="r" b="b"/>
            <a:pathLst>
              <a:path w="11379308" h="1272165">
                <a:moveTo>
                  <a:pt x="76200" y="1272165"/>
                </a:moveTo>
                <a:lnTo>
                  <a:pt x="76200" y="1272165"/>
                </a:lnTo>
                <a:arcTo wR="76200" hR="76200" stAng="5400000" swAng="5400000"/>
                <a:lnTo>
                  <a:pt x="0" y="76200"/>
                </a:lnTo>
                <a:arcTo wR="76200" hR="76200" stAng="10800000" swAng="5400000"/>
                <a:lnTo>
                  <a:pt x="76200" y="0"/>
                </a:lnTo>
                <a:arcTo wR="25400" hR="76200" stAng="16200000" swAng="-5400000"/>
                <a:lnTo>
                  <a:pt x="50800" y="1195965"/>
                </a:lnTo>
                <a:arcTo wR="25400" hR="76200" stAng="10800000" swAng="-5400000"/>
                <a:close/>
              </a:path>
            </a:pathLst>
          </a:custGeom>
          <a:solidFill>
            <a:srgbClr val="2E7D32"/>
          </a:solidFill>
          <a:ln/>
        </p:spPr>
        <p:txBody>
          <a:bodyPr/>
          <a:lstStyle/>
          <a:p>
            <a:endParaRPr lang="fr-MA"/>
          </a:p>
        </p:txBody>
      </p:sp>
      <p:sp>
        <p:nvSpPr>
          <p:cNvPr id="18" name="Text 16"/>
          <p:cNvSpPr/>
          <p:nvPr/>
        </p:nvSpPr>
        <p:spPr>
          <a:xfrm>
            <a:off x="655656" y="2900164"/>
            <a:ext cx="11254676" cy="322515"/>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12263A"/>
                </a:solidFill>
                <a:latin typeface="Source Sans 3" pitchFamily="34" charset="0"/>
                <a:ea typeface="Source Sans 3" pitchFamily="34" charset="-122"/>
                <a:cs typeface="Source Sans 3" pitchFamily="34" charset="-120"/>
              </a:rPr>
              <a:t>Le </a:t>
            </a:r>
            <a:r>
              <a:rPr lang="en-US" sz="1800" b="1" dirty="0" err="1">
                <a:solidFill>
                  <a:srgbClr val="12263A"/>
                </a:solidFill>
                <a:latin typeface="Source Sans 3" pitchFamily="34" charset="0"/>
                <a:ea typeface="Source Sans 3" pitchFamily="34" charset="-122"/>
                <a:cs typeface="Source Sans 3" pitchFamily="34" charset="-120"/>
              </a:rPr>
              <a:t>dimensionne</a:t>
            </a:r>
            <a:r>
              <a:rPr lang="en-US" sz="1800" b="1" dirty="0">
                <a:solidFill>
                  <a:srgbClr val="12263A"/>
                </a:solidFill>
                <a:latin typeface="Source Sans 3" pitchFamily="34" charset="0"/>
                <a:ea typeface="Source Sans 3" pitchFamily="34" charset="-122"/>
                <a:cs typeface="Source Sans 3" pitchFamily="34" charset="-120"/>
              </a:rPr>
              <a:t> les personnes et les machines qui font tourner le flux.</a:t>
            </a:r>
            <a:endParaRPr lang="en-US" sz="1800" dirty="0"/>
          </a:p>
        </p:txBody>
      </p:sp>
      <p:sp>
        <p:nvSpPr>
          <p:cNvPr id="19" name="Text 17"/>
          <p:cNvSpPr/>
          <p:nvPr/>
        </p:nvSpPr>
        <p:spPr>
          <a:xfrm>
            <a:off x="655656" y="3273400"/>
            <a:ext cx="11254676" cy="61963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12263A"/>
                </a:solidFill>
                <a:latin typeface="Source Sans 3" pitchFamily="34" charset="0"/>
                <a:ea typeface="Source Sans 3" pitchFamily="34" charset="-122"/>
                <a:cs typeface="Source Sans 3" pitchFamily="34" charset="-120"/>
              </a:rPr>
              <a:t>Il transforme une prévision de volume en heures de main-d'œuvre, en effectif et en équipements, par zone et par jour.</a:t>
            </a:r>
            <a:endParaRPr lang="en-US" sz="1800" dirty="0"/>
          </a:p>
        </p:txBody>
      </p:sp>
      <p:sp>
        <p:nvSpPr>
          <p:cNvPr id="20" name="Text 18"/>
          <p:cNvSpPr/>
          <p:nvPr/>
        </p:nvSpPr>
        <p:spPr>
          <a:xfrm>
            <a:off x="4769445" y="5041478"/>
            <a:ext cx="2732610"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La question à laquelle il répond</a:t>
            </a:r>
            <a:endParaRPr lang="en-US" sz="1600" dirty="0"/>
          </a:p>
        </p:txBody>
      </p:sp>
      <p:sp>
        <p:nvSpPr>
          <p:cNvPr id="21" name="Text 19"/>
          <p:cNvSpPr/>
          <p:nvPr/>
        </p:nvSpPr>
        <p:spPr>
          <a:xfrm>
            <a:off x="1281580" y="5376751"/>
            <a:ext cx="9628749" cy="434271"/>
          </a:xfrm>
          <a:prstGeom prst="rect">
            <a:avLst/>
          </a:prstGeom>
          <a:noFill/>
          <a:ln/>
        </p:spPr>
        <p:txBody>
          <a:bodyPr wrap="square" lIns="0" tIns="0" rIns="0" bIns="0" rtlCol="0" anchor="t">
            <a:normAutofit/>
          </a:bodyPr>
          <a:lstStyle/>
          <a:p>
            <a:pPr marL="0" indent="0" algn="ctr">
              <a:lnSpc>
                <a:spcPts val="3220"/>
              </a:lnSpc>
              <a:buNone/>
            </a:pPr>
            <a:r>
              <a:rPr lang="en-US" sz="2800" b="1" dirty="0">
                <a:solidFill>
                  <a:srgbClr val="2E7D32"/>
                </a:solidFill>
                <a:latin typeface="Source Sans 3" pitchFamily="34" charset="0"/>
                <a:ea typeface="Source Sans 3" pitchFamily="34" charset="-122"/>
                <a:cs typeface="Source Sans 3" pitchFamily="34" charset="-120"/>
              </a:rPr>
              <a:t>« Pour le volume prévu, de quoi aurai-je besoin, et quand ? »</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6346" y="203126"/>
            <a:ext cx="4184619"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Cartographie › Métier 2 › 2.3.3 › Entrées et sorties</a:t>
            </a:r>
            <a:endParaRPr lang="en-US" sz="1600" dirty="0"/>
          </a:p>
        </p:txBody>
      </p:sp>
      <p:sp>
        <p:nvSpPr>
          <p:cNvPr id="3" name="Text 1"/>
          <p:cNvSpPr/>
          <p:nvPr/>
        </p:nvSpPr>
        <p:spPr>
          <a:xfrm>
            <a:off x="11229217" y="203126"/>
            <a:ext cx="607237"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8 / 34</a:t>
            </a:r>
            <a:endParaRPr lang="en-US" sz="1600" dirty="0"/>
          </a:p>
        </p:txBody>
      </p:sp>
      <p:sp>
        <p:nvSpPr>
          <p:cNvPr id="4" name="Shape 2"/>
          <p:cNvSpPr/>
          <p:nvPr/>
        </p:nvSpPr>
        <p:spPr>
          <a:xfrm>
            <a:off x="406346" y="639961"/>
            <a:ext cx="11379308" cy="645102"/>
          </a:xfrm>
          <a:prstGeom prst="roundRect">
            <a:avLst>
              <a:gd name="adj" fmla="val 11812"/>
            </a:avLst>
          </a:prstGeom>
          <a:solidFill>
            <a:srgbClr val="2E7D32"/>
          </a:solidFill>
          <a:ln/>
        </p:spPr>
        <p:txBody>
          <a:bodyPr/>
          <a:lstStyle/>
          <a:p>
            <a:endParaRPr lang="fr-MA"/>
          </a:p>
        </p:txBody>
      </p:sp>
      <p:sp>
        <p:nvSpPr>
          <p:cNvPr id="5" name="Text 3"/>
          <p:cNvSpPr/>
          <p:nvPr/>
        </p:nvSpPr>
        <p:spPr>
          <a:xfrm>
            <a:off x="609474" y="766961"/>
            <a:ext cx="11302243"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BFBF8"/>
                </a:solidFill>
                <a:latin typeface="Source Sans 3" pitchFamily="34" charset="0"/>
                <a:ea typeface="Source Sans 3" pitchFamily="34" charset="-122"/>
                <a:cs typeface="Source Sans 3" pitchFamily="34" charset="-120"/>
              </a:rPr>
              <a:t>2.3.3 : entrée, traitement, sortie</a:t>
            </a:r>
            <a:endParaRPr lang="en-US" sz="2800" dirty="0"/>
          </a:p>
        </p:txBody>
      </p:sp>
      <p:sp>
        <p:nvSpPr>
          <p:cNvPr id="6" name="Shape 4"/>
          <p:cNvSpPr/>
          <p:nvPr/>
        </p:nvSpPr>
        <p:spPr>
          <a:xfrm>
            <a:off x="406346" y="1437407"/>
            <a:ext cx="3297670" cy="5217463"/>
          </a:xfrm>
          <a:prstGeom prst="roundRect">
            <a:avLst>
              <a:gd name="adj" fmla="val 2311"/>
            </a:avLst>
          </a:prstGeom>
          <a:solidFill>
            <a:srgbClr val="FFFFFF"/>
          </a:solidFill>
          <a:ln/>
          <a:effectLst>
            <a:outerShdw blurRad="25400" dist="6350" dir="5400000" algn="bl" rotWithShape="0">
              <a:srgbClr val="12263A">
                <a:alpha val="12000"/>
              </a:srgbClr>
            </a:outerShdw>
          </a:effectLst>
        </p:spPr>
        <p:txBody>
          <a:bodyPr/>
          <a:lstStyle/>
          <a:p>
            <a:endParaRPr lang="fr-MA"/>
          </a:p>
        </p:txBody>
      </p:sp>
      <p:sp>
        <p:nvSpPr>
          <p:cNvPr id="7" name="Shape 5"/>
          <p:cNvSpPr/>
          <p:nvPr/>
        </p:nvSpPr>
        <p:spPr>
          <a:xfrm>
            <a:off x="406346" y="1437407"/>
            <a:ext cx="3297670" cy="5217463"/>
          </a:xfrm>
          <a:custGeom>
            <a:avLst/>
            <a:gdLst/>
            <a:ahLst/>
            <a:cxnLst/>
            <a:rect l="l" t="t" r="r" b="b"/>
            <a:pathLst>
              <a:path w="3297670" h="5217463">
                <a:moveTo>
                  <a:pt x="0" y="76200"/>
                </a:moveTo>
                <a:lnTo>
                  <a:pt x="0" y="76200"/>
                </a:lnTo>
                <a:arcTo wR="76200" hR="76200" stAng="10800000" swAng="5400000"/>
                <a:lnTo>
                  <a:pt x="3221470" y="0"/>
                </a:lnTo>
                <a:arcTo wR="76200" hR="76200" stAng="16200000" swAng="5400000"/>
                <a:lnTo>
                  <a:pt x="3297670" y="76200"/>
                </a:lnTo>
                <a:arcTo wR="76200" hR="25400" stAng="0" swAng="-5400000"/>
                <a:lnTo>
                  <a:pt x="76200" y="50800"/>
                </a:lnTo>
                <a:arcTo wR="76200" hR="25400" stAng="16200000" swAng="-5400000"/>
                <a:close/>
              </a:path>
            </a:pathLst>
          </a:custGeom>
          <a:solidFill>
            <a:srgbClr val="2E7D32"/>
          </a:solidFill>
          <a:ln/>
        </p:spPr>
        <p:txBody>
          <a:bodyPr/>
          <a:lstStyle/>
          <a:p>
            <a:endParaRPr lang="fr-MA"/>
          </a:p>
        </p:txBody>
      </p:sp>
      <p:sp>
        <p:nvSpPr>
          <p:cNvPr id="8" name="Text 6"/>
          <p:cNvSpPr/>
          <p:nvPr/>
        </p:nvSpPr>
        <p:spPr>
          <a:xfrm>
            <a:off x="584128" y="1635931"/>
            <a:ext cx="3030370"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E7D32"/>
                </a:solidFill>
                <a:latin typeface="Source Sans 3" pitchFamily="34" charset="0"/>
                <a:ea typeface="Source Sans 3" pitchFamily="34" charset="-122"/>
                <a:cs typeface="Source Sans 3" pitchFamily="34" charset="-120"/>
              </a:rPr>
              <a:t>Entrée</a:t>
            </a:r>
            <a:endParaRPr lang="en-US" sz="2000" dirty="0"/>
          </a:p>
        </p:txBody>
      </p:sp>
      <p:sp>
        <p:nvSpPr>
          <p:cNvPr id="9" name="Text 7"/>
          <p:cNvSpPr/>
          <p:nvPr/>
        </p:nvSpPr>
        <p:spPr>
          <a:xfrm>
            <a:off x="584128" y="2042282"/>
            <a:ext cx="30303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2263A"/>
                </a:solidFill>
                <a:latin typeface="Source Sans 3" pitchFamily="34" charset="0"/>
                <a:ea typeface="Source Sans 3" pitchFamily="34" charset="-122"/>
                <a:cs typeface="Source Sans 3" pitchFamily="34" charset="-120"/>
              </a:rPr>
              <a:t>La prévision de volume</a:t>
            </a:r>
            <a:endParaRPr lang="en-US" sz="1600" dirty="0"/>
          </a:p>
        </p:txBody>
      </p:sp>
      <p:sp>
        <p:nvSpPr>
          <p:cNvPr id="10" name="Text 8"/>
          <p:cNvSpPr/>
          <p:nvPr/>
        </p:nvSpPr>
        <p:spPr>
          <a:xfrm>
            <a:off x="584128" y="2308907"/>
            <a:ext cx="303037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4A5568"/>
                </a:solidFill>
                <a:latin typeface="Source Sans 3" pitchFamily="34" charset="0"/>
                <a:ea typeface="Source Sans 3" pitchFamily="34" charset="-122"/>
                <a:cs typeface="Source Sans 3" pitchFamily="34" charset="-120"/>
              </a:rPr>
              <a:t>2.1.1 Prévision de la demande</a:t>
            </a:r>
            <a:endParaRPr lang="en-US" sz="1600" dirty="0"/>
          </a:p>
        </p:txBody>
      </p:sp>
      <p:sp>
        <p:nvSpPr>
          <p:cNvPr id="11" name="Text 9"/>
          <p:cNvSpPr/>
          <p:nvPr/>
        </p:nvSpPr>
        <p:spPr>
          <a:xfrm>
            <a:off x="584128" y="2664470"/>
            <a:ext cx="30303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2263A"/>
                </a:solidFill>
                <a:latin typeface="Source Sans 3" pitchFamily="34" charset="0"/>
                <a:ea typeface="Source Sans 3" pitchFamily="34" charset="-122"/>
                <a:cs typeface="Source Sans 3" pitchFamily="34" charset="-120"/>
              </a:rPr>
              <a:t>L'historique d'activité</a:t>
            </a:r>
            <a:endParaRPr lang="en-US" sz="1600" dirty="0"/>
          </a:p>
        </p:txBody>
      </p:sp>
      <p:sp>
        <p:nvSpPr>
          <p:cNvPr id="12" name="Text 10"/>
          <p:cNvSpPr/>
          <p:nvPr/>
        </p:nvSpPr>
        <p:spPr>
          <a:xfrm>
            <a:off x="584128" y="2931096"/>
            <a:ext cx="3030370"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4A5568"/>
                </a:solidFill>
                <a:latin typeface="Source Sans 3" pitchFamily="34" charset="0"/>
                <a:ea typeface="Source Sans 3" pitchFamily="34" charset="-122"/>
                <a:cs typeface="Source Sans 3" pitchFamily="34" charset="-120"/>
              </a:rPr>
              <a:t>volumes traités, heures travaillées, équipements mobilisés</a:t>
            </a:r>
            <a:endParaRPr lang="en-US" sz="1600" dirty="0"/>
          </a:p>
        </p:txBody>
      </p:sp>
      <p:sp>
        <p:nvSpPr>
          <p:cNvPr id="13" name="Text 11"/>
          <p:cNvSpPr/>
          <p:nvPr/>
        </p:nvSpPr>
        <p:spPr>
          <a:xfrm>
            <a:off x="584128" y="3540658"/>
            <a:ext cx="303037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2263A"/>
                </a:solidFill>
                <a:latin typeface="Source Sans 3" pitchFamily="34" charset="0"/>
                <a:ea typeface="Source Sans 3" pitchFamily="34" charset="-122"/>
                <a:cs typeface="Source Sans 3" pitchFamily="34" charset="-120"/>
              </a:rPr>
              <a:t>Le calendrier</a:t>
            </a:r>
            <a:endParaRPr lang="en-US" sz="1600" dirty="0"/>
          </a:p>
        </p:txBody>
      </p:sp>
      <p:sp>
        <p:nvSpPr>
          <p:cNvPr id="14" name="Text 12"/>
          <p:cNvSpPr/>
          <p:nvPr/>
        </p:nvSpPr>
        <p:spPr>
          <a:xfrm>
            <a:off x="584128" y="3807284"/>
            <a:ext cx="3030370"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4A5568"/>
                </a:solidFill>
                <a:latin typeface="Source Sans 3" pitchFamily="34" charset="0"/>
                <a:ea typeface="Source Sans 3" pitchFamily="34" charset="-122"/>
                <a:cs typeface="Source Sans 3" pitchFamily="34" charset="-120"/>
              </a:rPr>
              <a:t>jour de semaine, périodes de pic</a:t>
            </a:r>
            <a:endParaRPr lang="en-US" sz="1600" dirty="0"/>
          </a:p>
        </p:txBody>
      </p:sp>
      <p:pic>
        <p:nvPicPr>
          <p:cNvPr id="15" name="Image 0" descr="arrow-right"/>
          <p:cNvPicPr>
            <a:picLocks noChangeAspect="1"/>
          </p:cNvPicPr>
          <p:nvPr/>
        </p:nvPicPr>
        <p:blipFill>
          <a:blip r:embed="rId3"/>
          <a:srcRect l="-8" r="-8"/>
          <a:stretch/>
        </p:blipFill>
        <p:spPr>
          <a:xfrm>
            <a:off x="3818208" y="3931853"/>
            <a:ext cx="381000" cy="228564"/>
          </a:xfrm>
          <a:prstGeom prst="rect">
            <a:avLst/>
          </a:prstGeom>
        </p:spPr>
      </p:pic>
      <p:sp>
        <p:nvSpPr>
          <p:cNvPr id="16" name="Shape 13"/>
          <p:cNvSpPr/>
          <p:nvPr/>
        </p:nvSpPr>
        <p:spPr>
          <a:xfrm>
            <a:off x="4313490" y="1437407"/>
            <a:ext cx="3030140" cy="5217463"/>
          </a:xfrm>
          <a:prstGeom prst="roundRect">
            <a:avLst>
              <a:gd name="adj" fmla="val 2515"/>
            </a:avLst>
          </a:prstGeom>
          <a:solidFill>
            <a:srgbClr val="2E7D32"/>
          </a:solidFill>
          <a:ln/>
        </p:spPr>
        <p:txBody>
          <a:bodyPr/>
          <a:lstStyle/>
          <a:p>
            <a:endParaRPr lang="fr-MA"/>
          </a:p>
        </p:txBody>
      </p:sp>
      <p:sp>
        <p:nvSpPr>
          <p:cNvPr id="17" name="Text 14"/>
          <p:cNvSpPr/>
          <p:nvPr/>
        </p:nvSpPr>
        <p:spPr>
          <a:xfrm>
            <a:off x="4491272" y="3446760"/>
            <a:ext cx="2754814"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BFBF8"/>
                </a:solidFill>
                <a:latin typeface="Source Sans 3" pitchFamily="34" charset="0"/>
                <a:ea typeface="Source Sans 3" pitchFamily="34" charset="-122"/>
                <a:cs typeface="Source Sans 3" pitchFamily="34" charset="-120"/>
              </a:rPr>
              <a:t>Traitement</a:t>
            </a:r>
            <a:endParaRPr lang="en-US" sz="2000" dirty="0"/>
          </a:p>
        </p:txBody>
      </p:sp>
      <p:sp>
        <p:nvSpPr>
          <p:cNvPr id="18" name="Text 15"/>
          <p:cNvSpPr/>
          <p:nvPr/>
        </p:nvSpPr>
        <p:spPr>
          <a:xfrm>
            <a:off x="4491272" y="3853111"/>
            <a:ext cx="2754814" cy="817707"/>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BFBF8"/>
                </a:solidFill>
                <a:latin typeface="Source Sans 3" pitchFamily="34" charset="0"/>
                <a:ea typeface="Source Sans 3" pitchFamily="34" charset="-122"/>
                <a:cs typeface="Source Sans 3" pitchFamily="34" charset="-120"/>
              </a:rPr>
              <a:t>Le calcul des heures, de l'effectif et des équipements nécessaires.</a:t>
            </a:r>
            <a:endParaRPr lang="en-US" sz="1600" dirty="0"/>
          </a:p>
        </p:txBody>
      </p:sp>
      <p:pic>
        <p:nvPicPr>
          <p:cNvPr id="19" name="Image 1" descr="arrow-right"/>
          <p:cNvPicPr>
            <a:picLocks noChangeAspect="1"/>
          </p:cNvPicPr>
          <p:nvPr/>
        </p:nvPicPr>
        <p:blipFill>
          <a:blip r:embed="rId3"/>
          <a:srcRect l="-8" r="-8"/>
          <a:stretch/>
        </p:blipFill>
        <p:spPr>
          <a:xfrm>
            <a:off x="7457822" y="3931853"/>
            <a:ext cx="381000" cy="228564"/>
          </a:xfrm>
          <a:prstGeom prst="rect">
            <a:avLst/>
          </a:prstGeom>
        </p:spPr>
      </p:pic>
      <p:sp>
        <p:nvSpPr>
          <p:cNvPr id="20" name="Shape 16"/>
          <p:cNvSpPr/>
          <p:nvPr/>
        </p:nvSpPr>
        <p:spPr>
          <a:xfrm>
            <a:off x="7953104" y="1437407"/>
            <a:ext cx="3832549" cy="5217463"/>
          </a:xfrm>
          <a:prstGeom prst="roundRect">
            <a:avLst>
              <a:gd name="adj" fmla="val 1988"/>
            </a:avLst>
          </a:prstGeom>
          <a:solidFill>
            <a:srgbClr val="FFFFFF"/>
          </a:solidFill>
          <a:ln/>
          <a:effectLst>
            <a:outerShdw blurRad="25400" dist="6350" dir="5400000" algn="bl" rotWithShape="0">
              <a:srgbClr val="12263A">
                <a:alpha val="12000"/>
              </a:srgbClr>
            </a:outerShdw>
          </a:effectLst>
        </p:spPr>
        <p:txBody>
          <a:bodyPr/>
          <a:lstStyle/>
          <a:p>
            <a:endParaRPr lang="fr-MA"/>
          </a:p>
        </p:txBody>
      </p:sp>
      <p:sp>
        <p:nvSpPr>
          <p:cNvPr id="21" name="Shape 17"/>
          <p:cNvSpPr/>
          <p:nvPr/>
        </p:nvSpPr>
        <p:spPr>
          <a:xfrm>
            <a:off x="7953104" y="1437407"/>
            <a:ext cx="3832549" cy="5217463"/>
          </a:xfrm>
          <a:custGeom>
            <a:avLst/>
            <a:gdLst/>
            <a:ahLst/>
            <a:cxnLst/>
            <a:rect l="l" t="t" r="r" b="b"/>
            <a:pathLst>
              <a:path w="3832549" h="5217463">
                <a:moveTo>
                  <a:pt x="0" y="76200"/>
                </a:moveTo>
                <a:lnTo>
                  <a:pt x="0" y="76200"/>
                </a:lnTo>
                <a:arcTo wR="76200" hR="76200" stAng="10800000" swAng="5400000"/>
                <a:lnTo>
                  <a:pt x="3756349" y="0"/>
                </a:lnTo>
                <a:arcTo wR="76200" hR="76200" stAng="16200000" swAng="5400000"/>
                <a:lnTo>
                  <a:pt x="3832549" y="76200"/>
                </a:lnTo>
                <a:arcTo wR="76200" hR="25400" stAng="0" swAng="-5400000"/>
                <a:lnTo>
                  <a:pt x="76200" y="50800"/>
                </a:lnTo>
                <a:arcTo wR="76200" hR="25400" stAng="16200000" swAng="-5400000"/>
                <a:close/>
              </a:path>
            </a:pathLst>
          </a:custGeom>
          <a:solidFill>
            <a:srgbClr val="2E7D32"/>
          </a:solidFill>
          <a:ln/>
        </p:spPr>
        <p:txBody>
          <a:bodyPr/>
          <a:lstStyle/>
          <a:p>
            <a:endParaRPr lang="fr-MA"/>
          </a:p>
        </p:txBody>
      </p:sp>
      <p:sp>
        <p:nvSpPr>
          <p:cNvPr id="22" name="Text 18"/>
          <p:cNvSpPr/>
          <p:nvPr/>
        </p:nvSpPr>
        <p:spPr>
          <a:xfrm>
            <a:off x="8130886" y="1635931"/>
            <a:ext cx="3581295" cy="330182"/>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E7D32"/>
                </a:solidFill>
                <a:latin typeface="Source Sans 3" pitchFamily="34" charset="0"/>
                <a:ea typeface="Source Sans 3" pitchFamily="34" charset="-122"/>
                <a:cs typeface="Source Sans 3" pitchFamily="34" charset="-120"/>
              </a:rPr>
              <a:t>Sortie</a:t>
            </a:r>
            <a:endParaRPr lang="en-US" sz="2000" dirty="0"/>
          </a:p>
        </p:txBody>
      </p:sp>
      <p:sp>
        <p:nvSpPr>
          <p:cNvPr id="23" name="Text 19"/>
          <p:cNvSpPr/>
          <p:nvPr/>
        </p:nvSpPr>
        <p:spPr>
          <a:xfrm>
            <a:off x="8130886" y="2016844"/>
            <a:ext cx="3581295"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2263A"/>
                </a:solidFill>
                <a:latin typeface="Source Sans 3" pitchFamily="34" charset="0"/>
                <a:ea typeface="Source Sans 3" pitchFamily="34" charset="-122"/>
                <a:cs typeface="Source Sans 3" pitchFamily="34" charset="-120"/>
              </a:rPr>
              <a:t>Un plan de ressources anticipé, qui alimente :</a:t>
            </a:r>
            <a:endParaRPr lang="en-US" sz="1600" dirty="0"/>
          </a:p>
        </p:txBody>
      </p:sp>
      <p:sp>
        <p:nvSpPr>
          <p:cNvPr id="24" name="Shape 20"/>
          <p:cNvSpPr/>
          <p:nvPr/>
        </p:nvSpPr>
        <p:spPr>
          <a:xfrm>
            <a:off x="8149936" y="2600970"/>
            <a:ext cx="0" cy="508000"/>
          </a:xfrm>
          <a:prstGeom prst="line">
            <a:avLst/>
          </a:prstGeom>
          <a:noFill/>
          <a:ln w="38100">
            <a:solidFill>
              <a:srgbClr val="2E7D32"/>
            </a:solidFill>
            <a:prstDash val="solid"/>
          </a:ln>
        </p:spPr>
        <p:txBody>
          <a:bodyPr/>
          <a:lstStyle/>
          <a:p>
            <a:endParaRPr lang="fr-MA"/>
          </a:p>
        </p:txBody>
      </p:sp>
      <p:sp>
        <p:nvSpPr>
          <p:cNvPr id="25" name="Text 21"/>
          <p:cNvSpPr/>
          <p:nvPr/>
        </p:nvSpPr>
        <p:spPr>
          <a:xfrm>
            <a:off x="8254422" y="2600970"/>
            <a:ext cx="3454053"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2263A"/>
                </a:solidFill>
                <a:latin typeface="Source Sans 3" pitchFamily="34" charset="0"/>
                <a:ea typeface="Source Sans 3" pitchFamily="34" charset="-122"/>
                <a:cs typeface="Source Sans 3" pitchFamily="34" charset="-120"/>
              </a:rPr>
              <a:t>2.2 Planification commerciale et opérationnelle (S&amp;OP)</a:t>
            </a:r>
            <a:endParaRPr lang="en-US" sz="1600" dirty="0"/>
          </a:p>
        </p:txBody>
      </p:sp>
      <p:sp>
        <p:nvSpPr>
          <p:cNvPr id="26" name="Text 22"/>
          <p:cNvSpPr/>
          <p:nvPr/>
        </p:nvSpPr>
        <p:spPr>
          <a:xfrm>
            <a:off x="8130886" y="3185096"/>
            <a:ext cx="3581295"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4A5568"/>
                </a:solidFill>
                <a:latin typeface="Source Sans 3" pitchFamily="34" charset="0"/>
                <a:ea typeface="Source Sans 3" pitchFamily="34" charset="-122"/>
                <a:cs typeface="Source Sans 3" pitchFamily="34" charset="-120"/>
              </a:rPr>
              <a:t>et les métiers d'exécution :</a:t>
            </a:r>
            <a:endParaRPr lang="en-US" sz="1600" dirty="0"/>
          </a:p>
        </p:txBody>
      </p:sp>
      <p:sp>
        <p:nvSpPr>
          <p:cNvPr id="27" name="Shape 23"/>
          <p:cNvSpPr/>
          <p:nvPr/>
        </p:nvSpPr>
        <p:spPr>
          <a:xfrm>
            <a:off x="8149936" y="3515221"/>
            <a:ext cx="0" cy="254000"/>
          </a:xfrm>
          <a:prstGeom prst="line">
            <a:avLst/>
          </a:prstGeom>
          <a:noFill/>
          <a:ln w="38100">
            <a:solidFill>
              <a:srgbClr val="C2410C"/>
            </a:solidFill>
            <a:prstDash val="solid"/>
          </a:ln>
        </p:spPr>
        <p:txBody>
          <a:bodyPr/>
          <a:lstStyle/>
          <a:p>
            <a:endParaRPr lang="fr-MA"/>
          </a:p>
        </p:txBody>
      </p:sp>
      <p:sp>
        <p:nvSpPr>
          <p:cNvPr id="28" name="Text 24"/>
          <p:cNvSpPr/>
          <p:nvPr/>
        </p:nvSpPr>
        <p:spPr>
          <a:xfrm>
            <a:off x="8254422" y="3515221"/>
            <a:ext cx="3454053"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2263A"/>
                </a:solidFill>
                <a:latin typeface="Source Sans 3" pitchFamily="34" charset="0"/>
                <a:ea typeface="Source Sans 3" pitchFamily="34" charset="-122"/>
                <a:cs typeface="Source Sans 3" pitchFamily="34" charset="-120"/>
              </a:rPr>
              <a:t>4.2 Réception et mise en stock</a:t>
            </a:r>
            <a:endParaRPr lang="en-US" sz="1600" dirty="0"/>
          </a:p>
        </p:txBody>
      </p:sp>
      <p:sp>
        <p:nvSpPr>
          <p:cNvPr id="29" name="Shape 25"/>
          <p:cNvSpPr/>
          <p:nvPr/>
        </p:nvSpPr>
        <p:spPr>
          <a:xfrm>
            <a:off x="8149936" y="3845347"/>
            <a:ext cx="0" cy="254000"/>
          </a:xfrm>
          <a:prstGeom prst="line">
            <a:avLst/>
          </a:prstGeom>
          <a:noFill/>
          <a:ln w="38100">
            <a:solidFill>
              <a:srgbClr val="C2410C"/>
            </a:solidFill>
            <a:prstDash val="solid"/>
          </a:ln>
        </p:spPr>
        <p:txBody>
          <a:bodyPr/>
          <a:lstStyle/>
          <a:p>
            <a:endParaRPr lang="fr-MA"/>
          </a:p>
        </p:txBody>
      </p:sp>
      <p:sp>
        <p:nvSpPr>
          <p:cNvPr id="30" name="Text 26"/>
          <p:cNvSpPr/>
          <p:nvPr/>
        </p:nvSpPr>
        <p:spPr>
          <a:xfrm>
            <a:off x="8254422" y="3845347"/>
            <a:ext cx="3454053" cy="279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2263A"/>
                </a:solidFill>
                <a:latin typeface="Source Sans 3" pitchFamily="34" charset="0"/>
                <a:ea typeface="Source Sans 3" pitchFamily="34" charset="-122"/>
                <a:cs typeface="Source Sans 3" pitchFamily="34" charset="-120"/>
              </a:rPr>
              <a:t>4.3 Stockage</a:t>
            </a:r>
            <a:endParaRPr lang="en-US" sz="1600" dirty="0"/>
          </a:p>
        </p:txBody>
      </p:sp>
      <p:sp>
        <p:nvSpPr>
          <p:cNvPr id="31" name="Shape 27"/>
          <p:cNvSpPr/>
          <p:nvPr/>
        </p:nvSpPr>
        <p:spPr>
          <a:xfrm>
            <a:off x="8149936" y="4175485"/>
            <a:ext cx="0" cy="508000"/>
          </a:xfrm>
          <a:prstGeom prst="line">
            <a:avLst/>
          </a:prstGeom>
          <a:noFill/>
          <a:ln w="38100">
            <a:solidFill>
              <a:srgbClr val="C2410C"/>
            </a:solidFill>
            <a:prstDash val="solid"/>
          </a:ln>
        </p:spPr>
        <p:txBody>
          <a:bodyPr/>
          <a:lstStyle/>
          <a:p>
            <a:endParaRPr lang="fr-MA"/>
          </a:p>
        </p:txBody>
      </p:sp>
      <p:sp>
        <p:nvSpPr>
          <p:cNvPr id="32" name="Text 28"/>
          <p:cNvSpPr/>
          <p:nvPr/>
        </p:nvSpPr>
        <p:spPr>
          <a:xfrm>
            <a:off x="8254422" y="4175485"/>
            <a:ext cx="3454053"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2263A"/>
                </a:solidFill>
                <a:latin typeface="Source Sans 3" pitchFamily="34" charset="0"/>
                <a:ea typeface="Source Sans 3" pitchFamily="34" charset="-122"/>
                <a:cs typeface="Source Sans 3" pitchFamily="34" charset="-120"/>
              </a:rPr>
              <a:t>4.4 Préparation et expédition des commandes</a:t>
            </a:r>
            <a:endParaRPr lang="en-US" sz="1600" dirty="0"/>
          </a:p>
        </p:txBody>
      </p:sp>
      <p:sp>
        <p:nvSpPr>
          <p:cNvPr id="33" name="Shape 29"/>
          <p:cNvSpPr/>
          <p:nvPr/>
        </p:nvSpPr>
        <p:spPr>
          <a:xfrm>
            <a:off x="8149936" y="4759610"/>
            <a:ext cx="0" cy="508000"/>
          </a:xfrm>
          <a:prstGeom prst="line">
            <a:avLst/>
          </a:prstGeom>
          <a:noFill/>
          <a:ln w="38100">
            <a:solidFill>
              <a:srgbClr val="6A4C93"/>
            </a:solidFill>
            <a:prstDash val="solid"/>
          </a:ln>
        </p:spPr>
        <p:txBody>
          <a:bodyPr/>
          <a:lstStyle/>
          <a:p>
            <a:endParaRPr lang="fr-MA"/>
          </a:p>
        </p:txBody>
      </p:sp>
      <p:sp>
        <p:nvSpPr>
          <p:cNvPr id="34" name="Text 30"/>
          <p:cNvSpPr/>
          <p:nvPr/>
        </p:nvSpPr>
        <p:spPr>
          <a:xfrm>
            <a:off x="8254422" y="4759610"/>
            <a:ext cx="3454053" cy="533400"/>
          </a:xfrm>
          <a:prstGeom prst="rect">
            <a:avLst/>
          </a:prstGeom>
          <a:noFill/>
          <a:ln/>
        </p:spPr>
        <p:txBody>
          <a:bodyPr wrap="square" lIns="0" tIns="0" rIns="0" bIns="0" rtlCol="0" anchor="t">
            <a:normAutofit/>
          </a:bodyPr>
          <a:lstStyle/>
          <a:p>
            <a:pPr marL="0" indent="0" algn="l">
              <a:lnSpc>
                <a:spcPts val="2000"/>
              </a:lnSpc>
              <a:buNone/>
            </a:pPr>
            <a:r>
              <a:rPr lang="en-US" sz="1600" dirty="0">
                <a:solidFill>
                  <a:srgbClr val="12263A"/>
                </a:solidFill>
                <a:latin typeface="Source Sans 3" pitchFamily="34" charset="0"/>
                <a:ea typeface="Source Sans 3" pitchFamily="34" charset="-122"/>
                <a:cs typeface="Source Sans 3" pitchFamily="34" charset="-120"/>
              </a:rPr>
              <a:t>3.1 Services logistiques à valeur ajoutée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6346" y="203126"/>
            <a:ext cx="2543548"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Problématique › Le problème</a:t>
            </a:r>
            <a:endParaRPr lang="en-US" sz="1600" dirty="0"/>
          </a:p>
        </p:txBody>
      </p:sp>
      <p:sp>
        <p:nvSpPr>
          <p:cNvPr id="3" name="Text 1"/>
          <p:cNvSpPr/>
          <p:nvPr/>
        </p:nvSpPr>
        <p:spPr>
          <a:xfrm>
            <a:off x="11229217" y="203126"/>
            <a:ext cx="607237"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9 / 34</a:t>
            </a:r>
            <a:endParaRPr lang="en-US" sz="1600" dirty="0"/>
          </a:p>
        </p:txBody>
      </p:sp>
      <p:sp>
        <p:nvSpPr>
          <p:cNvPr id="4" name="Shape 2"/>
          <p:cNvSpPr/>
          <p:nvPr/>
        </p:nvSpPr>
        <p:spPr>
          <a:xfrm>
            <a:off x="406346" y="639961"/>
            <a:ext cx="11379308" cy="645102"/>
          </a:xfrm>
          <a:prstGeom prst="roundRect">
            <a:avLst>
              <a:gd name="adj" fmla="val 11812"/>
            </a:avLst>
          </a:prstGeom>
          <a:solidFill>
            <a:srgbClr val="12263A"/>
          </a:solidFill>
          <a:ln/>
        </p:spPr>
        <p:txBody>
          <a:bodyPr/>
          <a:lstStyle/>
          <a:p>
            <a:endParaRPr lang="fr-MA"/>
          </a:p>
        </p:txBody>
      </p:sp>
      <p:sp>
        <p:nvSpPr>
          <p:cNvPr id="5" name="Text 3"/>
          <p:cNvSpPr/>
          <p:nvPr/>
        </p:nvSpPr>
        <p:spPr>
          <a:xfrm>
            <a:off x="609474" y="766961"/>
            <a:ext cx="11302243"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6F7F5"/>
                </a:solidFill>
                <a:latin typeface="Source Sans 3" pitchFamily="34" charset="0"/>
                <a:ea typeface="Source Sans 3" pitchFamily="34" charset="-122"/>
                <a:cs typeface="Source Sans 3" pitchFamily="34" charset="-120"/>
              </a:rPr>
              <a:t>Le maillon qui manque</a:t>
            </a:r>
            <a:endParaRPr lang="en-US" sz="2800" dirty="0"/>
          </a:p>
        </p:txBody>
      </p:sp>
      <p:sp>
        <p:nvSpPr>
          <p:cNvPr id="6" name="Shape 4"/>
          <p:cNvSpPr/>
          <p:nvPr/>
        </p:nvSpPr>
        <p:spPr>
          <a:xfrm>
            <a:off x="406346" y="1437407"/>
            <a:ext cx="3409066" cy="487615"/>
          </a:xfrm>
          <a:prstGeom prst="roundRect">
            <a:avLst>
              <a:gd name="adj" fmla="val 15627"/>
            </a:avLst>
          </a:prstGeom>
          <a:solidFill>
            <a:srgbClr val="2E7D32"/>
          </a:solidFill>
          <a:ln/>
        </p:spPr>
        <p:txBody>
          <a:bodyPr/>
          <a:lstStyle/>
          <a:p>
            <a:endParaRPr lang="fr-MA"/>
          </a:p>
        </p:txBody>
      </p:sp>
      <p:sp>
        <p:nvSpPr>
          <p:cNvPr id="7" name="Text 5"/>
          <p:cNvSpPr/>
          <p:nvPr/>
        </p:nvSpPr>
        <p:spPr>
          <a:xfrm>
            <a:off x="512126" y="1538970"/>
            <a:ext cx="3197506" cy="30988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BFBF8"/>
                </a:solidFill>
                <a:latin typeface="Source Sans 3" pitchFamily="34" charset="0"/>
                <a:ea typeface="Source Sans 3" pitchFamily="34" charset="-122"/>
                <a:cs typeface="Source Sans 3" pitchFamily="34" charset="-120"/>
              </a:rPr>
              <a:t>Prévision de volume (2.1.1)</a:t>
            </a:r>
            <a:endParaRPr lang="en-US" sz="1600" dirty="0"/>
          </a:p>
        </p:txBody>
      </p:sp>
      <p:pic>
        <p:nvPicPr>
          <p:cNvPr id="8" name="Image 0" descr="arrow-right"/>
          <p:cNvPicPr>
            <a:picLocks noChangeAspect="1"/>
          </p:cNvPicPr>
          <p:nvPr/>
        </p:nvPicPr>
        <p:blipFill>
          <a:blip r:embed="rId3"/>
          <a:srcRect l="-13" r="-13"/>
          <a:stretch/>
        </p:blipFill>
        <p:spPr>
          <a:xfrm>
            <a:off x="3916976" y="1579649"/>
            <a:ext cx="355564" cy="203128"/>
          </a:xfrm>
          <a:prstGeom prst="rect">
            <a:avLst/>
          </a:prstGeom>
        </p:spPr>
      </p:pic>
      <p:sp>
        <p:nvSpPr>
          <p:cNvPr id="9" name="Shape 6"/>
          <p:cNvSpPr/>
          <p:nvPr/>
        </p:nvSpPr>
        <p:spPr>
          <a:xfrm>
            <a:off x="4383629" y="1448643"/>
            <a:ext cx="3424743" cy="465138"/>
          </a:xfrm>
          <a:prstGeom prst="roundRect">
            <a:avLst>
              <a:gd name="adj" fmla="val 14334"/>
            </a:avLst>
          </a:prstGeom>
          <a:solidFill>
            <a:srgbClr val="FFFFFF"/>
          </a:solidFill>
          <a:ln w="19050">
            <a:solidFill>
              <a:srgbClr val="AD1457"/>
            </a:solidFill>
            <a:prstDash val="dash"/>
          </a:ln>
        </p:spPr>
        <p:txBody>
          <a:bodyPr/>
          <a:lstStyle/>
          <a:p>
            <a:endParaRPr lang="fr-MA"/>
          </a:p>
        </p:txBody>
      </p:sp>
      <p:sp>
        <p:nvSpPr>
          <p:cNvPr id="10" name="Text 7"/>
          <p:cNvSpPr/>
          <p:nvPr/>
        </p:nvSpPr>
        <p:spPr>
          <a:xfrm>
            <a:off x="4497201" y="1538970"/>
            <a:ext cx="3197598" cy="30988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AD1457"/>
                </a:solidFill>
                <a:latin typeface="Source Sans 3" pitchFamily="34" charset="0"/>
                <a:ea typeface="Source Sans 3" pitchFamily="34" charset="-122"/>
                <a:cs typeface="Source Sans 3" pitchFamily="34" charset="-120"/>
              </a:rPr>
              <a:t>Traduction en ressources ?</a:t>
            </a:r>
            <a:endParaRPr lang="en-US" sz="1600" dirty="0"/>
          </a:p>
        </p:txBody>
      </p:sp>
      <p:pic>
        <p:nvPicPr>
          <p:cNvPr id="11" name="Image 1" descr="arrow-right"/>
          <p:cNvPicPr>
            <a:picLocks noChangeAspect="1"/>
          </p:cNvPicPr>
          <p:nvPr/>
        </p:nvPicPr>
        <p:blipFill>
          <a:blip r:embed="rId3"/>
          <a:srcRect l="-13" r="-13"/>
          <a:stretch/>
        </p:blipFill>
        <p:spPr>
          <a:xfrm>
            <a:off x="7919460" y="1579649"/>
            <a:ext cx="355564" cy="203128"/>
          </a:xfrm>
          <a:prstGeom prst="rect">
            <a:avLst/>
          </a:prstGeom>
        </p:spPr>
      </p:pic>
      <p:sp>
        <p:nvSpPr>
          <p:cNvPr id="12" name="Shape 8"/>
          <p:cNvSpPr/>
          <p:nvPr/>
        </p:nvSpPr>
        <p:spPr>
          <a:xfrm>
            <a:off x="8376588" y="1437407"/>
            <a:ext cx="3409066" cy="487615"/>
          </a:xfrm>
          <a:prstGeom prst="roundRect">
            <a:avLst>
              <a:gd name="adj" fmla="val 15627"/>
            </a:avLst>
          </a:prstGeom>
          <a:solidFill>
            <a:srgbClr val="E4EAEF"/>
          </a:solidFill>
          <a:ln/>
        </p:spPr>
        <p:txBody>
          <a:bodyPr/>
          <a:lstStyle/>
          <a:p>
            <a:endParaRPr lang="fr-MA"/>
          </a:p>
        </p:txBody>
      </p:sp>
      <p:sp>
        <p:nvSpPr>
          <p:cNvPr id="13" name="Text 9"/>
          <p:cNvSpPr/>
          <p:nvPr/>
        </p:nvSpPr>
        <p:spPr>
          <a:xfrm>
            <a:off x="8482368" y="1538970"/>
            <a:ext cx="3197506" cy="309887"/>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2263A"/>
                </a:solidFill>
                <a:latin typeface="Source Sans 3" pitchFamily="34" charset="0"/>
                <a:ea typeface="Source Sans 3" pitchFamily="34" charset="-122"/>
                <a:cs typeface="Source Sans 3" pitchFamily="34" charset="-120"/>
              </a:rPr>
              <a:t>Heures, préparateurs, chariots</a:t>
            </a:r>
            <a:endParaRPr lang="en-US" sz="1600" dirty="0"/>
          </a:p>
        </p:txBody>
      </p:sp>
      <p:sp>
        <p:nvSpPr>
          <p:cNvPr id="14" name="Shape 10"/>
          <p:cNvSpPr/>
          <p:nvPr/>
        </p:nvSpPr>
        <p:spPr>
          <a:xfrm>
            <a:off x="412696" y="2083718"/>
            <a:ext cx="11366608" cy="1599875"/>
          </a:xfrm>
          <a:prstGeom prst="roundRect">
            <a:avLst>
              <a:gd name="adj" fmla="val 4366"/>
            </a:avLst>
          </a:prstGeom>
          <a:solidFill>
            <a:srgbClr val="FFFFFF"/>
          </a:solidFill>
          <a:ln w="12700">
            <a:solidFill>
              <a:srgbClr val="D5DBE0"/>
            </a:solidFill>
            <a:prstDash val="solid"/>
          </a:ln>
          <a:effectLst>
            <a:outerShdw blurRad="25400" dist="6350" dir="5400000" algn="bl" rotWithShape="0">
              <a:srgbClr val="12263A">
                <a:alpha val="12000"/>
              </a:srgbClr>
            </a:outerShdw>
          </a:effectLst>
        </p:spPr>
        <p:txBody>
          <a:bodyPr/>
          <a:lstStyle/>
          <a:p>
            <a:endParaRPr lang="fr-MA"/>
          </a:p>
        </p:txBody>
      </p:sp>
      <p:sp>
        <p:nvSpPr>
          <p:cNvPr id="15" name="Text 11"/>
          <p:cNvSpPr/>
          <p:nvPr/>
        </p:nvSpPr>
        <p:spPr>
          <a:xfrm>
            <a:off x="621019" y="2241252"/>
            <a:ext cx="11278460" cy="28950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2263A"/>
                </a:solidFill>
                <a:latin typeface="Source Sans 3" pitchFamily="34" charset="0"/>
                <a:ea typeface="Source Sans 3" pitchFamily="34" charset="-122"/>
                <a:cs typeface="Source Sans 3" pitchFamily="34" charset="-120"/>
              </a:rPr>
              <a:t>Ce n'est pas un problème de prévision de la demande : le pic était annoncé.</a:t>
            </a:r>
            <a:endParaRPr lang="en-US" sz="1600" dirty="0"/>
          </a:p>
        </p:txBody>
      </p:sp>
      <p:sp>
        <p:nvSpPr>
          <p:cNvPr id="16" name="Text 12"/>
          <p:cNvSpPr/>
          <p:nvPr/>
        </p:nvSpPr>
        <p:spPr>
          <a:xfrm>
            <a:off x="621019" y="2581486"/>
            <a:ext cx="11278460" cy="289502"/>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12263A"/>
                </a:solidFill>
                <a:latin typeface="Source Sans 3" pitchFamily="34" charset="0"/>
                <a:ea typeface="Source Sans 3" pitchFamily="34" charset="-122"/>
                <a:cs typeface="Source Sans 3" pitchFamily="34" charset="-120"/>
              </a:rPr>
              <a:t>Le maillon qui manque, c'est la traduction de cette prévision en ressources.</a:t>
            </a:r>
            <a:endParaRPr lang="en-US" sz="1600" dirty="0"/>
          </a:p>
        </p:txBody>
      </p:sp>
      <p:sp>
        <p:nvSpPr>
          <p:cNvPr id="17" name="Text 13"/>
          <p:cNvSpPr/>
          <p:nvPr/>
        </p:nvSpPr>
        <p:spPr>
          <a:xfrm>
            <a:off x="621019" y="2921719"/>
            <a:ext cx="11278460" cy="28950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2263A"/>
                </a:solidFill>
                <a:latin typeface="Source Sans 3" pitchFamily="34" charset="0"/>
                <a:ea typeface="Source Sans 3" pitchFamily="34" charset="-122"/>
                <a:cs typeface="Source Sans 3" pitchFamily="34" charset="-120"/>
              </a:rPr>
              <a:t>Combien d'heures de main-d'œuvre, combien de préparateurs, combien de chariots, par zone et par jour ?</a:t>
            </a:r>
            <a:endParaRPr lang="en-US" sz="1600" dirty="0"/>
          </a:p>
        </p:txBody>
      </p:sp>
      <p:sp>
        <p:nvSpPr>
          <p:cNvPr id="19" name="Shape 15"/>
          <p:cNvSpPr/>
          <p:nvPr/>
        </p:nvSpPr>
        <p:spPr>
          <a:xfrm>
            <a:off x="438096" y="3842283"/>
            <a:ext cx="0" cy="2812581"/>
          </a:xfrm>
          <a:prstGeom prst="line">
            <a:avLst/>
          </a:prstGeom>
          <a:noFill/>
          <a:ln w="63500">
            <a:solidFill>
              <a:srgbClr val="12263A"/>
            </a:solidFill>
            <a:prstDash val="solid"/>
          </a:ln>
        </p:spPr>
        <p:txBody>
          <a:bodyPr/>
          <a:lstStyle/>
          <a:p>
            <a:endParaRPr lang="fr-MA"/>
          </a:p>
        </p:txBody>
      </p:sp>
      <p:sp>
        <p:nvSpPr>
          <p:cNvPr id="20" name="Text 16"/>
          <p:cNvSpPr/>
          <p:nvPr/>
        </p:nvSpPr>
        <p:spPr>
          <a:xfrm>
            <a:off x="672974" y="4725330"/>
            <a:ext cx="11446060" cy="30988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F6B77"/>
                </a:solidFill>
                <a:latin typeface="Source Sans 3" pitchFamily="34" charset="0"/>
                <a:ea typeface="Source Sans 3" pitchFamily="34" charset="-122"/>
                <a:cs typeface="Source Sans 3" pitchFamily="34" charset="-120"/>
              </a:rPr>
              <a:t>Axe </a:t>
            </a:r>
            <a:r>
              <a:rPr lang="en-US" sz="1600" b="1" dirty="0" err="1">
                <a:solidFill>
                  <a:srgbClr val="5F6B77"/>
                </a:solidFill>
                <a:latin typeface="Source Sans 3" pitchFamily="34" charset="0"/>
                <a:ea typeface="Source Sans 3" pitchFamily="34" charset="-122"/>
                <a:cs typeface="Source Sans 3" pitchFamily="34" charset="-120"/>
              </a:rPr>
              <a:t>d’amelioration</a:t>
            </a:r>
            <a:r>
              <a:rPr lang="en-US" sz="1600" b="1" dirty="0">
                <a:solidFill>
                  <a:srgbClr val="5F6B77"/>
                </a:solidFill>
                <a:latin typeface="Source Sans 3" pitchFamily="34" charset="0"/>
                <a:ea typeface="Source Sans 3" pitchFamily="34" charset="-122"/>
                <a:cs typeface="Source Sans 3" pitchFamily="34" charset="-120"/>
              </a:rPr>
              <a:t>  </a:t>
            </a:r>
            <a:endParaRPr lang="en-US" sz="1600" dirty="0"/>
          </a:p>
        </p:txBody>
      </p:sp>
      <p:sp>
        <p:nvSpPr>
          <p:cNvPr id="21" name="Text 17"/>
          <p:cNvSpPr/>
          <p:nvPr/>
        </p:nvSpPr>
        <p:spPr>
          <a:xfrm>
            <a:off x="672974" y="5073315"/>
            <a:ext cx="11446060" cy="723900"/>
          </a:xfrm>
          <a:prstGeom prst="rect">
            <a:avLst/>
          </a:prstGeom>
          <a:noFill/>
          <a:ln/>
        </p:spPr>
        <p:txBody>
          <a:bodyPr wrap="square" lIns="0" tIns="0" rIns="0" bIns="0" rtlCol="0" anchor="t">
            <a:normAutofit/>
          </a:bodyPr>
          <a:lstStyle/>
          <a:p>
            <a:pPr marL="0" indent="0" algn="l">
              <a:lnSpc>
                <a:spcPts val="2750"/>
              </a:lnSpc>
              <a:buNone/>
            </a:pPr>
            <a:r>
              <a:rPr lang="en-US" sz="2200" b="1" dirty="0">
                <a:solidFill>
                  <a:srgbClr val="12263A"/>
                </a:solidFill>
                <a:latin typeface="Source Sans 3" pitchFamily="34" charset="0"/>
                <a:ea typeface="Source Sans 3" pitchFamily="34" charset="-122"/>
                <a:cs typeface="Source Sans 3" pitchFamily="34" charset="-120"/>
              </a:rPr>
              <a:t>« Comment traduire automatiquement une prévision de volume en besoins fiables de main-d'œuvre et d'équipements, par zone et par jour, et mesurer cette fiabilité ? »</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06346" y="203126"/>
            <a:ext cx="1911888"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Application › Objectifs</a:t>
            </a:r>
            <a:endParaRPr lang="en-US" sz="1600" dirty="0"/>
          </a:p>
        </p:txBody>
      </p:sp>
      <p:sp>
        <p:nvSpPr>
          <p:cNvPr id="3" name="Text 1"/>
          <p:cNvSpPr/>
          <p:nvPr/>
        </p:nvSpPr>
        <p:spPr>
          <a:xfrm>
            <a:off x="11229217" y="203126"/>
            <a:ext cx="607237" cy="309887"/>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4" name="Shape 2"/>
          <p:cNvSpPr/>
          <p:nvPr/>
        </p:nvSpPr>
        <p:spPr>
          <a:xfrm>
            <a:off x="406346" y="639961"/>
            <a:ext cx="11379308" cy="645102"/>
          </a:xfrm>
          <a:prstGeom prst="roundRect">
            <a:avLst>
              <a:gd name="adj" fmla="val 11812"/>
            </a:avLst>
          </a:prstGeom>
          <a:solidFill>
            <a:srgbClr val="12263A"/>
          </a:solidFill>
          <a:ln/>
        </p:spPr>
        <p:txBody>
          <a:bodyPr/>
          <a:lstStyle/>
          <a:p>
            <a:endParaRPr lang="fr-MA"/>
          </a:p>
        </p:txBody>
      </p:sp>
      <p:sp>
        <p:nvSpPr>
          <p:cNvPr id="5" name="Text 3"/>
          <p:cNvSpPr/>
          <p:nvPr/>
        </p:nvSpPr>
        <p:spPr>
          <a:xfrm>
            <a:off x="609474" y="766961"/>
            <a:ext cx="11302243"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6F7F5"/>
                </a:solidFill>
                <a:latin typeface="Source Sans 3" pitchFamily="34" charset="0"/>
                <a:ea typeface="Source Sans 3" pitchFamily="34" charset="-122"/>
                <a:cs typeface="Source Sans 3" pitchFamily="34" charset="-120"/>
              </a:rPr>
              <a:t>Objectif : un résultat à atteindre ; Workly en poursuit quatre</a:t>
            </a:r>
            <a:endParaRPr lang="en-US" sz="2800" dirty="0"/>
          </a:p>
        </p:txBody>
      </p:sp>
      <p:sp>
        <p:nvSpPr>
          <p:cNvPr id="6" name="Shape 4"/>
          <p:cNvSpPr/>
          <p:nvPr/>
        </p:nvSpPr>
        <p:spPr>
          <a:xfrm>
            <a:off x="406346" y="1437407"/>
            <a:ext cx="5613436" cy="3073436"/>
          </a:xfrm>
          <a:prstGeom prst="roundRect">
            <a:avLst>
              <a:gd name="adj" fmla="val 2479"/>
            </a:avLst>
          </a:prstGeom>
          <a:solidFill>
            <a:srgbClr val="FFFFFF"/>
          </a:solidFill>
          <a:ln/>
          <a:effectLst>
            <a:outerShdw blurRad="25400" dist="6350" dir="5400000" algn="bl" rotWithShape="0">
              <a:srgbClr val="12263A">
                <a:alpha val="12000"/>
              </a:srgbClr>
            </a:outerShdw>
          </a:effectLst>
        </p:spPr>
        <p:txBody>
          <a:bodyPr/>
          <a:lstStyle/>
          <a:p>
            <a:endParaRPr lang="fr-MA"/>
          </a:p>
        </p:txBody>
      </p:sp>
      <p:sp>
        <p:nvSpPr>
          <p:cNvPr id="7" name="Shape 5"/>
          <p:cNvSpPr/>
          <p:nvPr/>
        </p:nvSpPr>
        <p:spPr>
          <a:xfrm>
            <a:off x="406346" y="1437407"/>
            <a:ext cx="5613436" cy="3073436"/>
          </a:xfrm>
          <a:custGeom>
            <a:avLst/>
            <a:gdLst/>
            <a:ahLst/>
            <a:cxnLst/>
            <a:rect l="l" t="t" r="r" b="b"/>
            <a:pathLst>
              <a:path w="5613436" h="3073436">
                <a:moveTo>
                  <a:pt x="0" y="76200"/>
                </a:moveTo>
                <a:lnTo>
                  <a:pt x="0" y="76200"/>
                </a:lnTo>
                <a:arcTo wR="76200" hR="76200" stAng="10800000" swAng="5400000"/>
                <a:lnTo>
                  <a:pt x="5537236" y="0"/>
                </a:lnTo>
                <a:arcTo wR="76200" hR="76200" stAng="16200000" swAng="5400000"/>
                <a:lnTo>
                  <a:pt x="5613436" y="76200"/>
                </a:lnTo>
                <a:arcTo wR="76200" hR="25400" stAng="0" swAng="-5400000"/>
                <a:lnTo>
                  <a:pt x="76200" y="50800"/>
                </a:lnTo>
                <a:arcTo wR="76200" hR="25400" stAng="16200000" swAng="-5400000"/>
                <a:close/>
              </a:path>
            </a:pathLst>
          </a:custGeom>
          <a:solidFill>
            <a:srgbClr val="2E7D32"/>
          </a:solidFill>
          <a:ln/>
        </p:spPr>
        <p:txBody>
          <a:bodyPr/>
          <a:lstStyle/>
          <a:p>
            <a:endParaRPr lang="fr-MA"/>
          </a:p>
        </p:txBody>
      </p:sp>
      <p:pic>
        <p:nvPicPr>
          <p:cNvPr id="8" name="Image 0" descr="Clock"/>
          <p:cNvPicPr>
            <a:picLocks noChangeAspect="1"/>
          </p:cNvPicPr>
          <p:nvPr/>
        </p:nvPicPr>
        <p:blipFill>
          <a:blip r:embed="rId3"/>
          <a:srcRect/>
          <a:stretch/>
        </p:blipFill>
        <p:spPr>
          <a:xfrm>
            <a:off x="584128" y="1635931"/>
            <a:ext cx="279346" cy="279346"/>
          </a:xfrm>
          <a:prstGeom prst="rect">
            <a:avLst/>
          </a:prstGeom>
        </p:spPr>
      </p:pic>
      <p:sp>
        <p:nvSpPr>
          <p:cNvPr id="9" name="Text 6"/>
          <p:cNvSpPr/>
          <p:nvPr/>
        </p:nvSpPr>
        <p:spPr>
          <a:xfrm>
            <a:off x="965038" y="1638461"/>
            <a:ext cx="2781052"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63A"/>
                </a:solidFill>
                <a:latin typeface="Source Sans 3" pitchFamily="34" charset="0"/>
                <a:ea typeface="Source Sans 3" pitchFamily="34" charset="-122"/>
                <a:cs typeface="Source Sans 3" pitchFamily="34" charset="-120"/>
              </a:rPr>
              <a:t>1. Prévoir et planifier</a:t>
            </a:r>
            <a:endParaRPr lang="en-US" sz="1800" dirty="0"/>
          </a:p>
        </p:txBody>
      </p:sp>
      <p:sp>
        <p:nvSpPr>
          <p:cNvPr id="10" name="Text 7"/>
          <p:cNvSpPr/>
          <p:nvPr/>
        </p:nvSpPr>
        <p:spPr>
          <a:xfrm>
            <a:off x="584128" y="1991407"/>
            <a:ext cx="5415608" cy="817707"/>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2B3A48"/>
                </a:solidFill>
                <a:latin typeface="Source Sans 3" pitchFamily="34" charset="0"/>
                <a:ea typeface="Source Sans 3" pitchFamily="34" charset="-122"/>
                <a:cs typeface="Source Sans 3" pitchFamily="34" charset="-120"/>
              </a:rPr>
              <a:t>Les besoins en main-d'œuvre et en équipements, par site, zone et jour, avec des alertes à l'avance en cas de sous-effectif ou de sureffectif.</a:t>
            </a:r>
            <a:endParaRPr lang="en-US" sz="1600" dirty="0"/>
          </a:p>
        </p:txBody>
      </p:sp>
      <p:sp>
        <p:nvSpPr>
          <p:cNvPr id="11" name="Shape 8"/>
          <p:cNvSpPr/>
          <p:nvPr/>
        </p:nvSpPr>
        <p:spPr>
          <a:xfrm>
            <a:off x="6172128" y="1437407"/>
            <a:ext cx="5613526" cy="3073436"/>
          </a:xfrm>
          <a:prstGeom prst="roundRect">
            <a:avLst>
              <a:gd name="adj" fmla="val 2479"/>
            </a:avLst>
          </a:prstGeom>
          <a:solidFill>
            <a:srgbClr val="FFFFFF"/>
          </a:solidFill>
          <a:ln/>
          <a:effectLst>
            <a:outerShdw blurRad="25400" dist="6350" dir="5400000" algn="bl" rotWithShape="0">
              <a:srgbClr val="12263A">
                <a:alpha val="12000"/>
              </a:srgbClr>
            </a:outerShdw>
          </a:effectLst>
        </p:spPr>
        <p:txBody>
          <a:bodyPr/>
          <a:lstStyle/>
          <a:p>
            <a:endParaRPr lang="fr-MA"/>
          </a:p>
        </p:txBody>
      </p:sp>
      <p:sp>
        <p:nvSpPr>
          <p:cNvPr id="12" name="Shape 9"/>
          <p:cNvSpPr/>
          <p:nvPr/>
        </p:nvSpPr>
        <p:spPr>
          <a:xfrm>
            <a:off x="6172128" y="1437407"/>
            <a:ext cx="5613526" cy="3073436"/>
          </a:xfrm>
          <a:custGeom>
            <a:avLst/>
            <a:gdLst/>
            <a:ahLst/>
            <a:cxnLst/>
            <a:rect l="l" t="t" r="r" b="b"/>
            <a:pathLst>
              <a:path w="5613526" h="3073436">
                <a:moveTo>
                  <a:pt x="0" y="76200"/>
                </a:moveTo>
                <a:lnTo>
                  <a:pt x="0" y="76200"/>
                </a:lnTo>
                <a:arcTo wR="76200" hR="76200" stAng="10800000" swAng="5400000"/>
                <a:lnTo>
                  <a:pt x="5537326" y="0"/>
                </a:lnTo>
                <a:arcTo wR="76200" hR="76200" stAng="16200000" swAng="5400000"/>
                <a:lnTo>
                  <a:pt x="5613526" y="76200"/>
                </a:lnTo>
                <a:arcTo wR="76200" hR="25400" stAng="0" swAng="-5400000"/>
                <a:lnTo>
                  <a:pt x="76200" y="50800"/>
                </a:lnTo>
                <a:arcTo wR="76200" hR="25400" stAng="16200000" swAng="-5400000"/>
                <a:close/>
              </a:path>
            </a:pathLst>
          </a:custGeom>
          <a:solidFill>
            <a:srgbClr val="2E7D32"/>
          </a:solidFill>
          <a:ln/>
        </p:spPr>
        <p:txBody>
          <a:bodyPr/>
          <a:lstStyle/>
          <a:p>
            <a:endParaRPr lang="fr-MA"/>
          </a:p>
        </p:txBody>
      </p:sp>
      <p:pic>
        <p:nvPicPr>
          <p:cNvPr id="13" name="Image 1" descr="Activity"/>
          <p:cNvPicPr>
            <a:picLocks noChangeAspect="1"/>
          </p:cNvPicPr>
          <p:nvPr/>
        </p:nvPicPr>
        <p:blipFill>
          <a:blip r:embed="rId4"/>
          <a:srcRect/>
          <a:stretch/>
        </p:blipFill>
        <p:spPr>
          <a:xfrm>
            <a:off x="6349910" y="1635931"/>
            <a:ext cx="279346" cy="279346"/>
          </a:xfrm>
          <a:prstGeom prst="rect">
            <a:avLst/>
          </a:prstGeom>
        </p:spPr>
      </p:pic>
      <p:sp>
        <p:nvSpPr>
          <p:cNvPr id="14" name="Text 10"/>
          <p:cNvSpPr/>
          <p:nvPr/>
        </p:nvSpPr>
        <p:spPr>
          <a:xfrm>
            <a:off x="6730819" y="1638461"/>
            <a:ext cx="2533236"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63A"/>
                </a:solidFill>
                <a:latin typeface="Source Sans 3" pitchFamily="34" charset="0"/>
                <a:ea typeface="Source Sans 3" pitchFamily="34" charset="-122"/>
                <a:cs typeface="Source Sans 3" pitchFamily="34" charset="-120"/>
              </a:rPr>
              <a:t>2. Suivre la performance</a:t>
            </a:r>
            <a:endParaRPr lang="en-US" sz="1800" dirty="0"/>
          </a:p>
        </p:txBody>
      </p:sp>
      <p:sp>
        <p:nvSpPr>
          <p:cNvPr id="15" name="Text 11"/>
          <p:cNvSpPr/>
          <p:nvPr/>
        </p:nvSpPr>
        <p:spPr>
          <a:xfrm>
            <a:off x="6349910" y="1991407"/>
            <a:ext cx="5415701" cy="289502"/>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2B3A48"/>
                </a:solidFill>
                <a:latin typeface="Source Sans 3" pitchFamily="34" charset="0"/>
                <a:ea typeface="Source Sans 3" pitchFamily="34" charset="-122"/>
                <a:cs typeface="Source Sans 3" pitchFamily="34" charset="-120"/>
              </a:rPr>
              <a:t>Calculer les KPI :</a:t>
            </a:r>
            <a:endParaRPr lang="en-US" sz="1600" dirty="0"/>
          </a:p>
        </p:txBody>
      </p:sp>
      <p:sp>
        <p:nvSpPr>
          <p:cNvPr id="16" name="Text 12"/>
          <p:cNvSpPr/>
          <p:nvPr/>
        </p:nvSpPr>
        <p:spPr>
          <a:xfrm>
            <a:off x="6349910" y="2331628"/>
            <a:ext cx="2681698" cy="269208"/>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2B3A48"/>
                </a:solidFill>
                <a:latin typeface="Source Sans 3" pitchFamily="34" charset="0"/>
                <a:ea typeface="Source Sans 3" pitchFamily="34" charset="-122"/>
                <a:cs typeface="Source Sans 3" pitchFamily="34" charset="-120"/>
              </a:rPr>
              <a:t>· précision des prévisions</a:t>
            </a:r>
            <a:endParaRPr lang="en-US" sz="1600" dirty="0"/>
          </a:p>
        </p:txBody>
      </p:sp>
      <p:sp>
        <p:nvSpPr>
          <p:cNvPr id="17" name="Text 13"/>
          <p:cNvSpPr/>
          <p:nvPr/>
        </p:nvSpPr>
        <p:spPr>
          <a:xfrm>
            <a:off x="9004281" y="2331628"/>
            <a:ext cx="2681698" cy="269208"/>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2B3A48"/>
                </a:solidFill>
                <a:latin typeface="Source Sans 3" pitchFamily="34" charset="0"/>
                <a:ea typeface="Source Sans 3" pitchFamily="34" charset="-122"/>
                <a:cs typeface="Source Sans 3" pitchFamily="34" charset="-120"/>
              </a:rPr>
              <a:t>· productivité</a:t>
            </a:r>
            <a:endParaRPr lang="en-US" sz="1600" dirty="0"/>
          </a:p>
        </p:txBody>
      </p:sp>
      <p:sp>
        <p:nvSpPr>
          <p:cNvPr id="18" name="Text 14"/>
          <p:cNvSpPr/>
          <p:nvPr/>
        </p:nvSpPr>
        <p:spPr>
          <a:xfrm>
            <a:off x="6349910" y="2626221"/>
            <a:ext cx="2681698" cy="269208"/>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2B3A48"/>
                </a:solidFill>
                <a:latin typeface="Source Sans 3" pitchFamily="34" charset="0"/>
                <a:ea typeface="Source Sans 3" pitchFamily="34" charset="-122"/>
                <a:cs typeface="Source Sans 3" pitchFamily="34" charset="-120"/>
              </a:rPr>
              <a:t>· adéquation de l'effectif</a:t>
            </a:r>
            <a:endParaRPr lang="en-US" sz="1600" dirty="0"/>
          </a:p>
        </p:txBody>
      </p:sp>
      <p:sp>
        <p:nvSpPr>
          <p:cNvPr id="19" name="Text 15"/>
          <p:cNvSpPr/>
          <p:nvPr/>
        </p:nvSpPr>
        <p:spPr>
          <a:xfrm>
            <a:off x="9004281" y="2626221"/>
            <a:ext cx="2681698" cy="269208"/>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2B3A48"/>
                </a:solidFill>
                <a:latin typeface="Source Sans 3" pitchFamily="34" charset="0"/>
                <a:ea typeface="Source Sans 3" pitchFamily="34" charset="-122"/>
                <a:cs typeface="Source Sans 3" pitchFamily="34" charset="-120"/>
              </a:rPr>
              <a:t>· heures supplémentaires</a:t>
            </a:r>
            <a:endParaRPr lang="en-US" sz="1600" dirty="0"/>
          </a:p>
        </p:txBody>
      </p:sp>
      <p:sp>
        <p:nvSpPr>
          <p:cNvPr id="20" name="Text 16"/>
          <p:cNvSpPr/>
          <p:nvPr/>
        </p:nvSpPr>
        <p:spPr>
          <a:xfrm>
            <a:off x="6349910" y="2920814"/>
            <a:ext cx="2681698" cy="269208"/>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2B3A48"/>
                </a:solidFill>
                <a:latin typeface="Source Sans 3" pitchFamily="34" charset="0"/>
                <a:ea typeface="Source Sans 3" pitchFamily="34" charset="-122"/>
                <a:cs typeface="Source Sans 3" pitchFamily="34" charset="-120"/>
              </a:rPr>
              <a:t>· intérim</a:t>
            </a:r>
            <a:endParaRPr lang="en-US" sz="1600" dirty="0"/>
          </a:p>
        </p:txBody>
      </p:sp>
      <p:sp>
        <p:nvSpPr>
          <p:cNvPr id="21" name="Text 17"/>
          <p:cNvSpPr/>
          <p:nvPr/>
        </p:nvSpPr>
        <p:spPr>
          <a:xfrm>
            <a:off x="9004281" y="2920814"/>
            <a:ext cx="2681698" cy="269208"/>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2B3A48"/>
                </a:solidFill>
                <a:latin typeface="Source Sans 3" pitchFamily="34" charset="0"/>
                <a:ea typeface="Source Sans 3" pitchFamily="34" charset="-122"/>
                <a:cs typeface="Source Sans 3" pitchFamily="34" charset="-120"/>
              </a:rPr>
              <a:t>· coûts</a:t>
            </a:r>
            <a:endParaRPr lang="en-US" sz="1600" dirty="0"/>
          </a:p>
        </p:txBody>
      </p:sp>
      <p:sp>
        <p:nvSpPr>
          <p:cNvPr id="22" name="Text 18"/>
          <p:cNvSpPr/>
          <p:nvPr/>
        </p:nvSpPr>
        <p:spPr>
          <a:xfrm>
            <a:off x="6349910" y="3215407"/>
            <a:ext cx="2681698" cy="513015"/>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2B3A48"/>
                </a:solidFill>
                <a:latin typeface="Source Sans 3" pitchFamily="34" charset="0"/>
                <a:ea typeface="Source Sans 3" pitchFamily="34" charset="-122"/>
                <a:cs typeface="Source Sans 3" pitchFamily="34" charset="-120"/>
              </a:rPr>
              <a:t>· utilisation et disponibilité des équipements</a:t>
            </a:r>
            <a:endParaRPr lang="en-US" sz="1600" dirty="0"/>
          </a:p>
        </p:txBody>
      </p:sp>
      <p:sp>
        <p:nvSpPr>
          <p:cNvPr id="23" name="Text 19"/>
          <p:cNvSpPr/>
          <p:nvPr/>
        </p:nvSpPr>
        <p:spPr>
          <a:xfrm>
            <a:off x="9004281" y="3215407"/>
            <a:ext cx="2681698" cy="513015"/>
          </a:xfrm>
          <a:prstGeom prst="rect">
            <a:avLst/>
          </a:prstGeom>
          <a:noFill/>
          <a:ln/>
        </p:spPr>
        <p:txBody>
          <a:bodyPr wrap="square" lIns="0" tIns="0" rIns="0" bIns="0" rtlCol="0" anchor="t">
            <a:normAutofit/>
          </a:bodyPr>
          <a:lstStyle/>
          <a:p>
            <a:pPr marL="0" indent="0" algn="l">
              <a:lnSpc>
                <a:spcPts val="1920"/>
              </a:lnSpc>
              <a:buNone/>
            </a:pPr>
            <a:r>
              <a:rPr lang="en-US" sz="1600" dirty="0">
                <a:solidFill>
                  <a:srgbClr val="2B3A48"/>
                </a:solidFill>
                <a:latin typeface="Source Sans 3" pitchFamily="34" charset="0"/>
                <a:ea typeface="Source Sans 3" pitchFamily="34" charset="-122"/>
                <a:cs typeface="Source Sans 3" pitchFamily="34" charset="-120"/>
              </a:rPr>
              <a:t>· commandes expédiées à temps</a:t>
            </a:r>
            <a:endParaRPr lang="en-US" sz="1600" dirty="0"/>
          </a:p>
        </p:txBody>
      </p:sp>
      <p:sp>
        <p:nvSpPr>
          <p:cNvPr id="24" name="Text 20"/>
          <p:cNvSpPr/>
          <p:nvPr/>
        </p:nvSpPr>
        <p:spPr>
          <a:xfrm>
            <a:off x="6349910" y="3779143"/>
            <a:ext cx="5415701" cy="553605"/>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2B3A48"/>
                </a:solidFill>
                <a:latin typeface="Source Sans 3" pitchFamily="34" charset="0"/>
                <a:ea typeface="Source Sans 3" pitchFamily="34" charset="-122"/>
                <a:cs typeface="Source Sans 3" pitchFamily="34" charset="-120"/>
              </a:rPr>
              <a:t>Les comparer à des cibles et signaler les écarts en vert, orange ou rouge.</a:t>
            </a:r>
            <a:endParaRPr lang="en-US" sz="1600" dirty="0"/>
          </a:p>
        </p:txBody>
      </p:sp>
      <p:sp>
        <p:nvSpPr>
          <p:cNvPr id="25" name="Shape 21"/>
          <p:cNvSpPr/>
          <p:nvPr/>
        </p:nvSpPr>
        <p:spPr>
          <a:xfrm>
            <a:off x="406346" y="4663182"/>
            <a:ext cx="5613436" cy="1554848"/>
          </a:xfrm>
          <a:prstGeom prst="roundRect">
            <a:avLst>
              <a:gd name="adj" fmla="val 4901"/>
            </a:avLst>
          </a:prstGeom>
          <a:solidFill>
            <a:srgbClr val="FFFFFF"/>
          </a:solidFill>
          <a:ln/>
          <a:effectLst>
            <a:outerShdw blurRad="25400" dist="6350" dir="5400000" algn="bl" rotWithShape="0">
              <a:srgbClr val="12263A">
                <a:alpha val="12000"/>
              </a:srgbClr>
            </a:outerShdw>
          </a:effectLst>
        </p:spPr>
        <p:txBody>
          <a:bodyPr/>
          <a:lstStyle/>
          <a:p>
            <a:endParaRPr lang="fr-MA"/>
          </a:p>
        </p:txBody>
      </p:sp>
      <p:sp>
        <p:nvSpPr>
          <p:cNvPr id="26" name="Shape 22"/>
          <p:cNvSpPr/>
          <p:nvPr/>
        </p:nvSpPr>
        <p:spPr>
          <a:xfrm>
            <a:off x="406346" y="4663182"/>
            <a:ext cx="5613436" cy="1554848"/>
          </a:xfrm>
          <a:custGeom>
            <a:avLst/>
            <a:gdLst/>
            <a:ahLst/>
            <a:cxnLst/>
            <a:rect l="l" t="t" r="r" b="b"/>
            <a:pathLst>
              <a:path w="5613436" h="1554848">
                <a:moveTo>
                  <a:pt x="0" y="76200"/>
                </a:moveTo>
                <a:lnTo>
                  <a:pt x="0" y="76200"/>
                </a:lnTo>
                <a:arcTo wR="76200" hR="76200" stAng="10800000" swAng="5400000"/>
                <a:lnTo>
                  <a:pt x="5537236" y="0"/>
                </a:lnTo>
                <a:arcTo wR="76200" hR="76200" stAng="16200000" swAng="5400000"/>
                <a:lnTo>
                  <a:pt x="5613436" y="76200"/>
                </a:lnTo>
                <a:arcTo wR="76200" hR="25400" stAng="0" swAng="-5400000"/>
                <a:lnTo>
                  <a:pt x="76200" y="50800"/>
                </a:lnTo>
                <a:arcTo wR="76200" hR="25400" stAng="16200000" swAng="-5400000"/>
                <a:close/>
              </a:path>
            </a:pathLst>
          </a:custGeom>
          <a:solidFill>
            <a:srgbClr val="2E7D32"/>
          </a:solidFill>
          <a:ln/>
        </p:spPr>
        <p:txBody>
          <a:bodyPr/>
          <a:lstStyle/>
          <a:p>
            <a:endParaRPr lang="fr-MA"/>
          </a:p>
        </p:txBody>
      </p:sp>
      <p:pic>
        <p:nvPicPr>
          <p:cNvPr id="27" name="Image 2" descr="Chart"/>
          <p:cNvPicPr>
            <a:picLocks noChangeAspect="1"/>
          </p:cNvPicPr>
          <p:nvPr/>
        </p:nvPicPr>
        <p:blipFill>
          <a:blip r:embed="rId5"/>
          <a:srcRect t="-225" b="-225"/>
          <a:stretch/>
        </p:blipFill>
        <p:spPr>
          <a:xfrm>
            <a:off x="584128" y="4996197"/>
            <a:ext cx="265455" cy="279346"/>
          </a:xfrm>
          <a:prstGeom prst="rect">
            <a:avLst/>
          </a:prstGeom>
        </p:spPr>
      </p:pic>
      <p:sp>
        <p:nvSpPr>
          <p:cNvPr id="28" name="Text 23"/>
          <p:cNvSpPr/>
          <p:nvPr/>
        </p:nvSpPr>
        <p:spPr>
          <a:xfrm>
            <a:off x="951147" y="4861706"/>
            <a:ext cx="5037578" cy="573809"/>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63A"/>
                </a:solidFill>
                <a:latin typeface="Source Sans 3" pitchFamily="34" charset="0"/>
                <a:ea typeface="Source Sans 3" pitchFamily="34" charset="-122"/>
                <a:cs typeface="Source Sans 3" pitchFamily="34" charset="-120"/>
              </a:rPr>
              <a:t>3. Comparer le réel aux prévisions de trois modèles</a:t>
            </a:r>
            <a:endParaRPr lang="en-US" sz="1800" dirty="0"/>
          </a:p>
        </p:txBody>
      </p:sp>
      <p:sp>
        <p:nvSpPr>
          <p:cNvPr id="29" name="Text 24"/>
          <p:cNvSpPr/>
          <p:nvPr/>
        </p:nvSpPr>
        <p:spPr>
          <a:xfrm>
            <a:off x="584128" y="5486251"/>
            <a:ext cx="5415608" cy="553605"/>
          </a:xfrm>
          <a:prstGeom prst="rect">
            <a:avLst/>
          </a:prstGeom>
          <a:noFill/>
          <a:ln/>
        </p:spPr>
        <p:txBody>
          <a:bodyPr wrap="square" lIns="0" tIns="0" rIns="0" bIns="0" rtlCol="0" anchor="t">
            <a:normAutofit/>
          </a:bodyPr>
          <a:lstStyle/>
          <a:p>
            <a:pPr marL="0" indent="0" algn="l">
              <a:lnSpc>
                <a:spcPts val="2080"/>
              </a:lnSpc>
              <a:buNone/>
            </a:pPr>
            <a:r>
              <a:rPr lang="en-US" sz="1400" dirty="0">
                <a:solidFill>
                  <a:srgbClr val="2B3A48"/>
                </a:solidFill>
                <a:latin typeface="Source Sans 3" pitchFamily="34" charset="0"/>
                <a:ea typeface="Source Sans 3" pitchFamily="34" charset="-122"/>
                <a:cs typeface="Source Sans 3" pitchFamily="34" charset="-120"/>
              </a:rPr>
              <a:t>Régression linéaire, réseau de neurones et gradient boosting : lequel est le plus fiable ? (MAE, RMSE, MAPE, biais)</a:t>
            </a:r>
            <a:endParaRPr lang="en-US" sz="1600" dirty="0"/>
          </a:p>
        </p:txBody>
      </p:sp>
      <p:sp>
        <p:nvSpPr>
          <p:cNvPr id="30" name="Shape 25"/>
          <p:cNvSpPr/>
          <p:nvPr/>
        </p:nvSpPr>
        <p:spPr>
          <a:xfrm>
            <a:off x="6172128" y="4663182"/>
            <a:ext cx="5613526" cy="1554848"/>
          </a:xfrm>
          <a:prstGeom prst="roundRect">
            <a:avLst>
              <a:gd name="adj" fmla="val 4901"/>
            </a:avLst>
          </a:prstGeom>
          <a:solidFill>
            <a:srgbClr val="FFFFFF"/>
          </a:solidFill>
          <a:ln/>
          <a:effectLst>
            <a:outerShdw blurRad="25400" dist="6350" dir="5400000" algn="bl" rotWithShape="0">
              <a:srgbClr val="12263A">
                <a:alpha val="12000"/>
              </a:srgbClr>
            </a:outerShdw>
          </a:effectLst>
        </p:spPr>
        <p:txBody>
          <a:bodyPr/>
          <a:lstStyle/>
          <a:p>
            <a:endParaRPr lang="fr-MA"/>
          </a:p>
        </p:txBody>
      </p:sp>
      <p:sp>
        <p:nvSpPr>
          <p:cNvPr id="31" name="Shape 26"/>
          <p:cNvSpPr/>
          <p:nvPr/>
        </p:nvSpPr>
        <p:spPr>
          <a:xfrm>
            <a:off x="6172128" y="4663182"/>
            <a:ext cx="5613526" cy="1554848"/>
          </a:xfrm>
          <a:custGeom>
            <a:avLst/>
            <a:gdLst/>
            <a:ahLst/>
            <a:cxnLst/>
            <a:rect l="l" t="t" r="r" b="b"/>
            <a:pathLst>
              <a:path w="5613526" h="1554848">
                <a:moveTo>
                  <a:pt x="0" y="76200"/>
                </a:moveTo>
                <a:lnTo>
                  <a:pt x="0" y="76200"/>
                </a:lnTo>
                <a:arcTo wR="76200" hR="76200" stAng="10800000" swAng="5400000"/>
                <a:lnTo>
                  <a:pt x="5537326" y="0"/>
                </a:lnTo>
                <a:arcTo wR="76200" hR="76200" stAng="16200000" swAng="5400000"/>
                <a:lnTo>
                  <a:pt x="5613526" y="76200"/>
                </a:lnTo>
                <a:arcTo wR="76200" hR="25400" stAng="0" swAng="-5400000"/>
                <a:lnTo>
                  <a:pt x="76200" y="50800"/>
                </a:lnTo>
                <a:arcTo wR="76200" hR="25400" stAng="16200000" swAng="-5400000"/>
                <a:close/>
              </a:path>
            </a:pathLst>
          </a:custGeom>
          <a:solidFill>
            <a:srgbClr val="2E7D32"/>
          </a:solidFill>
          <a:ln/>
        </p:spPr>
        <p:txBody>
          <a:bodyPr/>
          <a:lstStyle/>
          <a:p>
            <a:endParaRPr lang="fr-MA"/>
          </a:p>
        </p:txBody>
      </p:sp>
      <p:pic>
        <p:nvPicPr>
          <p:cNvPr id="32" name="Image 3" descr="Book"/>
          <p:cNvPicPr>
            <a:picLocks noChangeAspect="1"/>
          </p:cNvPicPr>
          <p:nvPr/>
        </p:nvPicPr>
        <p:blipFill>
          <a:blip r:embed="rId6"/>
          <a:srcRect/>
          <a:stretch/>
        </p:blipFill>
        <p:spPr>
          <a:xfrm>
            <a:off x="6349910" y="4861706"/>
            <a:ext cx="279346" cy="279346"/>
          </a:xfrm>
          <a:prstGeom prst="rect">
            <a:avLst/>
          </a:prstGeom>
        </p:spPr>
      </p:pic>
      <p:sp>
        <p:nvSpPr>
          <p:cNvPr id="33" name="Text 27"/>
          <p:cNvSpPr/>
          <p:nvPr/>
        </p:nvSpPr>
        <p:spPr>
          <a:xfrm>
            <a:off x="6730819" y="4884495"/>
            <a:ext cx="3209594" cy="279346"/>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263A"/>
                </a:solidFill>
                <a:latin typeface="Source Sans 3" pitchFamily="34" charset="0"/>
                <a:ea typeface="Source Sans 3" pitchFamily="34" charset="-122"/>
                <a:cs typeface="Source Sans 3" pitchFamily="34" charset="-120"/>
              </a:rPr>
              <a:t>4. Restituer</a:t>
            </a:r>
            <a:endParaRPr lang="en-US" sz="1800" dirty="0"/>
          </a:p>
        </p:txBody>
      </p:sp>
      <p:sp>
        <p:nvSpPr>
          <p:cNvPr id="34" name="Text 28"/>
          <p:cNvSpPr/>
          <p:nvPr/>
        </p:nvSpPr>
        <p:spPr>
          <a:xfrm>
            <a:off x="6349910" y="5217182"/>
            <a:ext cx="5415701" cy="553605"/>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2B3A48"/>
                </a:solidFill>
                <a:latin typeface="Source Sans 3" pitchFamily="34" charset="0"/>
                <a:ea typeface="Source Sans 3" pitchFamily="34" charset="-122"/>
                <a:cs typeface="Source Sans 3" pitchFamily="34" charset="-120"/>
              </a:rPr>
              <a:t>Des tableaux de bord et des rapports automatiques par jour, semaine, mois et année.</a:t>
            </a:r>
            <a:endParaRPr lang="en-US" sz="1600" dirty="0"/>
          </a:p>
        </p:txBody>
      </p:sp>
      <p:sp>
        <p:nvSpPr>
          <p:cNvPr id="35" name="Text 29"/>
          <p:cNvSpPr/>
          <p:nvPr/>
        </p:nvSpPr>
        <p:spPr>
          <a:xfrm>
            <a:off x="235656" y="6370377"/>
            <a:ext cx="11720687" cy="309887"/>
          </a:xfrm>
          <a:prstGeom prst="rect">
            <a:avLst/>
          </a:prstGeom>
          <a:noFill/>
          <a:ln/>
        </p:spPr>
        <p:txBody>
          <a:bodyPr wrap="square" lIns="0" tIns="0" rIns="0" bIns="0" rtlCol="0" anchor="t">
            <a:normAutofit/>
          </a:bodyPr>
          <a:lstStyle/>
          <a:p>
            <a:pPr marL="0" indent="0" algn="ctr">
              <a:lnSpc>
                <a:spcPts val="2240"/>
              </a:lnSpc>
              <a:buNone/>
            </a:pPr>
            <a:r>
              <a:rPr lang="en-US" sz="1600" dirty="0">
                <a:solidFill>
                  <a:srgbClr val="4A5568"/>
                </a:solidFill>
                <a:latin typeface="Source Sans 3" pitchFamily="34" charset="0"/>
                <a:ea typeface="Source Sans 3" pitchFamily="34" charset="-122"/>
                <a:cs typeface="Source Sans 3" pitchFamily="34" charset="-120"/>
              </a:rPr>
              <a:t>Objectif au sens d’ISO 9000 : résultat à atteindre, formulé de façon précise et mesurable.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B9CE04A-E88A-F011-BD97-8A126F14E18F}"/>
              </a:ext>
            </a:extLst>
          </p:cNvPr>
          <p:cNvPicPr>
            <a:picLocks noChangeAspect="1"/>
          </p:cNvPicPr>
          <p:nvPr/>
        </p:nvPicPr>
        <p:blipFill>
          <a:blip r:embed="rId2"/>
          <a:stretch>
            <a:fillRect/>
          </a:stretch>
        </p:blipFill>
        <p:spPr>
          <a:xfrm>
            <a:off x="3239" y="0"/>
            <a:ext cx="12185522" cy="6858000"/>
          </a:xfrm>
          <a:prstGeom prst="rect">
            <a:avLst/>
          </a:prstGeom>
        </p:spPr>
      </p:pic>
    </p:spTree>
    <p:extLst>
      <p:ext uri="{BB962C8B-B14F-4D97-AF65-F5344CB8AC3E}">
        <p14:creationId xmlns:p14="http://schemas.microsoft.com/office/powerpoint/2010/main" val="3672924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220"/>
        <p:cNvGrpSpPr/>
        <p:nvPr/>
      </p:nvGrpSpPr>
      <p:grpSpPr>
        <a:xfrm>
          <a:off x="0" y="0"/>
          <a:ext cx="0" cy="0"/>
          <a:chOff x="0" y="0"/>
          <a:chExt cx="0" cy="0"/>
        </a:xfrm>
      </p:grpSpPr>
      <p:sp>
        <p:nvSpPr>
          <p:cNvPr id="221" name="Google Shape;221;p9"/>
          <p:cNvSpPr/>
          <p:nvPr/>
        </p:nvSpPr>
        <p:spPr>
          <a:xfrm>
            <a:off x="0" y="0"/>
            <a:ext cx="152400" cy="68580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name="adj" fmla="val 50000"/>
            </a:avLst>
          </a:prstGeom>
          <a:solidFill>
            <a:srgbClr val="6B3FA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i="0" dirty="0">
                <a:solidFill>
                  <a:srgbClr val="FFFFFF"/>
                </a:solidFill>
                <a:latin typeface="Sora"/>
                <a:ea typeface="Sora"/>
                <a:cs typeface="Sora"/>
                <a:sym typeface="Sora"/>
              </a:rPr>
              <a:t>Le Gradient Boosting est </a:t>
            </a:r>
            <a:r>
              <a:rPr lang="en-US" sz="2100" b="1" i="0" dirty="0" err="1">
                <a:solidFill>
                  <a:srgbClr val="FFFFFF"/>
                </a:solidFill>
                <a:latin typeface="Sora"/>
                <a:ea typeface="Sora"/>
                <a:cs typeface="Sora"/>
                <a:sym typeface="Sora"/>
              </a:rPr>
              <a:t>retenu</a:t>
            </a:r>
            <a:r>
              <a:rPr lang="en-US" sz="2100" b="1" i="0" dirty="0">
                <a:solidFill>
                  <a:srgbClr val="FFFFFF"/>
                </a:solidFill>
                <a:latin typeface="Sora"/>
                <a:ea typeface="Sora"/>
                <a:cs typeface="Sora"/>
                <a:sym typeface="Sora"/>
              </a:rPr>
              <a:t> car il </a:t>
            </a:r>
            <a:r>
              <a:rPr lang="en-US" sz="2100" b="1" i="0" dirty="0" err="1">
                <a:solidFill>
                  <a:srgbClr val="FFFFFF"/>
                </a:solidFill>
                <a:latin typeface="Sora"/>
                <a:ea typeface="Sora"/>
                <a:cs typeface="Sora"/>
                <a:sym typeface="Sora"/>
              </a:rPr>
              <a:t>répond</a:t>
            </a:r>
            <a:r>
              <a:rPr lang="en-US" sz="2100" b="1" i="0" dirty="0">
                <a:solidFill>
                  <a:srgbClr val="FFFFFF"/>
                </a:solidFill>
                <a:latin typeface="Sora"/>
                <a:ea typeface="Sora"/>
                <a:cs typeface="Sora"/>
                <a:sym typeface="Sora"/>
              </a:rPr>
              <a:t> à la congestion non </a:t>
            </a:r>
            <a:r>
              <a:rPr lang="en-US" sz="2100" b="1" i="0" dirty="0" err="1">
                <a:solidFill>
                  <a:srgbClr val="FFFFFF"/>
                </a:solidFill>
                <a:latin typeface="Sora"/>
                <a:ea typeface="Sora"/>
                <a:cs typeface="Sora"/>
                <a:sym typeface="Sora"/>
              </a:rPr>
              <a:t>linéaire</a:t>
            </a:r>
            <a:r>
              <a:rPr lang="en-US" sz="2100" b="1" i="0" dirty="0">
                <a:solidFill>
                  <a:srgbClr val="FFFFFF"/>
                </a:solidFill>
                <a:latin typeface="Sora"/>
                <a:ea typeface="Sora"/>
                <a:cs typeface="Sora"/>
                <a:sym typeface="Sora"/>
              </a:rPr>
              <a:t> sans modifier </a:t>
            </a:r>
            <a:r>
              <a:rPr lang="en-US" sz="2100" b="1" i="0" dirty="0" err="1">
                <a:solidFill>
                  <a:srgbClr val="FFFFFF"/>
                </a:solidFill>
                <a:latin typeface="Sora"/>
                <a:ea typeface="Sora"/>
                <a:cs typeface="Sora"/>
                <a:sym typeface="Sora"/>
              </a:rPr>
              <a:t>l’architecture</a:t>
            </a:r>
            <a:endParaRPr sz="2100" dirty="0"/>
          </a:p>
        </p:txBody>
      </p:sp>
      <p:sp>
        <p:nvSpPr>
          <p:cNvPr id="228" name="Google Shape;228;p9"/>
          <p:cNvSpPr/>
          <p:nvPr/>
        </p:nvSpPr>
        <p:spPr>
          <a:xfrm>
            <a:off x="698500" y="1778000"/>
            <a:ext cx="6477000" cy="660400"/>
          </a:xfrm>
          <a:prstGeom prst="roundRect">
            <a:avLst>
              <a:gd name="adj" fmla="val 19231"/>
            </a:avLst>
          </a:prstGeom>
          <a:solidFill>
            <a:srgbClr val="24375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9" name="Google Shape;229;p9"/>
          <p:cNvSpPr/>
          <p:nvPr/>
        </p:nvSpPr>
        <p:spPr>
          <a:xfrm>
            <a:off x="876300" y="1905000"/>
            <a:ext cx="406400" cy="406400"/>
          </a:xfrm>
          <a:prstGeom prst="roundRect">
            <a:avLst>
              <a:gd name="adj" fmla="val 50000"/>
            </a:avLst>
          </a:prstGeom>
          <a:solidFill>
            <a:srgbClr val="4A9BE0"/>
          </a:solidFill>
          <a:ln>
            <a:noFill/>
          </a:ln>
        </p:spPr>
        <p:txBody>
          <a:bodyPr spcFirstLastPara="1" wrap="square" lIns="0" tIns="0" rIns="0" bIns="0" anchor="ctr" anchorCtr="0">
            <a:normAutofit fontScale="92500" lnSpcReduction="10000"/>
          </a:bodyPr>
          <a:lstStyle/>
          <a:p>
            <a:pPr marL="0" marR="0" lvl="0" indent="0" algn="ctr" rtl="0">
              <a:lnSpc>
                <a:spcPct val="140000"/>
              </a:lnSpc>
              <a:spcBef>
                <a:spcPts val="0"/>
              </a:spcBef>
              <a:spcAft>
                <a:spcPts val="0"/>
              </a:spcAft>
              <a:buClr>
                <a:srgbClr val="1B2A4A"/>
              </a:buClr>
              <a:buSzPts val="1500"/>
              <a:buFont typeface="Sora"/>
              <a:buNone/>
            </a:pPr>
            <a:r>
              <a:rPr lang="en-US" sz="1500" b="1">
                <a:solidFill>
                  <a:srgbClr val="1B2A4A"/>
                </a:solidFill>
                <a:latin typeface="Sora"/>
                <a:ea typeface="Sora"/>
                <a:cs typeface="Sora"/>
                <a:sym typeface="Sora"/>
              </a:rPr>
              <a:t>1</a:t>
            </a:r>
            <a:endParaRPr sz="1500">
              <a:solidFill>
                <a:schemeClr val="dk1"/>
              </a:solidFill>
              <a:latin typeface="DM Sans"/>
              <a:ea typeface="DM Sans"/>
              <a:cs typeface="DM Sans"/>
              <a:sym typeface="DM Sans"/>
            </a:endParaRPr>
          </a:p>
        </p:txBody>
      </p:sp>
      <p:sp>
        <p:nvSpPr>
          <p:cNvPr id="230" name="Google Shape;230;p9"/>
          <p:cNvSpPr/>
          <p:nvPr/>
        </p:nvSpPr>
        <p:spPr>
          <a:xfrm>
            <a:off x="1435100" y="1984375"/>
            <a:ext cx="5729478" cy="27305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FFFFFF"/>
              </a:buClr>
              <a:buSzPts val="1500"/>
              <a:buFont typeface="DM Sans"/>
              <a:buNone/>
            </a:pPr>
            <a:r>
              <a:rPr lang="en-US" sz="1500">
                <a:solidFill>
                  <a:srgbClr val="FFFFFF"/>
                </a:solidFill>
                <a:latin typeface="DM Sans"/>
                <a:ea typeface="DM Sans"/>
                <a:cs typeface="DM Sans"/>
                <a:sym typeface="DM Sans"/>
              </a:rPr>
              <a:t>Il capte la congestion non linéaire du jeu de démonstration.</a:t>
            </a:r>
            <a:endParaRPr sz="1500">
              <a:solidFill>
                <a:schemeClr val="dk1"/>
              </a:solidFill>
              <a:latin typeface="DM Sans"/>
              <a:ea typeface="DM Sans"/>
              <a:cs typeface="DM Sans"/>
              <a:sym typeface="DM Sans"/>
            </a:endParaRPr>
          </a:p>
        </p:txBody>
      </p:sp>
      <p:sp>
        <p:nvSpPr>
          <p:cNvPr id="231" name="Google Shape;231;p9"/>
          <p:cNvSpPr/>
          <p:nvPr/>
        </p:nvSpPr>
        <p:spPr>
          <a:xfrm>
            <a:off x="698500" y="2552700"/>
            <a:ext cx="6477000" cy="749300"/>
          </a:xfrm>
          <a:prstGeom prst="roundRect">
            <a:avLst>
              <a:gd name="adj" fmla="val 16949"/>
            </a:avLst>
          </a:prstGeom>
          <a:solidFill>
            <a:srgbClr val="24375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32" name="Google Shape;232;p9"/>
          <p:cNvSpPr/>
          <p:nvPr/>
        </p:nvSpPr>
        <p:spPr>
          <a:xfrm>
            <a:off x="876300" y="2724150"/>
            <a:ext cx="406400" cy="40640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40000"/>
              </a:lnSpc>
              <a:spcBef>
                <a:spcPts val="0"/>
              </a:spcBef>
              <a:spcAft>
                <a:spcPts val="0"/>
              </a:spcAft>
              <a:buClr>
                <a:srgbClr val="1B2A4A"/>
              </a:buClr>
              <a:buSzPts val="1500"/>
              <a:buFont typeface="Sora"/>
              <a:buNone/>
            </a:pPr>
            <a:r>
              <a:rPr lang="en-US" sz="1500" b="1">
                <a:solidFill>
                  <a:srgbClr val="1B2A4A"/>
                </a:solidFill>
                <a:latin typeface="Sora"/>
                <a:ea typeface="Sora"/>
                <a:cs typeface="Sora"/>
                <a:sym typeface="Sora"/>
              </a:rPr>
              <a:t>2</a:t>
            </a:r>
            <a:endParaRPr sz="1500">
              <a:solidFill>
                <a:schemeClr val="dk1"/>
              </a:solidFill>
              <a:latin typeface="DM Sans"/>
              <a:ea typeface="DM Sans"/>
              <a:cs typeface="DM Sans"/>
              <a:sym typeface="DM Sans"/>
            </a:endParaRPr>
          </a:p>
        </p:txBody>
      </p:sp>
      <p:sp>
        <p:nvSpPr>
          <p:cNvPr id="233" name="Google Shape;233;p9"/>
          <p:cNvSpPr/>
          <p:nvPr/>
        </p:nvSpPr>
        <p:spPr>
          <a:xfrm>
            <a:off x="1435100" y="2679700"/>
            <a:ext cx="5729478" cy="5207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FFFFFF"/>
              </a:buClr>
              <a:buSzPts val="1500"/>
              <a:buFont typeface="DM Sans"/>
              <a:buNone/>
            </a:pPr>
            <a:r>
              <a:rPr lang="en-US" sz="1500">
                <a:solidFill>
                  <a:srgbClr val="FFFFFF"/>
                </a:solidFill>
                <a:latin typeface="DM Sans"/>
                <a:ea typeface="DM Sans"/>
                <a:cs typeface="DM Sans"/>
                <a:sym typeface="DM Sans"/>
              </a:rPr>
              <a:t>Il s’intègre à l’architecture existante, sans la modifier.</a:t>
            </a:r>
            <a:endParaRPr sz="1500">
              <a:solidFill>
                <a:schemeClr val="dk1"/>
              </a:solidFill>
              <a:latin typeface="DM Sans"/>
              <a:ea typeface="DM Sans"/>
              <a:cs typeface="DM Sans"/>
              <a:sym typeface="DM Sans"/>
            </a:endParaRPr>
          </a:p>
        </p:txBody>
      </p:sp>
      <p:sp>
        <p:nvSpPr>
          <p:cNvPr id="234" name="Google Shape;234;p9"/>
          <p:cNvSpPr/>
          <p:nvPr/>
        </p:nvSpPr>
        <p:spPr>
          <a:xfrm>
            <a:off x="698500" y="3416300"/>
            <a:ext cx="6477000" cy="749300"/>
          </a:xfrm>
          <a:prstGeom prst="roundRect">
            <a:avLst>
              <a:gd name="adj" fmla="val 16949"/>
            </a:avLst>
          </a:prstGeom>
          <a:solidFill>
            <a:srgbClr val="24375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35" name="Google Shape;235;p9"/>
          <p:cNvSpPr/>
          <p:nvPr/>
        </p:nvSpPr>
        <p:spPr>
          <a:xfrm>
            <a:off x="876300" y="3587750"/>
            <a:ext cx="406400" cy="406400"/>
          </a:xfrm>
          <a:prstGeom prst="roundRect">
            <a:avLst>
              <a:gd name="adj" fmla="val 50000"/>
            </a:avLst>
          </a:prstGeom>
          <a:solidFill>
            <a:srgbClr val="B39DDB"/>
          </a:solidFill>
          <a:ln>
            <a:noFill/>
          </a:ln>
        </p:spPr>
        <p:txBody>
          <a:bodyPr spcFirstLastPara="1" wrap="square" lIns="0" tIns="0" rIns="0" bIns="0" anchor="ctr" anchorCtr="0">
            <a:normAutofit fontScale="92500" lnSpcReduction="10000"/>
          </a:bodyPr>
          <a:lstStyle/>
          <a:p>
            <a:pPr marL="0" marR="0" lvl="0" indent="0" algn="ctr" rtl="0">
              <a:lnSpc>
                <a:spcPct val="140000"/>
              </a:lnSpc>
              <a:spcBef>
                <a:spcPts val="0"/>
              </a:spcBef>
              <a:spcAft>
                <a:spcPts val="0"/>
              </a:spcAft>
              <a:buClr>
                <a:srgbClr val="1B2A4A"/>
              </a:buClr>
              <a:buSzPts val="1500"/>
              <a:buFont typeface="Sora"/>
              <a:buNone/>
            </a:pPr>
            <a:r>
              <a:rPr lang="en-US" sz="1500" b="1">
                <a:solidFill>
                  <a:srgbClr val="1B2A4A"/>
                </a:solidFill>
                <a:latin typeface="Sora"/>
                <a:ea typeface="Sora"/>
                <a:cs typeface="Sora"/>
                <a:sym typeface="Sora"/>
              </a:rPr>
              <a:t>3</a:t>
            </a:r>
            <a:endParaRPr sz="1500">
              <a:solidFill>
                <a:schemeClr val="dk1"/>
              </a:solidFill>
              <a:latin typeface="DM Sans"/>
              <a:ea typeface="DM Sans"/>
              <a:cs typeface="DM Sans"/>
              <a:sym typeface="DM Sans"/>
            </a:endParaRPr>
          </a:p>
        </p:txBody>
      </p:sp>
      <p:sp>
        <p:nvSpPr>
          <p:cNvPr id="236" name="Google Shape;236;p9"/>
          <p:cNvSpPr/>
          <p:nvPr/>
        </p:nvSpPr>
        <p:spPr>
          <a:xfrm>
            <a:off x="1435100" y="3543300"/>
            <a:ext cx="5729478" cy="5207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FFFFFF"/>
              </a:buClr>
              <a:buSzPts val="1500"/>
              <a:buFont typeface="DM Sans"/>
              <a:buNone/>
            </a:pPr>
            <a:r>
              <a:rPr lang="en-US" sz="1500">
                <a:solidFill>
                  <a:srgbClr val="FFFFFF"/>
                </a:solidFill>
                <a:latin typeface="DM Sans"/>
                <a:ea typeface="DM Sans"/>
                <a:cs typeface="DM Sans"/>
                <a:sym typeface="DM Sans"/>
              </a:rPr>
              <a:t>Il compare trois approches : mêmes métriques, même taux de victoire.</a:t>
            </a:r>
            <a:endParaRPr sz="1500">
              <a:solidFill>
                <a:schemeClr val="dk1"/>
              </a:solidFill>
              <a:latin typeface="DM Sans"/>
              <a:ea typeface="DM Sans"/>
              <a:cs typeface="DM Sans"/>
              <a:sym typeface="DM Sans"/>
            </a:endParaRPr>
          </a:p>
        </p:txBody>
      </p:sp>
      <p:sp>
        <p:nvSpPr>
          <p:cNvPr id="237" name="Google Shape;237;p9"/>
          <p:cNvSpPr/>
          <p:nvPr/>
        </p:nvSpPr>
        <p:spPr>
          <a:xfrm>
            <a:off x="698500" y="4279900"/>
            <a:ext cx="6477000" cy="527050"/>
          </a:xfrm>
          <a:prstGeom prst="roundRect">
            <a:avLst>
              <a:gd name="adj" fmla="val 24096"/>
            </a:avLst>
          </a:prstGeom>
          <a:solidFill>
            <a:srgbClr val="B39DDB"/>
          </a:solidFill>
          <a:ln>
            <a:noFill/>
          </a:ln>
        </p:spPr>
        <p:txBody>
          <a:bodyPr spcFirstLastPara="1" wrap="square" lIns="140600" tIns="102500" rIns="0" bIns="77100" anchor="t" anchorCtr="0">
            <a:normAutofit fontScale="92500" lnSpcReduction="10000"/>
          </a:bodyPr>
          <a:lstStyle/>
          <a:p>
            <a:pPr marL="0" marR="0" lvl="0" indent="0" algn="l" rtl="0">
              <a:lnSpc>
                <a:spcPct val="130000"/>
              </a:lnSpc>
              <a:spcBef>
                <a:spcPts val="0"/>
              </a:spcBef>
              <a:spcAft>
                <a:spcPts val="0"/>
              </a:spcAft>
              <a:buClr>
                <a:srgbClr val="1B2A4A"/>
              </a:buClr>
              <a:buSzPts val="1500"/>
              <a:buFont typeface="DM Sans"/>
              <a:buNone/>
            </a:pPr>
            <a:r>
              <a:rPr lang="en-US" sz="1500">
                <a:solidFill>
                  <a:srgbClr val="1B2A4A"/>
                </a:solidFill>
                <a:latin typeface="DM Sans"/>
                <a:ea typeface="DM Sans"/>
                <a:cs typeface="DM Sans"/>
                <a:sym typeface="DM Sans"/>
              </a:rPr>
              <a:t>Limite assumée : pas d’extrapolation ; la RL reste le filet de sécurité.</a:t>
            </a:r>
            <a:endParaRPr sz="1500">
              <a:solidFill>
                <a:schemeClr val="dk1"/>
              </a:solidFill>
              <a:latin typeface="DM Sans"/>
              <a:ea typeface="DM Sans"/>
              <a:cs typeface="DM Sans"/>
              <a:sym typeface="DM Sans"/>
            </a:endParaRPr>
          </a:p>
        </p:txBody>
      </p:sp>
      <p:sp>
        <p:nvSpPr>
          <p:cNvPr id="238" name="Google Shape;238;p9"/>
          <p:cNvSpPr/>
          <p:nvPr/>
        </p:nvSpPr>
        <p:spPr>
          <a:xfrm>
            <a:off x="7429500" y="1778000"/>
            <a:ext cx="4064000" cy="2719070"/>
          </a:xfrm>
          <a:prstGeom prst="roundRect">
            <a:avLst>
              <a:gd name="adj" fmla="val 5605"/>
            </a:avLst>
          </a:prstGeom>
          <a:solidFill>
            <a:srgbClr val="24375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39" name="Google Shape;239;p9"/>
          <p:cNvSpPr/>
          <p:nvPr/>
        </p:nvSpPr>
        <p:spPr>
          <a:xfrm>
            <a:off x="7645400" y="1968500"/>
            <a:ext cx="3741166" cy="247650"/>
          </a:xfrm>
          <a:prstGeom prst="rect">
            <a:avLst/>
          </a:prstGeom>
          <a:noFill/>
          <a:ln>
            <a:noFill/>
          </a:ln>
        </p:spPr>
        <p:txBody>
          <a:bodyPr spcFirstLastPara="1" wrap="square" lIns="0" tIns="0" rIns="0" bIns="0" anchor="t" anchorCtr="0">
            <a:normAutofit lnSpcReduction="10000"/>
          </a:bodyPr>
          <a:lstStyle/>
          <a:p>
            <a:pPr marL="0" marR="0" lvl="0" indent="0" algn="l" rtl="0">
              <a:lnSpc>
                <a:spcPct val="125000"/>
              </a:lnSpc>
              <a:spcBef>
                <a:spcPts val="0"/>
              </a:spcBef>
              <a:spcAft>
                <a:spcPts val="0"/>
              </a:spcAft>
              <a:buClr>
                <a:srgbClr val="7ACFC0"/>
              </a:buClr>
              <a:buSzPts val="1400"/>
              <a:buFont typeface="Sora"/>
              <a:buNone/>
            </a:pPr>
            <a:r>
              <a:rPr lang="en-US" sz="1400" b="1">
                <a:solidFill>
                  <a:srgbClr val="7ACFC0"/>
                </a:solidFill>
                <a:latin typeface="Sora"/>
                <a:ea typeface="Sora"/>
                <a:cs typeface="Sora"/>
                <a:sym typeface="Sora"/>
              </a:rPr>
              <a:t>Alternatives étudiées et non retenues</a:t>
            </a:r>
            <a:endParaRPr sz="1400">
              <a:solidFill>
                <a:schemeClr val="dk1"/>
              </a:solidFill>
              <a:latin typeface="DM Sans"/>
              <a:ea typeface="DM Sans"/>
              <a:cs typeface="DM Sans"/>
              <a:sym typeface="DM Sans"/>
            </a:endParaRPr>
          </a:p>
        </p:txBody>
      </p:sp>
      <p:sp>
        <p:nvSpPr>
          <p:cNvPr id="240" name="Google Shape;240;p9"/>
          <p:cNvSpPr/>
          <p:nvPr/>
        </p:nvSpPr>
        <p:spPr>
          <a:xfrm>
            <a:off x="7645400" y="2355850"/>
            <a:ext cx="3741166" cy="254000"/>
          </a:xfrm>
          <a:prstGeom prst="rect">
            <a:avLst/>
          </a:prstGeom>
          <a:noFill/>
          <a:ln>
            <a:noFill/>
          </a:ln>
        </p:spPr>
        <p:txBody>
          <a:bodyPr spcFirstLastPara="1" wrap="square" lIns="0" tIns="0" rIns="0" bIns="0" anchor="t" anchorCtr="0">
            <a:normAutofit lnSpcReduction="10000"/>
          </a:bodyPr>
          <a:lstStyle/>
          <a:p>
            <a:pPr marL="0" marR="0" lvl="0" indent="0" algn="l" rtl="0">
              <a:lnSpc>
                <a:spcPct val="120000"/>
              </a:lnSpc>
              <a:spcBef>
                <a:spcPts val="0"/>
              </a:spcBef>
              <a:spcAft>
                <a:spcPts val="0"/>
              </a:spcAft>
              <a:buClr>
                <a:srgbClr val="FFFFFF"/>
              </a:buClr>
              <a:buSzPts val="1500"/>
              <a:buFont typeface="DM Sans"/>
              <a:buNone/>
            </a:pPr>
            <a:r>
              <a:rPr lang="en-US" sz="1500" b="1">
                <a:solidFill>
                  <a:srgbClr val="FFFFFF"/>
                </a:solidFill>
                <a:latin typeface="DM Sans"/>
                <a:ea typeface="DM Sans"/>
                <a:cs typeface="DM Sans"/>
                <a:sym typeface="DM Sans"/>
              </a:rPr>
              <a:t>Forêt aléatoire</a:t>
            </a:r>
            <a:endParaRPr sz="1500">
              <a:solidFill>
                <a:schemeClr val="dk1"/>
              </a:solidFill>
              <a:latin typeface="DM Sans"/>
              <a:ea typeface="DM Sans"/>
              <a:cs typeface="DM Sans"/>
              <a:sym typeface="DM Sans"/>
            </a:endParaRPr>
          </a:p>
        </p:txBody>
      </p:sp>
      <p:sp>
        <p:nvSpPr>
          <p:cNvPr id="241" name="Google Shape;241;p9"/>
          <p:cNvSpPr/>
          <p:nvPr/>
        </p:nvSpPr>
        <p:spPr>
          <a:xfrm>
            <a:off x="7645400" y="2609850"/>
            <a:ext cx="3741166" cy="240030"/>
          </a:xfrm>
          <a:prstGeom prst="rect">
            <a:avLst/>
          </a:prstGeom>
          <a:noFill/>
          <a:ln>
            <a:noFill/>
          </a:ln>
        </p:spPr>
        <p:txBody>
          <a:bodyPr spcFirstLastPara="1" wrap="square" lIns="0" tIns="0" rIns="0" bIns="0" anchor="t" anchorCtr="0">
            <a:normAutofit lnSpcReduction="10000"/>
          </a:bodyPr>
          <a:lstStyle/>
          <a:p>
            <a:pPr marL="0" marR="0" lvl="0" indent="0" algn="l" rtl="0">
              <a:lnSpc>
                <a:spcPct val="130000"/>
              </a:lnSpc>
              <a:spcBef>
                <a:spcPts val="0"/>
              </a:spcBef>
              <a:spcAft>
                <a:spcPts val="0"/>
              </a:spcAft>
              <a:buClr>
                <a:srgbClr val="C9D1E8"/>
              </a:buClr>
              <a:buSzPts val="1300"/>
              <a:buFont typeface="DM Sans"/>
              <a:buNone/>
            </a:pPr>
            <a:r>
              <a:rPr lang="en-US" sz="1300">
                <a:solidFill>
                  <a:srgbClr val="C9D1E8"/>
                </a:solidFill>
                <a:latin typeface="DM Sans"/>
                <a:ea typeface="DM Sans"/>
                <a:cs typeface="DM Sans"/>
                <a:sym typeface="DM Sans"/>
              </a:rPr>
              <a:t>Même limite d’extrapolation</a:t>
            </a:r>
            <a:endParaRPr sz="1300">
              <a:solidFill>
                <a:schemeClr val="dk1"/>
              </a:solidFill>
              <a:latin typeface="DM Sans"/>
              <a:ea typeface="DM Sans"/>
              <a:cs typeface="DM Sans"/>
              <a:sym typeface="DM Sans"/>
            </a:endParaRPr>
          </a:p>
        </p:txBody>
      </p:sp>
      <p:sp>
        <p:nvSpPr>
          <p:cNvPr id="242" name="Google Shape;242;p9"/>
          <p:cNvSpPr/>
          <p:nvPr/>
        </p:nvSpPr>
        <p:spPr>
          <a:xfrm>
            <a:off x="7645400" y="2989579"/>
            <a:ext cx="3741166" cy="254000"/>
          </a:xfrm>
          <a:prstGeom prst="rect">
            <a:avLst/>
          </a:prstGeom>
          <a:noFill/>
          <a:ln>
            <a:noFill/>
          </a:ln>
        </p:spPr>
        <p:txBody>
          <a:bodyPr spcFirstLastPara="1" wrap="square" lIns="0" tIns="0" rIns="0" bIns="0" anchor="t" anchorCtr="0">
            <a:normAutofit lnSpcReduction="10000"/>
          </a:bodyPr>
          <a:lstStyle/>
          <a:p>
            <a:pPr marL="0" marR="0" lvl="0" indent="0" algn="l" rtl="0">
              <a:lnSpc>
                <a:spcPct val="120000"/>
              </a:lnSpc>
              <a:spcBef>
                <a:spcPts val="0"/>
              </a:spcBef>
              <a:spcAft>
                <a:spcPts val="0"/>
              </a:spcAft>
              <a:buClr>
                <a:srgbClr val="FFFFFF"/>
              </a:buClr>
              <a:buSzPts val="1500"/>
              <a:buFont typeface="DM Sans"/>
              <a:buNone/>
            </a:pPr>
            <a:r>
              <a:rPr lang="en-US" sz="1500" b="1">
                <a:solidFill>
                  <a:srgbClr val="FFFFFF"/>
                </a:solidFill>
                <a:latin typeface="DM Sans"/>
                <a:ea typeface="DM Sans"/>
                <a:cs typeface="DM Sans"/>
                <a:sym typeface="DM Sans"/>
              </a:rPr>
              <a:t>GAM</a:t>
            </a:r>
            <a:endParaRPr sz="1500">
              <a:solidFill>
                <a:schemeClr val="dk1"/>
              </a:solidFill>
              <a:latin typeface="DM Sans"/>
              <a:ea typeface="DM Sans"/>
              <a:cs typeface="DM Sans"/>
              <a:sym typeface="DM Sans"/>
            </a:endParaRPr>
          </a:p>
        </p:txBody>
      </p:sp>
      <p:sp>
        <p:nvSpPr>
          <p:cNvPr id="243" name="Google Shape;243;p9"/>
          <p:cNvSpPr/>
          <p:nvPr/>
        </p:nvSpPr>
        <p:spPr>
          <a:xfrm>
            <a:off x="7645400" y="3243579"/>
            <a:ext cx="3741166" cy="45466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C9D1E8"/>
              </a:buClr>
              <a:buSzPts val="1300"/>
              <a:buFont typeface="DM Sans"/>
              <a:buNone/>
            </a:pPr>
            <a:r>
              <a:rPr lang="en-US" sz="1300">
                <a:solidFill>
                  <a:srgbClr val="C9D1E8"/>
                </a:solidFill>
                <a:latin typeface="DM Sans"/>
                <a:ea typeface="DM Sans"/>
                <a:cs typeface="DM Sans"/>
                <a:sym typeface="DM Sans"/>
              </a:rPr>
              <a:t>Dépendance externe (pygam), paramétrage plus complexe</a:t>
            </a:r>
            <a:endParaRPr sz="1300">
              <a:solidFill>
                <a:schemeClr val="dk1"/>
              </a:solidFill>
              <a:latin typeface="DM Sans"/>
              <a:ea typeface="DM Sans"/>
              <a:cs typeface="DM Sans"/>
              <a:sym typeface="DM Sans"/>
            </a:endParaRPr>
          </a:p>
        </p:txBody>
      </p:sp>
      <p:sp>
        <p:nvSpPr>
          <p:cNvPr id="244" name="Google Shape;244;p9"/>
          <p:cNvSpPr/>
          <p:nvPr/>
        </p:nvSpPr>
        <p:spPr>
          <a:xfrm>
            <a:off x="7645400" y="3837942"/>
            <a:ext cx="3741166" cy="254000"/>
          </a:xfrm>
          <a:prstGeom prst="rect">
            <a:avLst/>
          </a:prstGeom>
          <a:noFill/>
          <a:ln>
            <a:noFill/>
          </a:ln>
        </p:spPr>
        <p:txBody>
          <a:bodyPr spcFirstLastPara="1" wrap="square" lIns="0" tIns="0" rIns="0" bIns="0" anchor="t" anchorCtr="0">
            <a:normAutofit lnSpcReduction="10000"/>
          </a:bodyPr>
          <a:lstStyle/>
          <a:p>
            <a:pPr marL="0" marR="0" lvl="0" indent="0" algn="l" rtl="0">
              <a:lnSpc>
                <a:spcPct val="120000"/>
              </a:lnSpc>
              <a:spcBef>
                <a:spcPts val="0"/>
              </a:spcBef>
              <a:spcAft>
                <a:spcPts val="0"/>
              </a:spcAft>
              <a:buClr>
                <a:srgbClr val="FFFFFF"/>
              </a:buClr>
              <a:buSzPts val="1500"/>
              <a:buFont typeface="DM Sans"/>
              <a:buNone/>
            </a:pPr>
            <a:r>
              <a:rPr lang="en-US" sz="1500" b="1">
                <a:solidFill>
                  <a:srgbClr val="FFFFFF"/>
                </a:solidFill>
                <a:latin typeface="DM Sans"/>
                <a:ea typeface="DM Sans"/>
                <a:cs typeface="DM Sans"/>
                <a:sym typeface="DM Sans"/>
              </a:rPr>
              <a:t>Processus gaussien</a:t>
            </a:r>
            <a:endParaRPr sz="1500">
              <a:solidFill>
                <a:schemeClr val="dk1"/>
              </a:solidFill>
              <a:latin typeface="DM Sans"/>
              <a:ea typeface="DM Sans"/>
              <a:cs typeface="DM Sans"/>
              <a:sym typeface="DM Sans"/>
            </a:endParaRPr>
          </a:p>
        </p:txBody>
      </p:sp>
      <p:sp>
        <p:nvSpPr>
          <p:cNvPr id="245" name="Google Shape;245;p9"/>
          <p:cNvSpPr/>
          <p:nvPr/>
        </p:nvSpPr>
        <p:spPr>
          <a:xfrm>
            <a:off x="7645400" y="4091942"/>
            <a:ext cx="3741166" cy="240030"/>
          </a:xfrm>
          <a:prstGeom prst="rect">
            <a:avLst/>
          </a:prstGeom>
          <a:noFill/>
          <a:ln>
            <a:noFill/>
          </a:ln>
        </p:spPr>
        <p:txBody>
          <a:bodyPr spcFirstLastPara="1" wrap="square" lIns="0" tIns="0" rIns="0" bIns="0" anchor="t" anchorCtr="0">
            <a:normAutofit lnSpcReduction="10000"/>
          </a:bodyPr>
          <a:lstStyle/>
          <a:p>
            <a:pPr marL="0" marR="0" lvl="0" indent="0" algn="l" rtl="0">
              <a:lnSpc>
                <a:spcPct val="130000"/>
              </a:lnSpc>
              <a:spcBef>
                <a:spcPts val="0"/>
              </a:spcBef>
              <a:spcAft>
                <a:spcPts val="0"/>
              </a:spcAft>
              <a:buClr>
                <a:srgbClr val="C9D1E8"/>
              </a:buClr>
              <a:buSzPts val="1300"/>
              <a:buFont typeface="DM Sans"/>
              <a:buNone/>
            </a:pPr>
            <a:r>
              <a:rPr lang="en-US" sz="1300">
                <a:solidFill>
                  <a:srgbClr val="C9D1E8"/>
                </a:solidFill>
                <a:latin typeface="DM Sans"/>
                <a:ea typeface="DM Sans"/>
                <a:cs typeface="DM Sans"/>
                <a:sym typeface="DM Sans"/>
              </a:rPr>
              <a:t>Coût O(n³), inadapté à la production</a:t>
            </a:r>
            <a:endParaRPr sz="1300">
              <a:solidFill>
                <a:schemeClr val="dk1"/>
              </a:solidFill>
              <a:latin typeface="DM Sans"/>
              <a:ea typeface="DM Sans"/>
              <a:cs typeface="DM Sans"/>
              <a:sym typeface="DM Sans"/>
            </a:endParaRPr>
          </a:p>
        </p:txBody>
      </p:sp>
      <p:sp>
        <p:nvSpPr>
          <p:cNvPr id="246" name="Google Shape;246;p9"/>
          <p:cNvSpPr/>
          <p:nvPr/>
        </p:nvSpPr>
        <p:spPr>
          <a:xfrm>
            <a:off x="698500" y="6344921"/>
            <a:ext cx="9156700" cy="208280"/>
          </a:xfrm>
          <a:prstGeom prst="rect">
            <a:avLst/>
          </a:prstGeom>
          <a:noFill/>
          <a:ln>
            <a:noFill/>
          </a:ln>
        </p:spPr>
        <p:txBody>
          <a:bodyPr spcFirstLastPara="1" wrap="square" lIns="0" tIns="0" rIns="0" bIns="0" anchor="t" anchorCtr="0">
            <a:normAutofit lnSpcReduction="10000"/>
          </a:bodyPr>
          <a:lstStyle/>
          <a:p>
            <a:pPr marL="0" marR="0" lvl="0" indent="0" algn="l" rtl="0">
              <a:lnSpc>
                <a:spcPct val="120000"/>
              </a:lnSpc>
              <a:spcBef>
                <a:spcPts val="0"/>
              </a:spcBef>
              <a:spcAft>
                <a:spcPts val="0"/>
              </a:spcAft>
              <a:buClr>
                <a:srgbClr val="A9B4D0"/>
              </a:buClr>
              <a:buSzPts val="1200"/>
              <a:buFont typeface="DM Sans"/>
              <a:buNone/>
            </a:pPr>
            <a:r>
              <a:rPr lang="en-US" sz="1200">
                <a:solidFill>
                  <a:srgbClr val="A9B4D0"/>
                </a:solidFill>
                <a:latin typeface="DM Sans"/>
                <a:ea typeface="DM Sans"/>
                <a:cs typeface="DM Sans"/>
                <a:sym typeface="DM Sans"/>
              </a:rPr>
              <a:t>Intégré à l’application : entraînement, prévision, comparaison et rapports.</a:t>
            </a:r>
            <a:endParaRPr sz="1200">
              <a:solidFill>
                <a:schemeClr val="dk1"/>
              </a:solidFill>
              <a:latin typeface="DM Sans"/>
              <a:ea typeface="DM Sans"/>
              <a:cs typeface="DM Sans"/>
              <a:sym typeface="DM Sans"/>
            </a:endParaRPr>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13</a:t>
            </a:r>
            <a:endParaRPr sz="1200">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378"/>
        <p:cNvGrpSpPr/>
        <p:nvPr/>
      </p:nvGrpSpPr>
      <p:grpSpPr>
        <a:xfrm>
          <a:off x="0" y="0"/>
          <a:ext cx="0" cy="0"/>
          <a:chOff x="0" y="0"/>
          <a:chExt cx="0" cy="0"/>
        </a:xfrm>
      </p:grpSpPr>
      <p:sp>
        <p:nvSpPr>
          <p:cNvPr id="379" name="Google Shape;379;p16"/>
          <p:cNvSpPr/>
          <p:nvPr/>
        </p:nvSpPr>
        <p:spPr>
          <a:xfrm>
            <a:off x="0" y="0"/>
            <a:ext cx="152400" cy="68580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80" name="Google Shape;380;p16"/>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81" name="Google Shape;381;p16"/>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82" name="Google Shape;382;p16"/>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83" name="Google Shape;383;p16"/>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84" name="Google Shape;384;p16"/>
          <p:cNvSpPr/>
          <p:nvPr/>
        </p:nvSpPr>
        <p:spPr>
          <a:xfrm>
            <a:off x="698500" y="533400"/>
            <a:ext cx="934720" cy="28448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385" name="Google Shape;385;p16"/>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Douze tâches planifiées automatisent les calculs ; les décisions engageantes restent humaines</a:t>
            </a:r>
            <a:endParaRPr sz="2100"/>
          </a:p>
        </p:txBody>
      </p:sp>
      <p:sp>
        <p:nvSpPr>
          <p:cNvPr id="386" name="Google Shape;386;p16"/>
          <p:cNvSpPr/>
          <p:nvPr/>
        </p:nvSpPr>
        <p:spPr>
          <a:xfrm>
            <a:off x="698500" y="1778000"/>
            <a:ext cx="2584450" cy="208661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87" name="Google Shape;387;p16"/>
          <p:cNvSpPr/>
          <p:nvPr/>
        </p:nvSpPr>
        <p:spPr>
          <a:xfrm>
            <a:off x="698500" y="1778000"/>
            <a:ext cx="2584450" cy="2086610"/>
          </a:xfrm>
          <a:custGeom>
            <a:avLst/>
            <a:gdLst/>
            <a:ahLst/>
            <a:cxnLst/>
            <a:rect l="l" t="t" r="r" b="b"/>
            <a:pathLst>
              <a:path w="2584450" h="208661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88" name="Google Shape;388;p16"/>
          <p:cNvSpPr/>
          <p:nvPr/>
        </p:nvSpPr>
        <p:spPr>
          <a:xfrm>
            <a:off x="889000" y="2042164"/>
            <a:ext cx="2269554" cy="8255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4999"/>
              </a:lnSpc>
              <a:spcBef>
                <a:spcPts val="0"/>
              </a:spcBef>
              <a:spcAft>
                <a:spcPts val="0"/>
              </a:spcAft>
              <a:buClr>
                <a:srgbClr val="FFFFFF"/>
              </a:buClr>
              <a:buSzPts val="6000"/>
              <a:buFont typeface="Sora"/>
              <a:buNone/>
            </a:pPr>
            <a:r>
              <a:rPr lang="en-US" sz="6000" b="1">
                <a:solidFill>
                  <a:srgbClr val="FFFFFF"/>
                </a:solidFill>
                <a:latin typeface="Sora"/>
                <a:ea typeface="Sora"/>
                <a:cs typeface="Sora"/>
                <a:sym typeface="Sora"/>
              </a:rPr>
              <a:t>12</a:t>
            </a:r>
            <a:endParaRPr sz="6000">
              <a:solidFill>
                <a:schemeClr val="dk1"/>
              </a:solidFill>
              <a:latin typeface="DM Sans"/>
              <a:ea typeface="DM Sans"/>
              <a:cs typeface="DM Sans"/>
              <a:sym typeface="DM Sans"/>
            </a:endParaRPr>
          </a:p>
        </p:txBody>
      </p:sp>
      <p:sp>
        <p:nvSpPr>
          <p:cNvPr id="389" name="Google Shape;389;p16"/>
          <p:cNvSpPr/>
          <p:nvPr/>
        </p:nvSpPr>
        <p:spPr>
          <a:xfrm>
            <a:off x="889000" y="2918464"/>
            <a:ext cx="2269554" cy="76835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tâches planifiées : 8 chaque nuit et 4 périodiques</a:t>
            </a:r>
            <a:endParaRPr sz="1500">
              <a:solidFill>
                <a:schemeClr val="dk1"/>
              </a:solidFill>
              <a:latin typeface="DM Sans"/>
              <a:ea typeface="DM Sans"/>
              <a:cs typeface="DM Sans"/>
              <a:sym typeface="DM Sans"/>
            </a:endParaRPr>
          </a:p>
        </p:txBody>
      </p:sp>
      <p:sp>
        <p:nvSpPr>
          <p:cNvPr id="390" name="Google Shape;390;p16"/>
          <p:cNvSpPr/>
          <p:nvPr/>
        </p:nvSpPr>
        <p:spPr>
          <a:xfrm>
            <a:off x="3435350" y="1778000"/>
            <a:ext cx="2584450" cy="208661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91" name="Google Shape;391;p16"/>
          <p:cNvSpPr/>
          <p:nvPr/>
        </p:nvSpPr>
        <p:spPr>
          <a:xfrm>
            <a:off x="3435350" y="1778000"/>
            <a:ext cx="2584450" cy="2086610"/>
          </a:xfrm>
          <a:custGeom>
            <a:avLst/>
            <a:gdLst/>
            <a:ahLst/>
            <a:cxnLst/>
            <a:rect l="l" t="t" r="r" b="b"/>
            <a:pathLst>
              <a:path w="2584450" h="208661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92" name="Google Shape;392;p16"/>
          <p:cNvSpPr/>
          <p:nvPr/>
        </p:nvSpPr>
        <p:spPr>
          <a:xfrm>
            <a:off x="3625850" y="2042164"/>
            <a:ext cx="2269554" cy="8255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4999"/>
              </a:lnSpc>
              <a:spcBef>
                <a:spcPts val="0"/>
              </a:spcBef>
              <a:spcAft>
                <a:spcPts val="0"/>
              </a:spcAft>
              <a:buClr>
                <a:srgbClr val="4A9BE0"/>
              </a:buClr>
              <a:buSzPts val="6000"/>
              <a:buFont typeface="Sora"/>
              <a:buNone/>
            </a:pPr>
            <a:r>
              <a:rPr lang="en-US" sz="6000" b="1">
                <a:solidFill>
                  <a:srgbClr val="4A9BE0"/>
                </a:solidFill>
                <a:latin typeface="Sora"/>
                <a:ea typeface="Sora"/>
                <a:cs typeface="Sora"/>
                <a:sym typeface="Sora"/>
              </a:rPr>
              <a:t>11</a:t>
            </a:r>
            <a:endParaRPr sz="6000">
              <a:solidFill>
                <a:schemeClr val="dk1"/>
              </a:solidFill>
              <a:latin typeface="DM Sans"/>
              <a:ea typeface="DM Sans"/>
              <a:cs typeface="DM Sans"/>
              <a:sym typeface="DM Sans"/>
            </a:endParaRPr>
          </a:p>
        </p:txBody>
      </p:sp>
      <p:sp>
        <p:nvSpPr>
          <p:cNvPr id="393" name="Google Shape;393;p16"/>
          <p:cNvSpPr/>
          <p:nvPr/>
        </p:nvSpPr>
        <p:spPr>
          <a:xfrm>
            <a:off x="3625850" y="2918464"/>
            <a:ext cx="2269554" cy="76835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cas d’usage entièrement automatiques</a:t>
            </a:r>
            <a:endParaRPr sz="1500">
              <a:solidFill>
                <a:schemeClr val="dk1"/>
              </a:solidFill>
              <a:latin typeface="DM Sans"/>
              <a:ea typeface="DM Sans"/>
              <a:cs typeface="DM Sans"/>
              <a:sym typeface="DM Sans"/>
            </a:endParaRPr>
          </a:p>
        </p:txBody>
      </p:sp>
      <p:sp>
        <p:nvSpPr>
          <p:cNvPr id="394" name="Google Shape;394;p16"/>
          <p:cNvSpPr/>
          <p:nvPr/>
        </p:nvSpPr>
        <p:spPr>
          <a:xfrm>
            <a:off x="6172200" y="1778000"/>
            <a:ext cx="2584450" cy="208661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95" name="Google Shape;395;p16"/>
          <p:cNvSpPr/>
          <p:nvPr/>
        </p:nvSpPr>
        <p:spPr>
          <a:xfrm>
            <a:off x="6172200" y="1778000"/>
            <a:ext cx="2584450" cy="2086610"/>
          </a:xfrm>
          <a:custGeom>
            <a:avLst/>
            <a:gdLst/>
            <a:ahLst/>
            <a:cxnLst/>
            <a:rect l="l" t="t" r="r" b="b"/>
            <a:pathLst>
              <a:path w="2584450" h="208661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96" name="Google Shape;396;p16"/>
          <p:cNvSpPr/>
          <p:nvPr/>
        </p:nvSpPr>
        <p:spPr>
          <a:xfrm>
            <a:off x="6362700" y="2042164"/>
            <a:ext cx="2269554" cy="8255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4999"/>
              </a:lnSpc>
              <a:spcBef>
                <a:spcPts val="0"/>
              </a:spcBef>
              <a:spcAft>
                <a:spcPts val="0"/>
              </a:spcAft>
              <a:buClr>
                <a:srgbClr val="B39DDB"/>
              </a:buClr>
              <a:buSzPts val="6000"/>
              <a:buFont typeface="Sora"/>
              <a:buNone/>
            </a:pPr>
            <a:r>
              <a:rPr lang="en-US" sz="6000" b="1">
                <a:solidFill>
                  <a:srgbClr val="B39DDB"/>
                </a:solidFill>
                <a:latin typeface="Sora"/>
                <a:ea typeface="Sora"/>
                <a:cs typeface="Sora"/>
                <a:sym typeface="Sora"/>
              </a:rPr>
              <a:t>12</a:t>
            </a:r>
            <a:endParaRPr sz="6000">
              <a:solidFill>
                <a:schemeClr val="dk1"/>
              </a:solidFill>
              <a:latin typeface="DM Sans"/>
              <a:ea typeface="DM Sans"/>
              <a:cs typeface="DM Sans"/>
              <a:sym typeface="DM Sans"/>
            </a:endParaRPr>
          </a:p>
        </p:txBody>
      </p:sp>
      <p:sp>
        <p:nvSpPr>
          <p:cNvPr id="397" name="Google Shape;397;p16"/>
          <p:cNvSpPr/>
          <p:nvPr/>
        </p:nvSpPr>
        <p:spPr>
          <a:xfrm>
            <a:off x="6362700" y="2918464"/>
            <a:ext cx="2269554" cy="76835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cas d’usage à décision humaine obligatoire (dont UC01)</a:t>
            </a:r>
            <a:endParaRPr sz="1500">
              <a:solidFill>
                <a:schemeClr val="dk1"/>
              </a:solidFill>
              <a:latin typeface="DM Sans"/>
              <a:ea typeface="DM Sans"/>
              <a:cs typeface="DM Sans"/>
              <a:sym typeface="DM Sans"/>
            </a:endParaRPr>
          </a:p>
        </p:txBody>
      </p:sp>
      <p:sp>
        <p:nvSpPr>
          <p:cNvPr id="398" name="Google Shape;398;p16"/>
          <p:cNvSpPr/>
          <p:nvPr/>
        </p:nvSpPr>
        <p:spPr>
          <a:xfrm>
            <a:off x="8909050" y="1778000"/>
            <a:ext cx="2584450" cy="208661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399" name="Google Shape;399;p16"/>
          <p:cNvSpPr/>
          <p:nvPr/>
        </p:nvSpPr>
        <p:spPr>
          <a:xfrm>
            <a:off x="8909050" y="1778000"/>
            <a:ext cx="2584450" cy="2086610"/>
          </a:xfrm>
          <a:custGeom>
            <a:avLst/>
            <a:gdLst/>
            <a:ahLst/>
            <a:cxnLst/>
            <a:rect l="l" t="t" r="r" b="b"/>
            <a:pathLst>
              <a:path w="2584450" h="208661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00" name="Google Shape;400;p16"/>
          <p:cNvSpPr/>
          <p:nvPr/>
        </p:nvSpPr>
        <p:spPr>
          <a:xfrm>
            <a:off x="9099550" y="2042164"/>
            <a:ext cx="2269554" cy="8255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04999"/>
              </a:lnSpc>
              <a:spcBef>
                <a:spcPts val="0"/>
              </a:spcBef>
              <a:spcAft>
                <a:spcPts val="0"/>
              </a:spcAft>
              <a:buClr>
                <a:srgbClr val="7ACFC0"/>
              </a:buClr>
              <a:buSzPts val="6000"/>
              <a:buFont typeface="Sora"/>
              <a:buNone/>
            </a:pPr>
            <a:r>
              <a:rPr lang="en-US" sz="6000" b="1">
                <a:solidFill>
                  <a:srgbClr val="7ACFC0"/>
                </a:solidFill>
                <a:latin typeface="Sora"/>
                <a:ea typeface="Sora"/>
                <a:cs typeface="Sora"/>
                <a:sym typeface="Sora"/>
              </a:rPr>
              <a:t>1</a:t>
            </a:r>
            <a:endParaRPr sz="6000">
              <a:solidFill>
                <a:schemeClr val="dk1"/>
              </a:solidFill>
              <a:latin typeface="DM Sans"/>
              <a:ea typeface="DM Sans"/>
              <a:cs typeface="DM Sans"/>
              <a:sym typeface="DM Sans"/>
            </a:endParaRPr>
          </a:p>
        </p:txBody>
      </p:sp>
      <p:sp>
        <p:nvSpPr>
          <p:cNvPr id="401" name="Google Shape;401;p16"/>
          <p:cNvSpPr/>
          <p:nvPr/>
        </p:nvSpPr>
        <p:spPr>
          <a:xfrm>
            <a:off x="9099550" y="2918464"/>
            <a:ext cx="2269554" cy="52070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cas mixte (UC22, consultation)</a:t>
            </a:r>
            <a:endParaRPr sz="1500">
              <a:solidFill>
                <a:schemeClr val="dk1"/>
              </a:solidFill>
              <a:latin typeface="DM Sans"/>
              <a:ea typeface="DM Sans"/>
              <a:cs typeface="DM Sans"/>
              <a:sym typeface="DM Sans"/>
            </a:endParaRPr>
          </a:p>
        </p:txBody>
      </p:sp>
      <p:cxnSp>
        <p:nvCxnSpPr>
          <p:cNvPr id="402" name="Google Shape;402;p16"/>
          <p:cNvCxnSpPr/>
          <p:nvPr/>
        </p:nvCxnSpPr>
        <p:spPr>
          <a:xfrm>
            <a:off x="723900" y="4067814"/>
            <a:ext cx="0" cy="706120"/>
          </a:xfrm>
          <a:prstGeom prst="straightConnector1">
            <a:avLst/>
          </a:prstGeom>
          <a:noFill/>
          <a:ln w="50800" cap="flat" cmpd="sng">
            <a:solidFill>
              <a:srgbClr val="B39DDB"/>
            </a:solidFill>
            <a:prstDash val="solid"/>
            <a:round/>
            <a:headEnd type="none" w="sm" len="sm"/>
            <a:tailEnd type="none" w="sm" len="sm"/>
          </a:ln>
        </p:spPr>
      </p:cxnSp>
      <p:sp>
        <p:nvSpPr>
          <p:cNvPr id="403" name="Google Shape;403;p16"/>
          <p:cNvSpPr/>
          <p:nvPr/>
        </p:nvSpPr>
        <p:spPr>
          <a:xfrm>
            <a:off x="952500" y="4118614"/>
            <a:ext cx="10857230" cy="629920"/>
          </a:xfrm>
          <a:prstGeom prst="rect">
            <a:avLst/>
          </a:prstGeom>
          <a:noFill/>
          <a:ln>
            <a:noFill/>
          </a:ln>
        </p:spPr>
        <p:txBody>
          <a:bodyPr spcFirstLastPara="1" wrap="square" lIns="0" tIns="0" rIns="0" bIns="0" anchor="t" anchorCtr="0">
            <a:normAutofit fontScale="92500" lnSpcReduction="20000"/>
          </a:bodyPr>
          <a:lstStyle/>
          <a:p>
            <a:pPr marL="0" marR="0" lvl="0" indent="0" algn="l" rtl="0">
              <a:lnSpc>
                <a:spcPct val="140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Ce qui reste manuel engage une responsabilité (budget, cible, clôture d’incident) ; ce n’est pas un manque d’outillage.</a:t>
            </a:r>
            <a:endParaRPr sz="1700">
              <a:solidFill>
                <a:schemeClr val="dk1"/>
              </a:solidFill>
              <a:latin typeface="DM Sans"/>
              <a:ea typeface="DM Sans"/>
              <a:cs typeface="DM Sans"/>
              <a:sym typeface="DM Sans"/>
            </a:endParaRPr>
          </a:p>
        </p:txBody>
      </p:sp>
      <p:sp>
        <p:nvSpPr>
          <p:cNvPr id="404" name="Google Shape;404;p16"/>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14</a:t>
            </a:r>
            <a:endParaRPr sz="1200">
              <a:solidFill>
                <a:schemeClr val="dk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450"/>
        <p:cNvGrpSpPr/>
        <p:nvPr/>
      </p:nvGrpSpPr>
      <p:grpSpPr>
        <a:xfrm>
          <a:off x="0" y="0"/>
          <a:ext cx="0" cy="0"/>
          <a:chOff x="0" y="0"/>
          <a:chExt cx="0" cy="0"/>
        </a:xfrm>
      </p:grpSpPr>
      <p:sp>
        <p:nvSpPr>
          <p:cNvPr id="451" name="Google Shape;451;p19"/>
          <p:cNvSpPr/>
          <p:nvPr/>
        </p:nvSpPr>
        <p:spPr>
          <a:xfrm>
            <a:off x="0" y="0"/>
            <a:ext cx="152400" cy="68580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2" name="Google Shape;452;p1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3" name="Google Shape;453;p1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4" name="Google Shape;454;p1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5" name="Google Shape;455;p1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56" name="Google Shape;456;p19"/>
          <p:cNvSpPr/>
          <p:nvPr/>
        </p:nvSpPr>
        <p:spPr>
          <a:xfrm>
            <a:off x="698500" y="533400"/>
            <a:ext cx="934720" cy="28448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57" name="Google Shape;457;p19"/>
          <p:cNvSpPr txBox="1">
            <a:spLocks noGrp="1"/>
          </p:cNvSpPr>
          <p:nvPr>
            <p:ph type="title"/>
          </p:nvPr>
        </p:nvSpPr>
        <p:spPr>
          <a:xfrm>
            <a:off x="698500" y="919485"/>
            <a:ext cx="11118850" cy="66548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rgbClr val="1B2A4A"/>
              </a:buClr>
              <a:buSzPts val="2100"/>
              <a:buFont typeface="Sora"/>
              <a:buNone/>
            </a:pPr>
            <a:r>
              <a:rPr lang="en-US" b="1" dirty="0"/>
              <a:t>L</a:t>
            </a:r>
            <a:r>
              <a:rPr lang="en-US" sz="2100" b="1" i="0" dirty="0">
                <a:solidFill>
                  <a:srgbClr val="1B2A4A"/>
                </a:solidFill>
                <a:latin typeface="Sora"/>
                <a:ea typeface="Sora"/>
                <a:cs typeface="Sora"/>
                <a:sym typeface="Sora"/>
              </a:rPr>
              <a:t>es </a:t>
            </a:r>
            <a:r>
              <a:rPr lang="en-US" sz="2100" b="1" i="0" dirty="0" err="1">
                <a:solidFill>
                  <a:srgbClr val="1B2A4A"/>
                </a:solidFill>
                <a:latin typeface="Sora"/>
                <a:ea typeface="Sora"/>
                <a:cs typeface="Sora"/>
                <a:sym typeface="Sora"/>
              </a:rPr>
              <a:t>calculs</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sont</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automatiques</a:t>
            </a:r>
            <a:r>
              <a:rPr lang="en-US" sz="2100" b="1" i="0" dirty="0">
                <a:solidFill>
                  <a:srgbClr val="1B2A4A"/>
                </a:solidFill>
                <a:latin typeface="Sora"/>
                <a:ea typeface="Sora"/>
                <a:cs typeface="Sora"/>
                <a:sym typeface="Sora"/>
              </a:rPr>
              <a:t> et les choix de gestion </a:t>
            </a:r>
            <a:r>
              <a:rPr lang="en-US" sz="2100" b="1" i="0" dirty="0" err="1">
                <a:solidFill>
                  <a:srgbClr val="1B2A4A"/>
                </a:solidFill>
                <a:latin typeface="Sora"/>
                <a:ea typeface="Sora"/>
                <a:cs typeface="Sora"/>
                <a:sym typeface="Sora"/>
              </a:rPr>
              <a:t>restent</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manuels</a:t>
            </a:r>
            <a:endParaRPr sz="2100" dirty="0"/>
          </a:p>
        </p:txBody>
      </p:sp>
      <p:graphicFrame>
        <p:nvGraphicFramePr>
          <p:cNvPr id="458" name="Google Shape;458;p19"/>
          <p:cNvGraphicFramePr/>
          <p:nvPr>
            <p:extLst>
              <p:ext uri="{D42A27DB-BD31-4B8C-83A1-F6EECF244321}">
                <p14:modId xmlns:p14="http://schemas.microsoft.com/office/powerpoint/2010/main" val="1329752192"/>
              </p:ext>
            </p:extLst>
          </p:nvPr>
        </p:nvGraphicFramePr>
        <p:xfrm>
          <a:off x="708660" y="1788160"/>
          <a:ext cx="4103075" cy="4064577"/>
        </p:xfrm>
        <a:graphic>
          <a:graphicData uri="http://schemas.openxmlformats.org/drawingml/2006/table">
            <a:tbl>
              <a:tblPr>
                <a:noFill/>
                <a:tableStyleId>{2709B6FF-CDFB-4AB1-8E42-484B63002EFC}</a:tableStyleId>
              </a:tblPr>
              <a:tblGrid>
                <a:gridCol w="4103075">
                  <a:extLst>
                    <a:ext uri="{9D8B030D-6E8A-4147-A177-3AD203B41FA5}">
                      <a16:colId xmlns:a16="http://schemas.microsoft.com/office/drawing/2014/main" val="20001"/>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dirty="0" err="1">
                          <a:solidFill>
                            <a:srgbClr val="FFFFFF"/>
                          </a:solidFill>
                          <a:latin typeface="DM Sans"/>
                          <a:ea typeface="DM Sans"/>
                          <a:cs typeface="DM Sans"/>
                          <a:sym typeface="DM Sans"/>
                        </a:rPr>
                        <a:t>Tâche</a:t>
                      </a:r>
                      <a:endParaRPr sz="1300" u="none" strike="noStrike" cap="none" dirty="0">
                        <a:latin typeface="DM Sans"/>
                        <a:ea typeface="DM Sans"/>
                        <a:cs typeface="DM Sans"/>
                        <a:sym typeface="DM Sans"/>
                      </a:endParaRPr>
                    </a:p>
                  </a:txBody>
                  <a:tcPr marL="88900" marR="88900" marT="57150" marB="57150">
                    <a:lnL w="12700" cap="flat" cmpd="sng">
                      <a:solidFill>
                        <a:srgbClr val="19253E"/>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lgn="ctr">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S’identifier</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19253E"/>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Administrer utilisateurs et référentiels</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Importer l’historique</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Saisir la demande client</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Contrôler la qualité des données</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Paramétrer les modèles</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Entraîner et évaluer les modèles</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Activer un modèle</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Générer les prévisions</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dirty="0" err="1">
                          <a:solidFill>
                            <a:srgbClr val="2B3350"/>
                          </a:solidFill>
                          <a:latin typeface="DM Sans"/>
                          <a:ea typeface="DM Sans"/>
                          <a:cs typeface="DM Sans"/>
                          <a:sym typeface="DM Sans"/>
                        </a:rPr>
                        <a:t>Élaborer</a:t>
                      </a:r>
                      <a:r>
                        <a:rPr lang="en-US" sz="1300" u="none" strike="noStrike" cap="none" dirty="0">
                          <a:solidFill>
                            <a:srgbClr val="2B3350"/>
                          </a:solidFill>
                          <a:latin typeface="DM Sans"/>
                          <a:ea typeface="DM Sans"/>
                          <a:cs typeface="DM Sans"/>
                          <a:sym typeface="DM Sans"/>
                        </a:rPr>
                        <a:t> / </a:t>
                      </a:r>
                      <a:r>
                        <a:rPr lang="en-US" sz="1300" u="none" strike="noStrike" cap="none" dirty="0" err="1">
                          <a:solidFill>
                            <a:srgbClr val="2B3350"/>
                          </a:solidFill>
                          <a:latin typeface="DM Sans"/>
                          <a:ea typeface="DM Sans"/>
                          <a:cs typeface="DM Sans"/>
                          <a:sym typeface="DM Sans"/>
                        </a:rPr>
                        <a:t>simuler</a:t>
                      </a:r>
                      <a:r>
                        <a:rPr lang="en-US" sz="1300" u="none" strike="noStrike" cap="none" dirty="0">
                          <a:solidFill>
                            <a:srgbClr val="2B3350"/>
                          </a:solidFill>
                          <a:latin typeface="DM Sans"/>
                          <a:ea typeface="DM Sans"/>
                          <a:cs typeface="DM Sans"/>
                          <a:sym typeface="DM Sans"/>
                        </a:rPr>
                        <a:t> le plan</a:t>
                      </a:r>
                      <a:endParaRPr sz="1300" u="none" strike="noStrike" cap="none" dirty="0">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10"/>
                  </a:ext>
                </a:extLst>
              </a:tr>
            </a:tbl>
          </a:graphicData>
        </a:graphic>
      </p:graphicFrame>
      <p:graphicFrame>
        <p:nvGraphicFramePr>
          <p:cNvPr id="459" name="Google Shape;459;p19"/>
          <p:cNvGraphicFramePr/>
          <p:nvPr>
            <p:extLst>
              <p:ext uri="{D42A27DB-BD31-4B8C-83A1-F6EECF244321}">
                <p14:modId xmlns:p14="http://schemas.microsoft.com/office/powerpoint/2010/main" val="3581140779"/>
              </p:ext>
            </p:extLst>
          </p:nvPr>
        </p:nvGraphicFramePr>
        <p:xfrm>
          <a:off x="5367995" y="1788160"/>
          <a:ext cx="1069350" cy="4064577"/>
        </p:xfrm>
        <a:graphic>
          <a:graphicData uri="http://schemas.openxmlformats.org/drawingml/2006/table">
            <a:tbl>
              <a:tblPr>
                <a:noFill/>
                <a:tableStyleId>{2709B6FF-CDFB-4AB1-8E42-484B63002EFC}</a:tableStyleId>
              </a:tblPr>
              <a:tblGrid>
                <a:gridCol w="1069350">
                  <a:extLst>
                    <a:ext uri="{9D8B030D-6E8A-4147-A177-3AD203B41FA5}">
                      <a16:colId xmlns:a16="http://schemas.microsoft.com/office/drawing/2014/main" val="20000"/>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a:solidFill>
                            <a:srgbClr val="FFFFFF"/>
                          </a:solidFill>
                          <a:latin typeface="DM Sans"/>
                          <a:ea typeface="DM Sans"/>
                          <a:cs typeface="DM Sans"/>
                          <a:sym typeface="DM Sans"/>
                        </a:rPr>
                        <a:t>Statut</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9"/>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dirty="0">
                          <a:solidFill>
                            <a:srgbClr val="1B2A4A"/>
                          </a:solidFill>
                          <a:latin typeface="DM Sans"/>
                          <a:ea typeface="DM Sans"/>
                          <a:cs typeface="DM Sans"/>
                          <a:sym typeface="DM Sans"/>
                        </a:rPr>
                        <a:t>Manuel</a:t>
                      </a:r>
                      <a:endParaRPr sz="1300" u="none" strike="noStrike" cap="none" dirty="0">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10"/>
                  </a:ext>
                </a:extLst>
              </a:tr>
            </a:tbl>
          </a:graphicData>
        </a:graphic>
      </p:graphicFrame>
      <p:graphicFrame>
        <p:nvGraphicFramePr>
          <p:cNvPr id="460" name="Google Shape;460;p19"/>
          <p:cNvGraphicFramePr/>
          <p:nvPr/>
        </p:nvGraphicFramePr>
        <p:xfrm>
          <a:off x="7058660" y="1788160"/>
          <a:ext cx="4434850" cy="4064577"/>
        </p:xfrm>
        <a:graphic>
          <a:graphicData uri="http://schemas.openxmlformats.org/drawingml/2006/table">
            <a:tbl>
              <a:tblPr>
                <a:noFill/>
                <a:tableStyleId>{2709B6FF-CDFB-4AB1-8E42-484B63002EFC}</a:tableStyleId>
              </a:tblPr>
              <a:tblGrid>
                <a:gridCol w="4434850">
                  <a:extLst>
                    <a:ext uri="{9D8B030D-6E8A-4147-A177-3AD203B41FA5}">
                      <a16:colId xmlns:a16="http://schemas.microsoft.com/office/drawing/2014/main" val="20000"/>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a:solidFill>
                            <a:srgbClr val="FFFFFF"/>
                          </a:solidFill>
                          <a:latin typeface="DM Sans"/>
                          <a:ea typeface="DM Sans"/>
                          <a:cs typeface="DM Sans"/>
                          <a:sym typeface="DM Sans"/>
                        </a:rPr>
                        <a:t>Justification</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Chaque utilisateur s’identifie lui-même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Décision organisationnelle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Lecture et contrôle de format sans jugement</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Donnée détenue par le client</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Règles de validation fixes</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Choix de gestion (seuils, cadence)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 périodique sur paramètres fixés</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Jamais automatique, même après un bon score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 RL + RN sur données déjà actées</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Arbitrage entre prévision et capacité réelle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10"/>
                  </a:ext>
                </a:extLst>
              </a:tr>
            </a:tbl>
          </a:graphicData>
        </a:graphic>
      </p:graphicFrame>
      <p:sp>
        <p:nvSpPr>
          <p:cNvPr id="461" name="Google Shape;461;p19"/>
          <p:cNvSpPr/>
          <p:nvPr/>
        </p:nvSpPr>
        <p:spPr>
          <a:xfrm>
            <a:off x="698500" y="6344927"/>
            <a:ext cx="9156700" cy="208280"/>
          </a:xfrm>
          <a:prstGeom prst="rect">
            <a:avLst/>
          </a:prstGeom>
          <a:noFill/>
          <a:ln>
            <a:noFill/>
          </a:ln>
        </p:spPr>
        <p:txBody>
          <a:bodyPr spcFirstLastPara="1" wrap="square" lIns="0" tIns="0" rIns="0" bIns="0" anchor="t" anchorCtr="0">
            <a:normAutofit lnSpcReduction="10000"/>
          </a:bodyPr>
          <a:lstStyle/>
          <a:p>
            <a:pPr marL="0" marR="0" lvl="0" indent="0" algn="l" rtl="0">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462" name="Google Shape;462;p19"/>
          <p:cNvSpPr/>
          <p:nvPr/>
        </p:nvSpPr>
        <p:spPr>
          <a:xfrm>
            <a:off x="10680700" y="6344927"/>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15</a:t>
            </a:r>
            <a:endParaRPr sz="1200">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467"/>
        <p:cNvGrpSpPr/>
        <p:nvPr/>
      </p:nvGrpSpPr>
      <p:grpSpPr>
        <a:xfrm>
          <a:off x="0" y="0"/>
          <a:ext cx="0" cy="0"/>
          <a:chOff x="0" y="0"/>
          <a:chExt cx="0" cy="0"/>
        </a:xfrm>
      </p:grpSpPr>
      <p:sp>
        <p:nvSpPr>
          <p:cNvPr id="468" name="Google Shape;468;p20"/>
          <p:cNvSpPr/>
          <p:nvPr/>
        </p:nvSpPr>
        <p:spPr>
          <a:xfrm>
            <a:off x="0" y="0"/>
            <a:ext cx="152400" cy="68580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69" name="Google Shape;469;p20"/>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70" name="Google Shape;470;p20"/>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71" name="Google Shape;471;p20"/>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72" name="Google Shape;472;p20"/>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73" name="Google Shape;473;p20"/>
          <p:cNvSpPr/>
          <p:nvPr/>
        </p:nvSpPr>
        <p:spPr>
          <a:xfrm>
            <a:off x="698500" y="533400"/>
            <a:ext cx="934720" cy="28448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74" name="Google Shape;474;p20"/>
          <p:cNvSpPr txBox="1">
            <a:spLocks noGrp="1"/>
          </p:cNvSpPr>
          <p:nvPr>
            <p:ph type="title"/>
          </p:nvPr>
        </p:nvSpPr>
        <p:spPr>
          <a:xfrm>
            <a:off x="708660" y="888463"/>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b="1" dirty="0"/>
              <a:t>L</a:t>
            </a:r>
            <a:r>
              <a:rPr lang="en-US" sz="2100" b="1" i="0" dirty="0">
                <a:solidFill>
                  <a:srgbClr val="1B2A4A"/>
                </a:solidFill>
                <a:latin typeface="Sora"/>
                <a:ea typeface="Sora"/>
                <a:cs typeface="Sora"/>
                <a:sym typeface="Sora"/>
              </a:rPr>
              <a:t>es </a:t>
            </a:r>
            <a:r>
              <a:rPr lang="en-US" sz="2100" b="1" i="0" dirty="0" err="1">
                <a:solidFill>
                  <a:srgbClr val="1B2A4A"/>
                </a:solidFill>
                <a:latin typeface="Sora"/>
                <a:ea typeface="Sora"/>
                <a:cs typeface="Sora"/>
                <a:sym typeface="Sora"/>
              </a:rPr>
              <a:t>indicateurs</a:t>
            </a:r>
            <a:r>
              <a:rPr lang="en-US" sz="2100" b="1" i="0" dirty="0">
                <a:solidFill>
                  <a:srgbClr val="1B2A4A"/>
                </a:solidFill>
                <a:latin typeface="Sora"/>
                <a:ea typeface="Sora"/>
                <a:cs typeface="Sora"/>
                <a:sym typeface="Sora"/>
              </a:rPr>
              <a:t> et les </a:t>
            </a:r>
            <a:r>
              <a:rPr lang="en-US" sz="2100" b="1" i="0" dirty="0" err="1">
                <a:solidFill>
                  <a:srgbClr val="1B2A4A"/>
                </a:solidFill>
                <a:latin typeface="Sora"/>
                <a:ea typeface="Sora"/>
                <a:cs typeface="Sora"/>
                <a:sym typeface="Sora"/>
              </a:rPr>
              <a:t>alertes</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sont</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calculés</a:t>
            </a:r>
            <a:r>
              <a:rPr lang="en-US" sz="2100" b="1" i="0" dirty="0">
                <a:solidFill>
                  <a:srgbClr val="1B2A4A"/>
                </a:solidFill>
                <a:latin typeface="Sora"/>
                <a:ea typeface="Sora"/>
                <a:cs typeface="Sora"/>
                <a:sym typeface="Sora"/>
              </a:rPr>
              <a:t> ; la validation et la </a:t>
            </a:r>
            <a:r>
              <a:rPr lang="en-US" sz="2100" b="1" i="0" dirty="0" err="1">
                <a:solidFill>
                  <a:srgbClr val="1B2A4A"/>
                </a:solidFill>
                <a:latin typeface="Sora"/>
                <a:ea typeface="Sora"/>
                <a:cs typeface="Sora"/>
                <a:sym typeface="Sora"/>
              </a:rPr>
              <a:t>clôture</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restent</a:t>
            </a:r>
            <a:r>
              <a:rPr lang="en-US" sz="2100" b="1" i="0" dirty="0">
                <a:solidFill>
                  <a:srgbClr val="1B2A4A"/>
                </a:solidFill>
                <a:latin typeface="Sora"/>
                <a:ea typeface="Sora"/>
                <a:cs typeface="Sora"/>
                <a:sym typeface="Sora"/>
              </a:rPr>
              <a:t> </a:t>
            </a:r>
            <a:r>
              <a:rPr lang="en-US" sz="2100" b="1" i="0" dirty="0" err="1">
                <a:solidFill>
                  <a:srgbClr val="1B2A4A"/>
                </a:solidFill>
                <a:latin typeface="Sora"/>
                <a:ea typeface="Sora"/>
                <a:cs typeface="Sora"/>
                <a:sym typeface="Sora"/>
              </a:rPr>
              <a:t>manuelles</a:t>
            </a:r>
            <a:endParaRPr sz="2100" dirty="0"/>
          </a:p>
        </p:txBody>
      </p:sp>
      <p:graphicFrame>
        <p:nvGraphicFramePr>
          <p:cNvPr id="475" name="Google Shape;475;p20"/>
          <p:cNvGraphicFramePr/>
          <p:nvPr>
            <p:extLst>
              <p:ext uri="{D42A27DB-BD31-4B8C-83A1-F6EECF244321}">
                <p14:modId xmlns:p14="http://schemas.microsoft.com/office/powerpoint/2010/main" val="298961478"/>
              </p:ext>
            </p:extLst>
          </p:nvPr>
        </p:nvGraphicFramePr>
        <p:xfrm>
          <a:off x="708660" y="1788160"/>
          <a:ext cx="4103075" cy="3695070"/>
        </p:xfrm>
        <a:graphic>
          <a:graphicData uri="http://schemas.openxmlformats.org/drawingml/2006/table">
            <a:tbl>
              <a:tblPr>
                <a:noFill/>
                <a:tableStyleId>{2709B6FF-CDFB-4AB1-8E42-484B63002EFC}</a:tableStyleId>
              </a:tblPr>
              <a:tblGrid>
                <a:gridCol w="4103075">
                  <a:extLst>
                    <a:ext uri="{9D8B030D-6E8A-4147-A177-3AD203B41FA5}">
                      <a16:colId xmlns:a16="http://schemas.microsoft.com/office/drawing/2014/main" val="20001"/>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dirty="0" err="1">
                          <a:solidFill>
                            <a:srgbClr val="FFFFFF"/>
                          </a:solidFill>
                          <a:latin typeface="DM Sans"/>
                          <a:ea typeface="DM Sans"/>
                          <a:cs typeface="DM Sans"/>
                          <a:sym typeface="DM Sans"/>
                        </a:rPr>
                        <a:t>Tâche</a:t>
                      </a:r>
                      <a:endParaRPr sz="1300" u="none" strike="noStrike" cap="none" dirty="0">
                        <a:latin typeface="DM Sans"/>
                        <a:ea typeface="DM Sans"/>
                        <a:cs typeface="DM Sans"/>
                        <a:sym typeface="DM Sans"/>
                      </a:endParaRPr>
                    </a:p>
                  </a:txBody>
                  <a:tcPr marL="88900" marR="88900" marT="57150" marB="57150">
                    <a:lnL w="12700" cap="flat" cmpd="sng">
                      <a:solidFill>
                        <a:srgbClr val="19253E"/>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lgn="ctr">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Valider / rejeter le plan</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19253E"/>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Définir les cibles KPI</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Calculer / comparer les KPI</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Émettre les alertes</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Traiter les alertes</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Comparer réel/prévu, détecter la dérive</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Consulter le tableau de bord</a:t>
                      </a:r>
                      <a:endParaRPr sz="1300" u="none" strike="noStrike" cap="none">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lgn="ctr">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Générer un rapport</a:t>
                      </a:r>
                      <a:endParaRPr sz="1300" u="none" strike="noStrike" cap="none">
                        <a:latin typeface="DM Sans"/>
                        <a:ea typeface="DM Sans"/>
                        <a:cs typeface="DM Sans"/>
                        <a:sym typeface="DM Sans"/>
                      </a:endParaRPr>
                    </a:p>
                  </a:txBody>
                  <a:tcPr marL="88900" marR="88900" marT="57150" marB="57150">
                    <a:lnL w="12700" cap="flat" cmpd="sng">
                      <a:solidFill>
                        <a:srgbClr val="BEC0C6"/>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lgn="ctr">
                      <a:solidFill>
                        <a:srgbClr val="CBCBCB"/>
                      </a:solidFill>
                      <a:prstDash val="solid"/>
                      <a:round/>
                      <a:headEnd type="none" w="sm" len="sm"/>
                      <a:tailEnd type="none" w="sm" len="sm"/>
                    </a:lnT>
                    <a:lnB w="12700" cap="flat" cmpd="sng" algn="ctr">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dirty="0">
                          <a:solidFill>
                            <a:srgbClr val="2B3350"/>
                          </a:solidFill>
                          <a:latin typeface="DM Sans"/>
                          <a:ea typeface="DM Sans"/>
                          <a:cs typeface="DM Sans"/>
                          <a:sym typeface="DM Sans"/>
                        </a:rPr>
                        <a:t>Exporter un rapport</a:t>
                      </a:r>
                      <a:endParaRPr sz="1300" u="none" strike="noStrike" cap="none" dirty="0">
                        <a:latin typeface="DM Sans"/>
                        <a:ea typeface="DM Sans"/>
                        <a:cs typeface="DM Sans"/>
                        <a:sym typeface="DM Sans"/>
                      </a:endParaRPr>
                    </a:p>
                  </a:txBody>
                  <a:tcPr marL="88900" marR="88900" marT="57150" marB="57150">
                    <a:lnL w="12700" cap="flat" cmpd="sng">
                      <a:solidFill>
                        <a:srgbClr val="CBCBCB"/>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lgn="ctr">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graphicFrame>
        <p:nvGraphicFramePr>
          <p:cNvPr id="476" name="Google Shape;476;p20"/>
          <p:cNvGraphicFramePr/>
          <p:nvPr>
            <p:extLst>
              <p:ext uri="{D42A27DB-BD31-4B8C-83A1-F6EECF244321}">
                <p14:modId xmlns:p14="http://schemas.microsoft.com/office/powerpoint/2010/main" val="1282071146"/>
              </p:ext>
            </p:extLst>
          </p:nvPr>
        </p:nvGraphicFramePr>
        <p:xfrm>
          <a:off x="5400522" y="1796681"/>
          <a:ext cx="1069350" cy="3695070"/>
        </p:xfrm>
        <a:graphic>
          <a:graphicData uri="http://schemas.openxmlformats.org/drawingml/2006/table">
            <a:tbl>
              <a:tblPr>
                <a:noFill/>
                <a:tableStyleId>{2709B6FF-CDFB-4AB1-8E42-484B63002EFC}</a:tableStyleId>
              </a:tblPr>
              <a:tblGrid>
                <a:gridCol w="1069350">
                  <a:extLst>
                    <a:ext uri="{9D8B030D-6E8A-4147-A177-3AD203B41FA5}">
                      <a16:colId xmlns:a16="http://schemas.microsoft.com/office/drawing/2014/main" val="20000"/>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dirty="0" err="1">
                          <a:solidFill>
                            <a:srgbClr val="FFFFFF"/>
                          </a:solidFill>
                          <a:latin typeface="DM Sans"/>
                          <a:ea typeface="DM Sans"/>
                          <a:cs typeface="DM Sans"/>
                          <a:sym typeface="DM Sans"/>
                        </a:rPr>
                        <a:t>Statut</a:t>
                      </a:r>
                      <a:endParaRPr sz="1300" u="none" strike="noStrike" cap="none" dirty="0">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dirty="0">
                          <a:solidFill>
                            <a:srgbClr val="1B2A4A"/>
                          </a:solidFill>
                          <a:latin typeface="DM Sans"/>
                          <a:ea typeface="DM Sans"/>
                          <a:cs typeface="DM Sans"/>
                          <a:sym typeface="DM Sans"/>
                        </a:rPr>
                        <a:t>Manuel</a:t>
                      </a:r>
                      <a:endParaRPr sz="1300" u="none" strike="noStrike" cap="none" dirty="0">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lgn="ctr">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Manuel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907FAF"/>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a:solidFill>
                            <a:srgbClr val="1B2A4A"/>
                          </a:solidFill>
                          <a:latin typeface="DM Sans"/>
                          <a:ea typeface="DM Sans"/>
                          <a:cs typeface="DM Sans"/>
                          <a:sym typeface="DM Sans"/>
                        </a:rPr>
                        <a:t>Mixte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64A69A"/>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64A69A"/>
                      </a:solidFill>
                      <a:prstDash val="solid"/>
                      <a:round/>
                      <a:headEnd type="none" w="sm" len="sm"/>
                      <a:tailEnd type="none" w="sm" len="sm"/>
                    </a:lnB>
                    <a:solidFill>
                      <a:srgbClr val="7ACFC0"/>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u="none" strike="noStrike" cap="none">
                          <a:solidFill>
                            <a:srgbClr val="FFFFFF"/>
                          </a:solidFill>
                          <a:latin typeface="DM Sans"/>
                          <a:ea typeface="DM Sans"/>
                          <a:cs typeface="DM Sans"/>
                          <a:sym typeface="DM Sans"/>
                        </a:rPr>
                        <a:t>Auto</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64A69A"/>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1B2A4A"/>
                        </a:buClr>
                        <a:buSzPts val="1300"/>
                        <a:buFont typeface="DM Sans"/>
                        <a:buNone/>
                      </a:pPr>
                      <a:r>
                        <a:rPr lang="en-US" sz="1300" u="none" strike="noStrike" cap="none" dirty="0">
                          <a:solidFill>
                            <a:srgbClr val="1B2A4A"/>
                          </a:solidFill>
                          <a:latin typeface="DM Sans"/>
                          <a:ea typeface="DM Sans"/>
                          <a:cs typeface="DM Sans"/>
                          <a:sym typeface="DM Sans"/>
                        </a:rPr>
                        <a:t>Manuel</a:t>
                      </a:r>
                      <a:endParaRPr sz="1300" u="none" strike="noStrike" cap="none" dirty="0">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907FAF"/>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907FAF"/>
                      </a:solidFill>
                      <a:prstDash val="solid"/>
                      <a:round/>
                      <a:headEnd type="none" w="sm" len="sm"/>
                      <a:tailEnd type="none" w="sm" len="sm"/>
                    </a:lnB>
                    <a:solidFill>
                      <a:srgbClr val="B39DDB"/>
                    </a:solidFill>
                  </a:tcPr>
                </a:tc>
                <a:extLst>
                  <a:ext uri="{0D108BD9-81ED-4DB2-BD59-A6C34878D82A}">
                    <a16:rowId xmlns:a16="http://schemas.microsoft.com/office/drawing/2014/main" val="10009"/>
                  </a:ext>
                </a:extLst>
              </a:tr>
            </a:tbl>
          </a:graphicData>
        </a:graphic>
      </p:graphicFrame>
      <p:graphicFrame>
        <p:nvGraphicFramePr>
          <p:cNvPr id="477" name="Google Shape;477;p20"/>
          <p:cNvGraphicFramePr/>
          <p:nvPr/>
        </p:nvGraphicFramePr>
        <p:xfrm>
          <a:off x="7058660" y="1788160"/>
          <a:ext cx="4434850" cy="3695070"/>
        </p:xfrm>
        <a:graphic>
          <a:graphicData uri="http://schemas.openxmlformats.org/drawingml/2006/table">
            <a:tbl>
              <a:tblPr>
                <a:noFill/>
                <a:tableStyleId>{2709B6FF-CDFB-4AB1-8E42-484B63002EFC}</a:tableStyleId>
              </a:tblPr>
              <a:tblGrid>
                <a:gridCol w="4434850">
                  <a:extLst>
                    <a:ext uri="{9D8B030D-6E8A-4147-A177-3AD203B41FA5}">
                      <a16:colId xmlns:a16="http://schemas.microsoft.com/office/drawing/2014/main" val="20000"/>
                    </a:ext>
                  </a:extLst>
                </a:gridCol>
              </a:tblGrid>
              <a:tr h="355600">
                <a:tc>
                  <a:txBody>
                    <a:bodyPr/>
                    <a:lstStyle/>
                    <a:p>
                      <a:pPr marL="0" marR="0" lvl="0" indent="0" algn="l" rtl="0">
                        <a:lnSpc>
                          <a:spcPct val="140000"/>
                        </a:lnSpc>
                        <a:spcBef>
                          <a:spcPts val="0"/>
                        </a:spcBef>
                        <a:spcAft>
                          <a:spcPts val="0"/>
                        </a:spcAft>
                        <a:buClr>
                          <a:srgbClr val="FFFFFF"/>
                        </a:buClr>
                        <a:buSzPts val="1300"/>
                        <a:buFont typeface="DM Sans"/>
                        <a:buNone/>
                      </a:pPr>
                      <a:r>
                        <a:rPr lang="en-US" sz="1300" b="1" u="none" strike="noStrike" cap="none">
                          <a:solidFill>
                            <a:srgbClr val="FFFFFF"/>
                          </a:solidFill>
                          <a:latin typeface="DM Sans"/>
                          <a:ea typeface="DM Sans"/>
                          <a:cs typeface="DM Sans"/>
                          <a:sym typeface="DM Sans"/>
                        </a:rPr>
                        <a:t>Justification</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19253E"/>
                      </a:solidFill>
                      <a:prstDash val="solid"/>
                      <a:round/>
                      <a:headEnd type="none" w="sm" len="sm"/>
                      <a:tailEnd type="none" w="sm" len="sm"/>
                    </a:lnR>
                    <a:lnT w="12700" cap="flat" cmpd="sng">
                      <a:solidFill>
                        <a:srgbClr val="C3C4C8"/>
                      </a:solidFill>
                      <a:prstDash val="solid"/>
                      <a:round/>
                      <a:headEnd type="none" w="sm" len="sm"/>
                      <a:tailEnd type="none" w="sm" len="sm"/>
                    </a:lnT>
                    <a:lnB w="12700" cap="flat" cmpd="sng">
                      <a:solidFill>
                        <a:srgbClr val="19253E"/>
                      </a:solidFill>
                      <a:prstDash val="solid"/>
                      <a:round/>
                      <a:headEnd type="none" w="sm" len="sm"/>
                      <a:tailEnd type="none" w="sm" len="sm"/>
                    </a:lnB>
                    <a:solidFill>
                      <a:srgbClr val="1B2A4A"/>
                    </a:solidFill>
                  </a:tcPr>
                </a:tc>
                <a:extLst>
                  <a:ext uri="{0D108BD9-81ED-4DB2-BD59-A6C34878D82A}">
                    <a16:rowId xmlns:a16="http://schemas.microsoft.com/office/drawing/2014/main" val="10000"/>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Engage la responsabilité du responsable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19253E"/>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Choix de politique de gestion</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2"/>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 sur cibles déjà fixées</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Détection par seuil</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4"/>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Clore un incident engage une responsabilité</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Calcul quotidien sans jugement</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6"/>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Vue automatique, consultation manuelle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Agrégation périodique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BEC0C6"/>
                      </a:solidFill>
                      <a:prstDash val="solid"/>
                      <a:round/>
                      <a:headEnd type="none" w="sm" len="sm"/>
                      <a:tailEnd type="none" w="sm" len="sm"/>
                    </a:lnR>
                    <a:lnT w="12700" cap="flat" cmpd="sng">
                      <a:solidFill>
                        <a:srgbClr val="CBCBCB"/>
                      </a:solidFill>
                      <a:prstDash val="solid"/>
                      <a:round/>
                      <a:headEnd type="none" w="sm" len="sm"/>
                      <a:tailEnd type="none" w="sm" len="sm"/>
                    </a:lnT>
                    <a:lnB w="12700" cap="flat" cmpd="sng">
                      <a:solidFill>
                        <a:srgbClr val="BEC0C6"/>
                      </a:solidFill>
                      <a:prstDash val="solid"/>
                      <a:round/>
                      <a:headEnd type="none" w="sm" len="sm"/>
                      <a:tailEnd type="none" w="sm" len="sm"/>
                    </a:lnB>
                    <a:solidFill>
                      <a:srgbClr val="EEF1F8"/>
                    </a:solidFill>
                  </a:tcPr>
                </a:tc>
                <a:extLst>
                  <a:ext uri="{0D108BD9-81ED-4DB2-BD59-A6C34878D82A}">
                    <a16:rowId xmlns:a16="http://schemas.microsoft.com/office/drawing/2014/main" val="10008"/>
                  </a:ext>
                </a:extLst>
              </a:tr>
              <a:tr h="355600">
                <a:tc>
                  <a:txBody>
                    <a:bodyPr/>
                    <a:lstStyle/>
                    <a:p>
                      <a:pPr marL="0" marR="0" lvl="0" indent="0" algn="l" rtl="0">
                        <a:lnSpc>
                          <a:spcPct val="140000"/>
                        </a:lnSpc>
                        <a:spcBef>
                          <a:spcPts val="0"/>
                        </a:spcBef>
                        <a:spcAft>
                          <a:spcPts val="0"/>
                        </a:spcAft>
                        <a:buClr>
                          <a:srgbClr val="2B3350"/>
                        </a:buClr>
                        <a:buSzPts val="1300"/>
                        <a:buFont typeface="DM Sans"/>
                        <a:buNone/>
                      </a:pPr>
                      <a:r>
                        <a:rPr lang="en-US" sz="1300" u="none" strike="noStrike" cap="none">
                          <a:solidFill>
                            <a:srgbClr val="2B3350"/>
                          </a:solidFill>
                          <a:latin typeface="DM Sans"/>
                          <a:ea typeface="DM Sans"/>
                          <a:cs typeface="DM Sans"/>
                          <a:sym typeface="DM Sans"/>
                        </a:rPr>
                        <a:t>Action ponctuelle à la demande</a:t>
                      </a:r>
                      <a:endParaRPr sz="1300" u="none" strike="noStrike" cap="none">
                        <a:latin typeface="DM Sans"/>
                        <a:ea typeface="DM Sans"/>
                        <a:cs typeface="DM Sans"/>
                        <a:sym typeface="DM Sans"/>
                      </a:endParaRPr>
                    </a:p>
                  </a:txBody>
                  <a:tcPr marL="88900" marR="88900" marT="57150" marB="57150">
                    <a:lnL w="12700" cap="flat" cmpd="sng">
                      <a:solidFill>
                        <a:srgbClr val="C3C4C8"/>
                      </a:solidFill>
                      <a:prstDash val="solid"/>
                      <a:round/>
                      <a:headEnd type="none" w="sm" len="sm"/>
                      <a:tailEnd type="none" w="sm" len="sm"/>
                    </a:lnL>
                    <a:lnR w="12700" cap="flat" cmpd="sng">
                      <a:solidFill>
                        <a:srgbClr val="CBCBCB"/>
                      </a:solidFill>
                      <a:prstDash val="solid"/>
                      <a:round/>
                      <a:headEnd type="none" w="sm" len="sm"/>
                      <a:tailEnd type="none" w="sm" len="sm"/>
                    </a:lnR>
                    <a:lnT w="12700" cap="flat" cmpd="sng">
                      <a:solidFill>
                        <a:srgbClr val="BEC0C6"/>
                      </a:solidFill>
                      <a:prstDash val="solid"/>
                      <a:round/>
                      <a:headEnd type="none" w="sm" len="sm"/>
                      <a:tailEnd type="none" w="sm" len="sm"/>
                    </a:lnT>
                    <a:lnB w="12700" cap="flat" cmpd="sng">
                      <a:solidFill>
                        <a:srgbClr val="CBCBCB"/>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
        <p:nvSpPr>
          <p:cNvPr id="478" name="Google Shape;478;p20"/>
          <p:cNvSpPr/>
          <p:nvPr/>
        </p:nvSpPr>
        <p:spPr>
          <a:xfrm>
            <a:off x="698500" y="6344927"/>
            <a:ext cx="9156700" cy="208280"/>
          </a:xfrm>
          <a:prstGeom prst="rect">
            <a:avLst/>
          </a:prstGeom>
          <a:noFill/>
          <a:ln>
            <a:noFill/>
          </a:ln>
        </p:spPr>
        <p:txBody>
          <a:bodyPr spcFirstLastPara="1" wrap="square" lIns="0" tIns="0" rIns="0" bIns="0" anchor="t" anchorCtr="0">
            <a:normAutofit lnSpcReduction="10000"/>
          </a:bodyPr>
          <a:lstStyle/>
          <a:p>
            <a:pPr marL="0" marR="0" lvl="0" indent="0" algn="l" rtl="0">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479" name="Google Shape;479;p20"/>
          <p:cNvSpPr/>
          <p:nvPr/>
        </p:nvSpPr>
        <p:spPr>
          <a:xfrm>
            <a:off x="10680700" y="6344927"/>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16</a:t>
            </a:r>
            <a:endParaRPr sz="1200">
              <a:solidFill>
                <a:schemeClr val="dk1"/>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484"/>
        <p:cNvGrpSpPr/>
        <p:nvPr/>
      </p:nvGrpSpPr>
      <p:grpSpPr>
        <a:xfrm>
          <a:off x="0" y="0"/>
          <a:ext cx="0" cy="0"/>
          <a:chOff x="0" y="0"/>
          <a:chExt cx="0" cy="0"/>
        </a:xfrm>
      </p:grpSpPr>
      <p:sp>
        <p:nvSpPr>
          <p:cNvPr id="485" name="Google Shape;485;p21"/>
          <p:cNvSpPr/>
          <p:nvPr/>
        </p:nvSpPr>
        <p:spPr>
          <a:xfrm>
            <a:off x="0" y="0"/>
            <a:ext cx="152400" cy="68580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6" name="Google Shape;486;p21"/>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7" name="Google Shape;487;p21"/>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8" name="Google Shape;488;p21"/>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9" name="Google Shape;489;p21"/>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90" name="Google Shape;490;p21"/>
          <p:cNvSpPr/>
          <p:nvPr/>
        </p:nvSpPr>
        <p:spPr>
          <a:xfrm>
            <a:off x="698500" y="533400"/>
            <a:ext cx="934720" cy="28448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91" name="Google Shape;491;p21"/>
          <p:cNvSpPr txBox="1">
            <a:spLocks noGrp="1"/>
          </p:cNvSpPr>
          <p:nvPr>
            <p:ph type="title"/>
          </p:nvPr>
        </p:nvSpPr>
        <p:spPr>
          <a:xfrm>
            <a:off x="698500" y="919485"/>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processus automatise les calculs et réserve les décisions engageantes à un responsable</a:t>
            </a:r>
            <a:endParaRPr sz="2100"/>
          </a:p>
        </p:txBody>
      </p:sp>
      <p:sp>
        <p:nvSpPr>
          <p:cNvPr id="493" name="Google Shape;493;p21"/>
          <p:cNvSpPr/>
          <p:nvPr/>
        </p:nvSpPr>
        <p:spPr>
          <a:xfrm>
            <a:off x="10680700" y="6344927"/>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17</a:t>
            </a:r>
            <a:endParaRPr sz="1200">
              <a:solidFill>
                <a:schemeClr val="dk1"/>
              </a:solidFill>
              <a:latin typeface="DM Sans"/>
              <a:ea typeface="DM Sans"/>
              <a:cs typeface="DM Sans"/>
              <a:sym typeface="DM Sans"/>
            </a:endParaRPr>
          </a:p>
        </p:txBody>
      </p:sp>
      <p:sp>
        <p:nvSpPr>
          <p:cNvPr id="494" name="Google Shape;494;p21"/>
          <p:cNvSpPr/>
          <p:nvPr/>
        </p:nvSpPr>
        <p:spPr>
          <a:xfrm>
            <a:off x="317716" y="1698632"/>
            <a:ext cx="11556567" cy="4377694"/>
          </a:xfrm>
          <a:prstGeom prst="rect">
            <a:avLst/>
          </a:prstGeom>
          <a:noFill/>
          <a:ln>
            <a:noFill/>
          </a:ln>
        </p:spPr>
        <p:txBody>
          <a:bodyPr/>
          <a:lstStyle/>
          <a:p>
            <a:endParaRPr/>
          </a:p>
        </p:txBody>
      </p:sp>
      <p:pic>
        <p:nvPicPr>
          <p:cNvPr id="2" name="Imag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716" y="1899546"/>
            <a:ext cx="11789403" cy="4719613"/>
          </a:xfrm>
          <a:prstGeom prst="rect">
            <a:avLst/>
          </a:prstGeom>
        </p:spPr>
      </p:pic>
    </p:spTree>
    <p:extLst>
      <p:ext uri="{BB962C8B-B14F-4D97-AF65-F5344CB8AC3E}">
        <p14:creationId xmlns:p14="http://schemas.microsoft.com/office/powerpoint/2010/main" val="4138651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Shape 484"/>
        <p:cNvGrpSpPr/>
        <p:nvPr/>
      </p:nvGrpSpPr>
      <p:grpSpPr>
        <a:xfrm>
          <a:off x="0" y="0"/>
          <a:ext cx="0" cy="0"/>
          <a:chOff x="0" y="0"/>
          <a:chExt cx="0" cy="0"/>
        </a:xfrm>
      </p:grpSpPr>
      <p:sp>
        <p:nvSpPr>
          <p:cNvPr id="485" name="Google Shape;485;p21"/>
          <p:cNvSpPr/>
          <p:nvPr/>
        </p:nvSpPr>
        <p:spPr>
          <a:xfrm>
            <a:off x="0" y="0"/>
            <a:ext cx="152400" cy="68580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6" name="Google Shape;486;p21"/>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7" name="Google Shape;487;p21"/>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8" name="Google Shape;488;p21"/>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89" name="Google Shape;489;p21"/>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490" name="Google Shape;490;p21"/>
          <p:cNvSpPr/>
          <p:nvPr/>
        </p:nvSpPr>
        <p:spPr>
          <a:xfrm>
            <a:off x="698500" y="533400"/>
            <a:ext cx="934720" cy="284480"/>
          </a:xfrm>
          <a:prstGeom prst="roundRect">
            <a:avLst>
              <a:gd name="adj" fmla="val 50000"/>
            </a:avLst>
          </a:prstGeom>
          <a:solidFill>
            <a:srgbClr val="7ACFC0"/>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91" name="Google Shape;491;p21"/>
          <p:cNvSpPr txBox="1">
            <a:spLocks noGrp="1"/>
          </p:cNvSpPr>
          <p:nvPr>
            <p:ph type="title"/>
          </p:nvPr>
        </p:nvSpPr>
        <p:spPr>
          <a:xfrm>
            <a:off x="698500" y="919485"/>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processus automatise les calculs et réserve les décisions engageantes à un responsable</a:t>
            </a:r>
            <a:endParaRPr sz="2100"/>
          </a:p>
        </p:txBody>
      </p:sp>
      <p:sp>
        <p:nvSpPr>
          <p:cNvPr id="493" name="Google Shape;493;p21"/>
          <p:cNvSpPr/>
          <p:nvPr/>
        </p:nvSpPr>
        <p:spPr>
          <a:xfrm>
            <a:off x="10680700" y="6344927"/>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18</a:t>
            </a:r>
            <a:endParaRPr sz="1200">
              <a:solidFill>
                <a:schemeClr val="dk1"/>
              </a:solidFill>
              <a:latin typeface="DM Sans"/>
              <a:ea typeface="DM Sans"/>
              <a:cs typeface="DM Sans"/>
              <a:sym typeface="DM Sans"/>
            </a:endParaRPr>
          </a:p>
        </p:txBody>
      </p:sp>
      <p:sp>
        <p:nvSpPr>
          <p:cNvPr id="494" name="Google Shape;494;p21"/>
          <p:cNvSpPr/>
          <p:nvPr/>
        </p:nvSpPr>
        <p:spPr>
          <a:xfrm>
            <a:off x="317716" y="1698632"/>
            <a:ext cx="11556567" cy="4377694"/>
          </a:xfrm>
          <a:prstGeom prst="rect">
            <a:avLst/>
          </a:prstGeom>
          <a:noFill/>
          <a:ln>
            <a:noFill/>
          </a:ln>
        </p:spPr>
        <p:txBody>
          <a:bodyPr/>
          <a:lstStyle/>
          <a:p>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922" y="1804740"/>
            <a:ext cx="11861480" cy="474846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Shape 553"/>
        <p:cNvGrpSpPr/>
        <p:nvPr/>
      </p:nvGrpSpPr>
      <p:grpSpPr>
        <a:xfrm>
          <a:off x="0" y="0"/>
          <a:ext cx="0" cy="0"/>
          <a:chOff x="0" y="0"/>
          <a:chExt cx="0" cy="0"/>
        </a:xfrm>
      </p:grpSpPr>
      <p:sp>
        <p:nvSpPr>
          <p:cNvPr id="554" name="Google Shape;554;p26"/>
          <p:cNvSpPr/>
          <p:nvPr/>
        </p:nvSpPr>
        <p:spPr>
          <a:xfrm>
            <a:off x="0" y="0"/>
            <a:ext cx="152400" cy="68580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5" name="Google Shape;555;p26"/>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6" name="Google Shape;556;p26"/>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7" name="Google Shape;557;p26"/>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8" name="Google Shape;558;p26"/>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59" name="Google Shape;559;p26"/>
          <p:cNvSpPr/>
          <p:nvPr/>
        </p:nvSpPr>
        <p:spPr>
          <a:xfrm>
            <a:off x="698500" y="533400"/>
            <a:ext cx="944880" cy="284480"/>
          </a:xfrm>
          <a:prstGeom prst="roundRect">
            <a:avLst>
              <a:gd name="adj" fmla="val 50000"/>
            </a:avLst>
          </a:prstGeom>
          <a:solidFill>
            <a:srgbClr val="B39DDB"/>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1B2A4A"/>
              </a:buClr>
              <a:buSzPts val="1200"/>
              <a:buFont typeface="DM Sans"/>
              <a:buNone/>
            </a:pPr>
            <a:r>
              <a:rPr lang="en-US" sz="1200" b="1" i="0" u="none" strike="noStrike" cap="none">
                <a:solidFill>
                  <a:srgbClr val="1B2A4A"/>
                </a:solidFill>
                <a:latin typeface="DM Sans"/>
                <a:ea typeface="DM Sans"/>
                <a:cs typeface="DM Sans"/>
                <a:sym typeface="DM Sans"/>
              </a:rPr>
              <a:t>PARTIE 4</a:t>
            </a:r>
            <a:endParaRPr/>
          </a:p>
        </p:txBody>
      </p:sp>
      <p:sp>
        <p:nvSpPr>
          <p:cNvPr id="560" name="Google Shape;560;p26"/>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a:solidFill>
                  <a:srgbClr val="FFFFFF"/>
                </a:solidFill>
                <a:latin typeface="Sora"/>
                <a:ea typeface="Sora"/>
                <a:cs typeface="Sora"/>
                <a:sym typeface="Sora"/>
              </a:rPr>
              <a:t>Le Bottom line mesure l’impact de Workly face à un planning reconduit chaque semaine</a:t>
            </a:r>
            <a:endParaRPr/>
          </a:p>
        </p:txBody>
      </p:sp>
      <p:sp>
        <p:nvSpPr>
          <p:cNvPr id="561" name="Google Shape;561;p26"/>
          <p:cNvSpPr/>
          <p:nvPr/>
        </p:nvSpPr>
        <p:spPr>
          <a:xfrm>
            <a:off x="10680700" y="6344927"/>
            <a:ext cx="812800" cy="208280"/>
          </a:xfrm>
          <a:prstGeom prst="rect">
            <a:avLst/>
          </a:prstGeom>
          <a:noFill/>
          <a:ln>
            <a:noFill/>
          </a:ln>
        </p:spPr>
        <p:txBody>
          <a:bodyPr spcFirstLastPara="1" wrap="square" lIns="0" tIns="0" rIns="0" bIns="0" anchor="t" anchorCtr="0">
            <a:normAutofit fontScale="92500" lnSpcReduction="10000"/>
          </a:bodyPr>
          <a:lstStyle/>
          <a:p>
            <a:pPr marL="0" marR="0" lvl="0" indent="0" algn="r" rtl="0">
              <a:lnSpc>
                <a:spcPct val="130000"/>
              </a:lnSpc>
              <a:spcBef>
                <a:spcPts val="0"/>
              </a:spcBef>
              <a:spcAft>
                <a:spcPts val="0"/>
              </a:spcAft>
              <a:buClr>
                <a:srgbClr val="FFFFFF"/>
              </a:buClr>
              <a:buSzPts val="1200"/>
              <a:buFont typeface="Sora"/>
              <a:buNone/>
            </a:pPr>
            <a:r>
              <a:rPr lang="en-US" sz="1200" b="1" i="0" u="none" strike="noStrike" cap="none">
                <a:solidFill>
                  <a:srgbClr val="FFFFFF"/>
                </a:solidFill>
                <a:latin typeface="Sora"/>
                <a:ea typeface="Sora"/>
                <a:cs typeface="Sora"/>
                <a:sym typeface="Sora"/>
              </a:rPr>
              <a:t>19</a:t>
            </a:r>
            <a:endParaRPr/>
          </a:p>
        </p:txBody>
      </p:sp>
      <p:sp>
        <p:nvSpPr>
          <p:cNvPr id="562" name="Google Shape;562;p26"/>
          <p:cNvSpPr/>
          <p:nvPr/>
        </p:nvSpPr>
        <p:spPr>
          <a:xfrm>
            <a:off x="698500" y="1778000"/>
            <a:ext cx="2584450" cy="270000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63" name="Google Shape;563;p26"/>
          <p:cNvSpPr/>
          <p:nvPr/>
        </p:nvSpPr>
        <p:spPr>
          <a:xfrm>
            <a:off x="698500" y="1778000"/>
            <a:ext cx="2584450" cy="2700000"/>
          </a:xfrm>
          <a:custGeom>
            <a:avLst/>
            <a:gdLst/>
            <a:ahLst/>
            <a:cxnLst/>
            <a:rect l="l" t="t" r="r" b="b"/>
            <a:pathLst>
              <a:path w="2584450" h="270000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B39DD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64" name="Google Shape;564;p26"/>
          <p:cNvSpPr/>
          <p:nvPr/>
        </p:nvSpPr>
        <p:spPr>
          <a:xfrm>
            <a:off x="889000" y="2108000"/>
            <a:ext cx="2203450" cy="640000"/>
          </a:xfrm>
          <a:prstGeom prst="rect">
            <a:avLst/>
          </a:prstGeom>
          <a:noFill/>
          <a:ln>
            <a:noFill/>
          </a:ln>
        </p:spPr>
        <p:txBody>
          <a:bodyPr spcFirstLastPara="1" wrap="square" lIns="0" tIns="0" rIns="0" bIns="0" anchor="t" anchorCtr="0">
            <a:normAutofit lnSpcReduction="10000"/>
          </a:bodyPr>
          <a:lstStyle/>
          <a:p>
            <a:pPr marL="0" marR="0" lvl="0" indent="0" algn="l" rtl="0">
              <a:lnSpc>
                <a:spcPct val="119444"/>
              </a:lnSpc>
              <a:spcBef>
                <a:spcPts val="0"/>
              </a:spcBef>
              <a:spcAft>
                <a:spcPts val="0"/>
              </a:spcAft>
              <a:buClr>
                <a:srgbClr val="FFFFFF"/>
              </a:buClr>
              <a:buSzPts val="3600"/>
              <a:buFont typeface="Sora"/>
              <a:buNone/>
            </a:pPr>
            <a:r>
              <a:rPr lang="en-US" sz="3600" b="1" i="0" u="none" strike="noStrike" cap="none">
                <a:solidFill>
                  <a:srgbClr val="FFFFFF"/>
                </a:solidFill>
                <a:latin typeface="Sora"/>
                <a:ea typeface="Sora"/>
                <a:cs typeface="Sora"/>
                <a:sym typeface="Sora"/>
              </a:rPr>
              <a:t>+15 113</a:t>
            </a:r>
            <a:endParaRPr/>
          </a:p>
        </p:txBody>
      </p:sp>
      <p:sp>
        <p:nvSpPr>
          <p:cNvPr id="565" name="Google Shape;565;p26"/>
          <p:cNvSpPr/>
          <p:nvPr/>
        </p:nvSpPr>
        <p:spPr>
          <a:xfrm>
            <a:off x="889000" y="2928000"/>
            <a:ext cx="2203450" cy="760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E4E9F5"/>
              </a:buClr>
              <a:buSzPts val="1500"/>
              <a:buFont typeface="DM Sans"/>
              <a:buNone/>
            </a:pPr>
            <a:r>
              <a:rPr lang="en-US" sz="1500" b="0" i="0" u="none" strike="noStrike" cap="none">
                <a:solidFill>
                  <a:srgbClr val="E4E9F5"/>
                </a:solidFill>
                <a:latin typeface="DM Sans"/>
                <a:ea typeface="DM Sans"/>
                <a:cs typeface="DM Sans"/>
                <a:sym typeface="DM Sans"/>
              </a:rPr>
              <a:t>MAD de gain net sur 84 jours de zone</a:t>
            </a:r>
            <a:endParaRPr/>
          </a:p>
        </p:txBody>
      </p:sp>
      <p:sp>
        <p:nvSpPr>
          <p:cNvPr id="566" name="Google Shape;566;p26"/>
          <p:cNvSpPr/>
          <p:nvPr/>
        </p:nvSpPr>
        <p:spPr>
          <a:xfrm>
            <a:off x="889000" y="3828000"/>
            <a:ext cx="2203450" cy="420000"/>
          </a:xfrm>
          <a:prstGeom prst="rect">
            <a:avLst/>
          </a:prstGeom>
          <a:noFill/>
          <a:ln>
            <a:noFill/>
          </a:ln>
        </p:spPr>
        <p:txBody>
          <a:bodyPr spcFirstLastPara="1" wrap="square" lIns="0" tIns="0" rIns="0" bIns="0" anchor="t" anchorCtr="0">
            <a:normAutofit/>
          </a:bodyPr>
          <a:lstStyle/>
          <a:p>
            <a:pPr marL="0" marR="0" lvl="0" indent="0" algn="l" rtl="0">
              <a:lnSpc>
                <a:spcPct val="128571"/>
              </a:lnSpc>
              <a:spcBef>
                <a:spcPts val="0"/>
              </a:spcBef>
              <a:spcAft>
                <a:spcPts val="0"/>
              </a:spcAft>
              <a:buClr>
                <a:srgbClr val="B39DDB"/>
              </a:buClr>
              <a:buSzPts val="1400"/>
              <a:buFont typeface="DM Sans"/>
              <a:buNone/>
            </a:pPr>
            <a:r>
              <a:rPr lang="en-US" sz="1400" b="1" i="0" u="none" strike="noStrike" cap="none">
                <a:solidFill>
                  <a:srgbClr val="B39DDB"/>
                </a:solidFill>
                <a:latin typeface="DM Sans"/>
                <a:ea typeface="DM Sans"/>
                <a:cs typeface="DM Sans"/>
                <a:sym typeface="DM Sans"/>
              </a:rPr>
              <a:t>vs planning reconduit</a:t>
            </a:r>
            <a:endParaRPr/>
          </a:p>
        </p:txBody>
      </p:sp>
      <p:sp>
        <p:nvSpPr>
          <p:cNvPr id="567" name="Google Shape;567;p26"/>
          <p:cNvSpPr/>
          <p:nvPr/>
        </p:nvSpPr>
        <p:spPr>
          <a:xfrm>
            <a:off x="3435350" y="1778000"/>
            <a:ext cx="2584450" cy="270000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68" name="Google Shape;568;p26"/>
          <p:cNvSpPr/>
          <p:nvPr/>
        </p:nvSpPr>
        <p:spPr>
          <a:xfrm>
            <a:off x="3435350" y="1778000"/>
            <a:ext cx="2584450" cy="2700000"/>
          </a:xfrm>
          <a:custGeom>
            <a:avLst/>
            <a:gdLst/>
            <a:ahLst/>
            <a:cxnLst/>
            <a:rect l="l" t="t" r="r" b="b"/>
            <a:pathLst>
              <a:path w="2584450" h="270000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7ACF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69" name="Google Shape;569;p26"/>
          <p:cNvSpPr/>
          <p:nvPr/>
        </p:nvSpPr>
        <p:spPr>
          <a:xfrm>
            <a:off x="3625850" y="2108000"/>
            <a:ext cx="2203450" cy="640000"/>
          </a:xfrm>
          <a:prstGeom prst="rect">
            <a:avLst/>
          </a:prstGeom>
          <a:noFill/>
          <a:ln>
            <a:noFill/>
          </a:ln>
        </p:spPr>
        <p:txBody>
          <a:bodyPr spcFirstLastPara="1" wrap="square" lIns="0" tIns="0" rIns="0" bIns="0" anchor="t" anchorCtr="0">
            <a:normAutofit lnSpcReduction="10000"/>
          </a:bodyPr>
          <a:lstStyle/>
          <a:p>
            <a:pPr marL="0" marR="0" lvl="0" indent="0" algn="l" rtl="0">
              <a:lnSpc>
                <a:spcPct val="119444"/>
              </a:lnSpc>
              <a:spcBef>
                <a:spcPts val="0"/>
              </a:spcBef>
              <a:spcAft>
                <a:spcPts val="0"/>
              </a:spcAft>
              <a:buClr>
                <a:srgbClr val="7ACFC0"/>
              </a:buClr>
              <a:buSzPts val="3600"/>
              <a:buFont typeface="Sora"/>
              <a:buNone/>
            </a:pPr>
            <a:r>
              <a:rPr lang="en-US" sz="3600" b="1" i="0" u="none" strike="noStrike" cap="none">
                <a:solidFill>
                  <a:srgbClr val="7ACFC0"/>
                </a:solidFill>
                <a:latin typeface="Sora"/>
                <a:ea typeface="Sora"/>
                <a:cs typeface="Sora"/>
                <a:sym typeface="Sora"/>
              </a:rPr>
              <a:t>771 h</a:t>
            </a:r>
            <a:endParaRPr/>
          </a:p>
        </p:txBody>
      </p:sp>
      <p:sp>
        <p:nvSpPr>
          <p:cNvPr id="570" name="Google Shape;570;p26"/>
          <p:cNvSpPr/>
          <p:nvPr/>
        </p:nvSpPr>
        <p:spPr>
          <a:xfrm>
            <a:off x="3625850" y="2928000"/>
            <a:ext cx="2203450" cy="760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E4E9F5"/>
              </a:buClr>
              <a:buSzPts val="1500"/>
              <a:buFont typeface="DM Sans"/>
              <a:buNone/>
            </a:pPr>
            <a:r>
              <a:rPr lang="en-US" sz="1500" b="0" i="0" u="none" strike="noStrike" cap="none">
                <a:solidFill>
                  <a:srgbClr val="E4E9F5"/>
                </a:solidFill>
                <a:latin typeface="DM Sans"/>
                <a:ea typeface="DM Sans"/>
                <a:cs typeface="DM Sans"/>
                <a:sym typeface="DM Sans"/>
              </a:rPr>
              <a:t>d’heures de travail mal allouées évitées</a:t>
            </a:r>
            <a:endParaRPr/>
          </a:p>
        </p:txBody>
      </p:sp>
      <p:sp>
        <p:nvSpPr>
          <p:cNvPr id="571" name="Google Shape;571;p26"/>
          <p:cNvSpPr/>
          <p:nvPr/>
        </p:nvSpPr>
        <p:spPr>
          <a:xfrm>
            <a:off x="3625850" y="3828000"/>
            <a:ext cx="2203450" cy="420000"/>
          </a:xfrm>
          <a:prstGeom prst="rect">
            <a:avLst/>
          </a:prstGeom>
          <a:noFill/>
          <a:ln>
            <a:noFill/>
          </a:ln>
        </p:spPr>
        <p:txBody>
          <a:bodyPr spcFirstLastPara="1" wrap="square" lIns="0" tIns="0" rIns="0" bIns="0" anchor="t" anchorCtr="0">
            <a:normAutofit/>
          </a:bodyPr>
          <a:lstStyle/>
          <a:p>
            <a:pPr marL="0" marR="0" lvl="0" indent="0" algn="l" rtl="0">
              <a:lnSpc>
                <a:spcPct val="128571"/>
              </a:lnSpc>
              <a:spcBef>
                <a:spcPts val="0"/>
              </a:spcBef>
              <a:spcAft>
                <a:spcPts val="0"/>
              </a:spcAft>
              <a:buClr>
                <a:srgbClr val="7ACFC0"/>
              </a:buClr>
              <a:buSzPts val="1400"/>
              <a:buFont typeface="DM Sans"/>
              <a:buNone/>
            </a:pPr>
            <a:r>
              <a:rPr lang="en-US" sz="1400" b="1" i="0" u="none" strike="noStrike" cap="none">
                <a:solidFill>
                  <a:srgbClr val="7ACFC0"/>
                </a:solidFill>
                <a:latin typeface="DM Sans"/>
                <a:ea typeface="DM Sans"/>
                <a:cs typeface="DM Sans"/>
                <a:sym typeface="DM Sans"/>
              </a:rPr>
              <a:t>1 348 h → 578 h</a:t>
            </a:r>
            <a:endParaRPr/>
          </a:p>
        </p:txBody>
      </p:sp>
      <p:sp>
        <p:nvSpPr>
          <p:cNvPr id="572" name="Google Shape;572;p26"/>
          <p:cNvSpPr/>
          <p:nvPr/>
        </p:nvSpPr>
        <p:spPr>
          <a:xfrm>
            <a:off x="6172200" y="1778000"/>
            <a:ext cx="2584450" cy="270000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73" name="Google Shape;573;p26"/>
          <p:cNvSpPr/>
          <p:nvPr/>
        </p:nvSpPr>
        <p:spPr>
          <a:xfrm>
            <a:off x="6172200" y="1778000"/>
            <a:ext cx="2584450" cy="2700000"/>
          </a:xfrm>
          <a:custGeom>
            <a:avLst/>
            <a:gdLst/>
            <a:ahLst/>
            <a:cxnLst/>
            <a:rect l="l" t="t" r="r" b="b"/>
            <a:pathLst>
              <a:path w="2584450" h="270000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4A9BE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74" name="Google Shape;574;p26"/>
          <p:cNvSpPr/>
          <p:nvPr/>
        </p:nvSpPr>
        <p:spPr>
          <a:xfrm>
            <a:off x="6362700" y="2108000"/>
            <a:ext cx="2203450" cy="640000"/>
          </a:xfrm>
          <a:prstGeom prst="rect">
            <a:avLst/>
          </a:prstGeom>
          <a:noFill/>
          <a:ln>
            <a:noFill/>
          </a:ln>
        </p:spPr>
        <p:txBody>
          <a:bodyPr spcFirstLastPara="1" wrap="square" lIns="0" tIns="0" rIns="0" bIns="0" anchor="t" anchorCtr="0">
            <a:normAutofit lnSpcReduction="10000"/>
          </a:bodyPr>
          <a:lstStyle/>
          <a:p>
            <a:pPr marL="0" marR="0" lvl="0" indent="0" algn="l" rtl="0">
              <a:lnSpc>
                <a:spcPct val="119444"/>
              </a:lnSpc>
              <a:spcBef>
                <a:spcPts val="0"/>
              </a:spcBef>
              <a:spcAft>
                <a:spcPts val="0"/>
              </a:spcAft>
              <a:buClr>
                <a:srgbClr val="4A9BE0"/>
              </a:buClr>
              <a:buSzPts val="3600"/>
              <a:buFont typeface="Sora"/>
              <a:buNone/>
            </a:pPr>
            <a:r>
              <a:rPr lang="en-US" sz="3600" b="1" i="0" u="none" strike="noStrike" cap="none">
                <a:solidFill>
                  <a:srgbClr val="4A9BE0"/>
                </a:solidFill>
                <a:latin typeface="Sora"/>
                <a:ea typeface="Sora"/>
                <a:cs typeface="Sora"/>
                <a:sym typeface="Sora"/>
              </a:rPr>
              <a:t>103</a:t>
            </a:r>
            <a:endParaRPr/>
          </a:p>
        </p:txBody>
      </p:sp>
      <p:sp>
        <p:nvSpPr>
          <p:cNvPr id="575" name="Google Shape;575;p26"/>
          <p:cNvSpPr/>
          <p:nvPr/>
        </p:nvSpPr>
        <p:spPr>
          <a:xfrm>
            <a:off x="6362700" y="2928000"/>
            <a:ext cx="2203450" cy="760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E4E9F5"/>
              </a:buClr>
              <a:buSzPts val="1500"/>
              <a:buFont typeface="DM Sans"/>
              <a:buNone/>
            </a:pPr>
            <a:r>
              <a:rPr lang="en-US" sz="1500" b="0" i="0" u="none" strike="noStrike" cap="none">
                <a:solidFill>
                  <a:srgbClr val="E4E9F5"/>
                </a:solidFill>
                <a:latin typeface="DM Sans"/>
                <a:ea typeface="DM Sans"/>
                <a:cs typeface="DM Sans"/>
                <a:sym typeface="DM Sans"/>
              </a:rPr>
              <a:t>postes-jours mal alloués évités</a:t>
            </a:r>
            <a:endParaRPr/>
          </a:p>
        </p:txBody>
      </p:sp>
      <p:sp>
        <p:nvSpPr>
          <p:cNvPr id="576" name="Google Shape;576;p26"/>
          <p:cNvSpPr/>
          <p:nvPr/>
        </p:nvSpPr>
        <p:spPr>
          <a:xfrm>
            <a:off x="6362700" y="3828000"/>
            <a:ext cx="2203450" cy="420000"/>
          </a:xfrm>
          <a:prstGeom prst="rect">
            <a:avLst/>
          </a:prstGeom>
          <a:noFill/>
          <a:ln>
            <a:noFill/>
          </a:ln>
        </p:spPr>
        <p:txBody>
          <a:bodyPr spcFirstLastPara="1" wrap="square" lIns="0" tIns="0" rIns="0" bIns="0" anchor="t" anchorCtr="0">
            <a:normAutofit/>
          </a:bodyPr>
          <a:lstStyle/>
          <a:p>
            <a:pPr marL="0" marR="0" lvl="0" indent="0" algn="l" rtl="0">
              <a:lnSpc>
                <a:spcPct val="128571"/>
              </a:lnSpc>
              <a:spcBef>
                <a:spcPts val="0"/>
              </a:spcBef>
              <a:spcAft>
                <a:spcPts val="0"/>
              </a:spcAft>
              <a:buClr>
                <a:srgbClr val="4A9BE0"/>
              </a:buClr>
              <a:buSzPts val="1400"/>
              <a:buFont typeface="DM Sans"/>
              <a:buNone/>
            </a:pPr>
            <a:r>
              <a:rPr lang="en-US" sz="1400" b="1" i="0" u="none" strike="noStrike" cap="none">
                <a:solidFill>
                  <a:srgbClr val="4A9BE0"/>
                </a:solidFill>
                <a:latin typeface="DM Sans"/>
                <a:ea typeface="DM Sans"/>
                <a:cs typeface="DM Sans"/>
                <a:sym typeface="DM Sans"/>
              </a:rPr>
              <a:t>180 → 77 postes-jours</a:t>
            </a:r>
            <a:endParaRPr/>
          </a:p>
        </p:txBody>
      </p:sp>
      <p:sp>
        <p:nvSpPr>
          <p:cNvPr id="577" name="Google Shape;577;p26"/>
          <p:cNvSpPr/>
          <p:nvPr/>
        </p:nvSpPr>
        <p:spPr>
          <a:xfrm>
            <a:off x="8909050" y="1778000"/>
            <a:ext cx="2584450" cy="2700000"/>
          </a:xfrm>
          <a:prstGeom prst="roundRect">
            <a:avLst>
              <a:gd name="adj" fmla="val 7304"/>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78" name="Google Shape;578;p26"/>
          <p:cNvSpPr/>
          <p:nvPr/>
        </p:nvSpPr>
        <p:spPr>
          <a:xfrm>
            <a:off x="8909050" y="1778000"/>
            <a:ext cx="2584450" cy="2700000"/>
          </a:xfrm>
          <a:custGeom>
            <a:avLst/>
            <a:gdLst/>
            <a:ahLst/>
            <a:cxnLst/>
            <a:rect l="l" t="t" r="r" b="b"/>
            <a:pathLst>
              <a:path w="2584450" h="2700000" extrusionOk="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a:solidFill>
                <a:srgbClr val="1B2A4A"/>
              </a:solidFill>
              <a:latin typeface="DM Sans"/>
              <a:ea typeface="DM Sans"/>
              <a:cs typeface="DM Sans"/>
              <a:sym typeface="DM Sans"/>
            </a:endParaRPr>
          </a:p>
        </p:txBody>
      </p:sp>
      <p:sp>
        <p:nvSpPr>
          <p:cNvPr id="579" name="Google Shape;579;p26"/>
          <p:cNvSpPr/>
          <p:nvPr/>
        </p:nvSpPr>
        <p:spPr>
          <a:xfrm>
            <a:off x="9099550" y="2108000"/>
            <a:ext cx="2203450" cy="640000"/>
          </a:xfrm>
          <a:prstGeom prst="rect">
            <a:avLst/>
          </a:prstGeom>
          <a:noFill/>
          <a:ln>
            <a:noFill/>
          </a:ln>
        </p:spPr>
        <p:txBody>
          <a:bodyPr spcFirstLastPara="1" wrap="square" lIns="0" tIns="0" rIns="0" bIns="0" anchor="t" anchorCtr="0">
            <a:normAutofit lnSpcReduction="10000"/>
          </a:bodyPr>
          <a:lstStyle/>
          <a:p>
            <a:pPr marL="0" marR="0" lvl="0" indent="0" algn="l" rtl="0">
              <a:lnSpc>
                <a:spcPct val="119444"/>
              </a:lnSpc>
              <a:spcBef>
                <a:spcPts val="0"/>
              </a:spcBef>
              <a:spcAft>
                <a:spcPts val="0"/>
              </a:spcAft>
              <a:buClr>
                <a:srgbClr val="B39DDB"/>
              </a:buClr>
              <a:buSzPts val="3600"/>
              <a:buFont typeface="Sora"/>
              <a:buNone/>
            </a:pPr>
            <a:r>
              <a:rPr lang="en-US" sz="3600" b="1" i="0" u="none" strike="noStrike" cap="none">
                <a:solidFill>
                  <a:srgbClr val="B39DDB"/>
                </a:solidFill>
                <a:latin typeface="Sora"/>
                <a:ea typeface="Sora"/>
                <a:cs typeface="Sora"/>
                <a:sym typeface="Sora"/>
              </a:rPr>
              <a:t>542</a:t>
            </a:r>
            <a:endParaRPr/>
          </a:p>
        </p:txBody>
      </p:sp>
      <p:sp>
        <p:nvSpPr>
          <p:cNvPr id="580" name="Google Shape;580;p26"/>
          <p:cNvSpPr/>
          <p:nvPr/>
        </p:nvSpPr>
        <p:spPr>
          <a:xfrm>
            <a:off x="9099550" y="2928000"/>
            <a:ext cx="2203450" cy="760000"/>
          </a:xfrm>
          <a:prstGeom prst="rect">
            <a:avLst/>
          </a:prstGeom>
          <a:noFill/>
          <a:ln>
            <a:noFill/>
          </a:ln>
        </p:spPr>
        <p:txBody>
          <a:bodyPr spcFirstLastPara="1" wrap="square" lIns="0" tIns="0" rIns="0" bIns="0" anchor="t" anchorCtr="0">
            <a:normAutofit/>
          </a:bodyPr>
          <a:lstStyle/>
          <a:p>
            <a:pPr marL="0" marR="0" lvl="0" indent="0" algn="l" rtl="0">
              <a:lnSpc>
                <a:spcPct val="130000"/>
              </a:lnSpc>
              <a:spcBef>
                <a:spcPts val="0"/>
              </a:spcBef>
              <a:spcAft>
                <a:spcPts val="0"/>
              </a:spcAft>
              <a:buClr>
                <a:srgbClr val="E4E9F5"/>
              </a:buClr>
              <a:buSzPts val="1500"/>
              <a:buFont typeface="DM Sans"/>
              <a:buNone/>
            </a:pPr>
            <a:r>
              <a:rPr lang="en-US" sz="1500" b="0" i="0" u="none" strike="noStrike" cap="none">
                <a:solidFill>
                  <a:srgbClr val="E4E9F5"/>
                </a:solidFill>
                <a:latin typeface="DM Sans"/>
                <a:ea typeface="DM Sans"/>
                <a:cs typeface="DM Sans"/>
                <a:sym typeface="DM Sans"/>
              </a:rPr>
              <a:t>commandes en retard évitées</a:t>
            </a:r>
            <a:endParaRPr/>
          </a:p>
        </p:txBody>
      </p:sp>
      <p:sp>
        <p:nvSpPr>
          <p:cNvPr id="581" name="Google Shape;581;p26"/>
          <p:cNvSpPr/>
          <p:nvPr/>
        </p:nvSpPr>
        <p:spPr>
          <a:xfrm>
            <a:off x="9099550" y="3828000"/>
            <a:ext cx="2203450" cy="420000"/>
          </a:xfrm>
          <a:prstGeom prst="rect">
            <a:avLst/>
          </a:prstGeom>
          <a:noFill/>
          <a:ln>
            <a:noFill/>
          </a:ln>
        </p:spPr>
        <p:txBody>
          <a:bodyPr spcFirstLastPara="1" wrap="square" lIns="0" tIns="0" rIns="0" bIns="0" anchor="t" anchorCtr="0">
            <a:normAutofit/>
          </a:bodyPr>
          <a:lstStyle/>
          <a:p>
            <a:pPr marL="0" marR="0" lvl="0" indent="0" algn="l" rtl="0">
              <a:lnSpc>
                <a:spcPct val="128571"/>
              </a:lnSpc>
              <a:spcBef>
                <a:spcPts val="0"/>
              </a:spcBef>
              <a:spcAft>
                <a:spcPts val="0"/>
              </a:spcAft>
              <a:buClr>
                <a:srgbClr val="B39DDB"/>
              </a:buClr>
              <a:buSzPts val="1400"/>
              <a:buFont typeface="DM Sans"/>
              <a:buNone/>
            </a:pPr>
            <a:r>
              <a:rPr lang="en-US" sz="1400" b="1" i="0" u="none" strike="noStrike" cap="none">
                <a:solidFill>
                  <a:srgbClr val="B39DDB"/>
                </a:solidFill>
                <a:latin typeface="DM Sans"/>
                <a:ea typeface="DM Sans"/>
                <a:cs typeface="DM Sans"/>
                <a:sym typeface="DM Sans"/>
              </a:rPr>
              <a:t>555 → 12 commandes</a:t>
            </a:r>
            <a:endParaRPr/>
          </a:p>
        </p:txBody>
      </p:sp>
      <p:sp>
        <p:nvSpPr>
          <p:cNvPr id="582" name="Google Shape;582;p26"/>
          <p:cNvSpPr/>
          <p:nvPr/>
        </p:nvSpPr>
        <p:spPr>
          <a:xfrm>
            <a:off x="609600" y="5022000"/>
            <a:ext cx="10795000" cy="1000000"/>
          </a:xfrm>
          <a:prstGeom prst="roundRect">
            <a:avLst>
              <a:gd name="adj" fmla="val 12000"/>
            </a:avLst>
          </a:prstGeom>
          <a:solidFill>
            <a:srgbClr val="24375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DM Sans"/>
              <a:buNone/>
            </a:pPr>
            <a:endParaRPr sz="1800" b="0" i="0" u="none" strike="noStrike" cap="none" dirty="0">
              <a:solidFill>
                <a:srgbClr val="1B2A4A"/>
              </a:solidFill>
              <a:latin typeface="DM Sans"/>
              <a:ea typeface="DM Sans"/>
              <a:cs typeface="DM Sans"/>
              <a:sym typeface="DM Sans"/>
            </a:endParaRPr>
          </a:p>
        </p:txBody>
      </p:sp>
      <p:sp>
        <p:nvSpPr>
          <p:cNvPr id="583" name="Google Shape;583;p26"/>
          <p:cNvSpPr/>
          <p:nvPr/>
        </p:nvSpPr>
        <p:spPr>
          <a:xfrm>
            <a:off x="998500" y="4750000"/>
            <a:ext cx="10195000" cy="1000000"/>
          </a:xfrm>
          <a:prstGeom prst="rect">
            <a:avLst/>
          </a:prstGeom>
          <a:noFill/>
          <a:ln>
            <a:noFill/>
          </a:ln>
        </p:spPr>
        <p:txBody>
          <a:bodyPr spcFirstLastPara="1" wrap="square" lIns="0" tIns="0" rIns="0" bIns="0" anchor="ctr" anchorCtr="0">
            <a:normAutofit/>
          </a:bodyPr>
          <a:lstStyle/>
          <a:p>
            <a:pPr marL="0" marR="0" lvl="0" indent="0" algn="l" rtl="0">
              <a:lnSpc>
                <a:spcPct val="137500"/>
              </a:lnSpc>
              <a:spcBef>
                <a:spcPts val="0"/>
              </a:spcBef>
              <a:spcAft>
                <a:spcPts val="0"/>
              </a:spcAft>
              <a:buClr>
                <a:srgbClr val="7ACFC0"/>
              </a:buClr>
              <a:buSzPts val="1600"/>
              <a:buFont typeface="DM Sans"/>
              <a:buNone/>
            </a:pPr>
            <a:endParaRPr dirty="0"/>
          </a:p>
        </p:txBody>
      </p:sp>
      <p:sp>
        <p:nvSpPr>
          <p:cNvPr id="584" name="Google Shape;584;p26"/>
          <p:cNvSpPr/>
          <p:nvPr/>
        </p:nvSpPr>
        <p:spPr>
          <a:xfrm>
            <a:off x="698500" y="6344921"/>
            <a:ext cx="9156700" cy="208280"/>
          </a:xfrm>
          <a:prstGeom prst="rect">
            <a:avLst/>
          </a:prstGeom>
          <a:noFill/>
          <a:ln>
            <a:noFill/>
          </a:ln>
        </p:spPr>
        <p:txBody>
          <a:bodyPr spcFirstLastPara="1" wrap="square" lIns="0" tIns="0" rIns="0" bIns="0" anchor="t" anchorCtr="0">
            <a:normAutofit fontScale="92500" lnSpcReduction="10000"/>
          </a:bodyPr>
          <a:lstStyle/>
          <a:p>
            <a:pPr marL="0" marR="0" lvl="0" indent="0" algn="l" rtl="0">
              <a:lnSpc>
                <a:spcPct val="130000"/>
              </a:lnSpc>
              <a:spcBef>
                <a:spcPts val="0"/>
              </a:spcBef>
              <a:spcAft>
                <a:spcPts val="0"/>
              </a:spcAft>
              <a:buClr>
                <a:srgbClr val="9FB0D6"/>
              </a:buClr>
              <a:buSzPts val="1200"/>
              <a:buFont typeface="DM Sans"/>
              <a:buNone/>
            </a:pPr>
            <a:r>
              <a:rPr lang="en-US" sz="1200" b="0" i="0" u="none" strike="noStrike" cap="none">
                <a:solidFill>
                  <a:srgbClr val="9FB0D6"/>
                </a:solidFill>
                <a:latin typeface="DM Sans"/>
                <a:ea typeface="DM Sans"/>
                <a:cs typeface="DM Sans"/>
                <a:sym typeface="DM Sans"/>
              </a:rPr>
              <a:t>Source : onglet Bottom line de l’application Workly ; simulation sur le jeu de données de démonstration (84 jours de zone).</a:t>
            </a:r>
            <a:endParaRPr/>
          </a:p>
        </p:txBody>
      </p:sp>
      <p:sp>
        <p:nvSpPr>
          <p:cNvPr id="585" name="TextBox 584"/>
          <p:cNvSpPr txBox="1"/>
          <p:nvPr/>
        </p:nvSpPr>
        <p:spPr>
          <a:xfrm>
            <a:off x="883920" y="5022000"/>
            <a:ext cx="10246360" cy="1000000"/>
          </a:xfrm>
          <a:prstGeom prst="rect">
            <a:avLst/>
          </a:prstGeom>
          <a:noFill/>
        </p:spPr>
        <p:txBody>
          <a:bodyPr wrap="square" lIns="0" tIns="0" rIns="0" bIns="0" anchor="ctr">
            <a:noAutofit/>
          </a:bodyPr>
          <a:lstStyle/>
          <a:p>
            <a:pPr algn="l">
              <a:lnSpc>
                <a:spcPct val="115000"/>
              </a:lnSpc>
              <a:spcBef>
                <a:spcPts val="0"/>
              </a:spcBef>
              <a:spcAft>
                <a:spcPts val="0"/>
              </a:spcAft>
            </a:pPr>
            <a:r>
              <a:rPr sz="1600" b="1" i="0">
                <a:solidFill>
                  <a:srgbClr val="7ACFC0"/>
                </a:solidFill>
                <a:latin typeface="DM Sans"/>
              </a:rPr>
              <a:t>Résultat : </a:t>
            </a:r>
            <a:r>
              <a:rPr sz="1600" b="0" i="0">
                <a:solidFill>
                  <a:srgbClr val="FFFFFF"/>
                </a:solidFill>
                <a:latin typeface="DM Sans"/>
              </a:rPr>
              <a:t>taux de service de 94,6 % à 99,9 %, et un gain annualisé de 183 874 MAD.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USE CASE</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Use case : superviser la chaîne de nuit pour détecter une panne avant la journée de travail</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20</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37360"/>
            <a:ext cx="10799064" cy="658368"/>
          </a:xfrm>
          <a:prstGeom prst="roundRect">
            <a:avLst>
              <a:gd name="adj" fmla="val 16666"/>
            </a:avLst>
          </a:prstGeom>
          <a:solidFill>
            <a:srgbClr val="1B2A4A"/>
          </a:solidFill>
          <a:ln>
            <a:noFill/>
          </a:ln>
        </p:spPr>
        <p:txBody>
          <a:bodyPr rtlCol="0" anchor="ctr"/>
          <a:lstStyle/>
          <a:p>
            <a:pPr algn="ctr"/>
            <a:endParaRPr/>
          </a:p>
        </p:txBody>
      </p:sp>
      <p:sp>
        <p:nvSpPr>
          <p:cNvPr id="114" name="TextBox 113"/>
          <p:cNvSpPr txBox="1"/>
          <p:nvPr/>
        </p:nvSpPr>
        <p:spPr>
          <a:xfrm>
            <a:off x="987552" y="1737360"/>
            <a:ext cx="10241280" cy="658368"/>
          </a:xfrm>
          <a:prstGeom prst="rect">
            <a:avLst/>
          </a:prstGeom>
          <a:noFill/>
        </p:spPr>
        <p:txBody>
          <a:bodyPr wrap="square" lIns="0" tIns="0" rIns="0" bIns="0" anchor="ctr">
            <a:noAutofit/>
          </a:bodyPr>
          <a:lstStyle/>
          <a:p>
            <a:pPr algn="l">
              <a:lnSpc>
                <a:spcPct val="112000"/>
              </a:lnSpc>
              <a:spcBef>
                <a:spcPts val="0"/>
              </a:spcBef>
              <a:spcAft>
                <a:spcPts val="0"/>
              </a:spcAft>
            </a:pPr>
            <a:r>
              <a:rPr sz="1400" b="1" i="0">
                <a:solidFill>
                  <a:srgbClr val="7ACFC0"/>
                </a:solidFill>
                <a:latin typeface="DM Sans"/>
              </a:rPr>
              <a:t>Description : </a:t>
            </a:r>
            <a:r>
              <a:rPr sz="1400" b="0" i="0">
                <a:solidFill>
                  <a:srgbClr val="FFFFFF"/>
                </a:solidFill>
                <a:latin typeface="DM Sans"/>
              </a:rPr>
              <a:t>chaque matin, Workly signale seul l’état de sa chaîne de nuit ; une panne ou une nuit non exécutée est détectée avant la journée de travail, sans que personne ouvre le journal.</a:t>
            </a:r>
          </a:p>
        </p:txBody>
      </p:sp>
      <p:sp>
        <p:nvSpPr>
          <p:cNvPr id="115" name="Rounded Rectangle 114"/>
          <p:cNvSpPr/>
          <p:nvPr/>
        </p:nvSpPr>
        <p:spPr>
          <a:xfrm>
            <a:off x="694944" y="2560320"/>
            <a:ext cx="3520440" cy="3639312"/>
          </a:xfrm>
          <a:prstGeom prst="roundRect">
            <a:avLst>
              <a:gd name="adj" fmla="val 4329"/>
            </a:avLst>
          </a:prstGeom>
          <a:solidFill>
            <a:srgbClr val="FFFFFF"/>
          </a:solidFill>
          <a:ln>
            <a:noFill/>
          </a:ln>
        </p:spPr>
        <p:txBody>
          <a:bodyPr rtlCol="0" anchor="ctr"/>
          <a:lstStyle/>
          <a:p>
            <a:pPr algn="ctr"/>
            <a:endParaRPr/>
          </a:p>
        </p:txBody>
      </p:sp>
      <p:sp>
        <p:nvSpPr>
          <p:cNvPr id="116" name="Rectangle 115"/>
          <p:cNvSpPr/>
          <p:nvPr/>
        </p:nvSpPr>
        <p:spPr>
          <a:xfrm>
            <a:off x="694944" y="2560320"/>
            <a:ext cx="3520440" cy="3639312"/>
          </a:xfrm>
          <a:custGeom>
            <a:avLst/>
            <a:gdLst/>
            <a:ahLst/>
            <a:cxnLst/>
            <a:rect l="l" t="t" r="r" b="b"/>
            <a:pathLst>
              <a:path w="3520440" h="3639312" extrusionOk="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17" name="Oval 116"/>
          <p:cNvSpPr/>
          <p:nvPr/>
        </p:nvSpPr>
        <p:spPr>
          <a:xfrm>
            <a:off x="896112" y="2779776"/>
            <a:ext cx="329184" cy="329184"/>
          </a:xfrm>
          <a:prstGeom prst="ellipse">
            <a:avLst/>
          </a:prstGeom>
          <a:solidFill>
            <a:srgbClr val="4A9BE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1</a:t>
            </a:r>
          </a:p>
        </p:txBody>
      </p:sp>
      <p:sp>
        <p:nvSpPr>
          <p:cNvPr id="118" name="TextBox 117"/>
          <p:cNvSpPr txBox="1"/>
          <p:nvPr/>
        </p:nvSpPr>
        <p:spPr>
          <a:xfrm>
            <a:off x="1335024"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PROCESSUS</a:t>
            </a:r>
          </a:p>
        </p:txBody>
      </p:sp>
      <p:sp>
        <p:nvSpPr>
          <p:cNvPr id="119" name="Rounded Rectangle 118"/>
          <p:cNvSpPr/>
          <p:nvPr/>
        </p:nvSpPr>
        <p:spPr>
          <a:xfrm>
            <a:off x="4334256" y="2560320"/>
            <a:ext cx="3520440" cy="3639312"/>
          </a:xfrm>
          <a:prstGeom prst="roundRect">
            <a:avLst>
              <a:gd name="adj" fmla="val 4329"/>
            </a:avLst>
          </a:prstGeom>
          <a:solidFill>
            <a:srgbClr val="FFFFFF"/>
          </a:solidFill>
          <a:ln>
            <a:noFill/>
          </a:ln>
        </p:spPr>
        <p:txBody>
          <a:bodyPr rtlCol="0" anchor="ctr"/>
          <a:lstStyle/>
          <a:p>
            <a:pPr algn="ctr"/>
            <a:endParaRPr/>
          </a:p>
        </p:txBody>
      </p:sp>
      <p:sp>
        <p:nvSpPr>
          <p:cNvPr id="120" name="Rectangle 119"/>
          <p:cNvSpPr/>
          <p:nvPr/>
        </p:nvSpPr>
        <p:spPr>
          <a:xfrm>
            <a:off x="4334256" y="2560320"/>
            <a:ext cx="3520440" cy="3639312"/>
          </a:xfrm>
          <a:custGeom>
            <a:avLst/>
            <a:gdLst/>
            <a:ahLst/>
            <a:cxnLst/>
            <a:rect l="l" t="t" r="r" b="b"/>
            <a:pathLst>
              <a:path w="3520440" h="3639312" extrusionOk="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121" name="Oval 120"/>
          <p:cNvSpPr/>
          <p:nvPr/>
        </p:nvSpPr>
        <p:spPr>
          <a:xfrm>
            <a:off x="4535424" y="2779776"/>
            <a:ext cx="329184" cy="329184"/>
          </a:xfrm>
          <a:prstGeom prst="ellipse">
            <a:avLst/>
          </a:prstGeom>
          <a:solidFill>
            <a:srgbClr val="B39DDB"/>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2</a:t>
            </a:r>
          </a:p>
        </p:txBody>
      </p:sp>
      <p:sp>
        <p:nvSpPr>
          <p:cNvPr id="122" name="TextBox 121"/>
          <p:cNvSpPr txBox="1"/>
          <p:nvPr/>
        </p:nvSpPr>
        <p:spPr>
          <a:xfrm>
            <a:off x="4974336"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OPPORTUNITÉ DÉTECTÉE</a:t>
            </a:r>
          </a:p>
        </p:txBody>
      </p:sp>
      <p:sp>
        <p:nvSpPr>
          <p:cNvPr id="123" name="Rounded Rectangle 122"/>
          <p:cNvSpPr/>
          <p:nvPr/>
        </p:nvSpPr>
        <p:spPr>
          <a:xfrm>
            <a:off x="7973568" y="2560320"/>
            <a:ext cx="3520440" cy="3639312"/>
          </a:xfrm>
          <a:prstGeom prst="roundRect">
            <a:avLst>
              <a:gd name="adj" fmla="val 4329"/>
            </a:avLst>
          </a:prstGeom>
          <a:solidFill>
            <a:srgbClr val="FFFFFF"/>
          </a:solidFill>
          <a:ln>
            <a:noFill/>
          </a:ln>
        </p:spPr>
        <p:txBody>
          <a:bodyPr rtlCol="0" anchor="ctr"/>
          <a:lstStyle/>
          <a:p>
            <a:pPr algn="ctr"/>
            <a:endParaRPr/>
          </a:p>
        </p:txBody>
      </p:sp>
      <p:sp>
        <p:nvSpPr>
          <p:cNvPr id="124" name="Rectangle 123"/>
          <p:cNvSpPr/>
          <p:nvPr/>
        </p:nvSpPr>
        <p:spPr>
          <a:xfrm>
            <a:off x="7973568" y="2560320"/>
            <a:ext cx="3520440" cy="3639312"/>
          </a:xfrm>
          <a:custGeom>
            <a:avLst/>
            <a:gdLst/>
            <a:ahLst/>
            <a:cxnLst/>
            <a:rect l="l" t="t" r="r" b="b"/>
            <a:pathLst>
              <a:path w="3520440" h="3639312" extrusionOk="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125" name="Oval 124"/>
          <p:cNvSpPr/>
          <p:nvPr/>
        </p:nvSpPr>
        <p:spPr>
          <a:xfrm>
            <a:off x="8174736" y="2779776"/>
            <a:ext cx="329184" cy="329184"/>
          </a:xfrm>
          <a:prstGeom prst="ellipse">
            <a:avLst/>
          </a:prstGeom>
          <a:solidFill>
            <a:srgbClr val="7ACFC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3</a:t>
            </a:r>
          </a:p>
        </p:txBody>
      </p:sp>
      <p:sp>
        <p:nvSpPr>
          <p:cNvPr id="126" name="TextBox 125"/>
          <p:cNvSpPr txBox="1"/>
          <p:nvPr/>
        </p:nvSpPr>
        <p:spPr>
          <a:xfrm>
            <a:off x="8613648"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CIBLE · BOTTOM LINE</a:t>
            </a:r>
          </a:p>
        </p:txBody>
      </p:sp>
      <p:sp>
        <p:nvSpPr>
          <p:cNvPr id="127" name="TextBox 126"/>
          <p:cNvSpPr txBox="1"/>
          <p:nvPr/>
        </p:nvSpPr>
        <p:spPr>
          <a:xfrm>
            <a:off x="923544" y="3310128"/>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7390"/>
                </a:solidFill>
                <a:latin typeface="Sora"/>
              </a:rPr>
              <a:t>AUJOURD’HUI</a:t>
            </a:r>
          </a:p>
        </p:txBody>
      </p:sp>
      <p:sp>
        <p:nvSpPr>
          <p:cNvPr id="128" name="Rounded Rectangle 127"/>
          <p:cNvSpPr/>
          <p:nvPr/>
        </p:nvSpPr>
        <p:spPr>
          <a:xfrm>
            <a:off x="923544" y="3602736"/>
            <a:ext cx="694944" cy="237744"/>
          </a:xfrm>
          <a:prstGeom prst="roundRect">
            <a:avLst>
              <a:gd name="adj" fmla="val 50000"/>
            </a:avLst>
          </a:prstGeom>
          <a:solidFill>
            <a:srgbClr val="CDEEE8"/>
          </a:solidFill>
          <a:ln>
            <a:noFill/>
          </a:ln>
        </p:spPr>
        <p:txBody>
          <a:bodyPr wrap="square" lIns="36576" tIns="0" rIns="36576" bIns="0" rtlCol="0" anchor="ctr">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29" name="TextBox 128"/>
          <p:cNvSpPr txBox="1"/>
          <p:nvPr/>
        </p:nvSpPr>
        <p:spPr>
          <a:xfrm>
            <a:off x="1709928" y="3584448"/>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00:30 UTC : 8 étapes de nuit</a:t>
            </a:r>
          </a:p>
        </p:txBody>
      </p:sp>
      <p:sp>
        <p:nvSpPr>
          <p:cNvPr id="130" name="Rounded Rectangle 129"/>
          <p:cNvSpPr/>
          <p:nvPr/>
        </p:nvSpPr>
        <p:spPr>
          <a:xfrm>
            <a:off x="923544" y="4005072"/>
            <a:ext cx="694944" cy="237744"/>
          </a:xfrm>
          <a:prstGeom prst="roundRect">
            <a:avLst>
              <a:gd name="adj" fmla="val 50000"/>
            </a:avLst>
          </a:prstGeom>
          <a:solidFill>
            <a:srgbClr val="E2D9F3"/>
          </a:solidFill>
          <a:ln>
            <a:noFill/>
          </a:ln>
        </p:spPr>
        <p:txBody>
          <a:bodyPr wrap="square" lIns="36576" tIns="0" rIns="36576" bIns="0" rtlCol="0" anchor="ctr">
            <a:noAutofit/>
          </a:bodyPr>
          <a:lstStyle/>
          <a:p>
            <a:pPr algn="ctr">
              <a:lnSpc>
                <a:spcPct val="100000"/>
              </a:lnSpc>
              <a:spcBef>
                <a:spcPts val="0"/>
              </a:spcBef>
              <a:spcAft>
                <a:spcPts val="0"/>
              </a:spcAft>
            </a:pPr>
            <a:r>
              <a:rPr sz="1000" b="1" i="0">
                <a:solidFill>
                  <a:srgbClr val="1B2A4A"/>
                </a:solidFill>
                <a:latin typeface="DM Sans"/>
              </a:rPr>
              <a:t>Manuel</a:t>
            </a:r>
          </a:p>
        </p:txBody>
      </p:sp>
      <p:sp>
        <p:nvSpPr>
          <p:cNvPr id="131" name="TextBox 130"/>
          <p:cNvSpPr txBox="1"/>
          <p:nvPr/>
        </p:nvSpPr>
        <p:spPr>
          <a:xfrm>
            <a:off x="1709928" y="3986784"/>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Matin : contrôle du journal</a:t>
            </a:r>
          </a:p>
        </p:txBody>
      </p:sp>
      <p:cxnSp>
        <p:nvCxnSpPr>
          <p:cNvPr id="132" name="Connector 131"/>
          <p:cNvCxnSpPr/>
          <p:nvPr/>
        </p:nvCxnSpPr>
        <p:spPr>
          <a:xfrm>
            <a:off x="923544" y="4407408"/>
            <a:ext cx="3063240" cy="0"/>
          </a:xfrm>
          <a:prstGeom prst="line">
            <a:avLst/>
          </a:prstGeom>
          <a:ln w="12700">
            <a:solidFill>
              <a:srgbClr val="D5DAE8"/>
            </a:solidFill>
          </a:ln>
        </p:spPr>
      </p:cxnSp>
      <p:sp>
        <p:nvSpPr>
          <p:cNvPr id="133" name="TextBox 132"/>
          <p:cNvSpPr txBox="1"/>
          <p:nvPr/>
        </p:nvSpPr>
        <p:spPr>
          <a:xfrm>
            <a:off x="923544" y="4572000"/>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3FA0"/>
                </a:solidFill>
                <a:latin typeface="Sora"/>
              </a:rPr>
              <a:t>AVEC LE USE CASE</a:t>
            </a:r>
          </a:p>
        </p:txBody>
      </p:sp>
      <p:sp>
        <p:nvSpPr>
          <p:cNvPr id="134" name="Rounded Rectangle 133"/>
          <p:cNvSpPr/>
          <p:nvPr/>
        </p:nvSpPr>
        <p:spPr>
          <a:xfrm>
            <a:off x="923544" y="4864608"/>
            <a:ext cx="694944" cy="237744"/>
          </a:xfrm>
          <a:prstGeom prst="roundRect">
            <a:avLst>
              <a:gd name="adj" fmla="val 50000"/>
            </a:avLst>
          </a:prstGeom>
          <a:solidFill>
            <a:srgbClr val="CDEEE8"/>
          </a:solidFill>
          <a:ln>
            <a:noFill/>
          </a:ln>
        </p:spPr>
        <p:txBody>
          <a:bodyPr wrap="square" lIns="36576" tIns="0" rIns="36576" bIns="0" rtlCol="0" anchor="ctr">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35" name="TextBox 134"/>
          <p:cNvSpPr txBox="1"/>
          <p:nvPr/>
        </p:nvSpPr>
        <p:spPr>
          <a:xfrm>
            <a:off x="1709928" y="4846320"/>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06:00 UTC : bilan et 2 agents</a:t>
            </a:r>
          </a:p>
        </p:txBody>
      </p:sp>
      <p:sp>
        <p:nvSpPr>
          <p:cNvPr id="136" name="Rounded Rectangle 135"/>
          <p:cNvSpPr/>
          <p:nvPr/>
        </p:nvSpPr>
        <p:spPr>
          <a:xfrm>
            <a:off x="923544" y="5266944"/>
            <a:ext cx="694944" cy="237744"/>
          </a:xfrm>
          <a:prstGeom prst="roundRect">
            <a:avLst>
              <a:gd name="adj" fmla="val 50000"/>
            </a:avLst>
          </a:prstGeom>
          <a:solidFill>
            <a:srgbClr val="CDEEE8"/>
          </a:solidFill>
          <a:ln>
            <a:noFill/>
          </a:ln>
        </p:spPr>
        <p:txBody>
          <a:bodyPr wrap="square" lIns="36576" tIns="0" rIns="36576" bIns="0" rtlCol="0" anchor="ctr">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37" name="TextBox 136"/>
          <p:cNvSpPr txBox="1"/>
          <p:nvPr/>
        </p:nvSpPr>
        <p:spPr>
          <a:xfrm>
            <a:off x="1709928" y="5248656"/>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Message Slack chaque matin</a:t>
            </a:r>
          </a:p>
        </p:txBody>
      </p:sp>
      <p:sp>
        <p:nvSpPr>
          <p:cNvPr id="138" name="Rectangle 137"/>
          <p:cNvSpPr/>
          <p:nvPr/>
        </p:nvSpPr>
        <p:spPr>
          <a:xfrm>
            <a:off x="4562856" y="3374136"/>
            <a:ext cx="100584" cy="100584"/>
          </a:xfrm>
          <a:prstGeom prst="rect">
            <a:avLst/>
          </a:prstGeom>
          <a:solidFill>
            <a:srgbClr val="B39DDB"/>
          </a:solidFill>
          <a:ln>
            <a:noFill/>
          </a:ln>
        </p:spPr>
        <p:txBody>
          <a:bodyPr rtlCol="0" anchor="ctr"/>
          <a:lstStyle/>
          <a:p>
            <a:pPr algn="ctr"/>
            <a:endParaRPr/>
          </a:p>
        </p:txBody>
      </p:sp>
      <p:sp>
        <p:nvSpPr>
          <p:cNvPr id="139" name="TextBox 138"/>
          <p:cNvSpPr txBox="1"/>
          <p:nvPr/>
        </p:nvSpPr>
        <p:spPr>
          <a:xfrm>
            <a:off x="4818888" y="3310128"/>
            <a:ext cx="2807208" cy="740474"/>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Un trou de supervision. </a:t>
            </a:r>
            <a:r>
              <a:rPr sz="1300" b="0" i="0">
                <a:solidFill>
                  <a:srgbClr val="2B3350"/>
                </a:solidFill>
                <a:latin typeface="DM Sans"/>
              </a:rPr>
              <a:t>Une nuit non exécutée (PC éteint, planificateur arrêté) ne déclenche aucune alerte.</a:t>
            </a:r>
          </a:p>
        </p:txBody>
      </p:sp>
      <p:sp>
        <p:nvSpPr>
          <p:cNvPr id="140" name="Rectangle 139"/>
          <p:cNvSpPr/>
          <p:nvPr/>
        </p:nvSpPr>
        <p:spPr>
          <a:xfrm>
            <a:off x="4562856" y="4315778"/>
            <a:ext cx="100584" cy="100584"/>
          </a:xfrm>
          <a:prstGeom prst="rect">
            <a:avLst/>
          </a:prstGeom>
          <a:solidFill>
            <a:srgbClr val="B39DDB"/>
          </a:solidFill>
          <a:ln>
            <a:noFill/>
          </a:ln>
        </p:spPr>
        <p:txBody>
          <a:bodyPr rtlCol="0" anchor="ctr"/>
          <a:lstStyle/>
          <a:p>
            <a:pPr algn="ctr"/>
            <a:endParaRPr/>
          </a:p>
        </p:txBody>
      </p:sp>
      <p:sp>
        <p:nvSpPr>
          <p:cNvPr id="141" name="TextBox 140"/>
          <p:cNvSpPr txBox="1"/>
          <p:nvPr/>
        </p:nvSpPr>
        <p:spPr>
          <a:xfrm>
            <a:off x="4818888" y="4251770"/>
            <a:ext cx="2807208" cy="493649"/>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Un contrôle manuel. </a:t>
            </a:r>
            <a:r>
              <a:rPr sz="1300" b="0" i="0">
                <a:solidFill>
                  <a:srgbClr val="2B3350"/>
                </a:solidFill>
                <a:latin typeface="DM Sans"/>
              </a:rPr>
              <a:t>Le journal est vérifié à la main, sans mesure.</a:t>
            </a:r>
          </a:p>
        </p:txBody>
      </p:sp>
      <p:sp>
        <p:nvSpPr>
          <p:cNvPr id="142" name="Rectangle 141"/>
          <p:cNvSpPr/>
          <p:nvPr/>
        </p:nvSpPr>
        <p:spPr>
          <a:xfrm>
            <a:off x="4562856" y="5010594"/>
            <a:ext cx="100584" cy="100584"/>
          </a:xfrm>
          <a:prstGeom prst="rect">
            <a:avLst/>
          </a:prstGeom>
          <a:solidFill>
            <a:srgbClr val="B39DDB"/>
          </a:solidFill>
          <a:ln>
            <a:noFill/>
          </a:ln>
        </p:spPr>
        <p:txBody>
          <a:bodyPr rtlCol="0" anchor="ctr"/>
          <a:lstStyle/>
          <a:p>
            <a:pPr algn="ctr"/>
            <a:endParaRPr/>
          </a:p>
        </p:txBody>
      </p:sp>
      <p:sp>
        <p:nvSpPr>
          <p:cNvPr id="143" name="TextBox 142"/>
          <p:cNvSpPr txBox="1"/>
          <p:nvPr/>
        </p:nvSpPr>
        <p:spPr>
          <a:xfrm>
            <a:off x="4818888" y="4946586"/>
            <a:ext cx="2807208" cy="493649"/>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Des alertes tardives. </a:t>
            </a:r>
            <a:r>
              <a:rPr sz="1300" b="0" i="0">
                <a:solidFill>
                  <a:srgbClr val="2B3350"/>
                </a:solidFill>
                <a:latin typeface="DM Sans"/>
              </a:rPr>
              <a:t>28 % traitées, 18,3 h de prise en charge (livrable 2).</a:t>
            </a:r>
          </a:p>
        </p:txBody>
      </p:sp>
      <p:sp>
        <p:nvSpPr>
          <p:cNvPr id="144" name="TextBox 143"/>
          <p:cNvSpPr txBox="1"/>
          <p:nvPr/>
        </p:nvSpPr>
        <p:spPr>
          <a:xfrm>
            <a:off x="8202168" y="3291840"/>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Nuits supervisées sans action manuelle</a:t>
            </a:r>
          </a:p>
        </p:txBody>
      </p:sp>
      <p:sp>
        <p:nvSpPr>
          <p:cNvPr id="145" name="TextBox 144"/>
          <p:cNvSpPr txBox="1"/>
          <p:nvPr/>
        </p:nvSpPr>
        <p:spPr>
          <a:xfrm>
            <a:off x="8202168" y="3529584"/>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0 %</a:t>
            </a:r>
          </a:p>
        </p:txBody>
      </p:sp>
      <p:cxnSp>
        <p:nvCxnSpPr>
          <p:cNvPr id="146" name="Connector 145"/>
          <p:cNvCxnSpPr/>
          <p:nvPr/>
        </p:nvCxnSpPr>
        <p:spPr>
          <a:xfrm>
            <a:off x="9482328" y="3685032"/>
            <a:ext cx="347472" cy="0"/>
          </a:xfrm>
          <a:prstGeom prst="line">
            <a:avLst/>
          </a:prstGeom>
          <a:ln w="22225">
            <a:solidFill>
              <a:srgbClr val="7ACFC0"/>
            </a:solidFill>
            <a:tailEnd type="triangle" w="med" len="med"/>
          </a:ln>
        </p:spPr>
      </p:cxnSp>
      <p:sp>
        <p:nvSpPr>
          <p:cNvPr id="147" name="TextBox 146"/>
          <p:cNvSpPr txBox="1"/>
          <p:nvPr/>
        </p:nvSpPr>
        <p:spPr>
          <a:xfrm>
            <a:off x="9939528" y="3511296"/>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100 %</a:t>
            </a:r>
          </a:p>
        </p:txBody>
      </p:sp>
      <p:sp>
        <p:nvSpPr>
          <p:cNvPr id="148" name="TextBox 147"/>
          <p:cNvSpPr txBox="1"/>
          <p:nvPr/>
        </p:nvSpPr>
        <p:spPr>
          <a:xfrm>
            <a:off x="8202168" y="3913632"/>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Détection d’une nuit en échec</a:t>
            </a:r>
          </a:p>
        </p:txBody>
      </p:sp>
      <p:sp>
        <p:nvSpPr>
          <p:cNvPr id="149" name="TextBox 148"/>
          <p:cNvSpPr txBox="1"/>
          <p:nvPr/>
        </p:nvSpPr>
        <p:spPr>
          <a:xfrm>
            <a:off x="8202168" y="4151376"/>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non mesurée</a:t>
            </a:r>
          </a:p>
        </p:txBody>
      </p:sp>
      <p:cxnSp>
        <p:nvCxnSpPr>
          <p:cNvPr id="150" name="Connector 149"/>
          <p:cNvCxnSpPr/>
          <p:nvPr/>
        </p:nvCxnSpPr>
        <p:spPr>
          <a:xfrm>
            <a:off x="9482328" y="4306824"/>
            <a:ext cx="347472" cy="0"/>
          </a:xfrm>
          <a:prstGeom prst="line">
            <a:avLst/>
          </a:prstGeom>
          <a:ln w="22225">
            <a:solidFill>
              <a:srgbClr val="7ACFC0"/>
            </a:solidFill>
            <a:tailEnd type="triangle" w="med" len="med"/>
          </a:ln>
        </p:spPr>
      </p:cxnSp>
      <p:sp>
        <p:nvSpPr>
          <p:cNvPr id="151" name="TextBox 150"/>
          <p:cNvSpPr txBox="1"/>
          <p:nvPr/>
        </p:nvSpPr>
        <p:spPr>
          <a:xfrm>
            <a:off x="9939528" y="4133088"/>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6 h</a:t>
            </a:r>
          </a:p>
        </p:txBody>
      </p:sp>
      <p:sp>
        <p:nvSpPr>
          <p:cNvPr id="152" name="TextBox 151"/>
          <p:cNvSpPr txBox="1"/>
          <p:nvPr/>
        </p:nvSpPr>
        <p:spPr>
          <a:xfrm>
            <a:off x="8202168" y="4535424"/>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Alertes traitées</a:t>
            </a:r>
          </a:p>
        </p:txBody>
      </p:sp>
      <p:sp>
        <p:nvSpPr>
          <p:cNvPr id="153" name="TextBox 152"/>
          <p:cNvSpPr txBox="1"/>
          <p:nvPr/>
        </p:nvSpPr>
        <p:spPr>
          <a:xfrm>
            <a:off x="8202168" y="4773168"/>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28 %</a:t>
            </a:r>
          </a:p>
        </p:txBody>
      </p:sp>
      <p:cxnSp>
        <p:nvCxnSpPr>
          <p:cNvPr id="154" name="Connector 153"/>
          <p:cNvCxnSpPr/>
          <p:nvPr/>
        </p:nvCxnSpPr>
        <p:spPr>
          <a:xfrm>
            <a:off x="9482328" y="4928616"/>
            <a:ext cx="347472" cy="0"/>
          </a:xfrm>
          <a:prstGeom prst="line">
            <a:avLst/>
          </a:prstGeom>
          <a:ln w="22225">
            <a:solidFill>
              <a:srgbClr val="7ACFC0"/>
            </a:solidFill>
            <a:tailEnd type="triangle" w="med" len="med"/>
          </a:ln>
        </p:spPr>
      </p:cxnSp>
      <p:sp>
        <p:nvSpPr>
          <p:cNvPr id="155" name="TextBox 154"/>
          <p:cNvSpPr txBox="1"/>
          <p:nvPr/>
        </p:nvSpPr>
        <p:spPr>
          <a:xfrm>
            <a:off x="9939528" y="4754880"/>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80 %</a:t>
            </a:r>
          </a:p>
        </p:txBody>
      </p:sp>
      <p:sp>
        <p:nvSpPr>
          <p:cNvPr id="156" name="TextBox 155"/>
          <p:cNvSpPr txBox="1"/>
          <p:nvPr/>
        </p:nvSpPr>
        <p:spPr>
          <a:xfrm>
            <a:off x="8202168" y="5157216"/>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Délai de prise en charge d’une alerte</a:t>
            </a:r>
          </a:p>
        </p:txBody>
      </p:sp>
      <p:sp>
        <p:nvSpPr>
          <p:cNvPr id="157" name="TextBox 156"/>
          <p:cNvSpPr txBox="1"/>
          <p:nvPr/>
        </p:nvSpPr>
        <p:spPr>
          <a:xfrm>
            <a:off x="8202168" y="5394960"/>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18,3 h</a:t>
            </a:r>
          </a:p>
        </p:txBody>
      </p:sp>
      <p:cxnSp>
        <p:nvCxnSpPr>
          <p:cNvPr id="158" name="Connector 157"/>
          <p:cNvCxnSpPr/>
          <p:nvPr/>
        </p:nvCxnSpPr>
        <p:spPr>
          <a:xfrm>
            <a:off x="9482328" y="5550408"/>
            <a:ext cx="347472" cy="0"/>
          </a:xfrm>
          <a:prstGeom prst="line">
            <a:avLst/>
          </a:prstGeom>
          <a:ln w="22225">
            <a:solidFill>
              <a:srgbClr val="7ACFC0"/>
            </a:solidFill>
            <a:tailEnd type="triangle" w="med" len="med"/>
          </a:ln>
        </p:spPr>
      </p:cxnSp>
      <p:sp>
        <p:nvSpPr>
          <p:cNvPr id="159" name="TextBox 158"/>
          <p:cNvSpPr txBox="1"/>
          <p:nvPr/>
        </p:nvSpPr>
        <p:spPr>
          <a:xfrm>
            <a:off x="9939528" y="5376672"/>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8 h</a:t>
            </a:r>
          </a:p>
        </p:txBody>
      </p:sp>
      <p:sp>
        <p:nvSpPr>
          <p:cNvPr id="160" name="Rounded Rectangle 159"/>
          <p:cNvSpPr/>
          <p:nvPr/>
        </p:nvSpPr>
        <p:spPr>
          <a:xfrm>
            <a:off x="8202168" y="5797296"/>
            <a:ext cx="3063240" cy="310896"/>
          </a:xfrm>
          <a:prstGeom prst="roundRect">
            <a:avLst>
              <a:gd name="adj" fmla="val 50000"/>
            </a:avLst>
          </a:prstGeom>
          <a:solidFill>
            <a:srgbClr val="CDEEE8"/>
          </a:solidFill>
          <a:ln>
            <a:noFill/>
          </a:ln>
        </p:spPr>
        <p:txBody>
          <a:bodyPr wrap="square" lIns="36576" tIns="0" rIns="36576" bIns="0" rtlCol="0" anchor="ctr">
            <a:noAutofit/>
          </a:bodyPr>
          <a:lstStyle/>
          <a:p>
            <a:pPr algn="ctr">
              <a:lnSpc>
                <a:spcPct val="100000"/>
              </a:lnSpc>
              <a:spcBef>
                <a:spcPts val="0"/>
              </a:spcBef>
              <a:spcAft>
                <a:spcPts val="0"/>
              </a:spcAft>
            </a:pPr>
            <a:r>
              <a:rPr sz="1150" b="1" i="0">
                <a:solidFill>
                  <a:srgbClr val="1B2A4A"/>
                </a:solidFill>
                <a:latin typeface="DM Sans"/>
              </a:rPr>
              <a:t>Temps manuel évité : 2,7 h par nuit</a:t>
            </a:r>
          </a:p>
        </p:txBody>
      </p:sp>
      <p:sp>
        <p:nvSpPr>
          <p:cNvPr id="161" name="TextBox 160"/>
          <p:cNvSpPr txBox="1"/>
          <p:nvPr/>
        </p:nvSpPr>
        <p:spPr>
          <a:xfrm>
            <a:off x="694944" y="6291072"/>
            <a:ext cx="987552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Valeurs de départ : onglet Bottom line (livrable 2) et nuit du 7 octobre (8 étapes × 20 min). Cibles proposées par l’équipe, à valider.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pilotage s’inverse : Workly planifie sa nuit, la plateforme la surveille et en rend compte</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21</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5294376" cy="3474720"/>
          </a:xfrm>
          <a:prstGeom prst="roundRect">
            <a:avLst>
              <a:gd name="adj" fmla="val 4386"/>
            </a:avLst>
          </a:prstGeom>
          <a:solidFill>
            <a:srgbClr val="FFFFFF"/>
          </a:solidFill>
          <a:ln>
            <a:noFill/>
          </a:ln>
        </p:spPr>
        <p:txBody>
          <a:bodyPr rtlCol="0" anchor="ctr"/>
          <a:lstStyle/>
          <a:p>
            <a:pPr algn="ctr"/>
            <a:endParaRPr/>
          </a:p>
        </p:txBody>
      </p:sp>
      <p:sp>
        <p:nvSpPr>
          <p:cNvPr id="114" name="Rectangle 113"/>
          <p:cNvSpPr/>
          <p:nvPr/>
        </p:nvSpPr>
        <p:spPr>
          <a:xfrm>
            <a:off x="694944" y="1773936"/>
            <a:ext cx="5294376" cy="3474720"/>
          </a:xfrm>
          <a:custGeom>
            <a:avLst/>
            <a:gdLst/>
            <a:ahLst/>
            <a:cxnLst/>
            <a:rect l="l" t="t" r="r" b="b"/>
            <a:pathLst>
              <a:path w="5294376" h="3474720" extrusionOk="0">
                <a:moveTo>
                  <a:pt x="0" y="152400"/>
                </a:moveTo>
                <a:cubicBezTo>
                  <a:pt x="0" y="68229"/>
                  <a:pt x="68229" y="0"/>
                  <a:pt x="152400" y="0"/>
                </a:cubicBezTo>
                <a:lnTo>
                  <a:pt x="5141976" y="0"/>
                </a:lnTo>
                <a:cubicBezTo>
                  <a:pt x="5226146" y="0"/>
                  <a:pt x="5294376" y="68229"/>
                  <a:pt x="5294376" y="152400"/>
                </a:cubicBezTo>
                <a:cubicBezTo>
                  <a:pt x="5294376" y="103311"/>
                  <a:pt x="5226147" y="63500"/>
                  <a:pt x="5141976"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115" name="TextBox 114"/>
          <p:cNvSpPr txBox="1"/>
          <p:nvPr/>
        </p:nvSpPr>
        <p:spPr>
          <a:xfrm>
            <a:off x="969264" y="2048256"/>
            <a:ext cx="475488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1" i="0">
                <a:solidFill>
                  <a:srgbClr val="6B7390"/>
                </a:solidFill>
                <a:latin typeface="Sora"/>
              </a:rPr>
              <a:t>AVANT · LIVRABLE 2</a:t>
            </a:r>
          </a:p>
        </p:txBody>
      </p:sp>
      <p:sp>
        <p:nvSpPr>
          <p:cNvPr id="116" name="TextBox 115"/>
          <p:cNvSpPr txBox="1"/>
          <p:nvPr/>
        </p:nvSpPr>
        <p:spPr>
          <a:xfrm>
            <a:off x="969264" y="2304288"/>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La plateforme pilote chaque étape</a:t>
            </a:r>
          </a:p>
        </p:txBody>
      </p:sp>
      <p:pic>
        <p:nvPicPr>
          <p:cNvPr id="117" name="Picture 116" descr="131.png"/>
          <p:cNvPicPr>
            <a:picLocks noChangeAspect="1"/>
          </p:cNvPicPr>
          <p:nvPr/>
        </p:nvPicPr>
        <p:blipFill>
          <a:blip r:embed="rId3"/>
          <a:stretch>
            <a:fillRect/>
          </a:stretch>
        </p:blipFill>
        <p:spPr>
          <a:xfrm>
            <a:off x="969264" y="2825496"/>
            <a:ext cx="4745736" cy="1972254"/>
          </a:xfrm>
          <a:prstGeom prst="rect">
            <a:avLst/>
          </a:prstGeom>
          <a:ln w="9525">
            <a:solidFill>
              <a:srgbClr val="D5DAE8"/>
            </a:solidFill>
          </a:ln>
        </p:spPr>
      </p:pic>
      <p:sp>
        <p:nvSpPr>
          <p:cNvPr id="118" name="TextBox 117"/>
          <p:cNvSpPr txBox="1"/>
          <p:nvPr/>
        </p:nvSpPr>
        <p:spPr>
          <a:xfrm>
            <a:off x="969264" y="4907478"/>
            <a:ext cx="475488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6B7390"/>
                </a:solidFill>
                <a:latin typeface="DM Sans"/>
              </a:rPr>
              <a:t>Dix-sept nœuds HTTP, un jeton saisi dans chacun</a:t>
            </a:r>
          </a:p>
        </p:txBody>
      </p:sp>
      <p:sp>
        <p:nvSpPr>
          <p:cNvPr id="119" name="Rounded Rectangle 118"/>
          <p:cNvSpPr/>
          <p:nvPr/>
        </p:nvSpPr>
        <p:spPr>
          <a:xfrm>
            <a:off x="6199632" y="1773936"/>
            <a:ext cx="5294376" cy="3474720"/>
          </a:xfrm>
          <a:prstGeom prst="roundRect">
            <a:avLst>
              <a:gd name="adj" fmla="val 4386"/>
            </a:avLst>
          </a:prstGeom>
          <a:solidFill>
            <a:srgbClr val="FFFFFF"/>
          </a:solidFill>
          <a:ln>
            <a:noFill/>
          </a:ln>
        </p:spPr>
        <p:txBody>
          <a:bodyPr rtlCol="0" anchor="ctr"/>
          <a:lstStyle/>
          <a:p>
            <a:pPr algn="ctr"/>
            <a:endParaRPr/>
          </a:p>
        </p:txBody>
      </p:sp>
      <p:sp>
        <p:nvSpPr>
          <p:cNvPr id="120" name="Rectangle 119"/>
          <p:cNvSpPr/>
          <p:nvPr/>
        </p:nvSpPr>
        <p:spPr>
          <a:xfrm>
            <a:off x="6199632" y="1773936"/>
            <a:ext cx="5294376" cy="3474720"/>
          </a:xfrm>
          <a:custGeom>
            <a:avLst/>
            <a:gdLst/>
            <a:ahLst/>
            <a:cxnLst/>
            <a:rect l="l" t="t" r="r" b="b"/>
            <a:pathLst>
              <a:path w="5294376" h="3474720" extrusionOk="0">
                <a:moveTo>
                  <a:pt x="0" y="152400"/>
                </a:moveTo>
                <a:cubicBezTo>
                  <a:pt x="0" y="68229"/>
                  <a:pt x="68229" y="0"/>
                  <a:pt x="152400" y="0"/>
                </a:cubicBezTo>
                <a:lnTo>
                  <a:pt x="5141976" y="0"/>
                </a:lnTo>
                <a:cubicBezTo>
                  <a:pt x="5226146" y="0"/>
                  <a:pt x="5294376" y="68229"/>
                  <a:pt x="5294376" y="152400"/>
                </a:cubicBezTo>
                <a:cubicBezTo>
                  <a:pt x="5294376" y="103311"/>
                  <a:pt x="5226147" y="63500"/>
                  <a:pt x="5141976"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121" name="TextBox 120"/>
          <p:cNvSpPr txBox="1"/>
          <p:nvPr/>
        </p:nvSpPr>
        <p:spPr>
          <a:xfrm>
            <a:off x="6473952" y="2048256"/>
            <a:ext cx="475488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1" i="0">
                <a:solidFill>
                  <a:srgbClr val="6B3FA0"/>
                </a:solidFill>
                <a:latin typeface="Sora"/>
              </a:rPr>
              <a:t>MAINTENANT · LIVRABLE 3</a:t>
            </a:r>
          </a:p>
        </p:txBody>
      </p:sp>
      <p:sp>
        <p:nvSpPr>
          <p:cNvPr id="122" name="TextBox 121"/>
          <p:cNvSpPr txBox="1"/>
          <p:nvPr/>
        </p:nvSpPr>
        <p:spPr>
          <a:xfrm>
            <a:off x="6473952" y="2304288"/>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Workly pilote, la plateforme surveille</a:t>
            </a:r>
          </a:p>
        </p:txBody>
      </p:sp>
      <p:sp>
        <p:nvSpPr>
          <p:cNvPr id="123" name="Rounded Rectangle 122"/>
          <p:cNvSpPr/>
          <p:nvPr/>
        </p:nvSpPr>
        <p:spPr>
          <a:xfrm>
            <a:off x="6473952" y="2907792"/>
            <a:ext cx="1280160" cy="329184"/>
          </a:xfrm>
          <a:prstGeom prst="roundRect">
            <a:avLst>
              <a:gd name="adj" fmla="val 50000"/>
            </a:avLst>
          </a:prstGeom>
          <a:solidFill>
            <a:srgbClr val="6B3FA0"/>
          </a:solidFill>
          <a:ln>
            <a:noFill/>
          </a:ln>
        </p:spPr>
        <p:txBody>
          <a:bodyPr wrap="square" lIns="36576" tIns="0" rIns="36576" bIns="0" rtlCol="0" anchor="ctr">
            <a:noAutofit/>
          </a:bodyPr>
          <a:lstStyle/>
          <a:p>
            <a:pPr algn="ctr">
              <a:lnSpc>
                <a:spcPct val="100000"/>
              </a:lnSpc>
              <a:spcBef>
                <a:spcPts val="0"/>
              </a:spcBef>
              <a:spcAft>
                <a:spcPts val="0"/>
              </a:spcAft>
            </a:pPr>
            <a:r>
              <a:rPr sz="1250" b="1" i="0">
                <a:solidFill>
                  <a:srgbClr val="FFFFFF"/>
                </a:solidFill>
                <a:latin typeface="DM Sans"/>
              </a:rPr>
              <a:t>Workly</a:t>
            </a:r>
          </a:p>
        </p:txBody>
      </p:sp>
      <p:sp>
        <p:nvSpPr>
          <p:cNvPr id="124" name="TextBox 123"/>
          <p:cNvSpPr txBox="1"/>
          <p:nvPr/>
        </p:nvSpPr>
        <p:spPr>
          <a:xfrm>
            <a:off x="7936992" y="2871216"/>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planificateur intégré : huit étapes enchaînées chaque nuit à 00:30 UTC</a:t>
            </a:r>
          </a:p>
        </p:txBody>
      </p:sp>
      <p:sp>
        <p:nvSpPr>
          <p:cNvPr id="125" name="Rounded Rectangle 124"/>
          <p:cNvSpPr/>
          <p:nvPr/>
        </p:nvSpPr>
        <p:spPr>
          <a:xfrm>
            <a:off x="6473952" y="3675888"/>
            <a:ext cx="1280160" cy="329184"/>
          </a:xfrm>
          <a:prstGeom prst="roundRect">
            <a:avLst>
              <a:gd name="adj" fmla="val 50000"/>
            </a:avLst>
          </a:prstGeom>
          <a:solidFill>
            <a:srgbClr val="4A9BE0"/>
          </a:solidFill>
          <a:ln>
            <a:noFill/>
          </a:ln>
        </p:spPr>
        <p:txBody>
          <a:bodyPr wrap="square" lIns="36576" tIns="0" rIns="36576" bIns="0" rtlCol="0" anchor="ctr">
            <a:noAutofit/>
          </a:bodyPr>
          <a:lstStyle/>
          <a:p>
            <a:pPr algn="ctr">
              <a:lnSpc>
                <a:spcPct val="100000"/>
              </a:lnSpc>
              <a:spcBef>
                <a:spcPts val="0"/>
              </a:spcBef>
              <a:spcAft>
                <a:spcPts val="0"/>
              </a:spcAft>
            </a:pPr>
            <a:r>
              <a:rPr sz="1250" b="1" i="0">
                <a:solidFill>
                  <a:srgbClr val="1B2A4A"/>
                </a:solidFill>
                <a:latin typeface="DM Sans"/>
              </a:rPr>
              <a:t>Fusion</a:t>
            </a:r>
          </a:p>
        </p:txBody>
      </p:sp>
      <p:sp>
        <p:nvSpPr>
          <p:cNvPr id="126" name="TextBox 125"/>
          <p:cNvSpPr txBox="1"/>
          <p:nvPr/>
        </p:nvSpPr>
        <p:spPr>
          <a:xfrm>
            <a:off x="7936992" y="3639312"/>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un Cron à 06:00 UTC et un nœud HTTP, à la place de dix-sept nœuds</a:t>
            </a:r>
          </a:p>
        </p:txBody>
      </p:sp>
      <p:sp>
        <p:nvSpPr>
          <p:cNvPr id="127" name="Rounded Rectangle 126"/>
          <p:cNvSpPr/>
          <p:nvPr/>
        </p:nvSpPr>
        <p:spPr>
          <a:xfrm>
            <a:off x="6473952" y="4443984"/>
            <a:ext cx="1280160" cy="329184"/>
          </a:xfrm>
          <a:prstGeom prst="roundRect">
            <a:avLst>
              <a:gd name="adj" fmla="val 50000"/>
            </a:avLst>
          </a:prstGeom>
          <a:solidFill>
            <a:srgbClr val="7ACFC0"/>
          </a:solidFill>
          <a:ln>
            <a:noFill/>
          </a:ln>
        </p:spPr>
        <p:txBody>
          <a:bodyPr wrap="square" lIns="36576" tIns="0" rIns="36576" bIns="0" rtlCol="0" anchor="ctr">
            <a:noAutofit/>
          </a:bodyPr>
          <a:lstStyle/>
          <a:p>
            <a:pPr algn="ctr">
              <a:lnSpc>
                <a:spcPct val="100000"/>
              </a:lnSpc>
              <a:spcBef>
                <a:spcPts val="0"/>
              </a:spcBef>
              <a:spcAft>
                <a:spcPts val="0"/>
              </a:spcAft>
            </a:pPr>
            <a:r>
              <a:rPr sz="1250" b="1" i="0">
                <a:solidFill>
                  <a:srgbClr val="1B2A4A"/>
                </a:solidFill>
                <a:latin typeface="DM Sans"/>
              </a:rPr>
              <a:t>Agentic AI</a:t>
            </a:r>
          </a:p>
        </p:txBody>
      </p:sp>
      <p:sp>
        <p:nvSpPr>
          <p:cNvPr id="128" name="TextBox 127"/>
          <p:cNvSpPr txBox="1"/>
          <p:nvPr/>
        </p:nvSpPr>
        <p:spPr>
          <a:xfrm>
            <a:off x="7936992" y="4407408"/>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deux agents analysent le bilan, appuyés par un outil RAG, et rédigent le message</a:t>
            </a:r>
          </a:p>
        </p:txBody>
      </p:sp>
      <p:sp>
        <p:nvSpPr>
          <p:cNvPr id="129" name="Rounded Rectangle 128"/>
          <p:cNvSpPr/>
          <p:nvPr/>
        </p:nvSpPr>
        <p:spPr>
          <a:xfrm>
            <a:off x="694944" y="5468112"/>
            <a:ext cx="10799064" cy="694944"/>
          </a:xfrm>
          <a:prstGeom prst="roundRect">
            <a:avLst>
              <a:gd name="adj" fmla="val 15789"/>
            </a:avLst>
          </a:prstGeom>
          <a:solidFill>
            <a:srgbClr val="1B2A4A"/>
          </a:solidFill>
          <a:ln>
            <a:noFill/>
          </a:ln>
        </p:spPr>
        <p:txBody>
          <a:bodyPr rtlCol="0" anchor="ctr"/>
          <a:lstStyle/>
          <a:p>
            <a:pPr algn="ctr"/>
            <a:endParaRPr/>
          </a:p>
        </p:txBody>
      </p:sp>
      <p:sp>
        <p:nvSpPr>
          <p:cNvPr id="130" name="TextBox 129"/>
          <p:cNvSpPr txBox="1"/>
          <p:nvPr/>
        </p:nvSpPr>
        <p:spPr>
          <a:xfrm>
            <a:off x="987552" y="5468112"/>
            <a:ext cx="10241280" cy="694944"/>
          </a:xfrm>
          <a:prstGeom prst="rect">
            <a:avLst/>
          </a:prstGeom>
          <a:noFill/>
        </p:spPr>
        <p:txBody>
          <a:bodyPr wrap="square" lIns="0" tIns="0" rIns="0" bIns="0" anchor="ctr">
            <a:noAutofit/>
          </a:bodyPr>
          <a:lstStyle/>
          <a:p>
            <a:pPr algn="l">
              <a:lnSpc>
                <a:spcPct val="115000"/>
              </a:lnSpc>
              <a:spcBef>
                <a:spcPts val="0"/>
              </a:spcBef>
              <a:spcAft>
                <a:spcPts val="0"/>
              </a:spcAft>
            </a:pPr>
            <a:r>
              <a:rPr sz="1600" b="1" i="0">
                <a:solidFill>
                  <a:srgbClr val="7ACFC0"/>
                </a:solidFill>
                <a:latin typeface="DM Sans"/>
              </a:rPr>
              <a:t>Principe retenu : </a:t>
            </a:r>
            <a:r>
              <a:rPr sz="1600" b="0" i="0">
                <a:solidFill>
                  <a:srgbClr val="FFFFFF"/>
                </a:solidFill>
                <a:latin typeface="DM Sans"/>
              </a:rPr>
              <a:t>Workly planifie et exécute ; la plateforme surveille, analyse et prévient l’équipe.</a:t>
            </a:r>
          </a:p>
        </p:txBody>
      </p:sp>
      <p:sp>
        <p:nvSpPr>
          <p:cNvPr id="131" name="TextBox 130"/>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Capture de gauche : canevas Fusion du livrable 2, dix-sept nœuds HTTP enchaînés par la plateforme.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Une chaîne complète de bout en bout : Workly, Cron, agents IA appuyés par un RAG, message Slack</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22</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810512"/>
            <a:ext cx="3840480" cy="1280160"/>
          </a:xfrm>
          <a:prstGeom prst="roundRect">
            <a:avLst>
              <a:gd name="adj" fmla="val 11907"/>
            </a:avLst>
          </a:prstGeom>
          <a:solidFill>
            <a:srgbClr val="24375F"/>
          </a:solidFill>
          <a:ln>
            <a:noFill/>
          </a:ln>
        </p:spPr>
        <p:txBody>
          <a:bodyPr rtlCol="0" anchor="ctr"/>
          <a:lstStyle/>
          <a:p>
            <a:pPr algn="ctr"/>
            <a:endParaRPr/>
          </a:p>
        </p:txBody>
      </p:sp>
      <p:sp>
        <p:nvSpPr>
          <p:cNvPr id="253" name="Rounded Rectangle 252"/>
          <p:cNvSpPr/>
          <p:nvPr/>
        </p:nvSpPr>
        <p:spPr>
          <a:xfrm>
            <a:off x="896112" y="2011680"/>
            <a:ext cx="1097280" cy="292608"/>
          </a:xfrm>
          <a:prstGeom prst="roundRect">
            <a:avLst>
              <a:gd name="adj" fmla="val 50000"/>
            </a:avLst>
          </a:prstGeom>
          <a:solidFill>
            <a:srgbClr val="6B3FA0"/>
          </a:solidFill>
          <a:ln>
            <a:noFill/>
          </a:ln>
        </p:spPr>
        <p:txBody>
          <a:bodyPr wrap="square" lIns="36576" tIns="0" rIns="36576" bIns="0" rtlCol="0" anchor="ctr">
            <a:noAutofit/>
          </a:bodyPr>
          <a:lstStyle/>
          <a:p>
            <a:pPr algn="ctr">
              <a:lnSpc>
                <a:spcPct val="100000"/>
              </a:lnSpc>
              <a:spcBef>
                <a:spcPts val="0"/>
              </a:spcBef>
              <a:spcAft>
                <a:spcPts val="0"/>
              </a:spcAft>
            </a:pPr>
            <a:r>
              <a:rPr sz="1200" b="1" i="0">
                <a:solidFill>
                  <a:srgbClr val="FFFFFF"/>
                </a:solidFill>
                <a:latin typeface="DM Sans"/>
              </a:rPr>
              <a:t>00:30 UTC</a:t>
            </a:r>
          </a:p>
        </p:txBody>
      </p:sp>
      <p:sp>
        <p:nvSpPr>
          <p:cNvPr id="254" name="TextBox 253"/>
          <p:cNvSpPr txBox="1"/>
          <p:nvPr/>
        </p:nvSpPr>
        <p:spPr>
          <a:xfrm>
            <a:off x="2139696" y="1956816"/>
            <a:ext cx="2286000" cy="45720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E4E9F5"/>
                </a:solidFill>
                <a:latin typeface="DM Sans"/>
              </a:rPr>
              <a:t>Workly exécute les huit étapes de la nuit</a:t>
            </a:r>
          </a:p>
        </p:txBody>
      </p:sp>
      <p:sp>
        <p:nvSpPr>
          <p:cNvPr id="255" name="Rounded Rectangle 254"/>
          <p:cNvSpPr/>
          <p:nvPr/>
        </p:nvSpPr>
        <p:spPr>
          <a:xfrm>
            <a:off x="896112" y="2596896"/>
            <a:ext cx="1097280" cy="292608"/>
          </a:xfrm>
          <a:prstGeom prst="roundRect">
            <a:avLst>
              <a:gd name="adj" fmla="val 50000"/>
            </a:avLst>
          </a:prstGeom>
          <a:solidFill>
            <a:srgbClr val="4A9BE0"/>
          </a:solidFill>
          <a:ln>
            <a:noFill/>
          </a:ln>
        </p:spPr>
        <p:txBody>
          <a:bodyPr wrap="square" lIns="36576" tIns="0" rIns="36576" bIns="0" rtlCol="0" anchor="ctr">
            <a:noAutofit/>
          </a:bodyPr>
          <a:lstStyle/>
          <a:p>
            <a:pPr algn="ctr">
              <a:lnSpc>
                <a:spcPct val="100000"/>
              </a:lnSpc>
              <a:spcBef>
                <a:spcPts val="0"/>
              </a:spcBef>
              <a:spcAft>
                <a:spcPts val="0"/>
              </a:spcAft>
            </a:pPr>
            <a:r>
              <a:rPr sz="1200" b="1" i="0">
                <a:solidFill>
                  <a:srgbClr val="1B2A4A"/>
                </a:solidFill>
                <a:latin typeface="DM Sans"/>
              </a:rPr>
              <a:t>06:00 UTC</a:t>
            </a:r>
          </a:p>
        </p:txBody>
      </p:sp>
      <p:sp>
        <p:nvSpPr>
          <p:cNvPr id="256" name="TextBox 255"/>
          <p:cNvSpPr txBox="1"/>
          <p:nvPr/>
        </p:nvSpPr>
        <p:spPr>
          <a:xfrm>
            <a:off x="2139696" y="2542032"/>
            <a:ext cx="2286000" cy="45720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E4E9F5"/>
                </a:solidFill>
                <a:latin typeface="DM Sans"/>
              </a:rPr>
              <a:t>Fusion déclenche le flux et lit le bilan</a:t>
            </a:r>
          </a:p>
        </p:txBody>
      </p:sp>
      <p:sp>
        <p:nvSpPr>
          <p:cNvPr id="257" name="Rounded Rectangle 256"/>
          <p:cNvSpPr/>
          <p:nvPr/>
        </p:nvSpPr>
        <p:spPr>
          <a:xfrm>
            <a:off x="4809744" y="1810512"/>
            <a:ext cx="1554480" cy="1280160"/>
          </a:xfrm>
          <a:prstGeom prst="roundRect">
            <a:avLst>
              <a:gd name="adj" fmla="val 11907"/>
            </a:avLst>
          </a:prstGeom>
          <a:solidFill>
            <a:srgbClr val="24375F"/>
          </a:solidFill>
          <a:ln>
            <a:noFill/>
          </a:ln>
        </p:spPr>
        <p:txBody>
          <a:bodyPr rtlCol="0" anchor="ctr"/>
          <a:lstStyle/>
          <a:p>
            <a:pPr algn="ctr"/>
            <a:endParaRPr/>
          </a:p>
        </p:txBody>
      </p:sp>
      <p:sp>
        <p:nvSpPr>
          <p:cNvPr id="258" name="Rectangle 257"/>
          <p:cNvSpPr/>
          <p:nvPr/>
        </p:nvSpPr>
        <p:spPr>
          <a:xfrm>
            <a:off x="4809744" y="1810512"/>
            <a:ext cx="1554480" cy="1280160"/>
          </a:xfrm>
          <a:custGeom>
            <a:avLst/>
            <a:gdLst/>
            <a:ahLst/>
            <a:cxnLst/>
            <a:rect l="l" t="t" r="r" b="b"/>
            <a:pathLst>
              <a:path w="1554480" h="1280160" extrusionOk="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259" name="TextBox 258"/>
          <p:cNvSpPr txBox="1"/>
          <p:nvPr/>
        </p:nvSpPr>
        <p:spPr>
          <a:xfrm>
            <a:off x="4809744" y="20116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600" b="1" i="0">
                <a:solidFill>
                  <a:srgbClr val="FFFFFF"/>
                </a:solidFill>
                <a:latin typeface="Sora"/>
              </a:rPr>
              <a:t>Cron</a:t>
            </a:r>
          </a:p>
        </p:txBody>
      </p:sp>
      <p:sp>
        <p:nvSpPr>
          <p:cNvPr id="260" name="TextBox 259"/>
          <p:cNvSpPr txBox="1"/>
          <p:nvPr/>
        </p:nvSpPr>
        <p:spPr>
          <a:xfrm>
            <a:off x="4809744" y="2395728"/>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500" b="1" i="0">
                <a:solidFill>
                  <a:srgbClr val="7ACFC0"/>
                </a:solidFill>
                <a:latin typeface="Sora"/>
              </a:rPr>
              <a:t>06:00 UTC</a:t>
            </a:r>
          </a:p>
        </p:txBody>
      </p:sp>
      <p:sp>
        <p:nvSpPr>
          <p:cNvPr id="261" name="TextBox 260"/>
          <p:cNvSpPr txBox="1"/>
          <p:nvPr/>
        </p:nvSpPr>
        <p:spPr>
          <a:xfrm>
            <a:off x="4809744" y="26974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C9D1E8"/>
                </a:solidFill>
                <a:latin typeface="DM Sans"/>
              </a:rPr>
              <a:t>chaque jour</a:t>
            </a:r>
          </a:p>
        </p:txBody>
      </p:sp>
      <p:cxnSp>
        <p:nvCxnSpPr>
          <p:cNvPr id="262" name="Connector 261"/>
          <p:cNvCxnSpPr/>
          <p:nvPr/>
        </p:nvCxnSpPr>
        <p:spPr>
          <a:xfrm>
            <a:off x="6382512" y="2450592"/>
            <a:ext cx="329184" cy="0"/>
          </a:xfrm>
          <a:prstGeom prst="line">
            <a:avLst/>
          </a:prstGeom>
          <a:ln w="22225">
            <a:solidFill>
              <a:srgbClr val="7ACFC0"/>
            </a:solidFill>
            <a:tailEnd type="triangle" w="med" len="med"/>
          </a:ln>
        </p:spPr>
      </p:cxnSp>
      <p:sp>
        <p:nvSpPr>
          <p:cNvPr id="263" name="Rounded Rectangle 262"/>
          <p:cNvSpPr/>
          <p:nvPr/>
        </p:nvSpPr>
        <p:spPr>
          <a:xfrm>
            <a:off x="6729984" y="1810512"/>
            <a:ext cx="1554480" cy="1280160"/>
          </a:xfrm>
          <a:prstGeom prst="roundRect">
            <a:avLst>
              <a:gd name="adj" fmla="val 11907"/>
            </a:avLst>
          </a:prstGeom>
          <a:solidFill>
            <a:srgbClr val="24375F"/>
          </a:solidFill>
          <a:ln>
            <a:noFill/>
          </a:ln>
        </p:spPr>
        <p:txBody>
          <a:bodyPr rtlCol="0" anchor="ctr"/>
          <a:lstStyle/>
          <a:p>
            <a:pPr algn="ctr"/>
            <a:endParaRPr/>
          </a:p>
        </p:txBody>
      </p:sp>
      <p:sp>
        <p:nvSpPr>
          <p:cNvPr id="264" name="Rectangle 263"/>
          <p:cNvSpPr/>
          <p:nvPr/>
        </p:nvSpPr>
        <p:spPr>
          <a:xfrm>
            <a:off x="6729984" y="1810512"/>
            <a:ext cx="1554480" cy="1280160"/>
          </a:xfrm>
          <a:custGeom>
            <a:avLst/>
            <a:gdLst/>
            <a:ahLst/>
            <a:cxnLst/>
            <a:rect l="l" t="t" r="r" b="b"/>
            <a:pathLst>
              <a:path w="1554480" h="1280160" extrusionOk="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265" name="TextBox 264"/>
          <p:cNvSpPr txBox="1"/>
          <p:nvPr/>
        </p:nvSpPr>
        <p:spPr>
          <a:xfrm>
            <a:off x="6729984" y="20116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600" b="1" i="0">
                <a:solidFill>
                  <a:srgbClr val="FFFFFF"/>
                </a:solidFill>
                <a:latin typeface="Sora"/>
              </a:rPr>
              <a:t>Nœud HTTP</a:t>
            </a:r>
          </a:p>
        </p:txBody>
      </p:sp>
      <p:sp>
        <p:nvSpPr>
          <p:cNvPr id="266" name="TextBox 265"/>
          <p:cNvSpPr txBox="1"/>
          <p:nvPr/>
        </p:nvSpPr>
        <p:spPr>
          <a:xfrm>
            <a:off x="6729984" y="2395728"/>
            <a:ext cx="1554480" cy="457200"/>
          </a:xfrm>
          <a:prstGeom prst="rect">
            <a:avLst/>
          </a:prstGeom>
          <a:noFill/>
        </p:spPr>
        <p:txBody>
          <a:bodyPr wrap="square" lIns="0" tIns="0" rIns="0" bIns="0" anchor="t">
            <a:noAutofit/>
          </a:bodyPr>
          <a:lstStyle/>
          <a:p>
            <a:pPr algn="ctr">
              <a:lnSpc>
                <a:spcPct val="110000"/>
              </a:lnSpc>
              <a:spcBef>
                <a:spcPts val="0"/>
              </a:spcBef>
              <a:spcAft>
                <a:spcPts val="0"/>
              </a:spcAft>
            </a:pPr>
            <a:r>
              <a:rPr sz="1200" b="0" i="0">
                <a:solidFill>
                  <a:srgbClr val="C9D1E8"/>
                </a:solidFill>
                <a:latin typeface="DM Sans"/>
              </a:rPr>
              <a:t>un appel sécurisé</a:t>
            </a:r>
          </a:p>
          <a:p>
            <a:pPr algn="ctr">
              <a:lnSpc>
                <a:spcPct val="110000"/>
              </a:lnSpc>
              <a:spcBef>
                <a:spcPts val="0"/>
              </a:spcBef>
              <a:spcAft>
                <a:spcPts val="0"/>
              </a:spcAft>
            </a:pPr>
            <a:r>
              <a:rPr sz="1200" b="0" i="0">
                <a:solidFill>
                  <a:srgbClr val="C9D1E8"/>
                </a:solidFill>
                <a:latin typeface="DM Sans"/>
              </a:rPr>
              <a:t>par jeton</a:t>
            </a:r>
          </a:p>
        </p:txBody>
      </p:sp>
      <p:cxnSp>
        <p:nvCxnSpPr>
          <p:cNvPr id="267" name="Connector 266"/>
          <p:cNvCxnSpPr/>
          <p:nvPr/>
        </p:nvCxnSpPr>
        <p:spPr>
          <a:xfrm>
            <a:off x="7507224" y="3108960"/>
            <a:ext cx="0" cy="484632"/>
          </a:xfrm>
          <a:prstGeom prst="line">
            <a:avLst/>
          </a:prstGeom>
          <a:ln w="22225">
            <a:solidFill>
              <a:srgbClr val="7ACFC0"/>
            </a:solidFill>
            <a:tailEnd type="triangle" w="med" len="med"/>
          </a:ln>
        </p:spPr>
      </p:cxnSp>
      <p:sp>
        <p:nvSpPr>
          <p:cNvPr id="268" name="TextBox 267"/>
          <p:cNvSpPr txBox="1"/>
          <p:nvPr/>
        </p:nvSpPr>
        <p:spPr>
          <a:xfrm>
            <a:off x="7635240" y="3200400"/>
            <a:ext cx="173736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C9D1E8"/>
                </a:solidFill>
                <a:latin typeface="DM Sans"/>
              </a:rPr>
              <a:t>lance le flux</a:t>
            </a:r>
          </a:p>
        </p:txBody>
      </p:sp>
      <p:sp>
        <p:nvSpPr>
          <p:cNvPr id="269" name="Rounded Rectangle 268"/>
          <p:cNvSpPr/>
          <p:nvPr/>
        </p:nvSpPr>
        <p:spPr>
          <a:xfrm>
            <a:off x="694944" y="3630168"/>
            <a:ext cx="2926080" cy="2057400"/>
          </a:xfrm>
          <a:prstGeom prst="roundRect">
            <a:avLst>
              <a:gd name="adj" fmla="val 7408"/>
            </a:avLst>
          </a:prstGeom>
          <a:solidFill>
            <a:srgbClr val="24375F"/>
          </a:solidFill>
          <a:ln>
            <a:noFill/>
          </a:ln>
        </p:spPr>
        <p:txBody>
          <a:bodyPr rtlCol="0" anchor="ctr"/>
          <a:lstStyle/>
          <a:p>
            <a:pPr algn="ctr"/>
            <a:endParaRPr/>
          </a:p>
        </p:txBody>
      </p:sp>
      <p:sp>
        <p:nvSpPr>
          <p:cNvPr id="270" name="Rectangle 269"/>
          <p:cNvSpPr/>
          <p:nvPr/>
        </p:nvSpPr>
        <p:spPr>
          <a:xfrm>
            <a:off x="694944" y="3630168"/>
            <a:ext cx="2926080" cy="2057400"/>
          </a:xfrm>
          <a:custGeom>
            <a:avLst/>
            <a:gdLst/>
            <a:ahLst/>
            <a:cxnLst/>
            <a:rect l="l" t="t" r="r" b="b"/>
            <a:pathLst>
              <a:path w="2926080" h="2057400" extrusionOk="0">
                <a:moveTo>
                  <a:pt x="0" y="152400"/>
                </a:moveTo>
                <a:cubicBezTo>
                  <a:pt x="0" y="68229"/>
                  <a:pt x="68229" y="0"/>
                  <a:pt x="152400" y="0"/>
                </a:cubicBezTo>
                <a:lnTo>
                  <a:pt x="2773680" y="0"/>
                </a:lnTo>
                <a:cubicBezTo>
                  <a:pt x="2857850" y="0"/>
                  <a:pt x="2926080" y="68229"/>
                  <a:pt x="2926080" y="152400"/>
                </a:cubicBezTo>
                <a:cubicBezTo>
                  <a:pt x="2926080" y="103311"/>
                  <a:pt x="2857851" y="63500"/>
                  <a:pt x="277368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endParaRPr/>
          </a:p>
        </p:txBody>
      </p:sp>
      <p:sp>
        <p:nvSpPr>
          <p:cNvPr id="271" name="TextBox 270"/>
          <p:cNvSpPr txBox="1"/>
          <p:nvPr/>
        </p:nvSpPr>
        <p:spPr>
          <a:xfrm>
            <a:off x="914400" y="3867912"/>
            <a:ext cx="256032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Workly (PC)</a:t>
            </a:r>
          </a:p>
        </p:txBody>
      </p:sp>
      <p:sp>
        <p:nvSpPr>
          <p:cNvPr id="272" name="TextBox 271"/>
          <p:cNvSpPr txBox="1"/>
          <p:nvPr/>
        </p:nvSpPr>
        <p:spPr>
          <a:xfrm>
            <a:off x="914400" y="4343400"/>
            <a:ext cx="256032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Planificateur intégré</a:t>
            </a:r>
          </a:p>
          <a:p>
            <a:pPr algn="l">
              <a:lnSpc>
                <a:spcPct val="115000"/>
              </a:lnSpc>
              <a:spcBef>
                <a:spcPts val="0"/>
              </a:spcBef>
              <a:spcAft>
                <a:spcPts val="300"/>
              </a:spcAft>
            </a:pPr>
            <a:r>
              <a:rPr sz="1300" b="0" i="0">
                <a:solidFill>
                  <a:srgbClr val="C9D1E8"/>
                </a:solidFill>
                <a:latin typeface="DM Sans"/>
              </a:rPr>
              <a:t>Journal des tâches</a:t>
            </a:r>
          </a:p>
          <a:p>
            <a:pPr algn="l">
              <a:lnSpc>
                <a:spcPct val="115000"/>
              </a:lnSpc>
              <a:spcBef>
                <a:spcPts val="0"/>
              </a:spcBef>
              <a:spcAft>
                <a:spcPts val="300"/>
              </a:spcAft>
            </a:pPr>
            <a:r>
              <a:rPr sz="1300" b="0" i="0">
                <a:solidFill>
                  <a:srgbClr val="C9D1E8"/>
                </a:solidFill>
                <a:latin typeface="DM Sans"/>
              </a:rPr>
              <a:t>Bilan de la nuit</a:t>
            </a:r>
          </a:p>
          <a:p>
            <a:pPr algn="l">
              <a:lnSpc>
                <a:spcPct val="115000"/>
              </a:lnSpc>
              <a:spcBef>
                <a:spcPts val="0"/>
              </a:spcBef>
              <a:spcAft>
                <a:spcPts val="300"/>
              </a:spcAft>
            </a:pPr>
            <a:r>
              <a:rPr sz="1300" b="0" i="0">
                <a:solidFill>
                  <a:srgbClr val="C9D1E8"/>
                </a:solidFill>
                <a:latin typeface="DM Sans"/>
              </a:rPr>
              <a:t>Base de connaissances (RAG)</a:t>
            </a:r>
          </a:p>
        </p:txBody>
      </p:sp>
      <p:sp>
        <p:nvSpPr>
          <p:cNvPr id="273" name="Rounded Rectangle 272"/>
          <p:cNvSpPr/>
          <p:nvPr/>
        </p:nvSpPr>
        <p:spPr>
          <a:xfrm>
            <a:off x="4809744" y="3630168"/>
            <a:ext cx="3474720" cy="2057400"/>
          </a:xfrm>
          <a:prstGeom prst="roundRect">
            <a:avLst>
              <a:gd name="adj" fmla="val 7408"/>
            </a:avLst>
          </a:prstGeom>
          <a:solidFill>
            <a:srgbClr val="24375F"/>
          </a:solidFill>
          <a:ln>
            <a:noFill/>
          </a:ln>
        </p:spPr>
        <p:txBody>
          <a:bodyPr rtlCol="0" anchor="ctr"/>
          <a:lstStyle/>
          <a:p>
            <a:pPr algn="ctr"/>
            <a:endParaRPr/>
          </a:p>
        </p:txBody>
      </p:sp>
      <p:sp>
        <p:nvSpPr>
          <p:cNvPr id="274" name="Rectangle 273"/>
          <p:cNvSpPr/>
          <p:nvPr/>
        </p:nvSpPr>
        <p:spPr>
          <a:xfrm>
            <a:off x="4809744" y="3630168"/>
            <a:ext cx="3474720" cy="2057400"/>
          </a:xfrm>
          <a:custGeom>
            <a:avLst/>
            <a:gdLst/>
            <a:ahLst/>
            <a:cxnLst/>
            <a:rect l="l" t="t" r="r" b="b"/>
            <a:pathLst>
              <a:path w="3474720" h="2057400" extrusionOk="0">
                <a:moveTo>
                  <a:pt x="0" y="152400"/>
                </a:moveTo>
                <a:cubicBezTo>
                  <a:pt x="0" y="68229"/>
                  <a:pt x="68229" y="0"/>
                  <a:pt x="152400" y="0"/>
                </a:cubicBezTo>
                <a:lnTo>
                  <a:pt x="3322320" y="0"/>
                </a:lnTo>
                <a:cubicBezTo>
                  <a:pt x="3406490" y="0"/>
                  <a:pt x="3474720" y="68229"/>
                  <a:pt x="3474720" y="152400"/>
                </a:cubicBezTo>
                <a:cubicBezTo>
                  <a:pt x="3474720" y="103311"/>
                  <a:pt x="3406491" y="63500"/>
                  <a:pt x="332232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275" name="TextBox 274"/>
          <p:cNvSpPr txBox="1"/>
          <p:nvPr/>
        </p:nvSpPr>
        <p:spPr>
          <a:xfrm>
            <a:off x="5029200" y="3867912"/>
            <a:ext cx="31089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Flux Agentic AI</a:t>
            </a:r>
          </a:p>
        </p:txBody>
      </p:sp>
      <p:sp>
        <p:nvSpPr>
          <p:cNvPr id="276" name="TextBox 275"/>
          <p:cNvSpPr txBox="1"/>
          <p:nvPr/>
        </p:nvSpPr>
        <p:spPr>
          <a:xfrm>
            <a:off x="5029200" y="4343400"/>
            <a:ext cx="310896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Lecture du bilan et des sources</a:t>
            </a:r>
          </a:p>
          <a:p>
            <a:pPr algn="l">
              <a:lnSpc>
                <a:spcPct val="115000"/>
              </a:lnSpc>
              <a:spcBef>
                <a:spcPts val="0"/>
              </a:spcBef>
              <a:spcAft>
                <a:spcPts val="300"/>
              </a:spcAft>
            </a:pPr>
            <a:r>
              <a:rPr sz="1300" b="0" i="0">
                <a:solidFill>
                  <a:srgbClr val="C9D1E8"/>
                </a:solidFill>
                <a:latin typeface="DM Sans"/>
              </a:rPr>
              <a:t>Agent Analyste : gravité et cause</a:t>
            </a:r>
          </a:p>
          <a:p>
            <a:pPr algn="l">
              <a:lnSpc>
                <a:spcPct val="115000"/>
              </a:lnSpc>
              <a:spcBef>
                <a:spcPts val="0"/>
              </a:spcBef>
              <a:spcAft>
                <a:spcPts val="300"/>
              </a:spcAft>
            </a:pPr>
            <a:r>
              <a:rPr sz="1300" b="0" i="0">
                <a:solidFill>
                  <a:srgbClr val="C9D1E8"/>
                </a:solidFill>
                <a:latin typeface="DM Sans"/>
              </a:rPr>
              <a:t>Agent Rédacteur : message</a:t>
            </a:r>
          </a:p>
          <a:p>
            <a:pPr algn="l">
              <a:lnSpc>
                <a:spcPct val="115000"/>
              </a:lnSpc>
              <a:spcBef>
                <a:spcPts val="0"/>
              </a:spcBef>
              <a:spcAft>
                <a:spcPts val="300"/>
              </a:spcAft>
            </a:pPr>
            <a:r>
              <a:rPr sz="1300" b="0" i="0">
                <a:solidFill>
                  <a:srgbClr val="C9D1E8"/>
                </a:solidFill>
                <a:latin typeface="DM Sans"/>
              </a:rPr>
              <a:t>Envoi du message</a:t>
            </a:r>
          </a:p>
        </p:txBody>
      </p:sp>
      <p:sp>
        <p:nvSpPr>
          <p:cNvPr id="277" name="Rounded Rectangle 276"/>
          <p:cNvSpPr/>
          <p:nvPr/>
        </p:nvSpPr>
        <p:spPr>
          <a:xfrm>
            <a:off x="9107424" y="3630168"/>
            <a:ext cx="2386584" cy="2057400"/>
          </a:xfrm>
          <a:prstGeom prst="roundRect">
            <a:avLst>
              <a:gd name="adj" fmla="val 7408"/>
            </a:avLst>
          </a:prstGeom>
          <a:solidFill>
            <a:srgbClr val="24375F"/>
          </a:solidFill>
          <a:ln>
            <a:noFill/>
          </a:ln>
        </p:spPr>
        <p:txBody>
          <a:bodyPr rtlCol="0" anchor="ctr"/>
          <a:lstStyle/>
          <a:p>
            <a:pPr algn="ctr"/>
            <a:endParaRPr/>
          </a:p>
        </p:txBody>
      </p:sp>
      <p:sp>
        <p:nvSpPr>
          <p:cNvPr id="278" name="Rectangle 277"/>
          <p:cNvSpPr/>
          <p:nvPr/>
        </p:nvSpPr>
        <p:spPr>
          <a:xfrm>
            <a:off x="9107424" y="3630168"/>
            <a:ext cx="2386584" cy="2057400"/>
          </a:xfrm>
          <a:custGeom>
            <a:avLst/>
            <a:gdLst/>
            <a:ahLst/>
            <a:cxnLst/>
            <a:rect l="l" t="t" r="r" b="b"/>
            <a:pathLst>
              <a:path w="2386584" h="2057400" extrusionOk="0">
                <a:moveTo>
                  <a:pt x="0" y="152400"/>
                </a:moveTo>
                <a:cubicBezTo>
                  <a:pt x="0" y="68229"/>
                  <a:pt x="68229" y="0"/>
                  <a:pt x="152400" y="0"/>
                </a:cubicBezTo>
                <a:lnTo>
                  <a:pt x="2234184" y="0"/>
                </a:lnTo>
                <a:cubicBezTo>
                  <a:pt x="2318354" y="0"/>
                  <a:pt x="2386584" y="68229"/>
                  <a:pt x="2386584" y="152400"/>
                </a:cubicBezTo>
                <a:cubicBezTo>
                  <a:pt x="2386584" y="103311"/>
                  <a:pt x="2318355" y="63500"/>
                  <a:pt x="223418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279" name="TextBox 278"/>
          <p:cNvSpPr txBox="1"/>
          <p:nvPr/>
        </p:nvSpPr>
        <p:spPr>
          <a:xfrm>
            <a:off x="9326880" y="3867912"/>
            <a:ext cx="201168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Slack</a:t>
            </a:r>
          </a:p>
        </p:txBody>
      </p:sp>
      <p:sp>
        <p:nvSpPr>
          <p:cNvPr id="280" name="TextBox 279"/>
          <p:cNvSpPr txBox="1"/>
          <p:nvPr/>
        </p:nvSpPr>
        <p:spPr>
          <a:xfrm>
            <a:off x="9326880" y="4343400"/>
            <a:ext cx="205740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Webhook entrant</a:t>
            </a:r>
          </a:p>
          <a:p>
            <a:pPr algn="l">
              <a:lnSpc>
                <a:spcPct val="115000"/>
              </a:lnSpc>
              <a:spcBef>
                <a:spcPts val="0"/>
              </a:spcBef>
              <a:spcAft>
                <a:spcPts val="300"/>
              </a:spcAft>
            </a:pPr>
            <a:r>
              <a:rPr sz="1300" b="0" i="0">
                <a:solidFill>
                  <a:srgbClr val="C9D1E8"/>
                </a:solidFill>
                <a:latin typeface="DM Sans"/>
              </a:rPr>
              <a:t>Canal dédié à l’équipe</a:t>
            </a:r>
          </a:p>
          <a:p>
            <a:pPr algn="l">
              <a:lnSpc>
                <a:spcPct val="115000"/>
              </a:lnSpc>
              <a:spcBef>
                <a:spcPts val="0"/>
              </a:spcBef>
              <a:spcAft>
                <a:spcPts val="300"/>
              </a:spcAft>
            </a:pPr>
            <a:r>
              <a:rPr sz="1300" b="0" i="0">
                <a:solidFill>
                  <a:srgbClr val="C9D1E8"/>
                </a:solidFill>
                <a:latin typeface="DM Sans"/>
              </a:rPr>
              <a:t>Un message par matin</a:t>
            </a:r>
          </a:p>
        </p:txBody>
      </p:sp>
      <p:cxnSp>
        <p:nvCxnSpPr>
          <p:cNvPr id="281" name="Connector 280"/>
          <p:cNvCxnSpPr/>
          <p:nvPr/>
        </p:nvCxnSpPr>
        <p:spPr>
          <a:xfrm flipH="1">
            <a:off x="3657600" y="4288536"/>
            <a:ext cx="1115568" cy="0"/>
          </a:xfrm>
          <a:prstGeom prst="line">
            <a:avLst/>
          </a:prstGeom>
          <a:ln w="22225">
            <a:solidFill>
              <a:srgbClr val="7ACFC0"/>
            </a:solidFill>
            <a:tailEnd type="triangle" w="med" len="med"/>
          </a:ln>
        </p:spPr>
      </p:cxnSp>
      <p:sp>
        <p:nvSpPr>
          <p:cNvPr id="282" name="TextBox 281"/>
          <p:cNvSpPr txBox="1"/>
          <p:nvPr/>
        </p:nvSpPr>
        <p:spPr>
          <a:xfrm>
            <a:off x="3657600" y="3977640"/>
            <a:ext cx="1115568"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lit le bilan</a:t>
            </a:r>
          </a:p>
        </p:txBody>
      </p:sp>
      <p:sp>
        <p:nvSpPr>
          <p:cNvPr id="283" name="Rounded Rectangle 282"/>
          <p:cNvSpPr/>
          <p:nvPr/>
        </p:nvSpPr>
        <p:spPr>
          <a:xfrm>
            <a:off x="3703320" y="4544568"/>
            <a:ext cx="1024128" cy="274320"/>
          </a:xfrm>
          <a:prstGeom prst="roundRect">
            <a:avLst>
              <a:gd name="adj" fmla="val 50000"/>
            </a:avLst>
          </a:prstGeom>
          <a:solidFill>
            <a:srgbClr val="142040"/>
          </a:solidFill>
          <a:ln>
            <a:noFill/>
          </a:ln>
        </p:spPr>
        <p:txBody>
          <a:bodyPr wrap="square" lIns="36576" tIns="0" rIns="36576" bIns="0" rtlCol="0" anchor="ctr">
            <a:noAutofit/>
          </a:bodyPr>
          <a:lstStyle/>
          <a:p>
            <a:pPr algn="ctr">
              <a:lnSpc>
                <a:spcPct val="100000"/>
              </a:lnSpc>
              <a:spcBef>
                <a:spcPts val="0"/>
              </a:spcBef>
              <a:spcAft>
                <a:spcPts val="0"/>
              </a:spcAft>
            </a:pPr>
            <a:r>
              <a:rPr sz="1050" b="1" i="0">
                <a:solidFill>
                  <a:srgbClr val="C9D1E8"/>
                </a:solidFill>
                <a:latin typeface="DM Sans"/>
              </a:rPr>
              <a:t>tunnel ngrok</a:t>
            </a:r>
          </a:p>
        </p:txBody>
      </p:sp>
      <p:cxnSp>
        <p:nvCxnSpPr>
          <p:cNvPr id="284" name="Connector 283"/>
          <p:cNvCxnSpPr/>
          <p:nvPr/>
        </p:nvCxnSpPr>
        <p:spPr>
          <a:xfrm>
            <a:off x="3657600" y="5074920"/>
            <a:ext cx="1115568" cy="0"/>
          </a:xfrm>
          <a:prstGeom prst="line">
            <a:avLst/>
          </a:prstGeom>
          <a:ln w="22225">
            <a:solidFill>
              <a:srgbClr val="7ACFC0"/>
            </a:solidFill>
            <a:tailEnd type="triangle" w="med" len="med"/>
          </a:ln>
        </p:spPr>
      </p:cxnSp>
      <p:sp>
        <p:nvSpPr>
          <p:cNvPr id="285" name="TextBox 284"/>
          <p:cNvSpPr txBox="1"/>
          <p:nvPr/>
        </p:nvSpPr>
        <p:spPr>
          <a:xfrm>
            <a:off x="3657600" y="5148072"/>
            <a:ext cx="1115568"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bilan + sources</a:t>
            </a:r>
          </a:p>
        </p:txBody>
      </p:sp>
      <p:cxnSp>
        <p:nvCxnSpPr>
          <p:cNvPr id="286" name="Connector 285"/>
          <p:cNvCxnSpPr/>
          <p:nvPr/>
        </p:nvCxnSpPr>
        <p:spPr>
          <a:xfrm>
            <a:off x="8321040" y="4681728"/>
            <a:ext cx="749808" cy="0"/>
          </a:xfrm>
          <a:prstGeom prst="line">
            <a:avLst/>
          </a:prstGeom>
          <a:ln w="22225">
            <a:solidFill>
              <a:srgbClr val="7ACFC0"/>
            </a:solidFill>
            <a:tailEnd type="triangle" w="med" len="med"/>
          </a:ln>
        </p:spPr>
      </p:cxnSp>
      <p:sp>
        <p:nvSpPr>
          <p:cNvPr id="287" name="TextBox 286"/>
          <p:cNvSpPr txBox="1"/>
          <p:nvPr/>
        </p:nvSpPr>
        <p:spPr>
          <a:xfrm>
            <a:off x="8284464" y="4361688"/>
            <a:ext cx="822960"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webhook</a:t>
            </a:r>
          </a:p>
        </p:txBody>
      </p:sp>
      <p:sp>
        <p:nvSpPr>
          <p:cNvPr id="288" name="TextBox 28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Jetons et adresse du webhook : saisis dans les nœuds, jamais montrés dans ces diapositives.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planificateur démarre sans interface graphique et exécute seul la chaîne de nuit</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23</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pic>
        <p:nvPicPr>
          <p:cNvPr id="113" name="Picture 112" descr="terminal.png"/>
          <p:cNvPicPr>
            <a:picLocks noChangeAspect="1"/>
          </p:cNvPicPr>
          <p:nvPr/>
        </p:nvPicPr>
        <p:blipFill>
          <a:blip r:embed="rId3"/>
          <a:stretch>
            <a:fillRect/>
          </a:stretch>
        </p:blipFill>
        <p:spPr>
          <a:xfrm>
            <a:off x="694944" y="1810512"/>
            <a:ext cx="5577840" cy="1327402"/>
          </a:xfrm>
          <a:prstGeom prst="rect">
            <a:avLst/>
          </a:prstGeom>
          <a:ln w="9525">
            <a:solidFill>
              <a:srgbClr val="D5DAE8"/>
            </a:solidFill>
          </a:ln>
        </p:spPr>
      </p:pic>
      <p:sp>
        <p:nvSpPr>
          <p:cNvPr id="114" name="TextBox 113"/>
          <p:cNvSpPr txBox="1"/>
          <p:nvPr/>
        </p:nvSpPr>
        <p:spPr>
          <a:xfrm>
            <a:off x="694944" y="3229354"/>
            <a:ext cx="557784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Figure 3. Démarrage du planificateur sur le poste de démonstration.</a:t>
            </a:r>
          </a:p>
        </p:txBody>
      </p:sp>
      <p:sp>
        <p:nvSpPr>
          <p:cNvPr id="115" name="Rounded Rectangle 114"/>
          <p:cNvSpPr/>
          <p:nvPr/>
        </p:nvSpPr>
        <p:spPr>
          <a:xfrm>
            <a:off x="694944" y="3686554"/>
            <a:ext cx="5577840" cy="1417320"/>
          </a:xfrm>
          <a:prstGeom prst="roundRect">
            <a:avLst>
              <a:gd name="adj" fmla="val 10754"/>
            </a:avLst>
          </a:prstGeom>
          <a:solidFill>
            <a:srgbClr val="142040"/>
          </a:solidFill>
          <a:ln>
            <a:noFill/>
          </a:ln>
        </p:spPr>
        <p:txBody>
          <a:bodyPr rtlCol="0" anchor="ctr"/>
          <a:lstStyle/>
          <a:p>
            <a:pPr algn="ctr"/>
            <a:endParaRPr/>
          </a:p>
        </p:txBody>
      </p:sp>
      <p:sp>
        <p:nvSpPr>
          <p:cNvPr id="116" name="TextBox 115"/>
          <p:cNvSpPr txBox="1"/>
          <p:nvPr/>
        </p:nvSpPr>
        <p:spPr>
          <a:xfrm>
            <a:off x="950976" y="3869434"/>
            <a:ext cx="512064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EN RÉSUMÉ</a:t>
            </a:r>
          </a:p>
        </p:txBody>
      </p:sp>
      <p:sp>
        <p:nvSpPr>
          <p:cNvPr id="117" name="TextBox 116"/>
          <p:cNvSpPr txBox="1"/>
          <p:nvPr/>
        </p:nvSpPr>
        <p:spPr>
          <a:xfrm>
            <a:off x="950976" y="4189474"/>
            <a:ext cx="5120640" cy="32004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FFFFFF"/>
                </a:solidFill>
                <a:latin typeface="DM Sans"/>
              </a:rPr>
              <a:t>Un seul processus, sans interface graphique</a:t>
            </a:r>
          </a:p>
        </p:txBody>
      </p:sp>
      <p:sp>
        <p:nvSpPr>
          <p:cNvPr id="118" name="TextBox 117"/>
          <p:cNvSpPr txBox="1"/>
          <p:nvPr/>
        </p:nvSpPr>
        <p:spPr>
          <a:xfrm>
            <a:off x="950976" y="4600954"/>
            <a:ext cx="5120640" cy="36576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C9D1E8"/>
                </a:solidFill>
                <a:latin typeface="DM Sans"/>
              </a:rPr>
              <a:t>Le planificateur et le serveur local démarrent ensemble ; la nuit s’exécute seule.</a:t>
            </a:r>
          </a:p>
        </p:txBody>
      </p:sp>
      <p:sp>
        <p:nvSpPr>
          <p:cNvPr id="119" name="Rounded Rectangle 118"/>
          <p:cNvSpPr/>
          <p:nvPr/>
        </p:nvSpPr>
        <p:spPr>
          <a:xfrm>
            <a:off x="6583680" y="1810512"/>
            <a:ext cx="4910328" cy="1212291"/>
          </a:xfrm>
          <a:prstGeom prst="roundRect">
            <a:avLst>
              <a:gd name="adj" fmla="val 12573"/>
            </a:avLst>
          </a:prstGeom>
          <a:solidFill>
            <a:srgbClr val="FFFFFF"/>
          </a:solidFill>
          <a:ln>
            <a:noFill/>
          </a:ln>
        </p:spPr>
        <p:txBody>
          <a:bodyPr rtlCol="0" anchor="ctr"/>
          <a:lstStyle/>
          <a:p>
            <a:pPr algn="ctr"/>
            <a:endParaRPr/>
          </a:p>
        </p:txBody>
      </p:sp>
      <p:sp>
        <p:nvSpPr>
          <p:cNvPr id="120" name="Rectangle 119"/>
          <p:cNvSpPr/>
          <p:nvPr/>
        </p:nvSpPr>
        <p:spPr>
          <a:xfrm>
            <a:off x="6583680" y="1810512"/>
            <a:ext cx="4910328" cy="1212291"/>
          </a:xfrm>
          <a:custGeom>
            <a:avLst/>
            <a:gdLst/>
            <a:ahLst/>
            <a:cxnLst/>
            <a:rect l="l" t="t" r="r" b="b"/>
            <a:pathLst>
              <a:path w="4910328" h="1212291" extrusionOk="0">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6B3FA0"/>
          </a:solidFill>
          <a:ln>
            <a:noFill/>
          </a:ln>
        </p:spPr>
        <p:txBody>
          <a:bodyPr rtlCol="0" anchor="ctr"/>
          <a:lstStyle/>
          <a:p>
            <a:pPr algn="ctr"/>
            <a:endParaRPr/>
          </a:p>
        </p:txBody>
      </p:sp>
      <p:sp>
        <p:nvSpPr>
          <p:cNvPr id="121" name="TextBox 120"/>
          <p:cNvSpPr txBox="1"/>
          <p:nvPr/>
        </p:nvSpPr>
        <p:spPr>
          <a:xfrm>
            <a:off x="6812280" y="2011680"/>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Une chaîne</a:t>
            </a:r>
          </a:p>
        </p:txBody>
      </p:sp>
      <p:sp>
        <p:nvSpPr>
          <p:cNvPr id="122" name="TextBox 121"/>
          <p:cNvSpPr txBox="1"/>
          <p:nvPr/>
        </p:nvSpPr>
        <p:spPr>
          <a:xfrm>
            <a:off x="6812280" y="2359152"/>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Sauvegarde, import, comparaison, KPI, alertes, prévisions et rapport, dans l’ordre des dépendances.</a:t>
            </a:r>
          </a:p>
        </p:txBody>
      </p:sp>
      <p:sp>
        <p:nvSpPr>
          <p:cNvPr id="123" name="Rounded Rectangle 122"/>
          <p:cNvSpPr/>
          <p:nvPr/>
        </p:nvSpPr>
        <p:spPr>
          <a:xfrm>
            <a:off x="6583680" y="3187395"/>
            <a:ext cx="4910328" cy="1212291"/>
          </a:xfrm>
          <a:prstGeom prst="roundRect">
            <a:avLst>
              <a:gd name="adj" fmla="val 12573"/>
            </a:avLst>
          </a:prstGeom>
          <a:solidFill>
            <a:srgbClr val="FFFFFF"/>
          </a:solidFill>
          <a:ln>
            <a:noFill/>
          </a:ln>
        </p:spPr>
        <p:txBody>
          <a:bodyPr rtlCol="0" anchor="ctr"/>
          <a:lstStyle/>
          <a:p>
            <a:pPr algn="ctr"/>
            <a:endParaRPr/>
          </a:p>
        </p:txBody>
      </p:sp>
      <p:sp>
        <p:nvSpPr>
          <p:cNvPr id="124" name="Rectangle 123"/>
          <p:cNvSpPr/>
          <p:nvPr/>
        </p:nvSpPr>
        <p:spPr>
          <a:xfrm>
            <a:off x="6583680" y="3187395"/>
            <a:ext cx="4910328" cy="1212291"/>
          </a:xfrm>
          <a:custGeom>
            <a:avLst/>
            <a:gdLst/>
            <a:ahLst/>
            <a:cxnLst/>
            <a:rect l="l" t="t" r="r" b="b"/>
            <a:pathLst>
              <a:path w="4910328" h="1212291" extrusionOk="0">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25" name="TextBox 124"/>
          <p:cNvSpPr txBox="1"/>
          <p:nvPr/>
        </p:nvSpPr>
        <p:spPr>
          <a:xfrm>
            <a:off x="6812280" y="3388563"/>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Heure explicite</a:t>
            </a:r>
          </a:p>
        </p:txBody>
      </p:sp>
      <p:sp>
        <p:nvSpPr>
          <p:cNvPr id="126" name="TextBox 125"/>
          <p:cNvSpPr txBox="1"/>
          <p:nvPr/>
        </p:nvSpPr>
        <p:spPr>
          <a:xfrm>
            <a:off x="6812280" y="3736035"/>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00:30 UTC quel que soit le fuseau du PC ; le terminal affiche l’heure du PC et l’heure UTC.</a:t>
            </a:r>
          </a:p>
        </p:txBody>
      </p:sp>
      <p:sp>
        <p:nvSpPr>
          <p:cNvPr id="127" name="Rounded Rectangle 126"/>
          <p:cNvSpPr/>
          <p:nvPr/>
        </p:nvSpPr>
        <p:spPr>
          <a:xfrm>
            <a:off x="6583680" y="4564278"/>
            <a:ext cx="4910328" cy="1212291"/>
          </a:xfrm>
          <a:prstGeom prst="roundRect">
            <a:avLst>
              <a:gd name="adj" fmla="val 12573"/>
            </a:avLst>
          </a:prstGeom>
          <a:solidFill>
            <a:srgbClr val="FFFFFF"/>
          </a:solidFill>
          <a:ln>
            <a:noFill/>
          </a:ln>
        </p:spPr>
        <p:txBody>
          <a:bodyPr rtlCol="0" anchor="ctr"/>
          <a:lstStyle/>
          <a:p>
            <a:pPr algn="ctr"/>
            <a:endParaRPr/>
          </a:p>
        </p:txBody>
      </p:sp>
      <p:sp>
        <p:nvSpPr>
          <p:cNvPr id="128" name="Rectangle 127"/>
          <p:cNvSpPr/>
          <p:nvPr/>
        </p:nvSpPr>
        <p:spPr>
          <a:xfrm>
            <a:off x="6583680" y="4564278"/>
            <a:ext cx="4910328" cy="1212291"/>
          </a:xfrm>
          <a:custGeom>
            <a:avLst/>
            <a:gdLst/>
            <a:ahLst/>
            <a:cxnLst/>
            <a:rect l="l" t="t" r="r" b="b"/>
            <a:pathLst>
              <a:path w="4910328" h="1212291" extrusionOk="0">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129" name="TextBox 128"/>
          <p:cNvSpPr txBox="1"/>
          <p:nvPr/>
        </p:nvSpPr>
        <p:spPr>
          <a:xfrm>
            <a:off x="6812280" y="4765446"/>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Reprise après veille</a:t>
            </a:r>
          </a:p>
        </p:txBody>
      </p:sp>
      <p:sp>
        <p:nvSpPr>
          <p:cNvPr id="130" name="TextBox 129"/>
          <p:cNvSpPr txBox="1"/>
          <p:nvPr/>
        </p:nvSpPr>
        <p:spPr>
          <a:xfrm>
            <a:off x="6812280" y="5112918"/>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Si le PC dort à l’heure prévue, la nuit part au réveil (tolérance de 3 h) ; un verrou évite les doublons.</a:t>
            </a:r>
          </a:p>
        </p:txBody>
      </p:sp>
      <p:sp>
        <p:nvSpPr>
          <p:cNvPr id="131" name="TextBox 130"/>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terminal du poste de démonstration.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L’écran Tâches de Workly montre l’état de chaque tâche et ouvre le journal d’exécution</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24</a:t>
            </a:r>
            <a:endParaRPr sz="1200">
              <a:solidFill>
                <a:schemeClr val="dk1"/>
              </a:solidFill>
              <a:latin typeface="DM Sans"/>
              <a:ea typeface="DM Sans"/>
              <a:cs typeface="DM Sans"/>
              <a:sym typeface="DM Sans"/>
            </a:endParaRPr>
          </a:p>
        </p:txBody>
      </p:sp>
      <p:sp>
        <p:nvSpPr>
          <p:cNvPr id="114" name="Rounded Rectangle 113"/>
          <p:cNvSpPr/>
          <p:nvPr/>
        </p:nvSpPr>
        <p:spPr>
          <a:xfrm>
            <a:off x="7059168" y="1773936"/>
            <a:ext cx="4434840" cy="4224528"/>
          </a:xfrm>
          <a:prstGeom prst="roundRect">
            <a:avLst>
              <a:gd name="adj" fmla="val 3608"/>
            </a:avLst>
          </a:prstGeom>
          <a:solidFill>
            <a:srgbClr val="FFFFFF"/>
          </a:solidFill>
          <a:ln>
            <a:noFill/>
          </a:ln>
        </p:spPr>
        <p:txBody>
          <a:bodyPr rtlCol="0" anchor="ctr"/>
          <a:lstStyle/>
          <a:p>
            <a:pPr algn="ctr"/>
            <a:endParaRPr/>
          </a:p>
        </p:txBody>
      </p:sp>
      <p:sp>
        <p:nvSpPr>
          <p:cNvPr id="115" name="Rectangle 114"/>
          <p:cNvSpPr/>
          <p:nvPr/>
        </p:nvSpPr>
        <p:spPr>
          <a:xfrm>
            <a:off x="7059168" y="1773936"/>
            <a:ext cx="4434840" cy="4224528"/>
          </a:xfrm>
          <a:custGeom>
            <a:avLst/>
            <a:gdLst/>
            <a:ahLst/>
            <a:cxnLst/>
            <a:rect l="l" t="t" r="r" b="b"/>
            <a:pathLst>
              <a:path w="4434840" h="4224528" extrusionOk="0">
                <a:moveTo>
                  <a:pt x="0" y="152400"/>
                </a:moveTo>
                <a:cubicBezTo>
                  <a:pt x="0" y="68229"/>
                  <a:pt x="68229" y="0"/>
                  <a:pt x="152400" y="0"/>
                </a:cubicBezTo>
                <a:lnTo>
                  <a:pt x="4282440" y="0"/>
                </a:lnTo>
                <a:cubicBezTo>
                  <a:pt x="4366610" y="0"/>
                  <a:pt x="4434840" y="68229"/>
                  <a:pt x="4434840" y="152400"/>
                </a:cubicBezTo>
                <a:cubicBezTo>
                  <a:pt x="4434840" y="103311"/>
                  <a:pt x="4366611" y="63500"/>
                  <a:pt x="428244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endParaRPr/>
          </a:p>
        </p:txBody>
      </p:sp>
      <p:sp>
        <p:nvSpPr>
          <p:cNvPr id="116" name="TextBox 115"/>
          <p:cNvSpPr txBox="1"/>
          <p:nvPr/>
        </p:nvSpPr>
        <p:spPr>
          <a:xfrm>
            <a:off x="7315200" y="2011680"/>
            <a:ext cx="39319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Ce que l’écran affiche</a:t>
            </a:r>
          </a:p>
        </p:txBody>
      </p:sp>
      <p:sp>
        <p:nvSpPr>
          <p:cNvPr id="117" name="Rectangle 116"/>
          <p:cNvSpPr/>
          <p:nvPr/>
        </p:nvSpPr>
        <p:spPr>
          <a:xfrm>
            <a:off x="7315200" y="2606040"/>
            <a:ext cx="100584" cy="100584"/>
          </a:xfrm>
          <a:prstGeom prst="rect">
            <a:avLst/>
          </a:prstGeom>
          <a:solidFill>
            <a:srgbClr val="6B3FA0"/>
          </a:solidFill>
          <a:ln>
            <a:noFill/>
          </a:ln>
        </p:spPr>
        <p:txBody>
          <a:bodyPr rtlCol="0" anchor="ctr"/>
          <a:lstStyle/>
          <a:p>
            <a:pPr algn="ctr"/>
            <a:endParaRPr/>
          </a:p>
        </p:txBody>
      </p:sp>
      <p:sp>
        <p:nvSpPr>
          <p:cNvPr id="118" name="TextBox 117"/>
          <p:cNvSpPr txBox="1"/>
          <p:nvPr/>
        </p:nvSpPr>
        <p:spPr>
          <a:xfrm>
            <a:off x="7543800" y="2542032"/>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L’étape du pipeline, de P1 à P9</a:t>
            </a:r>
          </a:p>
        </p:txBody>
      </p:sp>
      <p:sp>
        <p:nvSpPr>
          <p:cNvPr id="119" name="Rectangle 118"/>
          <p:cNvSpPr/>
          <p:nvPr/>
        </p:nvSpPr>
        <p:spPr>
          <a:xfrm>
            <a:off x="7315200" y="2983687"/>
            <a:ext cx="100584" cy="100584"/>
          </a:xfrm>
          <a:prstGeom prst="rect">
            <a:avLst/>
          </a:prstGeom>
          <a:solidFill>
            <a:srgbClr val="6B3FA0"/>
          </a:solidFill>
          <a:ln>
            <a:noFill/>
          </a:ln>
        </p:spPr>
        <p:txBody>
          <a:bodyPr rtlCol="0" anchor="ctr"/>
          <a:lstStyle/>
          <a:p>
            <a:pPr algn="ctr"/>
            <a:endParaRPr/>
          </a:p>
        </p:txBody>
      </p:sp>
      <p:sp>
        <p:nvSpPr>
          <p:cNvPr id="120" name="TextBox 119"/>
          <p:cNvSpPr txBox="1"/>
          <p:nvPr/>
        </p:nvSpPr>
        <p:spPr>
          <a:xfrm>
            <a:off x="7543800" y="2919679"/>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La dernière et la prochaine exécution</a:t>
            </a:r>
          </a:p>
        </p:txBody>
      </p:sp>
      <p:sp>
        <p:nvSpPr>
          <p:cNvPr id="121" name="Rectangle 120"/>
          <p:cNvSpPr/>
          <p:nvPr/>
        </p:nvSpPr>
        <p:spPr>
          <a:xfrm>
            <a:off x="7315200" y="3361334"/>
            <a:ext cx="100584" cy="100584"/>
          </a:xfrm>
          <a:prstGeom prst="rect">
            <a:avLst/>
          </a:prstGeom>
          <a:solidFill>
            <a:srgbClr val="6B3FA0"/>
          </a:solidFill>
          <a:ln>
            <a:noFill/>
          </a:ln>
        </p:spPr>
        <p:txBody>
          <a:bodyPr rtlCol="0" anchor="ctr"/>
          <a:lstStyle/>
          <a:p>
            <a:pPr algn="ctr"/>
            <a:endParaRPr/>
          </a:p>
        </p:txBody>
      </p:sp>
      <p:sp>
        <p:nvSpPr>
          <p:cNvPr id="122" name="TextBox 121"/>
          <p:cNvSpPr txBox="1"/>
          <p:nvPr/>
        </p:nvSpPr>
        <p:spPr>
          <a:xfrm>
            <a:off x="7543800" y="3297326"/>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Le dernier statut, en vert, rouge ou orange</a:t>
            </a:r>
          </a:p>
        </p:txBody>
      </p:sp>
      <p:sp>
        <p:nvSpPr>
          <p:cNvPr id="123" name="Rectangle 122"/>
          <p:cNvSpPr/>
          <p:nvPr/>
        </p:nvSpPr>
        <p:spPr>
          <a:xfrm>
            <a:off x="7315200" y="3738982"/>
            <a:ext cx="100584" cy="100584"/>
          </a:xfrm>
          <a:prstGeom prst="rect">
            <a:avLst/>
          </a:prstGeom>
          <a:solidFill>
            <a:srgbClr val="6B3FA0"/>
          </a:solidFill>
          <a:ln>
            <a:noFill/>
          </a:ln>
        </p:spPr>
        <p:txBody>
          <a:bodyPr rtlCol="0" anchor="ctr"/>
          <a:lstStyle/>
          <a:p>
            <a:pPr algn="ctr"/>
            <a:endParaRPr/>
          </a:p>
        </p:txBody>
      </p:sp>
      <p:sp>
        <p:nvSpPr>
          <p:cNvPr id="124" name="TextBox 123"/>
          <p:cNvSpPr txBox="1"/>
          <p:nvPr/>
        </p:nvSpPr>
        <p:spPr>
          <a:xfrm>
            <a:off x="7543800" y="3674974"/>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Un bouton pour exécuter la tâche choisie</a:t>
            </a:r>
          </a:p>
        </p:txBody>
      </p:sp>
      <p:sp>
        <p:nvSpPr>
          <p:cNvPr id="125" name="Rectangle 124"/>
          <p:cNvSpPr/>
          <p:nvPr/>
        </p:nvSpPr>
        <p:spPr>
          <a:xfrm>
            <a:off x="7315200" y="4116629"/>
            <a:ext cx="100584" cy="100584"/>
          </a:xfrm>
          <a:prstGeom prst="rect">
            <a:avLst/>
          </a:prstGeom>
          <a:solidFill>
            <a:srgbClr val="6B3FA0"/>
          </a:solidFill>
          <a:ln>
            <a:noFill/>
          </a:ln>
        </p:spPr>
        <p:txBody>
          <a:bodyPr rtlCol="0" anchor="ctr"/>
          <a:lstStyle/>
          <a:p>
            <a:pPr algn="ctr"/>
            <a:endParaRPr/>
          </a:p>
        </p:txBody>
      </p:sp>
      <p:sp>
        <p:nvSpPr>
          <p:cNvPr id="126" name="TextBox 125"/>
          <p:cNvSpPr txBox="1"/>
          <p:nvPr/>
        </p:nvSpPr>
        <p:spPr>
          <a:xfrm>
            <a:off x="7543800" y="4052621"/>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Le journal : tâche, début, fin, statut, message</a:t>
            </a:r>
          </a:p>
        </p:txBody>
      </p:sp>
      <p:sp>
        <p:nvSpPr>
          <p:cNvPr id="127" name="Rounded Rectangle 126"/>
          <p:cNvSpPr/>
          <p:nvPr/>
        </p:nvSpPr>
        <p:spPr>
          <a:xfrm>
            <a:off x="7315200" y="4521708"/>
            <a:ext cx="3931920" cy="777240"/>
          </a:xfrm>
          <a:prstGeom prst="roundRect">
            <a:avLst>
              <a:gd name="adj" fmla="val 11764"/>
            </a:avLst>
          </a:prstGeom>
          <a:solidFill>
            <a:srgbClr val="E2D9F3"/>
          </a:solidFill>
          <a:ln>
            <a:noFill/>
          </a:ln>
        </p:spPr>
        <p:txBody>
          <a:bodyPr rtlCol="0" anchor="ctr"/>
          <a:lstStyle/>
          <a:p>
            <a:pPr algn="ctr"/>
            <a:endParaRPr/>
          </a:p>
        </p:txBody>
      </p:sp>
      <p:sp>
        <p:nvSpPr>
          <p:cNvPr id="128" name="TextBox 127"/>
          <p:cNvSpPr txBox="1"/>
          <p:nvPr/>
        </p:nvSpPr>
        <p:spPr>
          <a:xfrm>
            <a:off x="7479792" y="4521708"/>
            <a:ext cx="3611880" cy="777240"/>
          </a:xfrm>
          <a:prstGeom prst="rect">
            <a:avLst/>
          </a:prstGeom>
          <a:noFill/>
        </p:spPr>
        <p:txBody>
          <a:bodyPr wrap="square" lIns="0" tIns="0" rIns="0" bIns="0" anchor="ctr">
            <a:noAutofit/>
          </a:bodyPr>
          <a:lstStyle/>
          <a:p>
            <a:pPr algn="l">
              <a:lnSpc>
                <a:spcPct val="112000"/>
              </a:lnSpc>
              <a:spcBef>
                <a:spcPts val="0"/>
              </a:spcBef>
              <a:spcAft>
                <a:spcPts val="0"/>
              </a:spcAft>
            </a:pPr>
            <a:r>
              <a:rPr sz="1250" b="0" i="0">
                <a:solidFill>
                  <a:srgbClr val="1B2A4A"/>
                </a:solidFill>
                <a:latin typeface="DM Sans"/>
              </a:rPr>
              <a:t>Les exécutions lancées de l’extérieur apparaissent aussi dans ce journal.</a:t>
            </a:r>
          </a:p>
        </p:txBody>
      </p:sp>
      <p:sp>
        <p:nvSpPr>
          <p:cNvPr id="129" name="TextBox 128"/>
          <p:cNvSpPr txBox="1"/>
          <p:nvPr/>
        </p:nvSpPr>
        <p:spPr>
          <a:xfrm>
            <a:off x="698500" y="6441034"/>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dirty="0">
                <a:solidFill>
                  <a:srgbClr val="6B7390"/>
                </a:solidFill>
                <a:latin typeface="DM Sans"/>
              </a:rPr>
              <a:t>Figure 4. Application </a:t>
            </a:r>
            <a:r>
              <a:rPr sz="1150" b="0" i="0" dirty="0" err="1">
                <a:solidFill>
                  <a:srgbClr val="6B7390"/>
                </a:solidFill>
                <a:latin typeface="DM Sans"/>
              </a:rPr>
              <a:t>Workly</a:t>
            </a:r>
            <a:r>
              <a:rPr sz="1150" b="0" i="0" dirty="0">
                <a:solidFill>
                  <a:srgbClr val="6B7390"/>
                </a:solidFill>
                <a:latin typeface="DM Sans"/>
              </a:rPr>
              <a:t>, Administration, </a:t>
            </a:r>
            <a:r>
              <a:rPr sz="1150" b="0" i="0" dirty="0" err="1">
                <a:solidFill>
                  <a:srgbClr val="6B7390"/>
                </a:solidFill>
                <a:latin typeface="DM Sans"/>
              </a:rPr>
              <a:t>onglet</a:t>
            </a:r>
            <a:r>
              <a:rPr sz="1150" b="0" i="0" dirty="0">
                <a:solidFill>
                  <a:srgbClr val="6B7390"/>
                </a:solidFill>
                <a:latin typeface="DM Sans"/>
              </a:rPr>
              <a:t> </a:t>
            </a:r>
            <a:r>
              <a:rPr sz="1150" b="0" i="0" dirty="0" err="1">
                <a:solidFill>
                  <a:srgbClr val="6B7390"/>
                </a:solidFill>
                <a:latin typeface="DM Sans"/>
              </a:rPr>
              <a:t>Tâches</a:t>
            </a:r>
            <a:r>
              <a:rPr sz="1150" b="0" i="0" dirty="0">
                <a:solidFill>
                  <a:srgbClr val="6B7390"/>
                </a:solidFill>
                <a:latin typeface="DM Sans"/>
              </a:rPr>
              <a:t>.</a:t>
            </a:r>
          </a:p>
        </p:txBody>
      </p:sp>
      <p:pic>
        <p:nvPicPr>
          <p:cNvPr id="3" name="Image 2"/>
          <p:cNvPicPr>
            <a:picLocks noChangeAspect="1"/>
          </p:cNvPicPr>
          <p:nvPr/>
        </p:nvPicPr>
        <p:blipFill>
          <a:blip r:embed="rId3"/>
          <a:stretch>
            <a:fillRect/>
          </a:stretch>
        </p:blipFill>
        <p:spPr>
          <a:xfrm>
            <a:off x="155448" y="1350366"/>
            <a:ext cx="6821424" cy="4978400"/>
          </a:xfrm>
          <a:prstGeom prst="rect">
            <a:avLst/>
          </a:prstGeom>
        </p:spPr>
      </p:pic>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bilan résume l’état des automatisations en un statut : succès, incomplet ou échec</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25</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graphicFrame>
        <p:nvGraphicFramePr>
          <p:cNvPr id="113" name="Table 112"/>
          <p:cNvGraphicFramePr>
            <a:graphicFrameLocks noGrp="1"/>
          </p:cNvGraphicFramePr>
          <p:nvPr/>
        </p:nvGraphicFramePr>
        <p:xfrm>
          <a:off x="694944" y="1773936"/>
          <a:ext cx="6492240" cy="2660904"/>
        </p:xfrm>
        <a:graphic>
          <a:graphicData uri="http://schemas.openxmlformats.org/drawingml/2006/table">
            <a:tbl>
              <a:tblPr/>
              <a:tblGrid>
                <a:gridCol w="13258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411480">
                <a:tc>
                  <a:txBody>
                    <a:bodyPr/>
                    <a:lstStyle/>
                    <a:p>
                      <a:pPr algn="l">
                        <a:lnSpc>
                          <a:spcPct val="110000"/>
                        </a:lnSpc>
                        <a:spcBef>
                          <a:spcPts val="0"/>
                        </a:spcBef>
                        <a:spcAft>
                          <a:spcPts val="0"/>
                        </a:spcAft>
                      </a:pPr>
                      <a:r>
                        <a:rPr sz="1300" b="1" i="0">
                          <a:solidFill>
                            <a:srgbClr val="FFFFFF"/>
                          </a:solidFill>
                          <a:latin typeface="DM Sans"/>
                        </a:rPr>
                        <a:t>Statut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a:lstStyle/>
                    <a:p>
                      <a:pPr algn="l">
                        <a:lnSpc>
                          <a:spcPct val="110000"/>
                        </a:lnSpc>
                        <a:spcBef>
                          <a:spcPts val="0"/>
                        </a:spcBef>
                        <a:spcAft>
                          <a:spcPts val="0"/>
                        </a:spcAft>
                      </a:pPr>
                      <a:r>
                        <a:rPr sz="1300" b="1" i="0">
                          <a:solidFill>
                            <a:srgbClr val="FFFFFF"/>
                          </a:solidFill>
                          <a:latin typeface="DM Sans"/>
                        </a:rPr>
                        <a:t>Règle appliquée par Workly</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a:lstStyle/>
                    <a:p>
                      <a:pPr algn="l">
                        <a:lnSpc>
                          <a:spcPct val="110000"/>
                        </a:lnSpc>
                        <a:spcBef>
                          <a:spcPts val="0"/>
                        </a:spcBef>
                        <a:spcAft>
                          <a:spcPts val="0"/>
                        </a:spcAft>
                      </a:pPr>
                      <a:r>
                        <a:rPr sz="1300" b="1" i="0">
                          <a:solidFill>
                            <a:srgbClr val="FFFFFF"/>
                          </a:solidFill>
                          <a:latin typeface="DM Sans"/>
                        </a:rPr>
                        <a:t>Gravité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extLst>
                  <a:ext uri="{0D108BD9-81ED-4DB2-BD59-A6C34878D82A}">
                    <a16:rowId xmlns:a16="http://schemas.microsoft.com/office/drawing/2014/main" val="10000"/>
                  </a:ext>
                </a:extLst>
              </a:tr>
              <a:tr h="749808">
                <a:tc>
                  <a:txBody>
                    <a:bodyPr/>
                    <a:lstStyle/>
                    <a:p>
                      <a:pPr algn="l">
                        <a:lnSpc>
                          <a:spcPct val="110000"/>
                        </a:lnSpc>
                        <a:spcBef>
                          <a:spcPts val="0"/>
                        </a:spcBef>
                        <a:spcAft>
                          <a:spcPts val="0"/>
                        </a:spcAft>
                      </a:pPr>
                      <a:r>
                        <a:rPr sz="1300" b="1" i="0">
                          <a:solidFill>
                            <a:srgbClr val="6B3FA0"/>
                          </a:solidFill>
                          <a:latin typeface="DM Sans"/>
                        </a:rPr>
                        <a:t>succes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a:lstStyle/>
                    <a:p>
                      <a:pPr algn="l">
                        <a:lnSpc>
                          <a:spcPct val="110000"/>
                        </a:lnSpc>
                        <a:spcBef>
                          <a:spcPts val="0"/>
                        </a:spcBef>
                        <a:spcAft>
                          <a:spcPts val="0"/>
                        </a:spcAft>
                      </a:pPr>
                      <a:r>
                        <a:rPr sz="1300" b="0" i="0">
                          <a:solidFill>
                            <a:srgbClr val="2B3350"/>
                          </a:solidFill>
                          <a:latin typeface="DM Sans"/>
                        </a:rPr>
                        <a:t>Aucun échec depuis 24 h et les huit étapes de la nuit réussies depuis 30 h</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a:lstStyle/>
                    <a:p>
                      <a:pPr algn="l">
                        <a:lnSpc>
                          <a:spcPct val="110000"/>
                        </a:lnSpc>
                        <a:spcBef>
                          <a:spcPts val="0"/>
                        </a:spcBef>
                        <a:spcAft>
                          <a:spcPts val="0"/>
                        </a:spcAft>
                      </a:pPr>
                      <a:r>
                        <a:rPr sz="1300" b="0" i="0">
                          <a:solidFill>
                            <a:srgbClr val="2B3350"/>
                          </a:solidFill>
                          <a:latin typeface="DM Sans"/>
                        </a:rPr>
                        <a:t>ok</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extLst>
                  <a:ext uri="{0D108BD9-81ED-4DB2-BD59-A6C34878D82A}">
                    <a16:rowId xmlns:a16="http://schemas.microsoft.com/office/drawing/2014/main" val="10001"/>
                  </a:ext>
                </a:extLst>
              </a:tr>
              <a:tr h="749808">
                <a:tc>
                  <a:txBody>
                    <a:bodyPr/>
                    <a:lstStyle/>
                    <a:p>
                      <a:pPr algn="l">
                        <a:lnSpc>
                          <a:spcPct val="110000"/>
                        </a:lnSpc>
                        <a:spcBef>
                          <a:spcPts val="0"/>
                        </a:spcBef>
                        <a:spcAft>
                          <a:spcPts val="0"/>
                        </a:spcAft>
                      </a:pPr>
                      <a:r>
                        <a:rPr sz="1300" b="1" i="0">
                          <a:solidFill>
                            <a:srgbClr val="6B3FA0"/>
                          </a:solidFill>
                          <a:latin typeface="DM Sans"/>
                        </a:rPr>
                        <a:t>incomplet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a:lstStyle/>
                    <a:p>
                      <a:pPr algn="l">
                        <a:lnSpc>
                          <a:spcPct val="110000"/>
                        </a:lnSpc>
                        <a:spcBef>
                          <a:spcPts val="0"/>
                        </a:spcBef>
                        <a:spcAft>
                          <a:spcPts val="0"/>
                        </a:spcAft>
                      </a:pPr>
                      <a:r>
                        <a:rPr sz="1300" b="0" i="0">
                          <a:solidFill>
                            <a:srgbClr val="2B3350"/>
                          </a:solidFill>
                          <a:latin typeface="DM Sans"/>
                        </a:rPr>
                        <a:t>Une étape de la nuit sans succès depuis 30 h (PC éteint, planificateur arrêté)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a:lstStyle/>
                    <a:p>
                      <a:pPr algn="l">
                        <a:lnSpc>
                          <a:spcPct val="110000"/>
                        </a:lnSpc>
                        <a:spcBef>
                          <a:spcPts val="0"/>
                        </a:spcBef>
                        <a:spcAft>
                          <a:spcPts val="0"/>
                        </a:spcAft>
                      </a:pPr>
                      <a:r>
                        <a:rPr sz="1300" b="0" i="0">
                          <a:solidFill>
                            <a:srgbClr val="2B3350"/>
                          </a:solidFill>
                          <a:latin typeface="DM Sans"/>
                        </a:rPr>
                        <a:t>attention</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extLst>
                  <a:ext uri="{0D108BD9-81ED-4DB2-BD59-A6C34878D82A}">
                    <a16:rowId xmlns:a16="http://schemas.microsoft.com/office/drawing/2014/main" val="10002"/>
                  </a:ext>
                </a:extLst>
              </a:tr>
              <a:tr h="749808">
                <a:tc>
                  <a:txBody>
                    <a:bodyPr/>
                    <a:lstStyle/>
                    <a:p>
                      <a:pPr algn="l">
                        <a:lnSpc>
                          <a:spcPct val="110000"/>
                        </a:lnSpc>
                        <a:spcBef>
                          <a:spcPts val="0"/>
                        </a:spcBef>
                        <a:spcAft>
                          <a:spcPts val="0"/>
                        </a:spcAft>
                      </a:pPr>
                      <a:r>
                        <a:rPr sz="1300" b="1" i="0">
                          <a:solidFill>
                            <a:srgbClr val="6B3FA0"/>
                          </a:solidFill>
                          <a:latin typeface="DM Sans"/>
                        </a:rPr>
                        <a:t>echec</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a:lstStyle/>
                    <a:p>
                      <a:pPr algn="l">
                        <a:lnSpc>
                          <a:spcPct val="110000"/>
                        </a:lnSpc>
                        <a:spcBef>
                          <a:spcPts val="0"/>
                        </a:spcBef>
                        <a:spcAft>
                          <a:spcPts val="0"/>
                        </a:spcAft>
                      </a:pPr>
                      <a:r>
                        <a:rPr sz="1300" b="0" i="0">
                          <a:solidFill>
                            <a:srgbClr val="2B3350"/>
                          </a:solidFill>
                          <a:latin typeface="DM Sans"/>
                        </a:rPr>
                        <a:t>Une tâche a échoué depuis moins de 24 h</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a:lstStyle/>
                    <a:p>
                      <a:pPr algn="l">
                        <a:lnSpc>
                          <a:spcPct val="110000"/>
                        </a:lnSpc>
                        <a:spcBef>
                          <a:spcPts val="0"/>
                        </a:spcBef>
                        <a:spcAft>
                          <a:spcPts val="0"/>
                        </a:spcAft>
                      </a:pPr>
                      <a:r>
                        <a:rPr sz="1300" b="0" i="0">
                          <a:solidFill>
                            <a:srgbClr val="2B3350"/>
                          </a:solidFill>
                          <a:latin typeface="DM Sans"/>
                        </a:rPr>
                        <a:t>critique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16" name="Rounded Rectangle 115"/>
          <p:cNvSpPr/>
          <p:nvPr/>
        </p:nvSpPr>
        <p:spPr>
          <a:xfrm>
            <a:off x="7424928" y="1773936"/>
            <a:ext cx="4069080" cy="4407408"/>
          </a:xfrm>
          <a:prstGeom prst="roundRect">
            <a:avLst>
              <a:gd name="adj" fmla="val 3746"/>
            </a:avLst>
          </a:prstGeom>
          <a:solidFill>
            <a:srgbClr val="FFFFFF"/>
          </a:solidFill>
          <a:ln>
            <a:noFill/>
          </a:ln>
        </p:spPr>
        <p:txBody>
          <a:bodyPr rtlCol="0" anchor="ctr"/>
          <a:lstStyle/>
          <a:p>
            <a:pPr algn="ctr"/>
            <a:endParaRPr/>
          </a:p>
        </p:txBody>
      </p:sp>
      <p:sp>
        <p:nvSpPr>
          <p:cNvPr id="117" name="Rectangle 116"/>
          <p:cNvSpPr/>
          <p:nvPr/>
        </p:nvSpPr>
        <p:spPr>
          <a:xfrm>
            <a:off x="7424928" y="1773936"/>
            <a:ext cx="4069080" cy="4407408"/>
          </a:xfrm>
          <a:custGeom>
            <a:avLst/>
            <a:gdLst/>
            <a:ahLst/>
            <a:cxnLst/>
            <a:rect l="l" t="t" r="r" b="b"/>
            <a:pathLst>
              <a:path w="4069080" h="4407408" extrusionOk="0">
                <a:moveTo>
                  <a:pt x="0" y="152400"/>
                </a:moveTo>
                <a:cubicBezTo>
                  <a:pt x="0" y="68229"/>
                  <a:pt x="68229" y="0"/>
                  <a:pt x="152400" y="0"/>
                </a:cubicBezTo>
                <a:lnTo>
                  <a:pt x="3916680" y="0"/>
                </a:lnTo>
                <a:cubicBezTo>
                  <a:pt x="4000850" y="0"/>
                  <a:pt x="4069080" y="68229"/>
                  <a:pt x="4069080" y="152400"/>
                </a:cubicBezTo>
                <a:cubicBezTo>
                  <a:pt x="4069080" y="103311"/>
                  <a:pt x="4000851" y="63500"/>
                  <a:pt x="39166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118" name="TextBox 117"/>
          <p:cNvSpPr txBox="1"/>
          <p:nvPr/>
        </p:nvSpPr>
        <p:spPr>
          <a:xfrm>
            <a:off x="7680960" y="2011680"/>
            <a:ext cx="35661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Nuit du 6 au 7 octobre</a:t>
            </a:r>
          </a:p>
        </p:txBody>
      </p:sp>
      <p:sp>
        <p:nvSpPr>
          <p:cNvPr id="119" name="TextBox 118"/>
          <p:cNvSpPr txBox="1"/>
          <p:nvPr/>
        </p:nvSpPr>
        <p:spPr>
          <a:xfrm>
            <a:off x="7680960" y="2359152"/>
            <a:ext cx="3566160" cy="274320"/>
          </a:xfrm>
          <a:prstGeom prst="rect">
            <a:avLst/>
          </a:prstGeom>
          <a:noFill/>
        </p:spPr>
        <p:txBody>
          <a:bodyPr wrap="square" lIns="0" tIns="0" rIns="0" bIns="0" anchor="t">
            <a:noAutofit/>
          </a:bodyPr>
          <a:lstStyle/>
          <a:p>
            <a:pPr algn="l">
              <a:lnSpc>
                <a:spcPct val="115000"/>
              </a:lnSpc>
              <a:spcBef>
                <a:spcPts val="0"/>
              </a:spcBef>
              <a:spcAft>
                <a:spcPts val="0"/>
              </a:spcAft>
            </a:pPr>
            <a:r>
              <a:rPr sz="1250" b="0" i="0">
                <a:solidFill>
                  <a:srgbClr val="6B7390"/>
                </a:solidFill>
                <a:latin typeface="DM Sans"/>
              </a:rPr>
              <a:t>Mesures lues dans le journal</a:t>
            </a:r>
          </a:p>
        </p:txBody>
      </p:sp>
      <p:sp>
        <p:nvSpPr>
          <p:cNvPr id="120" name="Rounded Rectangle 119"/>
          <p:cNvSpPr/>
          <p:nvPr/>
        </p:nvSpPr>
        <p:spPr>
          <a:xfrm>
            <a:off x="7589520" y="2743200"/>
            <a:ext cx="3739896" cy="420624"/>
          </a:xfrm>
          <a:prstGeom prst="roundRect">
            <a:avLst>
              <a:gd name="adj" fmla="val 17391"/>
            </a:avLst>
          </a:prstGeom>
          <a:solidFill>
            <a:srgbClr val="F4F6FB"/>
          </a:solidFill>
          <a:ln>
            <a:noFill/>
          </a:ln>
        </p:spPr>
        <p:txBody>
          <a:bodyPr rtlCol="0" anchor="ctr"/>
          <a:lstStyle/>
          <a:p>
            <a:pPr algn="ctr"/>
            <a:endParaRPr/>
          </a:p>
        </p:txBody>
      </p:sp>
      <p:sp>
        <p:nvSpPr>
          <p:cNvPr id="121" name="TextBox 120"/>
          <p:cNvSpPr txBox="1"/>
          <p:nvPr/>
        </p:nvSpPr>
        <p:spPr>
          <a:xfrm>
            <a:off x="7699248" y="27432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Étapes réussies</a:t>
            </a:r>
          </a:p>
        </p:txBody>
      </p:sp>
      <p:sp>
        <p:nvSpPr>
          <p:cNvPr id="122" name="TextBox 121"/>
          <p:cNvSpPr txBox="1"/>
          <p:nvPr/>
        </p:nvSpPr>
        <p:spPr>
          <a:xfrm>
            <a:off x="9881921" y="27432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8 sur 8</a:t>
            </a:r>
          </a:p>
        </p:txBody>
      </p:sp>
      <p:sp>
        <p:nvSpPr>
          <p:cNvPr id="123" name="TextBox 122"/>
          <p:cNvSpPr txBox="1"/>
          <p:nvPr/>
        </p:nvSpPr>
        <p:spPr>
          <a:xfrm>
            <a:off x="7699248" y="32004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Durée totale</a:t>
            </a:r>
          </a:p>
        </p:txBody>
      </p:sp>
      <p:sp>
        <p:nvSpPr>
          <p:cNvPr id="124" name="TextBox 123"/>
          <p:cNvSpPr txBox="1"/>
          <p:nvPr/>
        </p:nvSpPr>
        <p:spPr>
          <a:xfrm>
            <a:off x="9881921" y="32004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2,1 s</a:t>
            </a:r>
          </a:p>
        </p:txBody>
      </p:sp>
      <p:sp>
        <p:nvSpPr>
          <p:cNvPr id="125" name="Rounded Rectangle 124"/>
          <p:cNvSpPr/>
          <p:nvPr/>
        </p:nvSpPr>
        <p:spPr>
          <a:xfrm>
            <a:off x="7589520" y="3657600"/>
            <a:ext cx="3739896" cy="420624"/>
          </a:xfrm>
          <a:prstGeom prst="roundRect">
            <a:avLst>
              <a:gd name="adj" fmla="val 17391"/>
            </a:avLst>
          </a:prstGeom>
          <a:solidFill>
            <a:srgbClr val="F4F6FB"/>
          </a:solidFill>
          <a:ln>
            <a:noFill/>
          </a:ln>
        </p:spPr>
        <p:txBody>
          <a:bodyPr rtlCol="0" anchor="ctr"/>
          <a:lstStyle/>
          <a:p>
            <a:pPr algn="ctr"/>
            <a:endParaRPr/>
          </a:p>
        </p:txBody>
      </p:sp>
      <p:sp>
        <p:nvSpPr>
          <p:cNvPr id="126" name="TextBox 125"/>
          <p:cNvSpPr txBox="1"/>
          <p:nvPr/>
        </p:nvSpPr>
        <p:spPr>
          <a:xfrm>
            <a:off x="7699248" y="36576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Sauvegarde</a:t>
            </a:r>
          </a:p>
        </p:txBody>
      </p:sp>
      <p:sp>
        <p:nvSpPr>
          <p:cNvPr id="127" name="TextBox 126"/>
          <p:cNvSpPr txBox="1"/>
          <p:nvPr/>
        </p:nvSpPr>
        <p:spPr>
          <a:xfrm>
            <a:off x="9881921" y="36576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224 Ko</a:t>
            </a:r>
          </a:p>
        </p:txBody>
      </p:sp>
      <p:sp>
        <p:nvSpPr>
          <p:cNvPr id="128" name="TextBox 127"/>
          <p:cNvSpPr txBox="1"/>
          <p:nvPr/>
        </p:nvSpPr>
        <p:spPr>
          <a:xfrm>
            <a:off x="7699248" y="41148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Prévisions rapprochées</a:t>
            </a:r>
          </a:p>
        </p:txBody>
      </p:sp>
      <p:sp>
        <p:nvSpPr>
          <p:cNvPr id="129" name="TextBox 128"/>
          <p:cNvSpPr txBox="1"/>
          <p:nvPr/>
        </p:nvSpPr>
        <p:spPr>
          <a:xfrm>
            <a:off x="9881921" y="41148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60</a:t>
            </a:r>
          </a:p>
        </p:txBody>
      </p:sp>
      <p:sp>
        <p:nvSpPr>
          <p:cNvPr id="130" name="Rounded Rectangle 129"/>
          <p:cNvSpPr/>
          <p:nvPr/>
        </p:nvSpPr>
        <p:spPr>
          <a:xfrm>
            <a:off x="7589520" y="4572000"/>
            <a:ext cx="3739896" cy="420624"/>
          </a:xfrm>
          <a:prstGeom prst="roundRect">
            <a:avLst>
              <a:gd name="adj" fmla="val 17391"/>
            </a:avLst>
          </a:prstGeom>
          <a:solidFill>
            <a:srgbClr val="F4F6FB"/>
          </a:solidFill>
          <a:ln>
            <a:noFill/>
          </a:ln>
        </p:spPr>
        <p:txBody>
          <a:bodyPr rtlCol="0" anchor="ctr"/>
          <a:lstStyle/>
          <a:p>
            <a:pPr algn="ctr"/>
            <a:endParaRPr/>
          </a:p>
        </p:txBody>
      </p:sp>
      <p:sp>
        <p:nvSpPr>
          <p:cNvPr id="131" name="TextBox 130"/>
          <p:cNvSpPr txBox="1"/>
          <p:nvPr/>
        </p:nvSpPr>
        <p:spPr>
          <a:xfrm>
            <a:off x="7699248" y="45720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Valeurs de KPI</a:t>
            </a:r>
          </a:p>
        </p:txBody>
      </p:sp>
      <p:sp>
        <p:nvSpPr>
          <p:cNvPr id="132" name="TextBox 131"/>
          <p:cNvSpPr txBox="1"/>
          <p:nvPr/>
        </p:nvSpPr>
        <p:spPr>
          <a:xfrm>
            <a:off x="9881921" y="45720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34</a:t>
            </a:r>
          </a:p>
        </p:txBody>
      </p:sp>
      <p:sp>
        <p:nvSpPr>
          <p:cNvPr id="133" name="TextBox 132"/>
          <p:cNvSpPr txBox="1"/>
          <p:nvPr/>
        </p:nvSpPr>
        <p:spPr>
          <a:xfrm>
            <a:off x="7699248" y="50292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Alertes de capacité</a:t>
            </a:r>
          </a:p>
        </p:txBody>
      </p:sp>
      <p:sp>
        <p:nvSpPr>
          <p:cNvPr id="134" name="TextBox 133"/>
          <p:cNvSpPr txBox="1"/>
          <p:nvPr/>
        </p:nvSpPr>
        <p:spPr>
          <a:xfrm>
            <a:off x="9881921" y="50292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20</a:t>
            </a:r>
          </a:p>
        </p:txBody>
      </p:sp>
      <p:sp>
        <p:nvSpPr>
          <p:cNvPr id="135" name="Rounded Rectangle 134"/>
          <p:cNvSpPr/>
          <p:nvPr/>
        </p:nvSpPr>
        <p:spPr>
          <a:xfrm>
            <a:off x="7589520" y="5486400"/>
            <a:ext cx="3739896" cy="420624"/>
          </a:xfrm>
          <a:prstGeom prst="roundRect">
            <a:avLst>
              <a:gd name="adj" fmla="val 17391"/>
            </a:avLst>
          </a:prstGeom>
          <a:solidFill>
            <a:srgbClr val="F4F6FB"/>
          </a:solidFill>
          <a:ln>
            <a:noFill/>
          </a:ln>
        </p:spPr>
        <p:txBody>
          <a:bodyPr rtlCol="0" anchor="ctr"/>
          <a:lstStyle/>
          <a:p>
            <a:pPr algn="ctr"/>
            <a:endParaRPr/>
          </a:p>
        </p:txBody>
      </p:sp>
      <p:sp>
        <p:nvSpPr>
          <p:cNvPr id="136" name="TextBox 135"/>
          <p:cNvSpPr txBox="1"/>
          <p:nvPr/>
        </p:nvSpPr>
        <p:spPr>
          <a:xfrm>
            <a:off x="7699248" y="54864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Lignes de prévision</a:t>
            </a:r>
          </a:p>
        </p:txBody>
      </p:sp>
      <p:sp>
        <p:nvSpPr>
          <p:cNvPr id="137" name="TextBox 136"/>
          <p:cNvSpPr txBox="1"/>
          <p:nvPr/>
        </p:nvSpPr>
        <p:spPr>
          <a:xfrm>
            <a:off x="9881921" y="54864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144</a:t>
            </a:r>
          </a:p>
        </p:txBody>
      </p:sp>
      <p:sp>
        <p:nvSpPr>
          <p:cNvPr id="138" name="TextBox 13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bilan réel de Workly, nuit du 6 au 7 octobre 2026 (journal des tâches).</a:t>
            </a:r>
          </a:p>
        </p:txBody>
      </p:sp>
      <p:sp>
        <p:nvSpPr>
          <p:cNvPr id="139" name="Rounded Rectangle 138"/>
          <p:cNvSpPr/>
          <p:nvPr/>
        </p:nvSpPr>
        <p:spPr>
          <a:xfrm>
            <a:off x="694944" y="4663440"/>
            <a:ext cx="6492240" cy="1508760"/>
          </a:xfrm>
          <a:prstGeom prst="roundRect">
            <a:avLst>
              <a:gd name="adj" fmla="val 7272"/>
            </a:avLst>
          </a:prstGeom>
          <a:solidFill>
            <a:srgbClr val="1B2A4A"/>
          </a:solidFill>
          <a:ln>
            <a:noFill/>
          </a:ln>
        </p:spPr>
        <p:txBody>
          <a:bodyPr rtlCol="0" anchor="ctr"/>
          <a:lstStyle/>
          <a:p>
            <a:pPr algn="ctr"/>
          </a:p>
        </p:txBody>
      </p:sp>
      <p:sp>
        <p:nvSpPr>
          <p:cNvPr id="140" name="TextBox 139"/>
          <p:cNvSpPr txBox="1"/>
          <p:nvPr/>
        </p:nvSpPr>
        <p:spPr>
          <a:xfrm>
            <a:off x="960120" y="4800600"/>
            <a:ext cx="5943600" cy="237744"/>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EN CONDITIONS RÉELLES</a:t>
            </a:r>
          </a:p>
        </p:txBody>
      </p:sp>
      <p:sp>
        <p:nvSpPr>
          <p:cNvPr id="141" name="TextBox 140"/>
          <p:cNvSpPr txBox="1"/>
          <p:nvPr/>
        </p:nvSpPr>
        <p:spPr>
          <a:xfrm>
            <a:off x="960120" y="5102352"/>
            <a:ext cx="5989320" cy="1005840"/>
          </a:xfrm>
          <a:prstGeom prst="rect">
            <a:avLst/>
          </a:prstGeom>
          <a:noFill/>
        </p:spPr>
        <p:txBody>
          <a:bodyPr wrap="square" lIns="0" tIns="0" rIns="0" bIns="0" anchor="t">
            <a:noAutofit/>
          </a:bodyPr>
          <a:lstStyle/>
          <a:p>
            <a:pPr algn="l">
              <a:lnSpc>
                <a:spcPct val="112000"/>
              </a:lnSpc>
              <a:spcBef>
                <a:spcPts val="0"/>
              </a:spcBef>
              <a:spcAft>
                <a:spcPts val="400"/>
              </a:spcAft>
            </a:pPr>
            <a:r>
              <a:rPr sz="1250" b="0" i="0">
                <a:solidFill>
                  <a:srgbClr val="E4E9F5"/>
                </a:solidFill>
                <a:latin typeface="DM Sans"/>
              </a:rPr>
              <a:t>Quand le PC est resté éteint, le bilan a signalé « incomplet » (dernières exécutions le 9 octobre) ; la chaîne a été relancée et le bilan est revenu à la normale.</a:t>
            </a:r>
          </a:p>
          <a:p>
            <a:pPr algn="l">
              <a:lnSpc>
                <a:spcPct val="112000"/>
              </a:lnSpc>
              <a:spcBef>
                <a:spcPts val="0"/>
              </a:spcBef>
              <a:spcAft>
                <a:spcPts val="400"/>
              </a:spcAft>
            </a:pPr>
            <a:r>
              <a:rPr sz="1250" b="0" i="0">
                <a:solidFill>
                  <a:srgbClr val="E4E9F5"/>
                </a:solidFill>
                <a:latin typeface="DM Sans"/>
              </a:rPr>
              <a:t>En cas de panne, il joint aussi les passages utiles de la base de connaissances.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flux Agentic AI lit le bilan, le fait analyser puis rédiger, et l’envoie sur Slack</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26</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Oval 112"/>
          <p:cNvSpPr/>
          <p:nvPr/>
        </p:nvSpPr>
        <p:spPr>
          <a:xfrm>
            <a:off x="694944" y="1874520"/>
            <a:ext cx="365760" cy="365760"/>
          </a:xfrm>
          <a:prstGeom prst="ellipse">
            <a:avLst/>
          </a:prstGeom>
          <a:solidFill>
            <a:srgbClr val="4A9BE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1</a:t>
            </a:r>
          </a:p>
        </p:txBody>
      </p:sp>
      <p:sp>
        <p:nvSpPr>
          <p:cNvPr id="114" name="TextBox 113"/>
          <p:cNvSpPr txBox="1"/>
          <p:nvPr/>
        </p:nvSpPr>
        <p:spPr>
          <a:xfrm>
            <a:off x="1197864" y="177393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API Request — lit le bilan de Workly et, en cas de panne, les passages utiles du RAG</a:t>
            </a:r>
          </a:p>
        </p:txBody>
      </p:sp>
      <p:sp>
        <p:nvSpPr>
          <p:cNvPr id="115" name="Oval 114"/>
          <p:cNvSpPr/>
          <p:nvPr/>
        </p:nvSpPr>
        <p:spPr>
          <a:xfrm>
            <a:off x="694944" y="2743200"/>
            <a:ext cx="365760" cy="365760"/>
          </a:xfrm>
          <a:prstGeom prst="ellipse">
            <a:avLst/>
          </a:prstGeom>
          <a:solidFill>
            <a:srgbClr val="4A9BE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2</a:t>
            </a:r>
          </a:p>
        </p:txBody>
      </p:sp>
      <p:sp>
        <p:nvSpPr>
          <p:cNvPr id="116" name="TextBox 115"/>
          <p:cNvSpPr txBox="1"/>
          <p:nvPr/>
        </p:nvSpPr>
        <p:spPr>
          <a:xfrm>
            <a:off x="1197864" y="264261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Parser et Prompt Template — mettent le bilan en forme et le glissent dans la consigne</a:t>
            </a:r>
          </a:p>
        </p:txBody>
      </p:sp>
      <p:sp>
        <p:nvSpPr>
          <p:cNvPr id="117" name="Oval 116"/>
          <p:cNvSpPr/>
          <p:nvPr/>
        </p:nvSpPr>
        <p:spPr>
          <a:xfrm>
            <a:off x="694944" y="3611880"/>
            <a:ext cx="365760" cy="365760"/>
          </a:xfrm>
          <a:prstGeom prst="ellipse">
            <a:avLst/>
          </a:prstGeom>
          <a:solidFill>
            <a:srgbClr val="B39DDB"/>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3</a:t>
            </a:r>
          </a:p>
        </p:txBody>
      </p:sp>
      <p:sp>
        <p:nvSpPr>
          <p:cNvPr id="118" name="TextBox 117"/>
          <p:cNvSpPr txBox="1"/>
          <p:nvPr/>
        </p:nvSpPr>
        <p:spPr>
          <a:xfrm>
            <a:off x="1197864" y="351129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Agent Analyste — évalue la gravité, la cause probable et l’action, et cite sa source</a:t>
            </a:r>
          </a:p>
        </p:txBody>
      </p:sp>
      <p:sp>
        <p:nvSpPr>
          <p:cNvPr id="119" name="Oval 118"/>
          <p:cNvSpPr/>
          <p:nvPr/>
        </p:nvSpPr>
        <p:spPr>
          <a:xfrm>
            <a:off x="694944" y="4480560"/>
            <a:ext cx="365760" cy="365760"/>
          </a:xfrm>
          <a:prstGeom prst="ellipse">
            <a:avLst/>
          </a:prstGeom>
          <a:solidFill>
            <a:srgbClr val="7ACFC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4</a:t>
            </a:r>
          </a:p>
        </p:txBody>
      </p:sp>
      <p:sp>
        <p:nvSpPr>
          <p:cNvPr id="120" name="TextBox 119"/>
          <p:cNvSpPr txBox="1"/>
          <p:nvPr/>
        </p:nvSpPr>
        <p:spPr>
          <a:xfrm>
            <a:off x="1197864" y="437997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Agent Rédacteur — écrit le message du matin, 120 mots au maximum</a:t>
            </a:r>
          </a:p>
        </p:txBody>
      </p:sp>
      <p:sp>
        <p:nvSpPr>
          <p:cNvPr id="121" name="Oval 120"/>
          <p:cNvSpPr/>
          <p:nvPr/>
        </p:nvSpPr>
        <p:spPr>
          <a:xfrm>
            <a:off x="694944" y="5349240"/>
            <a:ext cx="365760" cy="365760"/>
          </a:xfrm>
          <a:prstGeom prst="ellipse">
            <a:avLst/>
          </a:prstGeom>
          <a:solidFill>
            <a:srgbClr val="7ACFC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5</a:t>
            </a:r>
          </a:p>
        </p:txBody>
      </p:sp>
      <p:sp>
        <p:nvSpPr>
          <p:cNvPr id="122" name="TextBox 121"/>
          <p:cNvSpPr txBox="1"/>
          <p:nvPr/>
        </p:nvSpPr>
        <p:spPr>
          <a:xfrm>
            <a:off x="1197864" y="5248656"/>
            <a:ext cx="4892040" cy="731520"/>
          </a:xfrm>
          <a:prstGeom prst="rect">
            <a:avLst/>
          </a:prstGeom>
          <a:noFill/>
        </p:spPr>
        <p:txBody>
          <a:bodyPr wrap="square" lIns="0" tIns="0" rIns="0" bIns="0" anchor="ctr">
            <a:noAutofit/>
          </a:bodyPr>
          <a:lstStyle/>
          <a:p>
            <a:pPr algn="l">
              <a:lnSpc>
                <a:spcPct val="110000"/>
              </a:lnSpc>
              <a:spcBef>
                <a:spcPts val="0"/>
              </a:spcBef>
              <a:spcAft>
                <a:spcPts val="0"/>
              </a:spcAft>
            </a:pPr>
            <a:r>
              <a:rPr sz="1300" b="1" i="0" dirty="0">
                <a:solidFill>
                  <a:srgbClr val="1B2A4A"/>
                </a:solidFill>
                <a:latin typeface="Sora"/>
              </a:rPr>
              <a:t>Dynamic Create Data et API Request — envoient le message sur Slack</a:t>
            </a:r>
          </a:p>
        </p:txBody>
      </p:sp>
      <p:sp>
        <p:nvSpPr>
          <p:cNvPr id="128" name="TextBox 127"/>
          <p:cNvSpPr txBox="1"/>
          <p:nvPr/>
        </p:nvSpPr>
        <p:spPr>
          <a:xfrm>
            <a:off x="694944" y="6344920"/>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5. Flux Agentic AI du livrable 3. Source : plateforme Fusion AI Automation, module Agentic AI.</a:t>
            </a:r>
          </a:p>
        </p:txBody>
      </p:sp>
      <p:pic>
        <p:nvPicPr>
          <p:cNvPr id="2" name="Image 1"/>
          <p:cNvPicPr>
            <a:picLocks noChangeAspect="1"/>
          </p:cNvPicPr>
          <p:nvPr/>
        </p:nvPicPr>
        <p:blipFill>
          <a:blip r:embed="rId3"/>
          <a:stretch>
            <a:fillRect/>
          </a:stretch>
        </p:blipFill>
        <p:spPr>
          <a:xfrm>
            <a:off x="6227064" y="1639824"/>
            <a:ext cx="5898314" cy="46135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Deux agents aux rôles séparés : l’un analyse la panne, l’autre rédige le message</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27</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773936"/>
            <a:ext cx="5120640" cy="2240280"/>
          </a:xfrm>
          <a:prstGeom prst="roundRect">
            <a:avLst>
              <a:gd name="adj" fmla="val 6804"/>
            </a:avLst>
          </a:prstGeom>
          <a:solidFill>
            <a:srgbClr val="24375F"/>
          </a:solidFill>
          <a:ln>
            <a:noFill/>
          </a:ln>
        </p:spPr>
        <p:txBody>
          <a:bodyPr rtlCol="0" anchor="ctr"/>
          <a:lstStyle/>
          <a:p>
            <a:pPr algn="ctr"/>
            <a:endParaRPr/>
          </a:p>
        </p:txBody>
      </p:sp>
      <p:sp>
        <p:nvSpPr>
          <p:cNvPr id="253" name="Rectangle 252"/>
          <p:cNvSpPr/>
          <p:nvPr/>
        </p:nvSpPr>
        <p:spPr>
          <a:xfrm>
            <a:off x="694944" y="1773936"/>
            <a:ext cx="5120640" cy="2240280"/>
          </a:xfrm>
          <a:custGeom>
            <a:avLst/>
            <a:gdLst/>
            <a:ahLst/>
            <a:cxnLst/>
            <a:rect l="l" t="t" r="r" b="b"/>
            <a:pathLst>
              <a:path w="5120640" h="2240280" extrusionOk="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254" name="TextBox 253"/>
          <p:cNvSpPr txBox="1"/>
          <p:nvPr/>
        </p:nvSpPr>
        <p:spPr>
          <a:xfrm>
            <a:off x="932688" y="1993392"/>
            <a:ext cx="4663440" cy="274320"/>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Agent 1 · Analyste</a:t>
            </a:r>
          </a:p>
        </p:txBody>
      </p:sp>
      <p:sp>
        <p:nvSpPr>
          <p:cNvPr id="255" name="TextBox 254"/>
          <p:cNvSpPr txBox="1"/>
          <p:nvPr/>
        </p:nvSpPr>
        <p:spPr>
          <a:xfrm>
            <a:off x="932688" y="2432304"/>
            <a:ext cx="4663440" cy="1463040"/>
          </a:xfrm>
          <a:prstGeom prst="rect">
            <a:avLst/>
          </a:prstGeom>
          <a:noFill/>
        </p:spPr>
        <p:txBody>
          <a:bodyPr wrap="square" lIns="0" tIns="0" rIns="0" bIns="0" anchor="t">
            <a:noAutofit/>
          </a:bodyPr>
          <a:lstStyle/>
          <a:p>
            <a:pPr algn="l">
              <a:lnSpc>
                <a:spcPct val="115000"/>
              </a:lnSpc>
              <a:spcBef>
                <a:spcPts val="0"/>
              </a:spcBef>
              <a:spcAft>
                <a:spcPts val="400"/>
              </a:spcAft>
            </a:pPr>
            <a:r>
              <a:rPr sz="1300" b="0" i="0">
                <a:solidFill>
                  <a:srgbClr val="C9D1E8"/>
                </a:solidFill>
                <a:latin typeface="DM Sans"/>
              </a:rPr>
              <a:t>Entrée : le bilan de Workly et les passages de la base de connaissances</a:t>
            </a:r>
          </a:p>
          <a:p>
            <a:pPr algn="l">
              <a:lnSpc>
                <a:spcPct val="115000"/>
              </a:lnSpc>
              <a:spcBef>
                <a:spcPts val="0"/>
              </a:spcBef>
              <a:spcAft>
                <a:spcPts val="400"/>
              </a:spcAft>
            </a:pPr>
            <a:r>
              <a:rPr sz="1300" b="0" i="0">
                <a:solidFill>
                  <a:srgbClr val="C9D1E8"/>
                </a:solidFill>
                <a:latin typeface="DM Sans"/>
              </a:rPr>
              <a:t>Règle : ne s’appuie que sur ces données, n’invente rien</a:t>
            </a:r>
          </a:p>
          <a:p>
            <a:pPr algn="l">
              <a:lnSpc>
                <a:spcPct val="115000"/>
              </a:lnSpc>
              <a:spcBef>
                <a:spcPts val="0"/>
              </a:spcBef>
              <a:spcAft>
                <a:spcPts val="400"/>
              </a:spcAft>
            </a:pPr>
            <a:r>
              <a:rPr sz="1300" b="0" i="0">
                <a:solidFill>
                  <a:srgbClr val="C9D1E8"/>
                </a:solidFill>
                <a:latin typeface="DM Sans"/>
              </a:rPr>
              <a:t>Sortie : gravité (ok, attention, critique), causes probables et actions, avec la source</a:t>
            </a:r>
          </a:p>
        </p:txBody>
      </p:sp>
      <p:sp>
        <p:nvSpPr>
          <p:cNvPr id="256" name="Rounded Rectangle 255"/>
          <p:cNvSpPr/>
          <p:nvPr/>
        </p:nvSpPr>
        <p:spPr>
          <a:xfrm>
            <a:off x="6373368" y="1773936"/>
            <a:ext cx="5120640" cy="2240280"/>
          </a:xfrm>
          <a:prstGeom prst="roundRect">
            <a:avLst>
              <a:gd name="adj" fmla="val 6804"/>
            </a:avLst>
          </a:prstGeom>
          <a:solidFill>
            <a:srgbClr val="24375F"/>
          </a:solidFill>
          <a:ln>
            <a:noFill/>
          </a:ln>
        </p:spPr>
        <p:txBody>
          <a:bodyPr rtlCol="0" anchor="ctr"/>
          <a:lstStyle/>
          <a:p>
            <a:pPr algn="ctr"/>
            <a:endParaRPr/>
          </a:p>
        </p:txBody>
      </p:sp>
      <p:sp>
        <p:nvSpPr>
          <p:cNvPr id="257" name="Rectangle 256"/>
          <p:cNvSpPr/>
          <p:nvPr/>
        </p:nvSpPr>
        <p:spPr>
          <a:xfrm>
            <a:off x="6373368" y="1773936"/>
            <a:ext cx="5120640" cy="2240280"/>
          </a:xfrm>
          <a:custGeom>
            <a:avLst/>
            <a:gdLst/>
            <a:ahLst/>
            <a:cxnLst/>
            <a:rect l="l" t="t" r="r" b="b"/>
            <a:pathLst>
              <a:path w="5120640" h="2240280" extrusionOk="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258" name="TextBox 257"/>
          <p:cNvSpPr txBox="1"/>
          <p:nvPr/>
        </p:nvSpPr>
        <p:spPr>
          <a:xfrm>
            <a:off x="6611112" y="1993392"/>
            <a:ext cx="4663440" cy="274320"/>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Agent 2 · Rédacteur</a:t>
            </a:r>
          </a:p>
        </p:txBody>
      </p:sp>
      <p:sp>
        <p:nvSpPr>
          <p:cNvPr id="259" name="TextBox 258"/>
          <p:cNvSpPr txBox="1"/>
          <p:nvPr/>
        </p:nvSpPr>
        <p:spPr>
          <a:xfrm>
            <a:off x="6611112" y="2432304"/>
            <a:ext cx="4663440" cy="1463040"/>
          </a:xfrm>
          <a:prstGeom prst="rect">
            <a:avLst/>
          </a:prstGeom>
          <a:noFill/>
        </p:spPr>
        <p:txBody>
          <a:bodyPr wrap="square" lIns="0" tIns="0" rIns="0" bIns="0" anchor="t">
            <a:noAutofit/>
          </a:bodyPr>
          <a:lstStyle/>
          <a:p>
            <a:pPr algn="l">
              <a:lnSpc>
                <a:spcPct val="115000"/>
              </a:lnSpc>
              <a:spcBef>
                <a:spcPts val="0"/>
              </a:spcBef>
              <a:spcAft>
                <a:spcPts val="400"/>
              </a:spcAft>
            </a:pPr>
            <a:r>
              <a:rPr sz="1300" b="0" i="0">
                <a:solidFill>
                  <a:srgbClr val="C9D1E8"/>
                </a:solidFill>
                <a:latin typeface="DM Sans"/>
              </a:rPr>
              <a:t>Entrée : l’analyse de l’Analyste</a:t>
            </a:r>
          </a:p>
          <a:p>
            <a:pPr algn="l">
              <a:lnSpc>
                <a:spcPct val="115000"/>
              </a:lnSpc>
              <a:spcBef>
                <a:spcPts val="0"/>
              </a:spcBef>
              <a:spcAft>
                <a:spcPts val="400"/>
              </a:spcAft>
            </a:pPr>
            <a:r>
              <a:rPr sz="1300" b="0" i="0">
                <a:solidFill>
                  <a:srgbClr val="C9D1E8"/>
                </a:solidFill>
                <a:latin typeface="DM Sans"/>
              </a:rPr>
              <a:t>Consigne : français, ton factuel, 120 mots au maximum</a:t>
            </a:r>
          </a:p>
          <a:p>
            <a:pPr algn="l">
              <a:lnSpc>
                <a:spcPct val="115000"/>
              </a:lnSpc>
              <a:spcBef>
                <a:spcPts val="0"/>
              </a:spcBef>
              <a:spcAft>
                <a:spcPts val="400"/>
              </a:spcAft>
            </a:pPr>
            <a:r>
              <a:rPr sz="1300" b="0" i="0">
                <a:solidFill>
                  <a:srgbClr val="C9D1E8"/>
                </a:solidFill>
                <a:latin typeface="DM Sans"/>
              </a:rPr>
              <a:t>Interdit : adresse, jeton, détail technique interne</a:t>
            </a:r>
          </a:p>
          <a:p>
            <a:pPr algn="l">
              <a:lnSpc>
                <a:spcPct val="115000"/>
              </a:lnSpc>
              <a:spcBef>
                <a:spcPts val="0"/>
              </a:spcBef>
              <a:spcAft>
                <a:spcPts val="400"/>
              </a:spcAft>
            </a:pPr>
            <a:r>
              <a:rPr sz="1300" b="0" i="0">
                <a:solidFill>
                  <a:srgbClr val="C9D1E8"/>
                </a:solidFill>
                <a:latin typeface="DM Sans"/>
              </a:rPr>
              <a:t>Sortie : un objet et un corps de message</a:t>
            </a:r>
          </a:p>
        </p:txBody>
      </p:sp>
      <p:cxnSp>
        <p:nvCxnSpPr>
          <p:cNvPr id="260" name="Connector 259"/>
          <p:cNvCxnSpPr/>
          <p:nvPr/>
        </p:nvCxnSpPr>
        <p:spPr>
          <a:xfrm>
            <a:off x="5852160" y="2889504"/>
            <a:ext cx="493776" cy="0"/>
          </a:xfrm>
          <a:prstGeom prst="line">
            <a:avLst/>
          </a:prstGeom>
          <a:ln w="28575">
            <a:solidFill>
              <a:srgbClr val="7ACFC0"/>
            </a:solidFill>
            <a:tailEnd type="triangle" w="med" len="med"/>
          </a:ln>
        </p:spPr>
      </p:cxnSp>
      <p:sp>
        <p:nvSpPr>
          <p:cNvPr id="261" name="Rounded Rectangle 260"/>
          <p:cNvSpPr/>
          <p:nvPr/>
        </p:nvSpPr>
        <p:spPr>
          <a:xfrm>
            <a:off x="694944" y="4224528"/>
            <a:ext cx="5120640" cy="1783080"/>
          </a:xfrm>
          <a:prstGeom prst="roundRect">
            <a:avLst>
              <a:gd name="adj" fmla="val 6153"/>
            </a:avLst>
          </a:prstGeom>
          <a:solidFill>
            <a:srgbClr val="142040"/>
          </a:solidFill>
          <a:ln>
            <a:noFill/>
          </a:ln>
        </p:spPr>
        <p:txBody>
          <a:bodyPr rtlCol="0" anchor="ctr"/>
          <a:lstStyle/>
          <a:p>
            <a:pPr algn="ctr"/>
            <a:endParaRPr/>
          </a:p>
        </p:txBody>
      </p:sp>
      <p:sp>
        <p:nvSpPr>
          <p:cNvPr id="262" name="TextBox 261"/>
          <p:cNvSpPr txBox="1"/>
          <p:nvPr/>
        </p:nvSpPr>
        <p:spPr>
          <a:xfrm>
            <a:off x="914400" y="4352544"/>
            <a:ext cx="47548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EXEMPLE : NUIT NON EXÉCUTÉE (ANALYSTE)</a:t>
            </a:r>
          </a:p>
        </p:txBody>
      </p:sp>
      <p:sp>
        <p:nvSpPr>
          <p:cNvPr id="263" name="TextBox 262"/>
          <p:cNvSpPr txBox="1"/>
          <p:nvPr/>
        </p:nvSpPr>
        <p:spPr>
          <a:xfrm>
            <a:off x="914400" y="4663440"/>
            <a:ext cx="4709160" cy="1280160"/>
          </a:xfrm>
          <a:prstGeom prst="rect">
            <a:avLst/>
          </a:prstGeom>
          <a:noFill/>
        </p:spPr>
        <p:txBody>
          <a:bodyPr wrap="square" lIns="0" tIns="0" rIns="0" bIns="0" anchor="t">
            <a:noAutofit/>
          </a:bodyPr>
          <a:lstStyle/>
          <a:p>
            <a:pPr algn="l">
              <a:lnSpc>
                <a:spcPct val="105000"/>
              </a:lnSpc>
              <a:spcBef>
                <a:spcPts val="0"/>
              </a:spcBef>
              <a:spcAft>
                <a:spcPts val="0"/>
              </a:spcAft>
            </a:pPr>
            <a:r>
              <a:rPr sz="1250" b="0" i="0">
                <a:solidFill>
                  <a:srgbClr val="E4E9F5"/>
                </a:solidFill>
                <a:latin typeface="DM Sans"/>
              </a:rPr>
              <a:t>Gravité : attention</a:t>
            </a:r>
          </a:p>
          <a:p>
            <a:pPr algn="l">
              <a:lnSpc>
                <a:spcPct val="105000"/>
              </a:lnSpc>
              <a:spcBef>
                <a:spcPts val="0"/>
              </a:spcBef>
              <a:spcAft>
                <a:spcPts val="0"/>
              </a:spcAft>
            </a:pPr>
            <a:r>
              <a:rPr sz="1250" b="0" i="0">
                <a:solidFill>
                  <a:srgbClr val="E4E9F5"/>
                </a:solidFill>
                <a:latin typeface="DM Sans"/>
              </a:rPr>
              <a:t>Cause probable : PC éteint ou planificateur arrêté</a:t>
            </a:r>
          </a:p>
          <a:p>
            <a:pPr algn="l">
              <a:lnSpc>
                <a:spcPct val="105000"/>
              </a:lnSpc>
              <a:spcBef>
                <a:spcPts val="0"/>
              </a:spcBef>
              <a:spcAft>
                <a:spcPts val="0"/>
              </a:spcAft>
            </a:pPr>
            <a:r>
              <a:rPr sz="1250" b="0" i="0">
                <a:solidFill>
                  <a:srgbClr val="E4E9F5"/>
                </a:solidFill>
                <a:latin typeface="DM Sans"/>
              </a:rPr>
              <a:t>Action : relancer le planificateur, puis la chaîne manquante</a:t>
            </a:r>
          </a:p>
          <a:p>
            <a:pPr algn="l">
              <a:lnSpc>
                <a:spcPct val="105000"/>
              </a:lnSpc>
              <a:spcBef>
                <a:spcPts val="0"/>
              </a:spcBef>
              <a:spcAft>
                <a:spcPts val="0"/>
              </a:spcAft>
            </a:pPr>
            <a:r>
              <a:rPr sz="1250" b="0" i="0">
                <a:solidFill>
                  <a:srgbClr val="E4E9F5"/>
                </a:solidFill>
                <a:latin typeface="DM Sans"/>
              </a:rPr>
              <a:t>Source : « Statut incomplet »</a:t>
            </a:r>
          </a:p>
        </p:txBody>
      </p:sp>
      <p:sp>
        <p:nvSpPr>
          <p:cNvPr id="264" name="Rounded Rectangle 263"/>
          <p:cNvSpPr/>
          <p:nvPr/>
        </p:nvSpPr>
        <p:spPr>
          <a:xfrm>
            <a:off x="6373368" y="4224528"/>
            <a:ext cx="5120640" cy="1783080"/>
          </a:xfrm>
          <a:prstGeom prst="roundRect">
            <a:avLst>
              <a:gd name="adj" fmla="val 6153"/>
            </a:avLst>
          </a:prstGeom>
          <a:solidFill>
            <a:srgbClr val="142040"/>
          </a:solidFill>
          <a:ln>
            <a:noFill/>
          </a:ln>
        </p:spPr>
        <p:txBody>
          <a:bodyPr rtlCol="0" anchor="ctr"/>
          <a:lstStyle/>
          <a:p>
            <a:pPr algn="ctr"/>
            <a:endParaRPr/>
          </a:p>
        </p:txBody>
      </p:sp>
      <p:sp>
        <p:nvSpPr>
          <p:cNvPr id="265" name="TextBox 264"/>
          <p:cNvSpPr txBox="1"/>
          <p:nvPr/>
        </p:nvSpPr>
        <p:spPr>
          <a:xfrm>
            <a:off x="6592824" y="4352544"/>
            <a:ext cx="47548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EXEMPLE : MESSAGE DU RÉDACTEUR</a:t>
            </a:r>
          </a:p>
        </p:txBody>
      </p:sp>
      <p:sp>
        <p:nvSpPr>
          <p:cNvPr id="266" name="TextBox 265"/>
          <p:cNvSpPr txBox="1"/>
          <p:nvPr/>
        </p:nvSpPr>
        <p:spPr>
          <a:xfrm>
            <a:off x="6592824" y="4663440"/>
            <a:ext cx="4709160" cy="1280160"/>
          </a:xfrm>
          <a:prstGeom prst="rect">
            <a:avLst/>
          </a:prstGeom>
          <a:noFill/>
        </p:spPr>
        <p:txBody>
          <a:bodyPr wrap="square" lIns="0" tIns="0" rIns="0" bIns="0" anchor="t">
            <a:noAutofit/>
          </a:bodyPr>
          <a:lstStyle/>
          <a:p>
            <a:pPr algn="l">
              <a:lnSpc>
                <a:spcPct val="112000"/>
              </a:lnSpc>
              <a:spcBef>
                <a:spcPts val="0"/>
              </a:spcBef>
              <a:spcAft>
                <a:spcPts val="400"/>
              </a:spcAft>
            </a:pPr>
            <a:r>
              <a:rPr sz="1250" b="1" i="0">
                <a:solidFill>
                  <a:srgbClr val="FFFFFF"/>
                </a:solidFill>
                <a:latin typeface="DM Sans"/>
              </a:rPr>
              <a:t>Objet : Point exploitation – Attention : chaîne nocturne non exécutée</a:t>
            </a:r>
          </a:p>
          <a:p>
            <a:pPr algn="l">
              <a:lnSpc>
                <a:spcPct val="112000"/>
              </a:lnSpc>
              <a:spcBef>
                <a:spcPts val="0"/>
              </a:spcBef>
              <a:spcAft>
                <a:spcPts val="400"/>
              </a:spcAft>
            </a:pPr>
            <a:r>
              <a:rPr sz="1250" b="0" i="0">
                <a:solidFill>
                  <a:srgbClr val="E4E9F5"/>
                </a:solidFill>
                <a:latin typeface="DM Sans"/>
              </a:rPr>
              <a:t>Le PC était éteint ou en veille à 00:30 UTC, ou le planificateur était arrêté. Action : relancer le planificateur, puis exécuter la chaîne manquante.</a:t>
            </a:r>
          </a:p>
        </p:txBody>
      </p:sp>
      <p:sp>
        <p:nvSpPr>
          <p:cNvPr id="267" name="TextBox 266"/>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exécutions réelles du flux Agentic AI, modèle Gemini flash-lite pour les deux agents.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dirty="0">
                <a:solidFill>
                  <a:srgbClr val="1B2A4A"/>
                </a:solidFill>
                <a:latin typeface="Sora"/>
                <a:ea typeface="Sora"/>
                <a:cs typeface="Sora"/>
                <a:sym typeface="Sora"/>
              </a:rPr>
              <a:t>Un Cron Fusion déclenche le flux chaque matin à 06:00 par un simple nœud HTTP</a:t>
            </a:r>
            <a:endParaRPr sz="2100" dirty="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30</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4" name="Rounded Rectangle 113"/>
          <p:cNvSpPr/>
          <p:nvPr/>
        </p:nvSpPr>
        <p:spPr>
          <a:xfrm>
            <a:off x="7269480" y="1773936"/>
            <a:ext cx="4224528" cy="3246120"/>
          </a:xfrm>
          <a:prstGeom prst="roundRect">
            <a:avLst>
              <a:gd name="adj" fmla="val 4695"/>
            </a:avLst>
          </a:prstGeom>
          <a:solidFill>
            <a:srgbClr val="FFFFFF"/>
          </a:solidFill>
          <a:ln>
            <a:noFill/>
          </a:ln>
        </p:spPr>
        <p:txBody>
          <a:bodyPr rtlCol="0" anchor="ctr"/>
          <a:lstStyle/>
          <a:p>
            <a:pPr algn="ctr"/>
            <a:endParaRPr/>
          </a:p>
        </p:txBody>
      </p:sp>
      <p:sp>
        <p:nvSpPr>
          <p:cNvPr id="115" name="Rectangle 114"/>
          <p:cNvSpPr/>
          <p:nvPr/>
        </p:nvSpPr>
        <p:spPr>
          <a:xfrm>
            <a:off x="7269480" y="1773936"/>
            <a:ext cx="4224528" cy="3246120"/>
          </a:xfrm>
          <a:custGeom>
            <a:avLst/>
            <a:gdLst/>
            <a:ahLst/>
            <a:cxnLst/>
            <a:rect l="l" t="t" r="r" b="b"/>
            <a:pathLst>
              <a:path w="4224528" h="3246120" extrusionOk="0">
                <a:moveTo>
                  <a:pt x="0" y="152400"/>
                </a:moveTo>
                <a:cubicBezTo>
                  <a:pt x="0" y="68229"/>
                  <a:pt x="68229" y="0"/>
                  <a:pt x="152400" y="0"/>
                </a:cubicBezTo>
                <a:lnTo>
                  <a:pt x="4072128" y="0"/>
                </a:lnTo>
                <a:cubicBezTo>
                  <a:pt x="4156298" y="0"/>
                  <a:pt x="4224528" y="68229"/>
                  <a:pt x="4224528" y="152400"/>
                </a:cubicBezTo>
                <a:cubicBezTo>
                  <a:pt x="4224528" y="103311"/>
                  <a:pt x="4156299" y="63500"/>
                  <a:pt x="407212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16" name="TextBox 115"/>
          <p:cNvSpPr txBox="1"/>
          <p:nvPr/>
        </p:nvSpPr>
        <p:spPr>
          <a:xfrm>
            <a:off x="7516368" y="1956816"/>
            <a:ext cx="374904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Réglages du déclencheur</a:t>
            </a:r>
          </a:p>
        </p:txBody>
      </p:sp>
      <p:sp>
        <p:nvSpPr>
          <p:cNvPr id="117" name="Rounded Rectangle 116"/>
          <p:cNvSpPr/>
          <p:nvPr/>
        </p:nvSpPr>
        <p:spPr>
          <a:xfrm>
            <a:off x="7424928" y="2395728"/>
            <a:ext cx="3922776" cy="365760"/>
          </a:xfrm>
          <a:prstGeom prst="roundRect">
            <a:avLst>
              <a:gd name="adj" fmla="val 20000"/>
            </a:avLst>
          </a:prstGeom>
          <a:solidFill>
            <a:srgbClr val="F4F6FB"/>
          </a:solidFill>
          <a:ln>
            <a:noFill/>
          </a:ln>
        </p:spPr>
        <p:txBody>
          <a:bodyPr rtlCol="0" anchor="ctr"/>
          <a:lstStyle/>
          <a:p>
            <a:pPr algn="ctr"/>
            <a:endParaRPr/>
          </a:p>
        </p:txBody>
      </p:sp>
      <p:sp>
        <p:nvSpPr>
          <p:cNvPr id="118" name="TextBox 117"/>
          <p:cNvSpPr txBox="1"/>
          <p:nvPr/>
        </p:nvSpPr>
        <p:spPr>
          <a:xfrm>
            <a:off x="7534656" y="2395728"/>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Heure</a:t>
            </a:r>
          </a:p>
        </p:txBody>
      </p:sp>
      <p:sp>
        <p:nvSpPr>
          <p:cNvPr id="119" name="TextBox 118"/>
          <p:cNvSpPr txBox="1"/>
          <p:nvPr/>
        </p:nvSpPr>
        <p:spPr>
          <a:xfrm>
            <a:off x="9363456" y="2395728"/>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06:00 UTC</a:t>
            </a:r>
          </a:p>
        </p:txBody>
      </p:sp>
      <p:sp>
        <p:nvSpPr>
          <p:cNvPr id="120" name="TextBox 119"/>
          <p:cNvSpPr txBox="1"/>
          <p:nvPr/>
        </p:nvSpPr>
        <p:spPr>
          <a:xfrm>
            <a:off x="7534656" y="2798064"/>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Action</a:t>
            </a:r>
          </a:p>
        </p:txBody>
      </p:sp>
      <p:sp>
        <p:nvSpPr>
          <p:cNvPr id="121" name="TextBox 120"/>
          <p:cNvSpPr txBox="1"/>
          <p:nvPr/>
        </p:nvSpPr>
        <p:spPr>
          <a:xfrm>
            <a:off x="9363456" y="2798064"/>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lance le flux</a:t>
            </a:r>
          </a:p>
        </p:txBody>
      </p:sp>
      <p:sp>
        <p:nvSpPr>
          <p:cNvPr id="122" name="Rounded Rectangle 121"/>
          <p:cNvSpPr/>
          <p:nvPr/>
        </p:nvSpPr>
        <p:spPr>
          <a:xfrm>
            <a:off x="7424928" y="3200400"/>
            <a:ext cx="3922776" cy="365760"/>
          </a:xfrm>
          <a:prstGeom prst="roundRect">
            <a:avLst>
              <a:gd name="adj" fmla="val 20000"/>
            </a:avLst>
          </a:prstGeom>
          <a:solidFill>
            <a:srgbClr val="F4F6FB"/>
          </a:solidFill>
          <a:ln>
            <a:noFill/>
          </a:ln>
        </p:spPr>
        <p:txBody>
          <a:bodyPr rtlCol="0" anchor="ctr"/>
          <a:lstStyle/>
          <a:p>
            <a:pPr algn="ctr"/>
            <a:endParaRPr/>
          </a:p>
        </p:txBody>
      </p:sp>
      <p:sp>
        <p:nvSpPr>
          <p:cNvPr id="123" name="TextBox 122"/>
          <p:cNvSpPr txBox="1"/>
          <p:nvPr/>
        </p:nvSpPr>
        <p:spPr>
          <a:xfrm>
            <a:off x="7534656" y="3200400"/>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Sécurité</a:t>
            </a:r>
          </a:p>
        </p:txBody>
      </p:sp>
      <p:sp>
        <p:nvSpPr>
          <p:cNvPr id="124" name="TextBox 123"/>
          <p:cNvSpPr txBox="1"/>
          <p:nvPr/>
        </p:nvSpPr>
        <p:spPr>
          <a:xfrm>
            <a:off x="9363456" y="3200400"/>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jeton secret</a:t>
            </a:r>
          </a:p>
        </p:txBody>
      </p:sp>
      <p:sp>
        <p:nvSpPr>
          <p:cNvPr id="125" name="TextBox 124"/>
          <p:cNvSpPr txBox="1"/>
          <p:nvPr/>
        </p:nvSpPr>
        <p:spPr>
          <a:xfrm>
            <a:off x="7534656" y="3602736"/>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Données</a:t>
            </a:r>
          </a:p>
        </p:txBody>
      </p:sp>
      <p:sp>
        <p:nvSpPr>
          <p:cNvPr id="126" name="TextBox 125"/>
          <p:cNvSpPr txBox="1"/>
          <p:nvPr/>
        </p:nvSpPr>
        <p:spPr>
          <a:xfrm>
            <a:off x="9363456" y="3602736"/>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aucune transmise</a:t>
            </a:r>
          </a:p>
        </p:txBody>
      </p:sp>
      <p:sp>
        <p:nvSpPr>
          <p:cNvPr id="127" name="Rounded Rectangle 126"/>
          <p:cNvSpPr/>
          <p:nvPr/>
        </p:nvSpPr>
        <p:spPr>
          <a:xfrm>
            <a:off x="7424928" y="4005072"/>
            <a:ext cx="3922776" cy="365760"/>
          </a:xfrm>
          <a:prstGeom prst="roundRect">
            <a:avLst>
              <a:gd name="adj" fmla="val 20000"/>
            </a:avLst>
          </a:prstGeom>
          <a:solidFill>
            <a:srgbClr val="F4F6FB"/>
          </a:solidFill>
          <a:ln>
            <a:noFill/>
          </a:ln>
        </p:spPr>
        <p:txBody>
          <a:bodyPr rtlCol="0" anchor="ctr"/>
          <a:lstStyle/>
          <a:p>
            <a:pPr algn="ctr"/>
            <a:endParaRPr/>
          </a:p>
        </p:txBody>
      </p:sp>
      <p:sp>
        <p:nvSpPr>
          <p:cNvPr id="128" name="TextBox 127"/>
          <p:cNvSpPr txBox="1"/>
          <p:nvPr/>
        </p:nvSpPr>
        <p:spPr>
          <a:xfrm>
            <a:off x="7534656" y="4005072"/>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Délai</a:t>
            </a:r>
          </a:p>
        </p:txBody>
      </p:sp>
      <p:sp>
        <p:nvSpPr>
          <p:cNvPr id="129" name="TextBox 128"/>
          <p:cNvSpPr txBox="1"/>
          <p:nvPr/>
        </p:nvSpPr>
        <p:spPr>
          <a:xfrm>
            <a:off x="9363456" y="4005072"/>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120 secondes</a:t>
            </a:r>
          </a:p>
        </p:txBody>
      </p:sp>
      <p:sp>
        <p:nvSpPr>
          <p:cNvPr id="130" name="TextBox 129"/>
          <p:cNvSpPr txBox="1"/>
          <p:nvPr/>
        </p:nvSpPr>
        <p:spPr>
          <a:xfrm>
            <a:off x="7534656" y="4407408"/>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Sorties</a:t>
            </a:r>
          </a:p>
        </p:txBody>
      </p:sp>
      <p:sp>
        <p:nvSpPr>
          <p:cNvPr id="131" name="TextBox 130"/>
          <p:cNvSpPr txBox="1"/>
          <p:nvPr/>
        </p:nvSpPr>
        <p:spPr>
          <a:xfrm>
            <a:off x="9363456" y="4407408"/>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verte ou rouge</a:t>
            </a:r>
          </a:p>
        </p:txBody>
      </p:sp>
      <p:sp>
        <p:nvSpPr>
          <p:cNvPr id="132" name="Rounded Rectangle 131"/>
          <p:cNvSpPr/>
          <p:nvPr/>
        </p:nvSpPr>
        <p:spPr>
          <a:xfrm>
            <a:off x="694944" y="5230368"/>
            <a:ext cx="10799064" cy="914400"/>
          </a:xfrm>
          <a:prstGeom prst="roundRect">
            <a:avLst>
              <a:gd name="adj" fmla="val 12000"/>
            </a:avLst>
          </a:prstGeom>
          <a:solidFill>
            <a:srgbClr val="E3F0FC"/>
          </a:solidFill>
          <a:ln>
            <a:noFill/>
          </a:ln>
        </p:spPr>
        <p:txBody>
          <a:bodyPr rtlCol="0" anchor="ctr"/>
          <a:lstStyle/>
          <a:p>
            <a:pPr algn="ctr"/>
            <a:endParaRPr/>
          </a:p>
        </p:txBody>
      </p:sp>
      <p:sp>
        <p:nvSpPr>
          <p:cNvPr id="133" name="Rectangle 132"/>
          <p:cNvSpPr/>
          <p:nvPr/>
        </p:nvSpPr>
        <p:spPr>
          <a:xfrm>
            <a:off x="694944" y="5230368"/>
            <a:ext cx="10799064" cy="914400"/>
          </a:xfrm>
          <a:custGeom>
            <a:avLst/>
            <a:gdLst/>
            <a:ahLst/>
            <a:cxnLst/>
            <a:rect l="l" t="t" r="r" b="b"/>
            <a:pathLst>
              <a:path w="10799064" h="914400" extrusionOk="0">
                <a:moveTo>
                  <a:pt x="0" y="152400"/>
                </a:moveTo>
                <a:cubicBezTo>
                  <a:pt x="0" y="68229"/>
                  <a:pt x="68229" y="0"/>
                  <a:pt x="152400" y="0"/>
                </a:cubicBezTo>
                <a:lnTo>
                  <a:pt x="10646664" y="0"/>
                </a:lnTo>
                <a:cubicBezTo>
                  <a:pt x="10730834" y="0"/>
                  <a:pt x="10799064" y="68229"/>
                  <a:pt x="10799064" y="152400"/>
                </a:cubicBezTo>
                <a:cubicBezTo>
                  <a:pt x="10799064" y="103311"/>
                  <a:pt x="10730835" y="63500"/>
                  <a:pt x="106466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34" name="TextBox 133"/>
          <p:cNvSpPr txBox="1"/>
          <p:nvPr/>
        </p:nvSpPr>
        <p:spPr>
          <a:xfrm>
            <a:off x="987552" y="5230368"/>
            <a:ext cx="10241280" cy="914400"/>
          </a:xfrm>
          <a:prstGeom prst="rect">
            <a:avLst/>
          </a:prstGeom>
          <a:noFill/>
        </p:spPr>
        <p:txBody>
          <a:bodyPr wrap="square" lIns="0" tIns="0" rIns="0" bIns="0" anchor="ctr">
            <a:noAutofit/>
          </a:bodyPr>
          <a:lstStyle/>
          <a:p>
            <a:pPr algn="l">
              <a:lnSpc>
                <a:spcPct val="115000"/>
              </a:lnSpc>
              <a:spcBef>
                <a:spcPts val="0"/>
              </a:spcBef>
              <a:spcAft>
                <a:spcPts val="0"/>
              </a:spcAft>
            </a:pPr>
            <a:r>
              <a:rPr sz="1500" b="1" i="0">
                <a:solidFill>
                  <a:srgbClr val="6B3FA0"/>
                </a:solidFill>
                <a:latin typeface="DM Sans"/>
              </a:rPr>
              <a:t>À retenir : </a:t>
            </a:r>
            <a:r>
              <a:rPr sz="1500" b="0" i="0">
                <a:solidFill>
                  <a:srgbClr val="2B3350"/>
                </a:solidFill>
                <a:latin typeface="DM Sans"/>
              </a:rPr>
              <a:t>le nœud ne transporte aucune donnée. Workly calcule le bilan et retrouve les passages utiles du RAG ; le flux les analyse ; Fusion ne fait que lancer l’exécution à heure fixe.</a:t>
            </a:r>
          </a:p>
        </p:txBody>
      </p:sp>
      <p:sp>
        <p:nvSpPr>
          <p:cNvPr id="135" name="TextBox 134"/>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6. Canevas Fusion du livrable 3. Source : plateforme Fusion AI Automation.</a:t>
            </a:r>
          </a:p>
        </p:txBody>
      </p:sp>
      <p:pic>
        <p:nvPicPr>
          <p:cNvPr id="2" name="Image 1"/>
          <p:cNvPicPr>
            <a:picLocks noChangeAspect="1"/>
          </p:cNvPicPr>
          <p:nvPr/>
        </p:nvPicPr>
        <p:blipFill>
          <a:blip r:embed="rId3"/>
          <a:stretch>
            <a:fillRect/>
          </a:stretch>
        </p:blipFill>
        <p:spPr>
          <a:xfrm>
            <a:off x="656083" y="1773936"/>
            <a:ext cx="5789167" cy="316685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rgbClr val="FFFFFF"/>
              </a:buClr>
              <a:buSzPts val="2100"/>
              <a:buFont typeface="Sora"/>
              <a:buNone/>
            </a:pPr>
            <a:r>
              <a:rPr lang="en-US" b="1" dirty="0">
                <a:solidFill>
                  <a:srgbClr val="FFFFFF"/>
                </a:solidFill>
              </a:rPr>
              <a:t>L</a:t>
            </a:r>
            <a:r>
              <a:rPr lang="en-US" sz="2100" b="1" i="0" dirty="0">
                <a:solidFill>
                  <a:srgbClr val="FFFFFF"/>
                </a:solidFill>
                <a:latin typeface="Sora"/>
                <a:ea typeface="Sora"/>
                <a:cs typeface="Sora"/>
                <a:sym typeface="Sora"/>
              </a:rPr>
              <a:t>e message du matin change </a:t>
            </a:r>
            <a:r>
              <a:rPr lang="en-US" sz="2100" b="1" i="0" dirty="0" err="1">
                <a:solidFill>
                  <a:srgbClr val="FFFFFF"/>
                </a:solidFill>
                <a:latin typeface="Sora"/>
                <a:ea typeface="Sora"/>
                <a:cs typeface="Sora"/>
                <a:sym typeface="Sora"/>
              </a:rPr>
              <a:t>selon</a:t>
            </a:r>
            <a:r>
              <a:rPr lang="en-US" sz="2100" b="1" i="0" dirty="0">
                <a:solidFill>
                  <a:srgbClr val="FFFFFF"/>
                </a:solidFill>
                <a:latin typeface="Sora"/>
                <a:ea typeface="Sora"/>
                <a:cs typeface="Sora"/>
                <a:sym typeface="Sora"/>
              </a:rPr>
              <a:t> </a:t>
            </a:r>
            <a:r>
              <a:rPr lang="en-US" sz="2100" b="1" i="0" dirty="0" err="1">
                <a:solidFill>
                  <a:srgbClr val="FFFFFF"/>
                </a:solidFill>
                <a:latin typeface="Sora"/>
                <a:ea typeface="Sora"/>
                <a:cs typeface="Sora"/>
                <a:sym typeface="Sora"/>
              </a:rPr>
              <a:t>l’état</a:t>
            </a:r>
            <a:r>
              <a:rPr lang="en-US" sz="2100" b="1" i="0" dirty="0">
                <a:solidFill>
                  <a:srgbClr val="FFFFFF"/>
                </a:solidFill>
                <a:latin typeface="Sora"/>
                <a:ea typeface="Sora"/>
                <a:cs typeface="Sora"/>
                <a:sym typeface="Sora"/>
              </a:rPr>
              <a:t> de la nuit</a:t>
            </a:r>
            <a:endParaRPr sz="2100" dirty="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31</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3" name="TextBox 252"/>
          <p:cNvSpPr txBox="1"/>
          <p:nvPr/>
        </p:nvSpPr>
        <p:spPr>
          <a:xfrm>
            <a:off x="694944" y="5724144"/>
            <a:ext cx="5577840" cy="457200"/>
          </a:xfrm>
          <a:prstGeom prst="rect">
            <a:avLst/>
          </a:prstGeom>
          <a:noFill/>
        </p:spPr>
        <p:txBody>
          <a:bodyPr wrap="square" lIns="0" tIns="0" rIns="0" bIns="0" anchor="t">
            <a:noAutofit/>
          </a:bodyPr>
          <a:lstStyle/>
          <a:p>
            <a:pPr algn="l">
              <a:lnSpc>
                <a:spcPct val="112000"/>
              </a:lnSpc>
              <a:spcBef>
                <a:spcPts val="0"/>
              </a:spcBef>
              <a:spcAft>
                <a:spcPts val="0"/>
              </a:spcAft>
            </a:pPr>
            <a:endParaRPr lang="fr-MA" sz="1250" b="0" i="0" dirty="0">
              <a:solidFill>
                <a:srgbClr val="A9B4D0"/>
              </a:solidFill>
              <a:latin typeface="DM Sans"/>
            </a:endParaRPr>
          </a:p>
        </p:txBody>
      </p:sp>
      <p:sp>
        <p:nvSpPr>
          <p:cNvPr id="254" name="Rounded Rectangle 253"/>
          <p:cNvSpPr/>
          <p:nvPr/>
        </p:nvSpPr>
        <p:spPr>
          <a:xfrm>
            <a:off x="6537960" y="1773936"/>
            <a:ext cx="4956048" cy="2194560"/>
          </a:xfrm>
          <a:prstGeom prst="roundRect">
            <a:avLst>
              <a:gd name="adj" fmla="val 6945"/>
            </a:avLst>
          </a:prstGeom>
          <a:solidFill>
            <a:srgbClr val="24375F"/>
          </a:solidFill>
          <a:ln>
            <a:noFill/>
          </a:ln>
        </p:spPr>
        <p:txBody>
          <a:bodyPr rtlCol="0" anchor="ctr"/>
          <a:lstStyle/>
          <a:p>
            <a:pPr algn="ctr"/>
            <a:endParaRPr/>
          </a:p>
        </p:txBody>
      </p:sp>
      <p:sp>
        <p:nvSpPr>
          <p:cNvPr id="255" name="Rectangle 254"/>
          <p:cNvSpPr/>
          <p:nvPr/>
        </p:nvSpPr>
        <p:spPr>
          <a:xfrm>
            <a:off x="6537960" y="1773936"/>
            <a:ext cx="4956048" cy="2194560"/>
          </a:xfrm>
          <a:custGeom>
            <a:avLst/>
            <a:gdLst/>
            <a:ahLst/>
            <a:cxnLst/>
            <a:rect l="l" t="t" r="r" b="b"/>
            <a:pathLst>
              <a:path w="4956048" h="2194560" extrusionOk="0">
                <a:moveTo>
                  <a:pt x="0" y="152400"/>
                </a:moveTo>
                <a:cubicBezTo>
                  <a:pt x="0" y="68229"/>
                  <a:pt x="68229" y="0"/>
                  <a:pt x="152400" y="0"/>
                </a:cubicBezTo>
                <a:lnTo>
                  <a:pt x="4803648" y="0"/>
                </a:lnTo>
                <a:cubicBezTo>
                  <a:pt x="4887818" y="0"/>
                  <a:pt x="4956048" y="68229"/>
                  <a:pt x="4956048" y="152400"/>
                </a:cubicBezTo>
                <a:cubicBezTo>
                  <a:pt x="4956048" y="103311"/>
                  <a:pt x="4887819" y="63500"/>
                  <a:pt x="480364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256" name="Rounded Rectangle 255"/>
          <p:cNvSpPr/>
          <p:nvPr/>
        </p:nvSpPr>
        <p:spPr>
          <a:xfrm>
            <a:off x="6784848" y="1975104"/>
            <a:ext cx="2057400" cy="274320"/>
          </a:xfrm>
          <a:prstGeom prst="roundRect">
            <a:avLst>
              <a:gd name="adj" fmla="val 50000"/>
            </a:avLst>
          </a:prstGeom>
          <a:solidFill>
            <a:srgbClr val="B39DDB"/>
          </a:solidFill>
          <a:ln>
            <a:noFill/>
          </a:ln>
        </p:spPr>
        <p:txBody>
          <a:bodyPr wrap="square" lIns="36576" tIns="0" rIns="36576" bIns="0" rtlCol="0" anchor="ctr">
            <a:noAutofit/>
          </a:bodyPr>
          <a:lstStyle/>
          <a:p>
            <a:pPr algn="ctr">
              <a:lnSpc>
                <a:spcPct val="100000"/>
              </a:lnSpc>
              <a:spcBef>
                <a:spcPts val="0"/>
              </a:spcBef>
              <a:spcAft>
                <a:spcPts val="0"/>
              </a:spcAft>
            </a:pPr>
            <a:r>
              <a:rPr sz="1100" b="1" i="0">
                <a:solidFill>
                  <a:srgbClr val="1B2A4A"/>
                </a:solidFill>
                <a:latin typeface="DM Sans"/>
              </a:rPr>
              <a:t>NUIT INCOMPLÈTE</a:t>
            </a:r>
          </a:p>
        </p:txBody>
      </p:sp>
      <p:sp>
        <p:nvSpPr>
          <p:cNvPr id="257" name="TextBox 256"/>
          <p:cNvSpPr txBox="1"/>
          <p:nvPr/>
        </p:nvSpPr>
        <p:spPr>
          <a:xfrm>
            <a:off x="6784848" y="2395728"/>
            <a:ext cx="4526280" cy="1554480"/>
          </a:xfrm>
          <a:prstGeom prst="rect">
            <a:avLst/>
          </a:prstGeom>
          <a:noFill/>
        </p:spPr>
        <p:txBody>
          <a:bodyPr wrap="square" lIns="0" tIns="0" rIns="0" bIns="0" anchor="t">
            <a:noAutofit/>
          </a:bodyPr>
          <a:lstStyle/>
          <a:p>
            <a:pPr algn="l">
              <a:lnSpc>
                <a:spcPct val="112000"/>
              </a:lnSpc>
              <a:spcBef>
                <a:spcPts val="0"/>
              </a:spcBef>
              <a:spcAft>
                <a:spcPts val="500"/>
              </a:spcAft>
            </a:pPr>
            <a:r>
              <a:rPr sz="1300" b="1" i="0">
                <a:solidFill>
                  <a:srgbClr val="FFFFFF"/>
                </a:solidFill>
                <a:latin typeface="DM Sans"/>
              </a:rPr>
              <a:t>Objet : Point exploitation – Attention : chaîne nocturne non exécutée</a:t>
            </a:r>
          </a:p>
          <a:p>
            <a:pPr algn="l">
              <a:lnSpc>
                <a:spcPct val="112000"/>
              </a:lnSpc>
              <a:spcBef>
                <a:spcPts val="0"/>
              </a:spcBef>
              <a:spcAft>
                <a:spcPts val="500"/>
              </a:spcAft>
            </a:pPr>
            <a:r>
              <a:rPr sz="1300" b="0" i="0">
                <a:solidFill>
                  <a:srgbClr val="C9D1E8"/>
                </a:solidFill>
                <a:latin typeface="DM Sans"/>
              </a:rPr>
              <a:t>Cause probable : le PC était éteint ou en veille, ou le planificateur était arrêté.</a:t>
            </a:r>
          </a:p>
          <a:p>
            <a:pPr algn="l">
              <a:lnSpc>
                <a:spcPct val="112000"/>
              </a:lnSpc>
              <a:spcBef>
                <a:spcPts val="0"/>
              </a:spcBef>
              <a:spcAft>
                <a:spcPts val="500"/>
              </a:spcAft>
            </a:pPr>
            <a:r>
              <a:rPr sz="1300" b="0" i="0">
                <a:solidFill>
                  <a:srgbClr val="C9D1E8"/>
                </a:solidFill>
                <a:latin typeface="DM Sans"/>
              </a:rPr>
              <a:t>Action : relancer le planificateur, puis exécuter la chaîne manquante.</a:t>
            </a:r>
          </a:p>
        </p:txBody>
      </p:sp>
      <p:sp>
        <p:nvSpPr>
          <p:cNvPr id="258" name="Rounded Rectangle 257"/>
          <p:cNvSpPr/>
          <p:nvPr/>
        </p:nvSpPr>
        <p:spPr>
          <a:xfrm>
            <a:off x="6537960" y="4169664"/>
            <a:ext cx="4956048" cy="1691640"/>
          </a:xfrm>
          <a:prstGeom prst="roundRect">
            <a:avLst>
              <a:gd name="adj" fmla="val 9010"/>
            </a:avLst>
          </a:prstGeom>
          <a:solidFill>
            <a:srgbClr val="24375F"/>
          </a:solidFill>
          <a:ln>
            <a:noFill/>
          </a:ln>
        </p:spPr>
        <p:txBody>
          <a:bodyPr rtlCol="0" anchor="ctr"/>
          <a:lstStyle/>
          <a:p>
            <a:pPr algn="ctr"/>
            <a:endParaRPr/>
          </a:p>
        </p:txBody>
      </p:sp>
      <p:sp>
        <p:nvSpPr>
          <p:cNvPr id="259" name="Rectangle 258"/>
          <p:cNvSpPr/>
          <p:nvPr/>
        </p:nvSpPr>
        <p:spPr>
          <a:xfrm>
            <a:off x="6537960" y="4169664"/>
            <a:ext cx="4956048" cy="1691640"/>
          </a:xfrm>
          <a:custGeom>
            <a:avLst/>
            <a:gdLst/>
            <a:ahLst/>
            <a:cxnLst/>
            <a:rect l="l" t="t" r="r" b="b"/>
            <a:pathLst>
              <a:path w="4956048" h="1691640" extrusionOk="0">
                <a:moveTo>
                  <a:pt x="0" y="152400"/>
                </a:moveTo>
                <a:cubicBezTo>
                  <a:pt x="0" y="68229"/>
                  <a:pt x="68229" y="0"/>
                  <a:pt x="152400" y="0"/>
                </a:cubicBezTo>
                <a:lnTo>
                  <a:pt x="4803648" y="0"/>
                </a:lnTo>
                <a:cubicBezTo>
                  <a:pt x="4887818" y="0"/>
                  <a:pt x="4956048" y="68229"/>
                  <a:pt x="4956048" y="152400"/>
                </a:cubicBezTo>
                <a:cubicBezTo>
                  <a:pt x="4956048" y="103311"/>
                  <a:pt x="4887819" y="63500"/>
                  <a:pt x="480364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260" name="Rounded Rectangle 259"/>
          <p:cNvSpPr/>
          <p:nvPr/>
        </p:nvSpPr>
        <p:spPr>
          <a:xfrm>
            <a:off x="6784848" y="4370832"/>
            <a:ext cx="1828800" cy="274320"/>
          </a:xfrm>
          <a:prstGeom prst="roundRect">
            <a:avLst>
              <a:gd name="adj" fmla="val 50000"/>
            </a:avLst>
          </a:prstGeom>
          <a:solidFill>
            <a:srgbClr val="7ACFC0"/>
          </a:solidFill>
          <a:ln>
            <a:noFill/>
          </a:ln>
        </p:spPr>
        <p:txBody>
          <a:bodyPr wrap="square" lIns="36576" tIns="0" rIns="36576" bIns="0" rtlCol="0" anchor="ctr">
            <a:noAutofit/>
          </a:bodyPr>
          <a:lstStyle/>
          <a:p>
            <a:pPr algn="ctr">
              <a:lnSpc>
                <a:spcPct val="100000"/>
              </a:lnSpc>
              <a:spcBef>
                <a:spcPts val="0"/>
              </a:spcBef>
              <a:spcAft>
                <a:spcPts val="0"/>
              </a:spcAft>
            </a:pPr>
            <a:r>
              <a:rPr sz="1100" b="1" i="0">
                <a:solidFill>
                  <a:srgbClr val="1B2A4A"/>
                </a:solidFill>
                <a:latin typeface="DM Sans"/>
              </a:rPr>
              <a:t>NUIT RÉUSSIE</a:t>
            </a:r>
          </a:p>
        </p:txBody>
      </p:sp>
      <p:sp>
        <p:nvSpPr>
          <p:cNvPr id="261" name="TextBox 260"/>
          <p:cNvSpPr txBox="1"/>
          <p:nvPr/>
        </p:nvSpPr>
        <p:spPr>
          <a:xfrm>
            <a:off x="6784848" y="4791456"/>
            <a:ext cx="4526280" cy="1005840"/>
          </a:xfrm>
          <a:prstGeom prst="rect">
            <a:avLst/>
          </a:prstGeom>
          <a:noFill/>
        </p:spPr>
        <p:txBody>
          <a:bodyPr wrap="square" lIns="0" tIns="0" rIns="0" bIns="0" anchor="t">
            <a:noAutofit/>
          </a:bodyPr>
          <a:lstStyle/>
          <a:p>
            <a:pPr algn="l">
              <a:lnSpc>
                <a:spcPct val="112000"/>
              </a:lnSpc>
              <a:spcBef>
                <a:spcPts val="0"/>
              </a:spcBef>
              <a:spcAft>
                <a:spcPts val="500"/>
              </a:spcAft>
            </a:pPr>
            <a:r>
              <a:rPr sz="1300" b="1" i="0">
                <a:solidFill>
                  <a:srgbClr val="FFFFFF"/>
                </a:solidFill>
                <a:latin typeface="DM Sans"/>
              </a:rPr>
              <a:t>Objet : Point exploitation – Bilan stable</a:t>
            </a:r>
          </a:p>
          <a:p>
            <a:pPr algn="l">
              <a:lnSpc>
                <a:spcPct val="112000"/>
              </a:lnSpc>
              <a:spcBef>
                <a:spcPts val="0"/>
              </a:spcBef>
              <a:spcAft>
                <a:spcPts val="500"/>
              </a:spcAft>
            </a:pPr>
            <a:r>
              <a:rPr sz="1300" b="0" i="0">
                <a:solidFill>
                  <a:srgbClr val="C9D1E8"/>
                </a:solidFill>
                <a:latin typeface="DM Sans"/>
              </a:rPr>
              <a:t>Toutes les automatisations se sont déroulées avec succès ; aucune intervention requise.</a:t>
            </a:r>
          </a:p>
        </p:txBody>
      </p:sp>
      <p:sp>
        <p:nvSpPr>
          <p:cNvPr id="262" name="TextBox 261"/>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exécutions réelles du flux Agentic AI déclenché depuis Fusion.</a:t>
            </a:r>
          </a:p>
        </p:txBody>
      </p:sp>
      <p:pic>
        <p:nvPicPr>
          <p:cNvPr id="2" name="Image 1"/>
          <p:cNvPicPr>
            <a:picLocks noChangeAspect="1"/>
          </p:cNvPicPr>
          <p:nvPr/>
        </p:nvPicPr>
        <p:blipFill>
          <a:blip r:embed="rId3"/>
          <a:stretch>
            <a:fillRect/>
          </a:stretch>
        </p:blipFill>
        <p:spPr>
          <a:xfrm>
            <a:off x="694944" y="2206400"/>
            <a:ext cx="5724284" cy="243875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345440"/>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Workly se connecte à Odoo par son API externe ; l’import des volumes reste à brancher</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32</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5760720" cy="3657600"/>
          </a:xfrm>
          <a:prstGeom prst="roundRect">
            <a:avLst>
              <a:gd name="adj" fmla="val 4167"/>
            </a:avLst>
          </a:prstGeom>
          <a:solidFill>
            <a:srgbClr val="FFFFFF"/>
          </a:solidFill>
          <a:ln>
            <a:noFill/>
          </a:ln>
        </p:spPr>
        <p:txBody>
          <a:bodyPr rtlCol="0" anchor="ctr"/>
          <a:lstStyle/>
          <a:p>
            <a:pPr algn="ctr"/>
            <a:endParaRPr/>
          </a:p>
        </p:txBody>
      </p:sp>
      <p:sp>
        <p:nvSpPr>
          <p:cNvPr id="114" name="Rectangle 113"/>
          <p:cNvSpPr/>
          <p:nvPr/>
        </p:nvSpPr>
        <p:spPr>
          <a:xfrm>
            <a:off x="694944" y="1773936"/>
            <a:ext cx="5760720" cy="3657600"/>
          </a:xfrm>
          <a:custGeom>
            <a:avLst/>
            <a:gdLst/>
            <a:ahLst/>
            <a:cxnLst/>
            <a:rect l="l" t="t" r="r" b="b"/>
            <a:pathLst>
              <a:path w="5760720" h="3657600" extrusionOk="0">
                <a:moveTo>
                  <a:pt x="0" y="152400"/>
                </a:moveTo>
                <a:cubicBezTo>
                  <a:pt x="0" y="68229"/>
                  <a:pt x="68229" y="0"/>
                  <a:pt x="152400" y="0"/>
                </a:cubicBezTo>
                <a:lnTo>
                  <a:pt x="5608320" y="0"/>
                </a:lnTo>
                <a:cubicBezTo>
                  <a:pt x="5692490" y="0"/>
                  <a:pt x="5760720" y="68229"/>
                  <a:pt x="5760720" y="152400"/>
                </a:cubicBezTo>
                <a:cubicBezTo>
                  <a:pt x="5760720" y="103311"/>
                  <a:pt x="5692491" y="63500"/>
                  <a:pt x="560832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endParaRPr/>
          </a:p>
        </p:txBody>
      </p:sp>
      <p:sp>
        <p:nvSpPr>
          <p:cNvPr id="115" name="TextBox 114"/>
          <p:cNvSpPr txBox="1"/>
          <p:nvPr/>
        </p:nvSpPr>
        <p:spPr>
          <a:xfrm>
            <a:off x="950976" y="2011680"/>
            <a:ext cx="52120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Connexion testée</a:t>
            </a:r>
          </a:p>
        </p:txBody>
      </p:sp>
      <p:sp>
        <p:nvSpPr>
          <p:cNvPr id="116" name="Rounded Rectangle 115"/>
          <p:cNvSpPr/>
          <p:nvPr/>
        </p:nvSpPr>
        <p:spPr>
          <a:xfrm>
            <a:off x="859536" y="2542032"/>
            <a:ext cx="5431536" cy="420624"/>
          </a:xfrm>
          <a:prstGeom prst="roundRect">
            <a:avLst>
              <a:gd name="adj" fmla="val 17391"/>
            </a:avLst>
          </a:prstGeom>
          <a:solidFill>
            <a:srgbClr val="F4F6FB"/>
          </a:solidFill>
          <a:ln>
            <a:noFill/>
          </a:ln>
        </p:spPr>
        <p:txBody>
          <a:bodyPr rtlCol="0" anchor="ctr"/>
          <a:lstStyle/>
          <a:p>
            <a:pPr algn="ctr"/>
            <a:endParaRPr/>
          </a:p>
        </p:txBody>
      </p:sp>
      <p:sp>
        <p:nvSpPr>
          <p:cNvPr id="117" name="TextBox 116"/>
          <p:cNvSpPr txBox="1"/>
          <p:nvPr/>
        </p:nvSpPr>
        <p:spPr>
          <a:xfrm>
            <a:off x="969264" y="25420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Odoo</a:t>
            </a:r>
          </a:p>
        </p:txBody>
      </p:sp>
      <p:sp>
        <p:nvSpPr>
          <p:cNvPr id="118" name="TextBox 117"/>
          <p:cNvSpPr txBox="1"/>
          <p:nvPr/>
        </p:nvSpPr>
        <p:spPr>
          <a:xfrm>
            <a:off x="3438144" y="25420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version 20.0+e</a:t>
            </a:r>
          </a:p>
        </p:txBody>
      </p:sp>
      <p:sp>
        <p:nvSpPr>
          <p:cNvPr id="119" name="TextBox 118"/>
          <p:cNvSpPr txBox="1"/>
          <p:nvPr/>
        </p:nvSpPr>
        <p:spPr>
          <a:xfrm>
            <a:off x="969264" y="29992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Base</a:t>
            </a:r>
          </a:p>
        </p:txBody>
      </p:sp>
      <p:sp>
        <p:nvSpPr>
          <p:cNvPr id="120" name="TextBox 119"/>
          <p:cNvSpPr txBox="1"/>
          <p:nvPr/>
        </p:nvSpPr>
        <p:spPr>
          <a:xfrm>
            <a:off x="3438144" y="29992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workly1</a:t>
            </a:r>
          </a:p>
        </p:txBody>
      </p:sp>
      <p:sp>
        <p:nvSpPr>
          <p:cNvPr id="121" name="Rounded Rectangle 120"/>
          <p:cNvSpPr/>
          <p:nvPr/>
        </p:nvSpPr>
        <p:spPr>
          <a:xfrm>
            <a:off x="859536" y="3456432"/>
            <a:ext cx="5431536" cy="420624"/>
          </a:xfrm>
          <a:prstGeom prst="roundRect">
            <a:avLst>
              <a:gd name="adj" fmla="val 17391"/>
            </a:avLst>
          </a:prstGeom>
          <a:solidFill>
            <a:srgbClr val="F4F6FB"/>
          </a:solidFill>
          <a:ln>
            <a:noFill/>
          </a:ln>
        </p:spPr>
        <p:txBody>
          <a:bodyPr rtlCol="0" anchor="ctr"/>
          <a:lstStyle/>
          <a:p>
            <a:pPr algn="ctr"/>
            <a:endParaRPr/>
          </a:p>
        </p:txBody>
      </p:sp>
      <p:sp>
        <p:nvSpPr>
          <p:cNvPr id="122" name="TextBox 121"/>
          <p:cNvSpPr txBox="1"/>
          <p:nvPr/>
        </p:nvSpPr>
        <p:spPr>
          <a:xfrm>
            <a:off x="969264" y="34564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Interface</a:t>
            </a:r>
          </a:p>
        </p:txBody>
      </p:sp>
      <p:sp>
        <p:nvSpPr>
          <p:cNvPr id="123" name="TextBox 122"/>
          <p:cNvSpPr txBox="1"/>
          <p:nvPr/>
        </p:nvSpPr>
        <p:spPr>
          <a:xfrm>
            <a:off x="3438144" y="34564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API externe</a:t>
            </a:r>
          </a:p>
        </p:txBody>
      </p:sp>
      <p:sp>
        <p:nvSpPr>
          <p:cNvPr id="124" name="TextBox 123"/>
          <p:cNvSpPr txBox="1"/>
          <p:nvPr/>
        </p:nvSpPr>
        <p:spPr>
          <a:xfrm>
            <a:off x="969264" y="39136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Authentification</a:t>
            </a:r>
          </a:p>
        </p:txBody>
      </p:sp>
      <p:sp>
        <p:nvSpPr>
          <p:cNvPr id="125" name="TextBox 124"/>
          <p:cNvSpPr txBox="1"/>
          <p:nvPr/>
        </p:nvSpPr>
        <p:spPr>
          <a:xfrm>
            <a:off x="3438144" y="39136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clé API sécurisée</a:t>
            </a:r>
          </a:p>
        </p:txBody>
      </p:sp>
      <p:sp>
        <p:nvSpPr>
          <p:cNvPr id="126" name="Rounded Rectangle 125"/>
          <p:cNvSpPr/>
          <p:nvPr/>
        </p:nvSpPr>
        <p:spPr>
          <a:xfrm>
            <a:off x="859536" y="4370832"/>
            <a:ext cx="5431536" cy="420624"/>
          </a:xfrm>
          <a:prstGeom prst="roundRect">
            <a:avLst>
              <a:gd name="adj" fmla="val 17391"/>
            </a:avLst>
          </a:prstGeom>
          <a:solidFill>
            <a:srgbClr val="F4F6FB"/>
          </a:solidFill>
          <a:ln>
            <a:noFill/>
          </a:ln>
        </p:spPr>
        <p:txBody>
          <a:bodyPr rtlCol="0" anchor="ctr"/>
          <a:lstStyle/>
          <a:p>
            <a:pPr algn="ctr"/>
            <a:endParaRPr/>
          </a:p>
        </p:txBody>
      </p:sp>
      <p:sp>
        <p:nvSpPr>
          <p:cNvPr id="127" name="TextBox 126"/>
          <p:cNvSpPr txBox="1"/>
          <p:nvPr/>
        </p:nvSpPr>
        <p:spPr>
          <a:xfrm>
            <a:off x="969264" y="43708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Test de connexion</a:t>
            </a:r>
          </a:p>
        </p:txBody>
      </p:sp>
      <p:sp>
        <p:nvSpPr>
          <p:cNvPr id="128" name="TextBox 127"/>
          <p:cNvSpPr txBox="1"/>
          <p:nvPr/>
        </p:nvSpPr>
        <p:spPr>
          <a:xfrm>
            <a:off x="3438144" y="43708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réussi</a:t>
            </a:r>
          </a:p>
        </p:txBody>
      </p:sp>
      <p:sp>
        <p:nvSpPr>
          <p:cNvPr id="129" name="TextBox 128"/>
          <p:cNvSpPr txBox="1"/>
          <p:nvPr/>
        </p:nvSpPr>
        <p:spPr>
          <a:xfrm>
            <a:off x="969264" y="48280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Commandes de vente</a:t>
            </a:r>
          </a:p>
        </p:txBody>
      </p:sp>
      <p:sp>
        <p:nvSpPr>
          <p:cNvPr id="130" name="TextBox 129"/>
          <p:cNvSpPr txBox="1"/>
          <p:nvPr/>
        </p:nvSpPr>
        <p:spPr>
          <a:xfrm>
            <a:off x="3438144" y="48280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0 (base vide)</a:t>
            </a:r>
          </a:p>
        </p:txBody>
      </p:sp>
      <p:sp>
        <p:nvSpPr>
          <p:cNvPr id="131" name="Rounded Rectangle 130"/>
          <p:cNvSpPr/>
          <p:nvPr/>
        </p:nvSpPr>
        <p:spPr>
          <a:xfrm>
            <a:off x="6702552" y="1773936"/>
            <a:ext cx="4791456" cy="3657600"/>
          </a:xfrm>
          <a:prstGeom prst="roundRect">
            <a:avLst>
              <a:gd name="adj" fmla="val 4167"/>
            </a:avLst>
          </a:prstGeom>
          <a:solidFill>
            <a:srgbClr val="FFFFFF"/>
          </a:solidFill>
          <a:ln>
            <a:noFill/>
          </a:ln>
        </p:spPr>
        <p:txBody>
          <a:bodyPr rtlCol="0" anchor="ctr"/>
          <a:lstStyle/>
          <a:p>
            <a:pPr algn="ctr"/>
            <a:endParaRPr/>
          </a:p>
        </p:txBody>
      </p:sp>
      <p:sp>
        <p:nvSpPr>
          <p:cNvPr id="132" name="Rectangle 131"/>
          <p:cNvSpPr/>
          <p:nvPr/>
        </p:nvSpPr>
        <p:spPr>
          <a:xfrm>
            <a:off x="6702552" y="1773936"/>
            <a:ext cx="4791456" cy="3657600"/>
          </a:xfrm>
          <a:custGeom>
            <a:avLst/>
            <a:gdLst/>
            <a:ahLst/>
            <a:cxnLst/>
            <a:rect l="l" t="t" r="r" b="b"/>
            <a:pathLst>
              <a:path w="4791456" h="3657600" extrusionOk="0">
                <a:moveTo>
                  <a:pt x="0" y="152400"/>
                </a:moveTo>
                <a:cubicBezTo>
                  <a:pt x="0" y="68229"/>
                  <a:pt x="68229" y="0"/>
                  <a:pt x="152400" y="0"/>
                </a:cubicBezTo>
                <a:lnTo>
                  <a:pt x="4639056" y="0"/>
                </a:lnTo>
                <a:cubicBezTo>
                  <a:pt x="4723226" y="0"/>
                  <a:pt x="4791456" y="68229"/>
                  <a:pt x="4791456" y="152400"/>
                </a:cubicBezTo>
                <a:cubicBezTo>
                  <a:pt x="4791456" y="103311"/>
                  <a:pt x="4723227" y="63500"/>
                  <a:pt x="4639056" y="63500"/>
                </a:cubicBezTo>
                <a:lnTo>
                  <a:pt x="152400" y="63500"/>
                </a:lnTo>
                <a:cubicBezTo>
                  <a:pt x="68229" y="63500"/>
                  <a:pt x="0" y="103311"/>
                  <a:pt x="0" y="152400"/>
                </a:cubicBezTo>
                <a:close/>
              </a:path>
            </a:pathLst>
          </a:custGeom>
          <a:solidFill>
            <a:srgbClr val="4A9BE0"/>
          </a:solidFill>
          <a:ln>
            <a:noFill/>
          </a:ln>
        </p:spPr>
        <p:txBody>
          <a:bodyPr rtlCol="0" anchor="ctr"/>
          <a:lstStyle/>
          <a:p>
            <a:pPr algn="ctr"/>
            <a:endParaRPr/>
          </a:p>
        </p:txBody>
      </p:sp>
      <p:sp>
        <p:nvSpPr>
          <p:cNvPr id="133" name="Rounded Rectangle 132"/>
          <p:cNvSpPr/>
          <p:nvPr/>
        </p:nvSpPr>
        <p:spPr>
          <a:xfrm>
            <a:off x="6949440" y="2011680"/>
            <a:ext cx="1143000" cy="274320"/>
          </a:xfrm>
          <a:prstGeom prst="roundRect">
            <a:avLst>
              <a:gd name="adj" fmla="val 50000"/>
            </a:avLst>
          </a:prstGeom>
          <a:solidFill>
            <a:srgbClr val="B39DDB"/>
          </a:solidFill>
          <a:ln>
            <a:noFill/>
          </a:ln>
        </p:spPr>
        <p:txBody>
          <a:bodyPr wrap="square" lIns="36576" tIns="0" rIns="36576" bIns="0" rtlCol="0" anchor="ctr">
            <a:noAutofit/>
          </a:bodyPr>
          <a:lstStyle/>
          <a:p>
            <a:pPr algn="ctr">
              <a:lnSpc>
                <a:spcPct val="100000"/>
              </a:lnSpc>
              <a:spcBef>
                <a:spcPts val="0"/>
              </a:spcBef>
              <a:spcAft>
                <a:spcPts val="0"/>
              </a:spcAft>
            </a:pPr>
            <a:r>
              <a:rPr sz="1100" b="1" i="0">
                <a:solidFill>
                  <a:srgbClr val="1B2A4A"/>
                </a:solidFill>
                <a:latin typeface="DM Sans"/>
              </a:rPr>
              <a:t>À RÉALISER</a:t>
            </a:r>
          </a:p>
        </p:txBody>
      </p:sp>
      <p:sp>
        <p:nvSpPr>
          <p:cNvPr id="134" name="TextBox 133"/>
          <p:cNvSpPr txBox="1"/>
          <p:nvPr/>
        </p:nvSpPr>
        <p:spPr>
          <a:xfrm>
            <a:off x="6949440" y="2432304"/>
            <a:ext cx="438912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Étape suivante</a:t>
            </a:r>
          </a:p>
        </p:txBody>
      </p:sp>
      <p:sp>
        <p:nvSpPr>
          <p:cNvPr id="135" name="Rectangle 134"/>
          <p:cNvSpPr/>
          <p:nvPr/>
        </p:nvSpPr>
        <p:spPr>
          <a:xfrm>
            <a:off x="6949440" y="2990088"/>
            <a:ext cx="100584" cy="100584"/>
          </a:xfrm>
          <a:prstGeom prst="rect">
            <a:avLst/>
          </a:prstGeom>
          <a:solidFill>
            <a:srgbClr val="6B3FA0"/>
          </a:solidFill>
          <a:ln>
            <a:noFill/>
          </a:ln>
        </p:spPr>
        <p:txBody>
          <a:bodyPr rtlCol="0" anchor="ctr"/>
          <a:lstStyle/>
          <a:p>
            <a:pPr algn="ctr"/>
            <a:endParaRPr/>
          </a:p>
        </p:txBody>
      </p:sp>
      <p:sp>
        <p:nvSpPr>
          <p:cNvPr id="136" name="TextBox 135"/>
          <p:cNvSpPr txBox="1"/>
          <p:nvPr/>
        </p:nvSpPr>
        <p:spPr>
          <a:xfrm>
            <a:off x="7178040" y="2926080"/>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Lire les commandes de vente d’Odoo comme volumes prévus.</a:t>
            </a:r>
          </a:p>
        </p:txBody>
      </p:sp>
      <p:sp>
        <p:nvSpPr>
          <p:cNvPr id="137" name="Rectangle 136"/>
          <p:cNvSpPr/>
          <p:nvPr/>
        </p:nvSpPr>
        <p:spPr>
          <a:xfrm>
            <a:off x="6949440" y="3690722"/>
            <a:ext cx="100584" cy="100584"/>
          </a:xfrm>
          <a:prstGeom prst="rect">
            <a:avLst/>
          </a:prstGeom>
          <a:solidFill>
            <a:srgbClr val="6B3FA0"/>
          </a:solidFill>
          <a:ln>
            <a:noFill/>
          </a:ln>
        </p:spPr>
        <p:txBody>
          <a:bodyPr rtlCol="0" anchor="ctr"/>
          <a:lstStyle/>
          <a:p>
            <a:pPr algn="ctr"/>
            <a:endParaRPr/>
          </a:p>
        </p:txBody>
      </p:sp>
      <p:sp>
        <p:nvSpPr>
          <p:cNvPr id="138" name="TextBox 137"/>
          <p:cNvSpPr txBox="1"/>
          <p:nvPr/>
        </p:nvSpPr>
        <p:spPr>
          <a:xfrm>
            <a:off x="7178040" y="3626714"/>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Alimenter l’import des prévisions de volume sans fichier déposé à la main.</a:t>
            </a:r>
          </a:p>
        </p:txBody>
      </p:sp>
      <p:sp>
        <p:nvSpPr>
          <p:cNvPr id="139" name="Rectangle 138"/>
          <p:cNvSpPr/>
          <p:nvPr/>
        </p:nvSpPr>
        <p:spPr>
          <a:xfrm>
            <a:off x="6949440" y="4391355"/>
            <a:ext cx="100584" cy="100584"/>
          </a:xfrm>
          <a:prstGeom prst="rect">
            <a:avLst/>
          </a:prstGeom>
          <a:solidFill>
            <a:srgbClr val="6B3FA0"/>
          </a:solidFill>
          <a:ln>
            <a:noFill/>
          </a:ln>
        </p:spPr>
        <p:txBody>
          <a:bodyPr rtlCol="0" anchor="ctr"/>
          <a:lstStyle/>
          <a:p>
            <a:pPr algn="ctr"/>
            <a:endParaRPr/>
          </a:p>
        </p:txBody>
      </p:sp>
      <p:sp>
        <p:nvSpPr>
          <p:cNvPr id="140" name="TextBox 139"/>
          <p:cNvSpPr txBox="1"/>
          <p:nvPr/>
        </p:nvSpPr>
        <p:spPr>
          <a:xfrm>
            <a:off x="7178040" y="4327347"/>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Ajouter une source de données extérieure à l’application dans la chaîne de nuit.</a:t>
            </a:r>
          </a:p>
        </p:txBody>
      </p:sp>
      <p:sp>
        <p:nvSpPr>
          <p:cNvPr id="141" name="Rounded Rectangle 140"/>
          <p:cNvSpPr/>
          <p:nvPr/>
        </p:nvSpPr>
        <p:spPr>
          <a:xfrm>
            <a:off x="694944" y="5623560"/>
            <a:ext cx="10799064" cy="566928"/>
          </a:xfrm>
          <a:prstGeom prst="roundRect">
            <a:avLst>
              <a:gd name="adj" fmla="val 19354"/>
            </a:avLst>
          </a:prstGeom>
          <a:solidFill>
            <a:srgbClr val="1B2A4A"/>
          </a:solidFill>
          <a:ln>
            <a:noFill/>
          </a:ln>
        </p:spPr>
        <p:txBody>
          <a:bodyPr rtlCol="0" anchor="ctr"/>
          <a:lstStyle/>
          <a:p>
            <a:pPr algn="ctr"/>
            <a:endParaRPr/>
          </a:p>
        </p:txBody>
      </p:sp>
      <p:sp>
        <p:nvSpPr>
          <p:cNvPr id="142" name="TextBox 141"/>
          <p:cNvSpPr txBox="1"/>
          <p:nvPr/>
        </p:nvSpPr>
        <p:spPr>
          <a:xfrm>
            <a:off x="987552" y="5623560"/>
            <a:ext cx="10241280" cy="566928"/>
          </a:xfrm>
          <a:prstGeom prst="rect">
            <a:avLst/>
          </a:prstGeom>
          <a:noFill/>
        </p:spPr>
        <p:txBody>
          <a:bodyPr wrap="square" lIns="0" tIns="0" rIns="0" bIns="0" anchor="ctr">
            <a:noAutofit/>
          </a:bodyPr>
          <a:lstStyle/>
          <a:p>
            <a:pPr algn="l">
              <a:lnSpc>
                <a:spcPct val="115000"/>
              </a:lnSpc>
              <a:spcBef>
                <a:spcPts val="0"/>
              </a:spcBef>
              <a:spcAft>
                <a:spcPts val="0"/>
              </a:spcAft>
            </a:pPr>
            <a:r>
              <a:rPr sz="1400" b="1" i="0">
                <a:solidFill>
                  <a:srgbClr val="7ACFC0"/>
                </a:solidFill>
                <a:latin typeface="DM Sans"/>
              </a:rPr>
              <a:t>Sécurité : </a:t>
            </a:r>
            <a:r>
              <a:rPr sz="1400" b="0" i="0">
                <a:solidFill>
                  <a:srgbClr val="FFFFFF"/>
                </a:solidFill>
                <a:latin typeface="DM Sans"/>
              </a:rPr>
              <a:t>la clé API reste dans des variables d’environnement du PC, jamais dans le dépôt ni dans ces diapositives.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548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Limites et prochaines étapes : signaler une panne, puis fiabiliser l’hébergement</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34</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797101"/>
            <a:ext cx="5303520" cy="4297680"/>
          </a:xfrm>
          <a:prstGeom prst="roundRect">
            <a:avLst>
              <a:gd name="adj" fmla="val 3546"/>
            </a:avLst>
          </a:prstGeom>
          <a:solidFill>
            <a:srgbClr val="24375F"/>
          </a:solidFill>
          <a:ln>
            <a:noFill/>
          </a:ln>
        </p:spPr>
        <p:txBody>
          <a:bodyPr rtlCol="0" anchor="ctr"/>
          <a:lstStyle/>
          <a:p>
            <a:pPr algn="ctr"/>
            <a:endParaRPr/>
          </a:p>
        </p:txBody>
      </p:sp>
      <p:sp>
        <p:nvSpPr>
          <p:cNvPr id="253" name="Rectangle 252"/>
          <p:cNvSpPr/>
          <p:nvPr/>
        </p:nvSpPr>
        <p:spPr>
          <a:xfrm>
            <a:off x="694944" y="1773936"/>
            <a:ext cx="5303520" cy="4297680"/>
          </a:xfrm>
          <a:custGeom>
            <a:avLst/>
            <a:gdLst/>
            <a:ahLst/>
            <a:cxnLst/>
            <a:rect l="l" t="t" r="r" b="b"/>
            <a:pathLst>
              <a:path w="5303520" h="4297680" extrusionOk="0">
                <a:moveTo>
                  <a:pt x="0" y="152400"/>
                </a:moveTo>
                <a:cubicBezTo>
                  <a:pt x="0" y="68229"/>
                  <a:pt x="68229" y="0"/>
                  <a:pt x="152400" y="0"/>
                </a:cubicBezTo>
                <a:lnTo>
                  <a:pt x="5151120" y="0"/>
                </a:lnTo>
                <a:cubicBezTo>
                  <a:pt x="5235290" y="0"/>
                  <a:pt x="5303520" y="68229"/>
                  <a:pt x="5303520" y="152400"/>
                </a:cubicBezTo>
                <a:cubicBezTo>
                  <a:pt x="5303520" y="103311"/>
                  <a:pt x="5235291" y="63500"/>
                  <a:pt x="515112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endParaRPr/>
          </a:p>
        </p:txBody>
      </p:sp>
      <p:sp>
        <p:nvSpPr>
          <p:cNvPr id="254" name="TextBox 253"/>
          <p:cNvSpPr txBox="1"/>
          <p:nvPr/>
        </p:nvSpPr>
        <p:spPr>
          <a:xfrm>
            <a:off x="950976" y="1993392"/>
            <a:ext cx="47548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dirty="0" err="1">
                <a:solidFill>
                  <a:srgbClr val="FFFFFF"/>
                </a:solidFill>
                <a:latin typeface="Sora"/>
              </a:rPr>
              <a:t>Limites</a:t>
            </a:r>
            <a:r>
              <a:rPr sz="1700" b="1" i="0" dirty="0">
                <a:solidFill>
                  <a:srgbClr val="FFFFFF"/>
                </a:solidFill>
                <a:latin typeface="Sora"/>
              </a:rPr>
              <a:t> </a:t>
            </a:r>
          </a:p>
        </p:txBody>
      </p:sp>
      <p:sp>
        <p:nvSpPr>
          <p:cNvPr id="255" name="Rectangle 254"/>
          <p:cNvSpPr/>
          <p:nvPr/>
        </p:nvSpPr>
        <p:spPr>
          <a:xfrm>
            <a:off x="950976" y="2615184"/>
            <a:ext cx="100584" cy="100584"/>
          </a:xfrm>
          <a:prstGeom prst="rect">
            <a:avLst/>
          </a:prstGeom>
          <a:solidFill>
            <a:srgbClr val="B39DDB"/>
          </a:solidFill>
          <a:ln>
            <a:noFill/>
          </a:ln>
        </p:spPr>
        <p:txBody>
          <a:bodyPr rtlCol="0" anchor="ctr"/>
          <a:lstStyle/>
          <a:p>
            <a:pPr algn="ctr"/>
            <a:endParaRPr/>
          </a:p>
        </p:txBody>
      </p:sp>
      <p:sp>
        <p:nvSpPr>
          <p:cNvPr id="256" name="TextBox 255"/>
          <p:cNvSpPr txBox="1"/>
          <p:nvPr/>
        </p:nvSpPr>
        <p:spPr>
          <a:xfrm>
            <a:off x="1188720" y="2542032"/>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Le PC doit rester allumé : sinon le bilan est injoignable et aucune alerte ne part.</a:t>
            </a:r>
          </a:p>
        </p:txBody>
      </p:sp>
      <p:sp>
        <p:nvSpPr>
          <p:cNvPr id="257" name="Rectangle 256"/>
          <p:cNvSpPr/>
          <p:nvPr/>
        </p:nvSpPr>
        <p:spPr>
          <a:xfrm>
            <a:off x="950976" y="3269894"/>
            <a:ext cx="100584" cy="100584"/>
          </a:xfrm>
          <a:prstGeom prst="rect">
            <a:avLst/>
          </a:prstGeom>
          <a:solidFill>
            <a:srgbClr val="B39DDB"/>
          </a:solidFill>
          <a:ln>
            <a:noFill/>
          </a:ln>
        </p:spPr>
        <p:txBody>
          <a:bodyPr rtlCol="0" anchor="ctr"/>
          <a:lstStyle/>
          <a:p>
            <a:pPr algn="ctr"/>
            <a:endParaRPr/>
          </a:p>
        </p:txBody>
      </p:sp>
      <p:sp>
        <p:nvSpPr>
          <p:cNvPr id="258" name="TextBox 257"/>
          <p:cNvSpPr txBox="1"/>
          <p:nvPr/>
        </p:nvSpPr>
        <p:spPr>
          <a:xfrm>
            <a:off x="1188720" y="3196742"/>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Alerte par Slack seulement : l’envoi d’e-mail n’a pas pu être branché.</a:t>
            </a:r>
          </a:p>
        </p:txBody>
      </p:sp>
      <p:sp>
        <p:nvSpPr>
          <p:cNvPr id="262" name="TextBox 261"/>
          <p:cNvSpPr txBox="1"/>
          <p:nvPr/>
        </p:nvSpPr>
        <p:spPr>
          <a:xfrm>
            <a:off x="1188720" y="3945941"/>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dirty="0" err="1">
                <a:solidFill>
                  <a:srgbClr val="E4E9F5"/>
                </a:solidFill>
                <a:latin typeface="DM Sans"/>
              </a:rPr>
              <a:t>Adresse</a:t>
            </a:r>
            <a:r>
              <a:rPr sz="1350" b="0" i="0" dirty="0">
                <a:solidFill>
                  <a:srgbClr val="E4E9F5"/>
                </a:solidFill>
                <a:latin typeface="DM Sans"/>
              </a:rPr>
              <a:t> </a:t>
            </a:r>
            <a:r>
              <a:rPr sz="1350" b="0" i="0" dirty="0" err="1">
                <a:solidFill>
                  <a:srgbClr val="E4E9F5"/>
                </a:solidFill>
                <a:latin typeface="DM Sans"/>
              </a:rPr>
              <a:t>publique</a:t>
            </a:r>
            <a:r>
              <a:rPr sz="1350" b="0" i="0" dirty="0">
                <a:solidFill>
                  <a:srgbClr val="E4E9F5"/>
                </a:solidFill>
                <a:latin typeface="DM Sans"/>
              </a:rPr>
              <a:t> </a:t>
            </a:r>
            <a:r>
              <a:rPr sz="1350" b="0" i="0" dirty="0" err="1">
                <a:solidFill>
                  <a:srgbClr val="E4E9F5"/>
                </a:solidFill>
                <a:latin typeface="DM Sans"/>
              </a:rPr>
              <a:t>ngrok</a:t>
            </a:r>
            <a:r>
              <a:rPr sz="1350" b="0" i="0" dirty="0">
                <a:solidFill>
                  <a:srgbClr val="E4E9F5"/>
                </a:solidFill>
                <a:latin typeface="DM Sans"/>
              </a:rPr>
              <a:t> </a:t>
            </a:r>
            <a:r>
              <a:rPr sz="1350" b="0" i="0" dirty="0" err="1">
                <a:solidFill>
                  <a:srgbClr val="E4E9F5"/>
                </a:solidFill>
                <a:latin typeface="DM Sans"/>
              </a:rPr>
              <a:t>gratuite</a:t>
            </a:r>
            <a:r>
              <a:rPr sz="1350" b="0" i="0" dirty="0">
                <a:solidFill>
                  <a:srgbClr val="E4E9F5"/>
                </a:solidFill>
                <a:latin typeface="DM Sans"/>
              </a:rPr>
              <a:t>, </a:t>
            </a:r>
            <a:r>
              <a:rPr sz="1350" b="0" i="0" dirty="0" err="1">
                <a:solidFill>
                  <a:srgbClr val="E4E9F5"/>
                </a:solidFill>
                <a:latin typeface="DM Sans"/>
              </a:rPr>
              <a:t>liée</a:t>
            </a:r>
            <a:r>
              <a:rPr sz="1350" b="0" i="0" dirty="0">
                <a:solidFill>
                  <a:srgbClr val="E4E9F5"/>
                </a:solidFill>
                <a:latin typeface="DM Sans"/>
              </a:rPr>
              <a:t> à un </a:t>
            </a:r>
            <a:r>
              <a:rPr sz="1350" b="0" i="0" dirty="0" err="1">
                <a:solidFill>
                  <a:srgbClr val="E4E9F5"/>
                </a:solidFill>
                <a:latin typeface="DM Sans"/>
              </a:rPr>
              <a:t>compte</a:t>
            </a:r>
            <a:r>
              <a:rPr sz="1350" b="0" i="0" dirty="0">
                <a:solidFill>
                  <a:srgbClr val="E4E9F5"/>
                </a:solidFill>
                <a:latin typeface="DM Sans"/>
              </a:rPr>
              <a:t> personnel.</a:t>
            </a:r>
          </a:p>
        </p:txBody>
      </p:sp>
      <p:sp>
        <p:nvSpPr>
          <p:cNvPr id="264" name="TextBox 263"/>
          <p:cNvSpPr txBox="1"/>
          <p:nvPr/>
        </p:nvSpPr>
        <p:spPr>
          <a:xfrm>
            <a:off x="1188720" y="4584295"/>
            <a:ext cx="4572000" cy="499262"/>
          </a:xfrm>
          <a:prstGeom prst="rect">
            <a:avLst/>
          </a:prstGeom>
          <a:noFill/>
        </p:spPr>
        <p:txBody>
          <a:bodyPr wrap="square" lIns="0" tIns="0" rIns="0" bIns="0" anchor="t">
            <a:noAutofit/>
          </a:bodyPr>
          <a:lstStyle/>
          <a:p>
            <a:pPr algn="l">
              <a:lnSpc>
                <a:spcPct val="112000"/>
              </a:lnSpc>
              <a:spcBef>
                <a:spcPts val="0"/>
              </a:spcBef>
              <a:spcAft>
                <a:spcPts val="0"/>
              </a:spcAft>
            </a:pPr>
            <a:endParaRPr sz="1350" b="0" i="0" dirty="0">
              <a:solidFill>
                <a:srgbClr val="E4E9F5"/>
              </a:solidFill>
              <a:latin typeface="DM Sans"/>
            </a:endParaRPr>
          </a:p>
        </p:txBody>
      </p:sp>
      <p:sp>
        <p:nvSpPr>
          <p:cNvPr id="265" name="Rounded Rectangle 264"/>
          <p:cNvSpPr/>
          <p:nvPr/>
        </p:nvSpPr>
        <p:spPr>
          <a:xfrm>
            <a:off x="6373368" y="1773936"/>
            <a:ext cx="5120640" cy="4297680"/>
          </a:xfrm>
          <a:prstGeom prst="roundRect">
            <a:avLst>
              <a:gd name="adj" fmla="val 3546"/>
            </a:avLst>
          </a:prstGeom>
          <a:solidFill>
            <a:srgbClr val="24375F"/>
          </a:solidFill>
          <a:ln>
            <a:noFill/>
          </a:ln>
        </p:spPr>
        <p:txBody>
          <a:bodyPr rtlCol="0" anchor="ctr"/>
          <a:lstStyle/>
          <a:p>
            <a:pPr algn="ctr"/>
            <a:endParaRPr/>
          </a:p>
        </p:txBody>
      </p:sp>
      <p:sp>
        <p:nvSpPr>
          <p:cNvPr id="266" name="Rectangle 265"/>
          <p:cNvSpPr/>
          <p:nvPr/>
        </p:nvSpPr>
        <p:spPr>
          <a:xfrm>
            <a:off x="6373368" y="1773936"/>
            <a:ext cx="5120640" cy="4297680"/>
          </a:xfrm>
          <a:custGeom>
            <a:avLst/>
            <a:gdLst/>
            <a:ahLst/>
            <a:cxnLst/>
            <a:rect l="l" t="t" r="r" b="b"/>
            <a:pathLst>
              <a:path w="5120640" h="4297680" extrusionOk="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endParaRPr/>
          </a:p>
        </p:txBody>
      </p:sp>
      <p:sp>
        <p:nvSpPr>
          <p:cNvPr id="267" name="TextBox 266"/>
          <p:cNvSpPr txBox="1"/>
          <p:nvPr/>
        </p:nvSpPr>
        <p:spPr>
          <a:xfrm>
            <a:off x="6629400" y="1993392"/>
            <a:ext cx="457200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FFFFFF"/>
                </a:solidFill>
                <a:latin typeface="Sora"/>
              </a:rPr>
              <a:t>Prochaines étapes</a:t>
            </a:r>
          </a:p>
        </p:txBody>
      </p:sp>
      <p:sp>
        <p:nvSpPr>
          <p:cNvPr id="268" name="Oval 267"/>
          <p:cNvSpPr/>
          <p:nvPr/>
        </p:nvSpPr>
        <p:spPr>
          <a:xfrm>
            <a:off x="6629400" y="2542032"/>
            <a:ext cx="365760" cy="365760"/>
          </a:xfrm>
          <a:prstGeom prst="ellipse">
            <a:avLst/>
          </a:prstGeom>
          <a:solidFill>
            <a:srgbClr val="7ACFC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1</a:t>
            </a:r>
          </a:p>
        </p:txBody>
      </p:sp>
      <p:sp>
        <p:nvSpPr>
          <p:cNvPr id="269" name="TextBox 268"/>
          <p:cNvSpPr txBox="1"/>
          <p:nvPr/>
        </p:nvSpPr>
        <p:spPr>
          <a:xfrm>
            <a:off x="7178040" y="2578608"/>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Brancher la sortie rouge du nœud HTTP : une alerte Slack quand Workly ne répond pas.</a:t>
            </a:r>
          </a:p>
        </p:txBody>
      </p:sp>
      <p:sp>
        <p:nvSpPr>
          <p:cNvPr id="270" name="Oval 269"/>
          <p:cNvSpPr/>
          <p:nvPr/>
        </p:nvSpPr>
        <p:spPr>
          <a:xfrm>
            <a:off x="6629400" y="3310128"/>
            <a:ext cx="365760" cy="365760"/>
          </a:xfrm>
          <a:prstGeom prst="ellipse">
            <a:avLst/>
          </a:prstGeom>
          <a:solidFill>
            <a:srgbClr val="4A9BE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2</a:t>
            </a:r>
          </a:p>
        </p:txBody>
      </p:sp>
      <p:sp>
        <p:nvSpPr>
          <p:cNvPr id="271" name="TextBox 270"/>
          <p:cNvSpPr txBox="1"/>
          <p:nvPr/>
        </p:nvSpPr>
        <p:spPr>
          <a:xfrm>
            <a:off x="7178040" y="3346704"/>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Héberger Workly sur un serveur permanent, hors du PC personnel.</a:t>
            </a:r>
          </a:p>
        </p:txBody>
      </p:sp>
      <p:sp>
        <p:nvSpPr>
          <p:cNvPr id="272" name="Oval 271"/>
          <p:cNvSpPr/>
          <p:nvPr/>
        </p:nvSpPr>
        <p:spPr>
          <a:xfrm>
            <a:off x="6629400" y="4078224"/>
            <a:ext cx="365760" cy="365760"/>
          </a:xfrm>
          <a:prstGeom prst="ellipse">
            <a:avLst/>
          </a:prstGeom>
          <a:solidFill>
            <a:srgbClr val="B39DDB"/>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1B2A4A"/>
                </a:solidFill>
                <a:latin typeface="Sora"/>
              </a:rPr>
              <a:t>3</a:t>
            </a:r>
          </a:p>
        </p:txBody>
      </p:sp>
      <p:sp>
        <p:nvSpPr>
          <p:cNvPr id="273" name="TextBox 272"/>
          <p:cNvSpPr txBox="1"/>
          <p:nvPr/>
        </p:nvSpPr>
        <p:spPr>
          <a:xfrm>
            <a:off x="7178040" y="4114800"/>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Importer les commandes Odoo comme volumes prévus.</a:t>
            </a:r>
          </a:p>
        </p:txBody>
      </p:sp>
      <p:sp>
        <p:nvSpPr>
          <p:cNvPr id="274" name="Oval 273"/>
          <p:cNvSpPr/>
          <p:nvPr/>
        </p:nvSpPr>
        <p:spPr>
          <a:xfrm>
            <a:off x="6629400" y="4846320"/>
            <a:ext cx="365760" cy="365760"/>
          </a:xfrm>
          <a:prstGeom prst="ellipse">
            <a:avLst/>
          </a:prstGeom>
          <a:solidFill>
            <a:srgbClr val="6B3FA0"/>
          </a:solidFill>
          <a:ln>
            <a:noFill/>
          </a:ln>
        </p:spPr>
        <p:txBody>
          <a:bodyPr wrap="square" lIns="0" tIns="0" rIns="0" bIns="0" rtlCol="0" anchor="ctr">
            <a:noAutofit/>
          </a:bodyPr>
          <a:lstStyle/>
          <a:p>
            <a:pPr algn="ctr">
              <a:lnSpc>
                <a:spcPct val="100000"/>
              </a:lnSpc>
              <a:spcBef>
                <a:spcPts val="0"/>
              </a:spcBef>
              <a:spcAft>
                <a:spcPts val="0"/>
              </a:spcAft>
            </a:pPr>
            <a:r>
              <a:rPr sz="1300" b="1" i="0">
                <a:solidFill>
                  <a:srgbClr val="FFFFFF"/>
                </a:solidFill>
                <a:latin typeface="Sora"/>
              </a:rPr>
              <a:t>4</a:t>
            </a:r>
          </a:p>
        </p:txBody>
      </p:sp>
      <p:sp>
        <p:nvSpPr>
          <p:cNvPr id="275" name="TextBox 274"/>
          <p:cNvSpPr txBox="1"/>
          <p:nvPr/>
        </p:nvSpPr>
        <p:spPr>
          <a:xfrm>
            <a:off x="7178040" y="4882896"/>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dirty="0" err="1">
                <a:solidFill>
                  <a:srgbClr val="E4E9F5"/>
                </a:solidFill>
                <a:latin typeface="DM Sans"/>
              </a:rPr>
              <a:t>Mesurer la fiabilité sur plusieurs nuits et enrichir la base de connaissances.</a:t>
            </a:r>
            <a:endParaRPr sz="1350" b="0" i="0" dirty="0">
              <a:solidFill>
                <a:srgbClr val="E4E9F5"/>
              </a:solidFill>
              <a:latin typeface="DM Sans"/>
            </a:endParaRPr>
          </a:p>
        </p:txBody>
      </p:sp>
      <p:sp>
        <p:nvSpPr>
          <p:cNvPr id="276" name="TextBox 275"/>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Ordre de priorité : d’abord signaler une panne, ensuite durcir l’hébergement.</a:t>
            </a:r>
          </a:p>
        </p:txBody>
      </p:sp>
      <p:sp>
        <p:nvSpPr>
          <p:cNvPr id="38" name="Rectangle 37"/>
          <p:cNvSpPr/>
          <p:nvPr/>
        </p:nvSpPr>
        <p:spPr>
          <a:xfrm>
            <a:off x="961136" y="4021734"/>
            <a:ext cx="100584" cy="100584"/>
          </a:xfrm>
          <a:prstGeom prst="rect">
            <a:avLst/>
          </a:prstGeom>
          <a:solidFill>
            <a:srgbClr val="B39DDB"/>
          </a:solidFill>
          <a:ln>
            <a:noFill/>
          </a:ln>
        </p:spPr>
        <p:txBody>
          <a:bodyPr rtlCol="0" anchor="ctr"/>
          <a:lstStyle/>
          <a:p>
            <a:pPr algn="ctr"/>
            <a:r>
              <a:rPr lang="en-US" dirty="0"/>
              <a:t> </a:t>
            </a:r>
            <a:endParaRPr dirty="0"/>
          </a:p>
        </p:txBody>
      </p:sp>
      <p:sp>
        <p:nvSpPr>
          <p:cNvPr id="277" name="Rectangle 37"/>
          <p:cNvSpPr/>
          <p:nvPr/>
        </p:nvSpPr>
        <p:spPr>
          <a:xfrm>
            <a:off x="961136" y="4771542"/>
            <a:ext cx="100584" cy="100584"/>
          </a:xfrm>
          <a:prstGeom prst="rect">
            <a:avLst/>
          </a:prstGeom>
          <a:solidFill>
            <a:srgbClr val="B39DDB"/>
          </a:solidFill>
          <a:ln>
            <a:noFill/>
          </a:ln>
        </p:spPr>
        <p:txBody>
          <a:bodyPr rtlCol="0" anchor="ctr"/>
          <a:lstStyle/>
          <a:p>
            <a:pPr algn="ctr"/>
            <a:r>
              <a:rPr lang="en-US" dirty="0"/>
              <a:t> </a:t>
            </a:r>
            <a:endParaRPr dirty="0"/>
          </a:p>
        </p:txBody>
      </p:sp>
      <p:sp>
        <p:nvSpPr>
          <p:cNvPr id="278" name="TextBox 261"/>
          <p:cNvSpPr txBox="1"/>
          <p:nvPr/>
        </p:nvSpPr>
        <p:spPr>
          <a:xfrm>
            <a:off x="1188720" y="4695749"/>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dirty="0" err="1">
                <a:solidFill>
                  <a:srgbClr val="E4E9F5"/>
                </a:solidFill>
                <a:latin typeface="DM Sans"/>
              </a:rPr>
              <a:t>La base de connaissances ne couvre que les pannes décrites ; sinon l’agent répond « cause inconnue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06346" y="203127"/>
            <a:ext cx="2441003" cy="309887"/>
          </a:xfrm>
          <a:prstGeom prst="rect">
            <a:avLst/>
          </a:prstGeom>
          <a:noFill/>
          <a:ln/>
        </p:spPr>
        <p:txBody>
          <a:bodyPr wrap="square" lIns="0" tIns="0" rIns="0" bIns="0" rtlCol="0" anchor="t">
            <a:normAutofit lnSpcReduction="10000"/>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Cartographie › Définitions</a:t>
            </a:r>
            <a:endParaRPr lang="en-US" sz="1600" dirty="0"/>
          </a:p>
        </p:txBody>
      </p:sp>
      <p:sp>
        <p:nvSpPr>
          <p:cNvPr id="3" name="Text 1"/>
          <p:cNvSpPr/>
          <p:nvPr/>
        </p:nvSpPr>
        <p:spPr>
          <a:xfrm>
            <a:off x="11009376" y="203127"/>
            <a:ext cx="822960"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5 / 34</a:t>
            </a:r>
            <a:endParaRPr lang="en-US" sz="1600" dirty="0"/>
          </a:p>
        </p:txBody>
      </p:sp>
      <p:sp>
        <p:nvSpPr>
          <p:cNvPr id="4" name="Shape 2"/>
          <p:cNvSpPr/>
          <p:nvPr/>
        </p:nvSpPr>
        <p:spPr>
          <a:xfrm>
            <a:off x="406346" y="614615"/>
            <a:ext cx="11379308" cy="645102"/>
          </a:xfrm>
          <a:prstGeom prst="roundRect">
            <a:avLst>
              <a:gd name="adj" fmla="val 11812"/>
            </a:avLst>
          </a:prstGeom>
          <a:solidFill>
            <a:srgbClr val="12263A"/>
          </a:solidFill>
          <a:ln/>
        </p:spPr>
        <p:txBody>
          <a:bodyPr/>
          <a:lstStyle/>
          <a:p>
            <a:endParaRPr lang="fr-MA"/>
          </a:p>
        </p:txBody>
      </p:sp>
      <p:sp>
        <p:nvSpPr>
          <p:cNvPr id="5" name="Text 3"/>
          <p:cNvSpPr/>
          <p:nvPr/>
        </p:nvSpPr>
        <p:spPr>
          <a:xfrm>
            <a:off x="609474" y="741615"/>
            <a:ext cx="11302243"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6F7F5"/>
                </a:solidFill>
                <a:latin typeface="Source Sans 3" pitchFamily="34" charset="0"/>
                <a:ea typeface="Source Sans 3" pitchFamily="34" charset="-122"/>
                <a:cs typeface="Source Sans 3" pitchFamily="34" charset="-120"/>
              </a:rPr>
              <a:t>Processus et sous-processus</a:t>
            </a:r>
            <a:endParaRPr lang="en-US" sz="2800" dirty="0"/>
          </a:p>
        </p:txBody>
      </p:sp>
      <p:sp>
        <p:nvSpPr>
          <p:cNvPr id="6" name="Rounded Rectangle 5"/>
          <p:cNvSpPr/>
          <p:nvPr/>
        </p:nvSpPr>
        <p:spPr>
          <a:xfrm>
            <a:off x="402336" y="1481328"/>
            <a:ext cx="5577840" cy="2148840"/>
          </a:xfrm>
          <a:prstGeom prst="roundRect">
            <a:avLst>
              <a:gd name="adj" fmla="val 2978"/>
            </a:avLst>
          </a:prstGeom>
          <a:solidFill>
            <a:srgbClr val="FFFFFF"/>
          </a:solidFill>
          <a:ln>
            <a:noFill/>
          </a:ln>
          <a:effectLst>
            <a:outerShdw blurRad="25400" dist="6350" dir="5400000" algn="bl" rotWithShape="0">
              <a:srgbClr val="12263A">
                <a:alpha val="12000"/>
              </a:srgbClr>
            </a:outerShdw>
          </a:effectLst>
        </p:spPr>
        <p:txBody>
          <a:bodyPr rtlCol="0" anchor="ctr"/>
          <a:lstStyle/>
          <a:p>
            <a:pPr algn="ctr"/>
          </a:p>
        </p:txBody>
      </p:sp>
      <p:sp>
        <p:nvSpPr>
          <p:cNvPr id="7" name="Rectangle 6"/>
          <p:cNvSpPr/>
          <p:nvPr/>
        </p:nvSpPr>
        <p:spPr>
          <a:xfrm>
            <a:off x="402336" y="1481328"/>
            <a:ext cx="5577840" cy="2148840"/>
          </a:xfrm>
          <a:custGeom>
            <a:rect b="b" l="l" r="r" t="t"/>
            <a:pathLst>
              <a:path extrusionOk="0" h="2148840" w="5577840">
                <a:moveTo>
                  <a:pt x="0" y="76200"/>
                </a:moveTo>
                <a:cubicBezTo>
                  <a:pt x="0" y="34114"/>
                  <a:pt x="34114" y="0"/>
                  <a:pt x="76200" y="0"/>
                </a:cubicBezTo>
                <a:lnTo>
                  <a:pt x="5501640" y="0"/>
                </a:lnTo>
                <a:cubicBezTo>
                  <a:pt x="5543725" y="0"/>
                  <a:pt x="5577840" y="34114"/>
                  <a:pt x="5577840" y="76200"/>
                </a:cubicBezTo>
                <a:cubicBezTo>
                  <a:pt x="5577840" y="51655"/>
                  <a:pt x="5543726" y="50800"/>
                  <a:pt x="5501640" y="50800"/>
                </a:cubicBezTo>
                <a:lnTo>
                  <a:pt x="76200" y="50800"/>
                </a:lnTo>
                <a:cubicBezTo>
                  <a:pt x="34114" y="50800"/>
                  <a:pt x="0" y="51655"/>
                  <a:pt x="0" y="76200"/>
                </a:cubicBezTo>
                <a:close/>
              </a:path>
            </a:pathLst>
          </a:custGeom>
          <a:solidFill>
            <a:srgbClr val="2E7D32"/>
          </a:solidFill>
          <a:ln>
            <a:noFill/>
          </a:ln>
        </p:spPr>
        <p:txBody>
          <a:bodyPr rtlCol="0" anchor="ctr"/>
          <a:lstStyle/>
          <a:p>
            <a:pPr algn="ctr"/>
          </a:p>
        </p:txBody>
      </p:sp>
      <p:sp>
        <p:nvSpPr>
          <p:cNvPr id="8" name="TextBox 7"/>
          <p:cNvSpPr txBox="1"/>
          <p:nvPr/>
        </p:nvSpPr>
        <p:spPr>
          <a:xfrm>
            <a:off x="658368" y="1691640"/>
            <a:ext cx="5029200" cy="365760"/>
          </a:xfrm>
          <a:prstGeom prst="rect">
            <a:avLst/>
          </a:prstGeom>
          <a:noFill/>
        </p:spPr>
        <p:txBody>
          <a:bodyPr wrap="square" lIns="0" tIns="0" rIns="0" bIns="0" anchor="t">
            <a:noAutofit/>
          </a:bodyPr>
          <a:lstStyle/>
          <a:p>
            <a:pPr algn="l">
              <a:lnSpc>
                <a:spcPct val="115000"/>
              </a:lnSpc>
              <a:spcBef>
                <a:spcPts val="0"/>
              </a:spcBef>
              <a:spcAft>
                <a:spcPts val="0"/>
              </a:spcAft>
            </a:pPr>
            <a:r>
              <a:rPr sz="2200" b="1" i="0">
                <a:solidFill>
                  <a:srgbClr val="12263A"/>
                </a:solidFill>
                <a:latin typeface="Source Sans 3"/>
              </a:rPr>
              <a:t>Processus</a:t>
            </a:r>
          </a:p>
        </p:txBody>
      </p:sp>
      <p:sp>
        <p:nvSpPr>
          <p:cNvPr id="9" name="TextBox 8"/>
          <p:cNvSpPr txBox="1"/>
          <p:nvPr/>
        </p:nvSpPr>
        <p:spPr>
          <a:xfrm>
            <a:off x="658368" y="2176272"/>
            <a:ext cx="5074920" cy="868680"/>
          </a:xfrm>
          <a:prstGeom prst="rect">
            <a:avLst/>
          </a:prstGeom>
          <a:noFill/>
        </p:spPr>
        <p:txBody>
          <a:bodyPr wrap="square" lIns="0" tIns="0" rIns="0" bIns="0" anchor="t">
            <a:noAutofit/>
          </a:bodyPr>
          <a:lstStyle/>
          <a:p>
            <a:pPr algn="l">
              <a:lnSpc>
                <a:spcPct val="112000"/>
              </a:lnSpc>
              <a:spcBef>
                <a:spcPts val="0"/>
              </a:spcBef>
              <a:spcAft>
                <a:spcPts val="0"/>
              </a:spcAft>
            </a:pPr>
            <a:r>
              <a:rPr sz="1650" b="0" i="0">
                <a:solidFill>
                  <a:srgbClr val="2B3A48"/>
                </a:solidFill>
                <a:latin typeface="Source Sans 3"/>
              </a:rPr>
              <a:t>Ensemble d’activités liées qui transforment des éléments d’entrée en un résultat attendu.</a:t>
            </a:r>
          </a:p>
        </p:txBody>
      </p:sp>
      <p:sp>
        <p:nvSpPr>
          <p:cNvPr id="10" name="Rounded Rectangle 9"/>
          <p:cNvSpPr/>
          <p:nvPr/>
        </p:nvSpPr>
        <p:spPr>
          <a:xfrm>
            <a:off x="658368" y="3108960"/>
            <a:ext cx="5029200" cy="329184"/>
          </a:xfrm>
          <a:prstGeom prst="roundRect">
            <a:avLst>
              <a:gd name="adj" fmla="val 27777"/>
            </a:avLst>
          </a:prstGeom>
          <a:solidFill>
            <a:srgbClr val="E8F5E9"/>
          </a:solidFill>
          <a:ln>
            <a:noFill/>
          </a:ln>
        </p:spPr>
        <p:txBody>
          <a:bodyPr rtlCol="0" anchor="ctr" wrap="square" lIns="36576" tIns="0" rIns="36576" bIns="0">
            <a:noAutofit/>
          </a:bodyPr>
          <a:lstStyle/>
          <a:p>
            <a:pPr algn="ctr">
              <a:lnSpc>
                <a:spcPct val="100000"/>
              </a:lnSpc>
              <a:spcBef>
                <a:spcPts val="0"/>
              </a:spcBef>
              <a:spcAft>
                <a:spcPts val="0"/>
              </a:spcAft>
            </a:pPr>
            <a:r>
              <a:rPr sz="1450" b="1" i="0">
                <a:solidFill>
                  <a:srgbClr val="2E7D32"/>
                </a:solidFill>
                <a:latin typeface="Source Sans 3"/>
              </a:rPr>
              <a:t>Exemple : 2. Prévision et planification</a:t>
            </a:r>
          </a:p>
        </p:txBody>
      </p:sp>
      <p:sp>
        <p:nvSpPr>
          <p:cNvPr id="11" name="Rounded Rectangle 10"/>
          <p:cNvSpPr/>
          <p:nvPr/>
        </p:nvSpPr>
        <p:spPr>
          <a:xfrm>
            <a:off x="6199632" y="1481328"/>
            <a:ext cx="5577840" cy="2148840"/>
          </a:xfrm>
          <a:prstGeom prst="roundRect">
            <a:avLst>
              <a:gd name="adj" fmla="val 2978"/>
            </a:avLst>
          </a:prstGeom>
          <a:solidFill>
            <a:srgbClr val="FFFFFF"/>
          </a:solidFill>
          <a:ln>
            <a:noFill/>
          </a:ln>
          <a:effectLst>
            <a:outerShdw blurRad="25400" dist="6350" dir="5400000" algn="bl" rotWithShape="0">
              <a:srgbClr val="12263A">
                <a:alpha val="12000"/>
              </a:srgbClr>
            </a:outerShdw>
          </a:effectLst>
        </p:spPr>
        <p:txBody>
          <a:bodyPr rtlCol="0" anchor="ctr"/>
          <a:lstStyle/>
          <a:p>
            <a:pPr algn="ctr"/>
          </a:p>
        </p:txBody>
      </p:sp>
      <p:sp>
        <p:nvSpPr>
          <p:cNvPr id="12" name="Rectangle 11"/>
          <p:cNvSpPr/>
          <p:nvPr/>
        </p:nvSpPr>
        <p:spPr>
          <a:xfrm>
            <a:off x="6199632" y="1481328"/>
            <a:ext cx="5577840" cy="2148840"/>
          </a:xfrm>
          <a:custGeom>
            <a:rect b="b" l="l" r="r" t="t"/>
            <a:pathLst>
              <a:path extrusionOk="0" h="2148840" w="5577840">
                <a:moveTo>
                  <a:pt x="0" y="76200"/>
                </a:moveTo>
                <a:cubicBezTo>
                  <a:pt x="0" y="34114"/>
                  <a:pt x="34114" y="0"/>
                  <a:pt x="76200" y="0"/>
                </a:cubicBezTo>
                <a:lnTo>
                  <a:pt x="5501640" y="0"/>
                </a:lnTo>
                <a:cubicBezTo>
                  <a:pt x="5543725" y="0"/>
                  <a:pt x="5577840" y="34114"/>
                  <a:pt x="5577840" y="76200"/>
                </a:cubicBezTo>
                <a:cubicBezTo>
                  <a:pt x="5577840" y="51655"/>
                  <a:pt x="5543726" y="50800"/>
                  <a:pt x="5501640" y="50800"/>
                </a:cubicBezTo>
                <a:lnTo>
                  <a:pt x="76200" y="50800"/>
                </a:lnTo>
                <a:cubicBezTo>
                  <a:pt x="34114" y="50800"/>
                  <a:pt x="0" y="51655"/>
                  <a:pt x="0" y="76200"/>
                </a:cubicBezTo>
                <a:close/>
              </a:path>
            </a:pathLst>
          </a:custGeom>
          <a:solidFill>
            <a:srgbClr val="2E7D32"/>
          </a:solidFill>
          <a:ln>
            <a:noFill/>
          </a:ln>
        </p:spPr>
        <p:txBody>
          <a:bodyPr rtlCol="0" anchor="ctr"/>
          <a:lstStyle/>
          <a:p>
            <a:pPr algn="ctr"/>
          </a:p>
        </p:txBody>
      </p:sp>
      <p:sp>
        <p:nvSpPr>
          <p:cNvPr id="13" name="TextBox 12"/>
          <p:cNvSpPr txBox="1"/>
          <p:nvPr/>
        </p:nvSpPr>
        <p:spPr>
          <a:xfrm>
            <a:off x="6455664" y="1691640"/>
            <a:ext cx="5029200" cy="365760"/>
          </a:xfrm>
          <a:prstGeom prst="rect">
            <a:avLst/>
          </a:prstGeom>
          <a:noFill/>
        </p:spPr>
        <p:txBody>
          <a:bodyPr wrap="square" lIns="0" tIns="0" rIns="0" bIns="0" anchor="t">
            <a:noAutofit/>
          </a:bodyPr>
          <a:lstStyle/>
          <a:p>
            <a:pPr algn="l">
              <a:lnSpc>
                <a:spcPct val="115000"/>
              </a:lnSpc>
              <a:spcBef>
                <a:spcPts val="0"/>
              </a:spcBef>
              <a:spcAft>
                <a:spcPts val="0"/>
              </a:spcAft>
            </a:pPr>
            <a:r>
              <a:rPr sz="2200" b="1" i="0">
                <a:solidFill>
                  <a:srgbClr val="12263A"/>
                </a:solidFill>
                <a:latin typeface="Source Sans 3"/>
              </a:rPr>
              <a:t>Sous-processus</a:t>
            </a:r>
          </a:p>
        </p:txBody>
      </p:sp>
      <p:sp>
        <p:nvSpPr>
          <p:cNvPr id="14" name="TextBox 13"/>
          <p:cNvSpPr txBox="1"/>
          <p:nvPr/>
        </p:nvSpPr>
        <p:spPr>
          <a:xfrm>
            <a:off x="6455664" y="2176272"/>
            <a:ext cx="5074920" cy="868680"/>
          </a:xfrm>
          <a:prstGeom prst="rect">
            <a:avLst/>
          </a:prstGeom>
          <a:noFill/>
        </p:spPr>
        <p:txBody>
          <a:bodyPr wrap="square" lIns="0" tIns="0" rIns="0" bIns="0" anchor="t">
            <a:noAutofit/>
          </a:bodyPr>
          <a:lstStyle/>
          <a:p>
            <a:pPr algn="l">
              <a:lnSpc>
                <a:spcPct val="112000"/>
              </a:lnSpc>
              <a:spcBef>
                <a:spcPts val="0"/>
              </a:spcBef>
              <a:spcAft>
                <a:spcPts val="0"/>
              </a:spcAft>
            </a:pPr>
            <a:r>
              <a:rPr sz="1650" b="0" i="0">
                <a:solidFill>
                  <a:srgbClr val="2B3A48"/>
                </a:solidFill>
                <a:latin typeface="Source Sans 3"/>
              </a:rPr>
              <a:t>Partie d’un processus : un groupe d’activités plus fin, avec ses propres entrées et son propre résultat.</a:t>
            </a:r>
          </a:p>
        </p:txBody>
      </p:sp>
      <p:sp>
        <p:nvSpPr>
          <p:cNvPr id="15" name="Rounded Rectangle 14"/>
          <p:cNvSpPr/>
          <p:nvPr/>
        </p:nvSpPr>
        <p:spPr>
          <a:xfrm>
            <a:off x="6455664" y="3108960"/>
            <a:ext cx="5029200" cy="329184"/>
          </a:xfrm>
          <a:prstGeom prst="roundRect">
            <a:avLst>
              <a:gd name="adj" fmla="val 27777"/>
            </a:avLst>
          </a:prstGeom>
          <a:solidFill>
            <a:srgbClr val="E8F5E9"/>
          </a:solidFill>
          <a:ln>
            <a:noFill/>
          </a:ln>
        </p:spPr>
        <p:txBody>
          <a:bodyPr rtlCol="0" anchor="ctr" wrap="square" lIns="36576" tIns="0" rIns="36576" bIns="0">
            <a:noAutofit/>
          </a:bodyPr>
          <a:lstStyle/>
          <a:p>
            <a:pPr algn="ctr">
              <a:lnSpc>
                <a:spcPct val="100000"/>
              </a:lnSpc>
              <a:spcBef>
                <a:spcPts val="0"/>
              </a:spcBef>
              <a:spcAft>
                <a:spcPts val="0"/>
              </a:spcAft>
            </a:pPr>
            <a:r>
              <a:rPr sz="1450" b="1" i="0">
                <a:solidFill>
                  <a:srgbClr val="2E7D32"/>
                </a:solidFill>
                <a:latin typeface="Source Sans 3"/>
              </a:rPr>
              <a:t>Exemple : 2.3.3 Ressources humaines et équipements</a:t>
            </a:r>
          </a:p>
        </p:txBody>
      </p:sp>
      <p:sp>
        <p:nvSpPr>
          <p:cNvPr id="16" name="TextBox 15"/>
          <p:cNvSpPr txBox="1"/>
          <p:nvPr/>
        </p:nvSpPr>
        <p:spPr>
          <a:xfrm>
            <a:off x="402336" y="3931920"/>
            <a:ext cx="11338560" cy="27432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2E7D32"/>
                </a:solidFill>
                <a:latin typeface="Source Sans 3"/>
              </a:rPr>
              <a:t>DANS LA CARTOGRAPHIE CSCMP, TROIS NIVEAUX S’EMBOÎTENT</a:t>
            </a:r>
          </a:p>
        </p:txBody>
      </p:sp>
      <p:sp>
        <p:nvSpPr>
          <p:cNvPr id="17" name="Rounded Rectangle 16"/>
          <p:cNvSpPr/>
          <p:nvPr/>
        </p:nvSpPr>
        <p:spPr>
          <a:xfrm>
            <a:off x="402336" y="4343400"/>
            <a:ext cx="3429000" cy="1600200"/>
          </a:xfrm>
          <a:prstGeom prst="roundRect">
            <a:avLst>
              <a:gd name="adj" fmla="val 4000"/>
            </a:avLst>
          </a:prstGeom>
          <a:solidFill>
            <a:srgbClr val="FFFFFF"/>
          </a:solidFill>
          <a:ln>
            <a:noFill/>
          </a:ln>
          <a:effectLst>
            <a:outerShdw blurRad="25400" dist="6350" dir="5400000" algn="bl" rotWithShape="0">
              <a:srgbClr val="12263A">
                <a:alpha val="12000"/>
              </a:srgbClr>
            </a:outerShdw>
          </a:effectLst>
        </p:spPr>
        <p:txBody>
          <a:bodyPr rtlCol="0" anchor="ctr"/>
          <a:lstStyle/>
          <a:p>
            <a:pPr algn="ctr"/>
          </a:p>
        </p:txBody>
      </p:sp>
      <p:sp>
        <p:nvSpPr>
          <p:cNvPr id="18" name="Rectangle 17"/>
          <p:cNvSpPr/>
          <p:nvPr/>
        </p:nvSpPr>
        <p:spPr>
          <a:xfrm>
            <a:off x="402336" y="4343400"/>
            <a:ext cx="3429000" cy="1600200"/>
          </a:xfrm>
          <a:custGeom>
            <a:rect b="b" l="l" r="r" t="t"/>
            <a:pathLst>
              <a:path extrusionOk="0" h="1600200" w="3429000">
                <a:moveTo>
                  <a:pt x="0" y="76200"/>
                </a:moveTo>
                <a:cubicBezTo>
                  <a:pt x="0" y="34114"/>
                  <a:pt x="34114" y="0"/>
                  <a:pt x="76200" y="0"/>
                </a:cubicBezTo>
                <a:lnTo>
                  <a:pt x="3352800" y="0"/>
                </a:lnTo>
                <a:cubicBezTo>
                  <a:pt x="3394885" y="0"/>
                  <a:pt x="3429000" y="34114"/>
                  <a:pt x="3429000" y="76200"/>
                </a:cubicBezTo>
                <a:cubicBezTo>
                  <a:pt x="3429000" y="51655"/>
                  <a:pt x="3394886" y="50800"/>
                  <a:pt x="3352800" y="50800"/>
                </a:cubicBezTo>
                <a:lnTo>
                  <a:pt x="76200" y="50800"/>
                </a:lnTo>
                <a:cubicBezTo>
                  <a:pt x="34114" y="50800"/>
                  <a:pt x="0" y="51655"/>
                  <a:pt x="0" y="76200"/>
                </a:cubicBezTo>
                <a:close/>
              </a:path>
            </a:pathLst>
          </a:custGeom>
          <a:solidFill>
            <a:srgbClr val="2E7D32"/>
          </a:solidFill>
          <a:ln>
            <a:noFill/>
          </a:ln>
        </p:spPr>
        <p:txBody>
          <a:bodyPr rtlCol="0" anchor="ctr"/>
          <a:lstStyle/>
          <a:p>
            <a:pPr algn="ctr"/>
          </a:p>
        </p:txBody>
      </p:sp>
      <p:sp>
        <p:nvSpPr>
          <p:cNvPr id="19" name="TextBox 18"/>
          <p:cNvSpPr txBox="1"/>
          <p:nvPr/>
        </p:nvSpPr>
        <p:spPr>
          <a:xfrm>
            <a:off x="630936" y="4526280"/>
            <a:ext cx="297180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5F6B77"/>
                </a:solidFill>
                <a:latin typeface="Source Sans 3"/>
              </a:rPr>
              <a:t>Métier · grand processus</a:t>
            </a:r>
          </a:p>
        </p:txBody>
      </p:sp>
      <p:sp>
        <p:nvSpPr>
          <p:cNvPr id="20" name="TextBox 19"/>
          <p:cNvSpPr txBox="1"/>
          <p:nvPr/>
        </p:nvSpPr>
        <p:spPr>
          <a:xfrm>
            <a:off x="630936" y="4873752"/>
            <a:ext cx="2971800" cy="685800"/>
          </a:xfrm>
          <a:prstGeom prst="rect">
            <a:avLst/>
          </a:prstGeom>
          <a:noFill/>
        </p:spPr>
        <p:txBody>
          <a:bodyPr wrap="square" lIns="0" tIns="0" rIns="0" bIns="0" anchor="t">
            <a:noAutofit/>
          </a:bodyPr>
          <a:lstStyle/>
          <a:p>
            <a:pPr algn="l">
              <a:lnSpc>
                <a:spcPct val="105000"/>
              </a:lnSpc>
              <a:spcBef>
                <a:spcPts val="0"/>
              </a:spcBef>
              <a:spcAft>
                <a:spcPts val="0"/>
              </a:spcAft>
            </a:pPr>
            <a:r>
              <a:rPr sz="1900" b="1" i="0">
                <a:solidFill>
                  <a:srgbClr val="12263A"/>
                </a:solidFill>
                <a:latin typeface="Source Sans 3"/>
              </a:rPr>
              <a:t>2. Prévision et planification</a:t>
            </a:r>
          </a:p>
        </p:txBody>
      </p:sp>
      <p:sp>
        <p:nvSpPr>
          <p:cNvPr id="21" name="TextBox 20"/>
          <p:cNvSpPr txBox="1"/>
          <p:nvPr/>
        </p:nvSpPr>
        <p:spPr>
          <a:xfrm>
            <a:off x="630936" y="5596128"/>
            <a:ext cx="297180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E7D32"/>
                </a:solidFill>
                <a:latin typeface="Source Sans 3"/>
              </a:rPr>
              <a:t>9 métiers dans la cartographie</a:t>
            </a:r>
          </a:p>
        </p:txBody>
      </p:sp>
      <p:cxnSp>
        <p:nvCxnSpPr>
          <p:cNvPr id="22" name="Connector 21"/>
          <p:cNvCxnSpPr/>
          <p:nvPr/>
        </p:nvCxnSpPr>
        <p:spPr>
          <a:xfrm>
            <a:off x="3895344" y="5138928"/>
            <a:ext cx="420624" cy="0"/>
          </a:xfrm>
          <a:prstGeom prst="line">
            <a:avLst/>
          </a:prstGeom>
          <a:ln w="28575">
            <a:solidFill>
              <a:srgbClr val="12263A"/>
            </a:solidFill>
            <a:tailEnd type="triangle" w="med" len="med"/>
          </a:ln>
        </p:spPr>
      </p:cxnSp>
      <p:sp>
        <p:nvSpPr>
          <p:cNvPr id="23" name="Rounded Rectangle 22"/>
          <p:cNvSpPr/>
          <p:nvPr/>
        </p:nvSpPr>
        <p:spPr>
          <a:xfrm>
            <a:off x="4379976" y="4343400"/>
            <a:ext cx="3429000" cy="1600200"/>
          </a:xfrm>
          <a:prstGeom prst="roundRect">
            <a:avLst>
              <a:gd name="adj" fmla="val 4000"/>
            </a:avLst>
          </a:prstGeom>
          <a:solidFill>
            <a:srgbClr val="FFFFFF"/>
          </a:solidFill>
          <a:ln>
            <a:noFill/>
          </a:ln>
          <a:effectLst>
            <a:outerShdw blurRad="25400" dist="6350" dir="5400000" algn="bl" rotWithShape="0">
              <a:srgbClr val="12263A">
                <a:alpha val="12000"/>
              </a:srgbClr>
            </a:outerShdw>
          </a:effectLst>
        </p:spPr>
        <p:txBody>
          <a:bodyPr rtlCol="0" anchor="ctr"/>
          <a:lstStyle/>
          <a:p>
            <a:pPr algn="ctr"/>
          </a:p>
        </p:txBody>
      </p:sp>
      <p:sp>
        <p:nvSpPr>
          <p:cNvPr id="24" name="Rectangle 23"/>
          <p:cNvSpPr/>
          <p:nvPr/>
        </p:nvSpPr>
        <p:spPr>
          <a:xfrm>
            <a:off x="4379976" y="4343400"/>
            <a:ext cx="3429000" cy="1600200"/>
          </a:xfrm>
          <a:custGeom>
            <a:rect b="b" l="l" r="r" t="t"/>
            <a:pathLst>
              <a:path extrusionOk="0" h="1600200" w="3429000">
                <a:moveTo>
                  <a:pt x="0" y="76200"/>
                </a:moveTo>
                <a:cubicBezTo>
                  <a:pt x="0" y="34114"/>
                  <a:pt x="34114" y="0"/>
                  <a:pt x="76200" y="0"/>
                </a:cubicBezTo>
                <a:lnTo>
                  <a:pt x="3352800" y="0"/>
                </a:lnTo>
                <a:cubicBezTo>
                  <a:pt x="3394885" y="0"/>
                  <a:pt x="3429000" y="34114"/>
                  <a:pt x="3429000" y="76200"/>
                </a:cubicBezTo>
                <a:cubicBezTo>
                  <a:pt x="3429000" y="51655"/>
                  <a:pt x="3394886" y="50800"/>
                  <a:pt x="3352800" y="50800"/>
                </a:cubicBezTo>
                <a:lnTo>
                  <a:pt x="76200" y="50800"/>
                </a:lnTo>
                <a:cubicBezTo>
                  <a:pt x="34114" y="50800"/>
                  <a:pt x="0" y="51655"/>
                  <a:pt x="0" y="76200"/>
                </a:cubicBezTo>
                <a:close/>
              </a:path>
            </a:pathLst>
          </a:custGeom>
          <a:solidFill>
            <a:srgbClr val="2E7D32"/>
          </a:solidFill>
          <a:ln>
            <a:noFill/>
          </a:ln>
        </p:spPr>
        <p:txBody>
          <a:bodyPr rtlCol="0" anchor="ctr"/>
          <a:lstStyle/>
          <a:p>
            <a:pPr algn="ctr"/>
          </a:p>
        </p:txBody>
      </p:sp>
      <p:sp>
        <p:nvSpPr>
          <p:cNvPr id="25" name="TextBox 24"/>
          <p:cNvSpPr txBox="1"/>
          <p:nvPr/>
        </p:nvSpPr>
        <p:spPr>
          <a:xfrm>
            <a:off x="4608576" y="4526280"/>
            <a:ext cx="297180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5F6B77"/>
                </a:solidFill>
                <a:latin typeface="Source Sans 3"/>
              </a:rPr>
              <a:t>Sous-métier · précision</a:t>
            </a:r>
          </a:p>
        </p:txBody>
      </p:sp>
      <p:sp>
        <p:nvSpPr>
          <p:cNvPr id="26" name="TextBox 25"/>
          <p:cNvSpPr txBox="1"/>
          <p:nvPr/>
        </p:nvSpPr>
        <p:spPr>
          <a:xfrm>
            <a:off x="4608576" y="4873752"/>
            <a:ext cx="2971800" cy="685800"/>
          </a:xfrm>
          <a:prstGeom prst="rect">
            <a:avLst/>
          </a:prstGeom>
          <a:noFill/>
        </p:spPr>
        <p:txBody>
          <a:bodyPr wrap="square" lIns="0" tIns="0" rIns="0" bIns="0" anchor="t">
            <a:noAutofit/>
          </a:bodyPr>
          <a:lstStyle/>
          <a:p>
            <a:pPr algn="l">
              <a:lnSpc>
                <a:spcPct val="105000"/>
              </a:lnSpc>
              <a:spcBef>
                <a:spcPts val="0"/>
              </a:spcBef>
              <a:spcAft>
                <a:spcPts val="0"/>
              </a:spcAft>
            </a:pPr>
            <a:r>
              <a:rPr sz="1900" b="1" i="0">
                <a:solidFill>
                  <a:srgbClr val="12263A"/>
                </a:solidFill>
                <a:latin typeface="Source Sans 3"/>
              </a:rPr>
              <a:t>2.3 Planification des capacités</a:t>
            </a:r>
          </a:p>
        </p:txBody>
      </p:sp>
      <p:sp>
        <p:nvSpPr>
          <p:cNvPr id="27" name="TextBox 26"/>
          <p:cNvSpPr txBox="1"/>
          <p:nvPr/>
        </p:nvSpPr>
        <p:spPr>
          <a:xfrm>
            <a:off x="4608576" y="5596128"/>
            <a:ext cx="297180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E7D32"/>
                </a:solidFill>
                <a:latin typeface="Source Sans 3"/>
              </a:rPr>
              <a:t>37 sous-métiers dans la cartographie</a:t>
            </a:r>
          </a:p>
        </p:txBody>
      </p:sp>
      <p:cxnSp>
        <p:nvCxnSpPr>
          <p:cNvPr id="28" name="Connector 27"/>
          <p:cNvCxnSpPr/>
          <p:nvPr/>
        </p:nvCxnSpPr>
        <p:spPr>
          <a:xfrm>
            <a:off x="7872984" y="5138928"/>
            <a:ext cx="420624" cy="0"/>
          </a:xfrm>
          <a:prstGeom prst="line">
            <a:avLst/>
          </a:prstGeom>
          <a:ln w="28575">
            <a:solidFill>
              <a:srgbClr val="12263A"/>
            </a:solidFill>
            <a:tailEnd type="triangle" w="med" len="med"/>
          </a:ln>
        </p:spPr>
      </p:cxnSp>
      <p:sp>
        <p:nvSpPr>
          <p:cNvPr id="29" name="Rounded Rectangle 28"/>
          <p:cNvSpPr/>
          <p:nvPr/>
        </p:nvSpPr>
        <p:spPr>
          <a:xfrm>
            <a:off x="8357616" y="4343400"/>
            <a:ext cx="3429000" cy="1600200"/>
          </a:xfrm>
          <a:prstGeom prst="roundRect">
            <a:avLst>
              <a:gd name="adj" fmla="val 4000"/>
            </a:avLst>
          </a:prstGeom>
          <a:solidFill>
            <a:srgbClr val="2E7D32"/>
          </a:solidFill>
          <a:ln>
            <a:noFill/>
          </a:ln>
          <a:effectLst>
            <a:outerShdw blurRad="25400" dist="6350" dir="5400000" algn="bl" rotWithShape="0">
              <a:srgbClr val="12263A">
                <a:alpha val="12000"/>
              </a:srgbClr>
            </a:outerShdw>
          </a:effectLst>
        </p:spPr>
        <p:txBody>
          <a:bodyPr rtlCol="0" anchor="ctr"/>
          <a:lstStyle/>
          <a:p>
            <a:pPr algn="ctr"/>
          </a:p>
        </p:txBody>
      </p:sp>
      <p:sp>
        <p:nvSpPr>
          <p:cNvPr id="30" name="TextBox 29"/>
          <p:cNvSpPr txBox="1"/>
          <p:nvPr/>
        </p:nvSpPr>
        <p:spPr>
          <a:xfrm>
            <a:off x="8586216" y="4526280"/>
            <a:ext cx="297180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FFFFFF"/>
                </a:solidFill>
                <a:latin typeface="Source Sans 3"/>
              </a:rPr>
              <a:t>Sous-processus · activité</a:t>
            </a:r>
          </a:p>
        </p:txBody>
      </p:sp>
      <p:sp>
        <p:nvSpPr>
          <p:cNvPr id="31" name="TextBox 30"/>
          <p:cNvSpPr txBox="1"/>
          <p:nvPr/>
        </p:nvSpPr>
        <p:spPr>
          <a:xfrm>
            <a:off x="8586216" y="4873752"/>
            <a:ext cx="2971800" cy="685800"/>
          </a:xfrm>
          <a:prstGeom prst="rect">
            <a:avLst/>
          </a:prstGeom>
          <a:noFill/>
        </p:spPr>
        <p:txBody>
          <a:bodyPr wrap="square" lIns="0" tIns="0" rIns="0" bIns="0" anchor="t">
            <a:noAutofit/>
          </a:bodyPr>
          <a:lstStyle/>
          <a:p>
            <a:pPr algn="l">
              <a:lnSpc>
                <a:spcPct val="105000"/>
              </a:lnSpc>
              <a:spcBef>
                <a:spcPts val="0"/>
              </a:spcBef>
              <a:spcAft>
                <a:spcPts val="0"/>
              </a:spcAft>
            </a:pPr>
            <a:r>
              <a:rPr sz="1900" b="1" i="0">
                <a:solidFill>
                  <a:srgbClr val="FFFFFF"/>
                </a:solidFill>
                <a:latin typeface="Source Sans 3"/>
              </a:rPr>
              <a:t>2.3.3 Ressources humaines et équipements</a:t>
            </a:r>
          </a:p>
        </p:txBody>
      </p:sp>
      <p:sp>
        <p:nvSpPr>
          <p:cNvPr id="32" name="TextBox 31"/>
          <p:cNvSpPr txBox="1"/>
          <p:nvPr/>
        </p:nvSpPr>
        <p:spPr>
          <a:xfrm>
            <a:off x="8586216" y="5596128"/>
            <a:ext cx="297180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DDEFDD"/>
                </a:solidFill>
                <a:latin typeface="Source Sans 3"/>
              </a:rPr>
              <a:t>55 sous-processus dans la cartographie</a:t>
            </a:r>
          </a:p>
        </p:txBody>
      </p:sp>
      <p:sp>
        <p:nvSpPr>
          <p:cNvPr id="33" name="TextBox 32"/>
          <p:cNvSpPr txBox="1"/>
          <p:nvPr/>
        </p:nvSpPr>
        <p:spPr>
          <a:xfrm>
            <a:off x="402336" y="6437376"/>
            <a:ext cx="11338560" cy="237744"/>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5F6B77"/>
                </a:solidFill>
                <a:latin typeface="Source Sans 3"/>
              </a:rPr>
              <a:t>Définition du processus d’après ISO 9000 (reformulée) ; niveaux : cartographie CSCMP de l’équipe 15.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06346" y="203126"/>
            <a:ext cx="4105529"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Cartographie › Métier 2 › Sous-processus 2.3.3</a:t>
            </a:r>
            <a:endParaRPr lang="en-US" sz="1600" dirty="0"/>
          </a:p>
        </p:txBody>
      </p:sp>
      <p:sp>
        <p:nvSpPr>
          <p:cNvPr id="3" name="Text 1"/>
          <p:cNvSpPr/>
          <p:nvPr/>
        </p:nvSpPr>
        <p:spPr>
          <a:xfrm>
            <a:off x="11009376" y="203126"/>
            <a:ext cx="822960"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6 / 34</a:t>
            </a:r>
            <a:endParaRPr lang="en-US" sz="1600" dirty="0"/>
          </a:p>
        </p:txBody>
      </p:sp>
      <p:sp>
        <p:nvSpPr>
          <p:cNvPr id="4" name="Shape 2"/>
          <p:cNvSpPr/>
          <p:nvPr/>
        </p:nvSpPr>
        <p:spPr>
          <a:xfrm>
            <a:off x="406346" y="639961"/>
            <a:ext cx="11379308" cy="645102"/>
          </a:xfrm>
          <a:prstGeom prst="roundRect">
            <a:avLst>
              <a:gd name="adj" fmla="val 11812"/>
            </a:avLst>
          </a:prstGeom>
          <a:solidFill>
            <a:srgbClr val="2E7D32"/>
          </a:solidFill>
          <a:ln/>
        </p:spPr>
        <p:txBody>
          <a:bodyPr/>
          <a:lstStyle/>
          <a:p>
            <a:endParaRPr lang="fr-MA"/>
          </a:p>
        </p:txBody>
      </p:sp>
      <p:sp>
        <p:nvSpPr>
          <p:cNvPr id="5" name="Text 3"/>
          <p:cNvSpPr/>
          <p:nvPr/>
        </p:nvSpPr>
        <p:spPr>
          <a:xfrm>
            <a:off x="609474" y="766961"/>
            <a:ext cx="11302243"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BFBF8"/>
                </a:solidFill>
                <a:latin typeface="Source Sans 3" pitchFamily="34" charset="0"/>
                <a:ea typeface="Source Sans 3" pitchFamily="34" charset="-122"/>
                <a:cs typeface="Source Sans 3" pitchFamily="34" charset="-120"/>
              </a:rPr>
              <a:t>Notre sous-processus dans la cartographie CSCMP</a:t>
            </a:r>
            <a:endParaRPr lang="en-US" sz="2800" dirty="0"/>
          </a:p>
        </p:txBody>
      </p:sp>
      <p:pic>
        <p:nvPicPr>
          <p:cNvPr id="6" name="Picture 5" descr="carto_pptx.png"/>
          <p:cNvPicPr>
            <a:picLocks noChangeAspect="1"/>
          </p:cNvPicPr>
          <p:nvPr/>
        </p:nvPicPr>
        <p:blipFill>
          <a:blip r:embed="rId3"/>
          <a:stretch>
            <a:fillRect/>
          </a:stretch>
        </p:blipFill>
        <p:spPr>
          <a:xfrm>
            <a:off x="402336" y="1508760"/>
            <a:ext cx="6646579" cy="4709160"/>
          </a:xfrm>
          <a:prstGeom prst="rect">
            <a:avLst/>
          </a:prstGeom>
          <a:ln w="9525">
            <a:solidFill>
              <a:srgbClr val="D5DAE8"/>
            </a:solidFill>
          </a:ln>
        </p:spPr>
      </p:pic>
      <p:sp>
        <p:nvSpPr>
          <p:cNvPr id="7" name="Rectangle 6"/>
          <p:cNvSpPr/>
          <p:nvPr/>
        </p:nvSpPr>
        <p:spPr>
          <a:xfrm>
            <a:off x="402336" y="1508760"/>
            <a:ext cx="6646579" cy="408762"/>
          </a:xfrm>
          <a:prstGeom prst="rect">
            <a:avLst/>
          </a:prstGeom>
          <a:solidFill>
            <a:srgbClr val="12263A">
              <a:alpha val="48000"/>
            </a:srgbClr>
          </a:solidFill>
          <a:ln>
            <a:noFill/>
          </a:ln>
        </p:spPr>
        <p:txBody>
          <a:bodyPr rtlCol="0" anchor="ctr"/>
          <a:lstStyle/>
          <a:p>
            <a:pPr algn="ctr"/>
          </a:p>
        </p:txBody>
      </p:sp>
      <p:sp>
        <p:nvSpPr>
          <p:cNvPr id="8" name="Rectangle 7"/>
          <p:cNvSpPr/>
          <p:nvPr/>
        </p:nvSpPr>
        <p:spPr>
          <a:xfrm>
            <a:off x="402336" y="2365480"/>
            <a:ext cx="6646579" cy="3852440"/>
          </a:xfrm>
          <a:prstGeom prst="rect">
            <a:avLst/>
          </a:prstGeom>
          <a:solidFill>
            <a:srgbClr val="12263A">
              <a:alpha val="48000"/>
            </a:srgbClr>
          </a:solidFill>
          <a:ln>
            <a:noFill/>
          </a:ln>
        </p:spPr>
        <p:txBody>
          <a:bodyPr rtlCol="0" anchor="ctr"/>
          <a:lstStyle/>
          <a:p>
            <a:pPr algn="ctr"/>
          </a:p>
        </p:txBody>
      </p:sp>
      <p:sp>
        <p:nvSpPr>
          <p:cNvPr id="9" name="Rectangle 8"/>
          <p:cNvSpPr/>
          <p:nvPr/>
        </p:nvSpPr>
        <p:spPr>
          <a:xfrm>
            <a:off x="402336" y="1917522"/>
            <a:ext cx="391963" cy="447958"/>
          </a:xfrm>
          <a:prstGeom prst="rect">
            <a:avLst/>
          </a:prstGeom>
          <a:solidFill>
            <a:srgbClr val="12263A">
              <a:alpha val="48000"/>
            </a:srgbClr>
          </a:solidFill>
          <a:ln>
            <a:noFill/>
          </a:ln>
        </p:spPr>
        <p:txBody>
          <a:bodyPr rtlCol="0" anchor="ctr"/>
          <a:lstStyle/>
          <a:p>
            <a:pPr algn="ctr"/>
          </a:p>
        </p:txBody>
      </p:sp>
      <p:sp>
        <p:nvSpPr>
          <p:cNvPr id="10" name="Rectangle 9"/>
          <p:cNvSpPr/>
          <p:nvPr/>
        </p:nvSpPr>
        <p:spPr>
          <a:xfrm>
            <a:off x="1443839" y="1917522"/>
            <a:ext cx="2614956" cy="447958"/>
          </a:xfrm>
          <a:prstGeom prst="rect">
            <a:avLst/>
          </a:prstGeom>
          <a:solidFill>
            <a:srgbClr val="12263A">
              <a:alpha val="48000"/>
            </a:srgbClr>
          </a:solidFill>
          <a:ln>
            <a:noFill/>
          </a:ln>
        </p:spPr>
        <p:txBody>
          <a:bodyPr rtlCol="0" anchor="ctr"/>
          <a:lstStyle/>
          <a:p>
            <a:pPr algn="ctr"/>
          </a:p>
        </p:txBody>
      </p:sp>
      <p:sp>
        <p:nvSpPr>
          <p:cNvPr id="11" name="Rectangle 10"/>
          <p:cNvSpPr/>
          <p:nvPr/>
        </p:nvSpPr>
        <p:spPr>
          <a:xfrm>
            <a:off x="5346674" y="1917522"/>
            <a:ext cx="1702241" cy="447958"/>
          </a:xfrm>
          <a:prstGeom prst="rect">
            <a:avLst/>
          </a:prstGeom>
          <a:solidFill>
            <a:srgbClr val="12263A">
              <a:alpha val="48000"/>
            </a:srgbClr>
          </a:solidFill>
          <a:ln>
            <a:noFill/>
          </a:ln>
        </p:spPr>
        <p:txBody>
          <a:bodyPr rtlCol="0" anchor="ctr"/>
          <a:lstStyle/>
          <a:p>
            <a:pPr algn="ctr"/>
          </a:p>
        </p:txBody>
      </p:sp>
      <p:sp>
        <p:nvSpPr>
          <p:cNvPr id="12" name="Rectangle 11"/>
          <p:cNvSpPr/>
          <p:nvPr/>
        </p:nvSpPr>
        <p:spPr>
          <a:xfrm>
            <a:off x="4058794" y="2315085"/>
            <a:ext cx="1287880" cy="50395"/>
          </a:xfrm>
          <a:prstGeom prst="rect">
            <a:avLst/>
          </a:prstGeom>
          <a:solidFill>
            <a:srgbClr val="12263A">
              <a:alpha val="48000"/>
            </a:srgbClr>
          </a:solidFill>
          <a:ln>
            <a:noFill/>
          </a:ln>
        </p:spPr>
        <p:txBody>
          <a:bodyPr rtlCol="0" anchor="ctr"/>
          <a:lstStyle/>
          <a:p>
            <a:pPr algn="ctr"/>
          </a:p>
        </p:txBody>
      </p:sp>
      <p:sp>
        <p:nvSpPr>
          <p:cNvPr id="13" name="Rectangle 12"/>
          <p:cNvSpPr/>
          <p:nvPr/>
        </p:nvSpPr>
        <p:spPr>
          <a:xfrm>
            <a:off x="794299" y="1923121"/>
            <a:ext cx="649539" cy="442359"/>
          </a:xfrm>
          <a:prstGeom prst="rect">
            <a:avLst/>
          </a:prstGeom>
          <a:noFill/>
          <a:ln w="25400">
            <a:solidFill>
              <a:srgbClr val="2D7C31"/>
            </a:solidFill>
          </a:ln>
        </p:spPr>
        <p:txBody>
          <a:bodyPr rtlCol="0" anchor="ctr"/>
          <a:lstStyle/>
          <a:p>
            <a:pPr algn="ctr"/>
          </a:p>
        </p:txBody>
      </p:sp>
      <p:sp>
        <p:nvSpPr>
          <p:cNvPr id="14" name="Rectangle 13"/>
          <p:cNvSpPr/>
          <p:nvPr/>
        </p:nvSpPr>
        <p:spPr>
          <a:xfrm>
            <a:off x="4058794" y="1917522"/>
            <a:ext cx="1287880" cy="397563"/>
          </a:xfrm>
          <a:prstGeom prst="rect">
            <a:avLst/>
          </a:prstGeom>
          <a:noFill/>
          <a:ln w="25400">
            <a:solidFill>
              <a:srgbClr val="2D7C31"/>
            </a:solidFill>
          </a:ln>
        </p:spPr>
        <p:txBody>
          <a:bodyPr rtlCol="0" anchor="ctr"/>
          <a:lstStyle/>
          <a:p>
            <a:pPr algn="ctr"/>
          </a:p>
        </p:txBody>
      </p:sp>
      <p:sp>
        <p:nvSpPr>
          <p:cNvPr id="15" name="Rectangle 14"/>
          <p:cNvSpPr/>
          <p:nvPr/>
        </p:nvSpPr>
        <p:spPr>
          <a:xfrm>
            <a:off x="4097991" y="2208695"/>
            <a:ext cx="795126" cy="111990"/>
          </a:xfrm>
          <a:prstGeom prst="rect">
            <a:avLst/>
          </a:prstGeom>
          <a:solidFill>
            <a:srgbClr val="FFB300">
              <a:alpha val="45000"/>
            </a:srgbClr>
          </a:solidFill>
          <a:ln w="31750">
            <a:solidFill>
              <a:srgbClr val="FFB300"/>
            </a:solidFill>
          </a:ln>
        </p:spPr>
        <p:txBody>
          <a:bodyPr rtlCol="0" anchor="ctr"/>
          <a:lstStyle/>
          <a:p>
            <a:pPr algn="ctr"/>
          </a:p>
        </p:txBody>
      </p:sp>
      <p:sp>
        <p:nvSpPr>
          <p:cNvPr id="16" name="TextBox 15"/>
          <p:cNvSpPr txBox="1"/>
          <p:nvPr/>
        </p:nvSpPr>
        <p:spPr>
          <a:xfrm>
            <a:off x="7323235" y="1554480"/>
            <a:ext cx="4454237" cy="274320"/>
          </a:xfrm>
          <a:prstGeom prst="rect">
            <a:avLst/>
          </a:prstGeom>
          <a:noFill/>
        </p:spPr>
        <p:txBody>
          <a:bodyPr wrap="square" lIns="0" tIns="0" rIns="0" bIns="0" anchor="t">
            <a:noAutofit/>
          </a:bodyPr>
          <a:lstStyle/>
          <a:p>
            <a:pPr algn="l">
              <a:lnSpc>
                <a:spcPct val="115000"/>
              </a:lnSpc>
              <a:spcBef>
                <a:spcPts val="0"/>
              </a:spcBef>
              <a:spcAft>
                <a:spcPts val="0"/>
              </a:spcAft>
            </a:pPr>
            <a:r>
              <a:rPr sz="1400" b="1" i="0">
                <a:solidFill>
                  <a:srgbClr val="2E7D32"/>
                </a:solidFill>
                <a:latin typeface="Source Sans 3"/>
              </a:rPr>
              <a:t>NOTRE SOUS-PROCESSUS</a:t>
            </a:r>
          </a:p>
        </p:txBody>
      </p:sp>
      <p:sp>
        <p:nvSpPr>
          <p:cNvPr id="17" name="Rounded Rectangle 16"/>
          <p:cNvSpPr/>
          <p:nvPr/>
        </p:nvSpPr>
        <p:spPr>
          <a:xfrm>
            <a:off x="7323235" y="1920240"/>
            <a:ext cx="4454237" cy="914400"/>
          </a:xfrm>
          <a:prstGeom prst="roundRect">
            <a:avLst>
              <a:gd name="adj" fmla="val 8000"/>
            </a:avLst>
          </a:prstGeom>
          <a:solidFill>
            <a:srgbClr val="2D7C31"/>
          </a:solidFill>
          <a:ln>
            <a:noFill/>
          </a:ln>
        </p:spPr>
        <p:txBody>
          <a:bodyPr rtlCol="0" anchor="ctr"/>
          <a:lstStyle/>
          <a:p>
            <a:pPr algn="ctr"/>
          </a:p>
        </p:txBody>
      </p:sp>
      <p:sp>
        <p:nvSpPr>
          <p:cNvPr id="18" name="TextBox 17"/>
          <p:cNvSpPr txBox="1"/>
          <p:nvPr/>
        </p:nvSpPr>
        <p:spPr>
          <a:xfrm>
            <a:off x="7506115" y="2029968"/>
            <a:ext cx="4088477"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FFFFFF"/>
                </a:solidFill>
                <a:latin typeface="Source Sans 3"/>
              </a:rPr>
              <a:t>Métier 2</a:t>
            </a:r>
          </a:p>
        </p:txBody>
      </p:sp>
      <p:sp>
        <p:nvSpPr>
          <p:cNvPr id="19" name="TextBox 18"/>
          <p:cNvSpPr txBox="1"/>
          <p:nvPr/>
        </p:nvSpPr>
        <p:spPr>
          <a:xfrm>
            <a:off x="7506115" y="2331720"/>
            <a:ext cx="4088477" cy="457200"/>
          </a:xfrm>
          <a:prstGeom prst="rect">
            <a:avLst/>
          </a:prstGeom>
          <a:noFill/>
        </p:spPr>
        <p:txBody>
          <a:bodyPr wrap="square" lIns="0" tIns="0" rIns="0" bIns="0" anchor="t">
            <a:noAutofit/>
          </a:bodyPr>
          <a:lstStyle/>
          <a:p>
            <a:pPr algn="l">
              <a:lnSpc>
                <a:spcPct val="100000"/>
              </a:lnSpc>
              <a:spcBef>
                <a:spcPts val="0"/>
              </a:spcBef>
              <a:spcAft>
                <a:spcPts val="0"/>
              </a:spcAft>
            </a:pPr>
            <a:r>
              <a:rPr sz="1650" b="1" i="0">
                <a:solidFill>
                  <a:srgbClr val="FFFFFF"/>
                </a:solidFill>
                <a:latin typeface="Source Sans 3"/>
              </a:rPr>
              <a:t>Prévision et planification</a:t>
            </a:r>
          </a:p>
        </p:txBody>
      </p:sp>
      <p:cxnSp>
        <p:nvCxnSpPr>
          <p:cNvPr id="20" name="Connector 19"/>
          <p:cNvCxnSpPr/>
          <p:nvPr/>
        </p:nvCxnSpPr>
        <p:spPr>
          <a:xfrm>
            <a:off x="9550353" y="2852928"/>
            <a:ext cx="0" cy="182880"/>
          </a:xfrm>
          <a:prstGeom prst="line">
            <a:avLst/>
          </a:prstGeom>
          <a:ln w="25400">
            <a:solidFill>
              <a:srgbClr val="12263A"/>
            </a:solidFill>
            <a:tailEnd type="triangle" w="med" len="med"/>
          </a:ln>
        </p:spPr>
      </p:cxnSp>
      <p:sp>
        <p:nvSpPr>
          <p:cNvPr id="21" name="Rounded Rectangle 20"/>
          <p:cNvSpPr/>
          <p:nvPr/>
        </p:nvSpPr>
        <p:spPr>
          <a:xfrm>
            <a:off x="7323235" y="3063240"/>
            <a:ext cx="4454237" cy="914400"/>
          </a:xfrm>
          <a:prstGeom prst="roundRect">
            <a:avLst>
              <a:gd name="adj" fmla="val 8000"/>
            </a:avLst>
          </a:prstGeom>
          <a:solidFill>
            <a:srgbClr val="6BA86F"/>
          </a:solidFill>
          <a:ln>
            <a:noFill/>
          </a:ln>
        </p:spPr>
        <p:txBody>
          <a:bodyPr rtlCol="0" anchor="ctr"/>
          <a:lstStyle/>
          <a:p>
            <a:pPr algn="ctr"/>
          </a:p>
        </p:txBody>
      </p:sp>
      <p:sp>
        <p:nvSpPr>
          <p:cNvPr id="22" name="TextBox 21"/>
          <p:cNvSpPr txBox="1"/>
          <p:nvPr/>
        </p:nvSpPr>
        <p:spPr>
          <a:xfrm>
            <a:off x="7506115" y="3172968"/>
            <a:ext cx="4088477"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2263A"/>
                </a:solidFill>
                <a:latin typeface="Source Sans 3"/>
              </a:rPr>
              <a:t>Sous-métier 2.3</a:t>
            </a:r>
          </a:p>
        </p:txBody>
      </p:sp>
      <p:sp>
        <p:nvSpPr>
          <p:cNvPr id="23" name="TextBox 22"/>
          <p:cNvSpPr txBox="1"/>
          <p:nvPr/>
        </p:nvSpPr>
        <p:spPr>
          <a:xfrm>
            <a:off x="7506115" y="3474720"/>
            <a:ext cx="4088477" cy="457200"/>
          </a:xfrm>
          <a:prstGeom prst="rect">
            <a:avLst/>
          </a:prstGeom>
          <a:noFill/>
        </p:spPr>
        <p:txBody>
          <a:bodyPr wrap="square" lIns="0" tIns="0" rIns="0" bIns="0" anchor="t">
            <a:noAutofit/>
          </a:bodyPr>
          <a:lstStyle/>
          <a:p>
            <a:pPr algn="l">
              <a:lnSpc>
                <a:spcPct val="100000"/>
              </a:lnSpc>
              <a:spcBef>
                <a:spcPts val="0"/>
              </a:spcBef>
              <a:spcAft>
                <a:spcPts val="0"/>
              </a:spcAft>
            </a:pPr>
            <a:r>
              <a:rPr sz="1650" b="1" i="0">
                <a:solidFill>
                  <a:srgbClr val="12263A"/>
                </a:solidFill>
                <a:latin typeface="Source Sans 3"/>
              </a:rPr>
              <a:t>Planification des capacités</a:t>
            </a:r>
          </a:p>
        </p:txBody>
      </p:sp>
      <p:cxnSp>
        <p:nvCxnSpPr>
          <p:cNvPr id="24" name="Connector 23"/>
          <p:cNvCxnSpPr/>
          <p:nvPr/>
        </p:nvCxnSpPr>
        <p:spPr>
          <a:xfrm>
            <a:off x="9550353" y="3995928"/>
            <a:ext cx="0" cy="182880"/>
          </a:xfrm>
          <a:prstGeom prst="line">
            <a:avLst/>
          </a:prstGeom>
          <a:ln w="25400">
            <a:solidFill>
              <a:srgbClr val="12263A"/>
            </a:solidFill>
            <a:tailEnd type="triangle" w="med" len="med"/>
          </a:ln>
        </p:spPr>
      </p:cxnSp>
      <p:sp>
        <p:nvSpPr>
          <p:cNvPr id="25" name="Rounded Rectangle 24"/>
          <p:cNvSpPr/>
          <p:nvPr/>
        </p:nvSpPr>
        <p:spPr>
          <a:xfrm>
            <a:off x="7323235" y="4206240"/>
            <a:ext cx="4454237" cy="914400"/>
          </a:xfrm>
          <a:prstGeom prst="roundRect">
            <a:avLst>
              <a:gd name="adj" fmla="val 8000"/>
            </a:avLst>
          </a:prstGeom>
          <a:solidFill>
            <a:srgbClr val="FFB300"/>
          </a:solidFill>
          <a:ln>
            <a:noFill/>
          </a:ln>
        </p:spPr>
        <p:txBody>
          <a:bodyPr rtlCol="0" anchor="ctr"/>
          <a:lstStyle/>
          <a:p>
            <a:pPr algn="ctr"/>
          </a:p>
        </p:txBody>
      </p:sp>
      <p:sp>
        <p:nvSpPr>
          <p:cNvPr id="26" name="TextBox 25"/>
          <p:cNvSpPr txBox="1"/>
          <p:nvPr/>
        </p:nvSpPr>
        <p:spPr>
          <a:xfrm>
            <a:off x="7506115" y="4315968"/>
            <a:ext cx="4088477"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2263A"/>
                </a:solidFill>
                <a:latin typeface="Source Sans 3"/>
              </a:rPr>
              <a:t>Sous-processus 2.3.3</a:t>
            </a:r>
          </a:p>
        </p:txBody>
      </p:sp>
      <p:sp>
        <p:nvSpPr>
          <p:cNvPr id="27" name="TextBox 26"/>
          <p:cNvSpPr txBox="1"/>
          <p:nvPr/>
        </p:nvSpPr>
        <p:spPr>
          <a:xfrm>
            <a:off x="7506115" y="4617720"/>
            <a:ext cx="4088477" cy="457200"/>
          </a:xfrm>
          <a:prstGeom prst="rect">
            <a:avLst/>
          </a:prstGeom>
          <a:noFill/>
        </p:spPr>
        <p:txBody>
          <a:bodyPr wrap="square" lIns="0" tIns="0" rIns="0" bIns="0" anchor="t">
            <a:noAutofit/>
          </a:bodyPr>
          <a:lstStyle/>
          <a:p>
            <a:pPr algn="l">
              <a:lnSpc>
                <a:spcPct val="100000"/>
              </a:lnSpc>
              <a:spcBef>
                <a:spcPts val="0"/>
              </a:spcBef>
              <a:spcAft>
                <a:spcPts val="0"/>
              </a:spcAft>
            </a:pPr>
            <a:r>
              <a:rPr sz="1650" b="1" i="0">
                <a:solidFill>
                  <a:srgbClr val="12263A"/>
                </a:solidFill>
                <a:latin typeface="Source Sans 3"/>
              </a:rPr>
              <a:t>Ressources humaines et équipements</a:t>
            </a:r>
          </a:p>
        </p:txBody>
      </p:sp>
      <p:sp>
        <p:nvSpPr>
          <p:cNvPr id="28" name="TextBox 27"/>
          <p:cNvSpPr txBox="1"/>
          <p:nvPr/>
        </p:nvSpPr>
        <p:spPr>
          <a:xfrm>
            <a:off x="7323235" y="5440680"/>
            <a:ext cx="4454237" cy="1097280"/>
          </a:xfrm>
          <a:prstGeom prst="rect">
            <a:avLst/>
          </a:prstGeom>
          <a:noFill/>
        </p:spPr>
        <p:txBody>
          <a:bodyPr wrap="square" lIns="0" tIns="0" rIns="0" bIns="0" anchor="t">
            <a:noAutofit/>
          </a:bodyPr>
          <a:lstStyle/>
          <a:p>
            <a:pPr algn="l">
              <a:lnSpc>
                <a:spcPct val="112000"/>
              </a:lnSpc>
              <a:spcBef>
                <a:spcPts val="0"/>
              </a:spcBef>
              <a:spcAft>
                <a:spcPts val="0"/>
              </a:spcAft>
            </a:pPr>
            <a:r>
              <a:rPr sz="1500" b="0" i="0">
                <a:solidFill>
                  <a:srgbClr val="2B3A48"/>
                </a:solidFill>
                <a:latin typeface="Source Sans 3"/>
              </a:rPr>
              <a:t>Il transforme la prévision de volume en heures de main-d’œuvre, en effectif et en équipements, par zone et par jour.</a:t>
            </a:r>
          </a:p>
        </p:txBody>
      </p:sp>
      <p:cxnSp>
        <p:nvCxnSpPr>
          <p:cNvPr id="29" name="Connector 28"/>
          <p:cNvCxnSpPr/>
          <p:nvPr/>
        </p:nvCxnSpPr>
        <p:spPr>
          <a:xfrm flipH="1" flipV="1">
            <a:off x="4920548" y="2264689"/>
            <a:ext cx="2375255" cy="2398751"/>
          </a:xfrm>
          <a:prstGeom prst="line">
            <a:avLst/>
          </a:prstGeom>
          <a:ln w="28575">
            <a:solidFill>
              <a:srgbClr val="FFB300"/>
            </a:solidFill>
            <a:tailEnd type="triangle" w="med" len="med"/>
          </a:ln>
        </p:spPr>
      </p:cxnSp>
      <p:sp>
        <p:nvSpPr>
          <p:cNvPr id="30" name="TextBox 29"/>
          <p:cNvSpPr txBox="1"/>
          <p:nvPr/>
        </p:nvSpPr>
        <p:spPr>
          <a:xfrm>
            <a:off x="402336" y="6437376"/>
            <a:ext cx="11338560" cy="237744"/>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5F6B77"/>
                </a:solidFill>
                <a:latin typeface="Source Sans 3"/>
              </a:rPr>
              <a:t>Source : cartographie des processus logistiques, approche CSCMP (rapport de l’équipe 15).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406346" y="203127"/>
            <a:ext cx="2741740" cy="309887"/>
          </a:xfrm>
          <a:prstGeom prst="rect">
            <a:avLst/>
          </a:prstGeom>
          <a:noFill/>
          <a:ln/>
        </p:spPr>
        <p:txBody>
          <a:bodyPr wrap="square" lIns="0" tIns="0" rIns="0" bIns="0" rtlCol="0" anchor="t">
            <a:normAutofit lnSpcReduction="10000"/>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Application › Cas d’utilisation</a:t>
            </a:r>
            <a:endParaRPr lang="en-US" sz="1600" dirty="0"/>
          </a:p>
        </p:txBody>
      </p:sp>
      <p:sp>
        <p:nvSpPr>
          <p:cNvPr id="3" name="Text 1"/>
          <p:cNvSpPr/>
          <p:nvPr/>
        </p:nvSpPr>
        <p:spPr>
          <a:xfrm>
            <a:off x="11009376" y="203127"/>
            <a:ext cx="822960" cy="30988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F6B77"/>
                </a:solidFill>
                <a:latin typeface="Source Sans 3" pitchFamily="34" charset="0"/>
                <a:ea typeface="Source Sans 3" pitchFamily="34" charset="-122"/>
                <a:cs typeface="Source Sans 3" pitchFamily="34" charset="-120"/>
              </a:rPr>
              <a:t>11 / 34</a:t>
            </a:r>
            <a:endParaRPr lang="en-US" sz="1600" dirty="0"/>
          </a:p>
        </p:txBody>
      </p:sp>
      <p:sp>
        <p:nvSpPr>
          <p:cNvPr id="4" name="Shape 2"/>
          <p:cNvSpPr/>
          <p:nvPr/>
        </p:nvSpPr>
        <p:spPr>
          <a:xfrm>
            <a:off x="406346" y="614615"/>
            <a:ext cx="11379308" cy="645102"/>
          </a:xfrm>
          <a:prstGeom prst="roundRect">
            <a:avLst>
              <a:gd name="adj" fmla="val 11812"/>
            </a:avLst>
          </a:prstGeom>
          <a:solidFill>
            <a:srgbClr val="12263A"/>
          </a:solidFill>
          <a:ln/>
        </p:spPr>
        <p:txBody>
          <a:bodyPr/>
          <a:lstStyle/>
          <a:p>
            <a:endParaRPr lang="fr-MA"/>
          </a:p>
        </p:txBody>
      </p:sp>
      <p:sp>
        <p:nvSpPr>
          <p:cNvPr id="5" name="Text 3"/>
          <p:cNvSpPr/>
          <p:nvPr/>
        </p:nvSpPr>
        <p:spPr>
          <a:xfrm>
            <a:off x="609474" y="741615"/>
            <a:ext cx="11302243" cy="416502"/>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6F7F5"/>
                </a:solidFill>
                <a:latin typeface="Source Sans 3" pitchFamily="34" charset="0"/>
                <a:ea typeface="Source Sans 3" pitchFamily="34" charset="-122"/>
                <a:cs typeface="Source Sans 3" pitchFamily="34" charset="-120"/>
              </a:rPr>
              <a:t>Les cas d’utilisation de l’application</a:t>
            </a:r>
            <a:endParaRPr lang="en-US" sz="2800" dirty="0"/>
          </a:p>
        </p:txBody>
      </p:sp>
      <p:pic>
        <p:nvPicPr>
          <p:cNvPr id="6" name="Picture 5" descr="uc-000.png"/>
          <p:cNvPicPr>
            <a:picLocks noChangeAspect="1"/>
          </p:cNvPicPr>
          <p:nvPr/>
        </p:nvPicPr>
        <p:blipFill>
          <a:blip r:embed="rId3"/>
          <a:stretch>
            <a:fillRect/>
          </a:stretch>
        </p:blipFill>
        <p:spPr>
          <a:xfrm>
            <a:off x="402336" y="1481328"/>
            <a:ext cx="7944255" cy="4572000"/>
          </a:xfrm>
          <a:prstGeom prst="rect">
            <a:avLst/>
          </a:prstGeom>
          <a:ln w="9525">
            <a:solidFill>
              <a:srgbClr val="D5DAE8"/>
            </a:solidFill>
          </a:ln>
        </p:spPr>
      </p:pic>
      <p:sp>
        <p:nvSpPr>
          <p:cNvPr id="7" name="Rounded Rectangle 6"/>
          <p:cNvSpPr/>
          <p:nvPr/>
        </p:nvSpPr>
        <p:spPr>
          <a:xfrm>
            <a:off x="8547759" y="1481328"/>
            <a:ext cx="3229713" cy="4572000"/>
          </a:xfrm>
          <a:prstGeom prst="roundRect">
            <a:avLst>
              <a:gd name="adj" fmla="val 1981"/>
            </a:avLst>
          </a:prstGeom>
          <a:solidFill>
            <a:srgbClr val="FFFFFF"/>
          </a:solidFill>
          <a:ln>
            <a:noFill/>
          </a:ln>
          <a:effectLst>
            <a:outerShdw blurRad="25400" dist="6350" dir="5400000" algn="bl" rotWithShape="0">
              <a:srgbClr val="12263A">
                <a:alpha val="12000"/>
              </a:srgbClr>
            </a:outerShdw>
          </a:effectLst>
        </p:spPr>
        <p:txBody>
          <a:bodyPr rtlCol="0" anchor="ctr"/>
          <a:lstStyle/>
          <a:p>
            <a:pPr algn="ctr"/>
          </a:p>
        </p:txBody>
      </p:sp>
      <p:sp>
        <p:nvSpPr>
          <p:cNvPr id="8" name="Rectangle 7"/>
          <p:cNvSpPr/>
          <p:nvPr/>
        </p:nvSpPr>
        <p:spPr>
          <a:xfrm>
            <a:off x="8547759" y="1481328"/>
            <a:ext cx="3229713" cy="4572000"/>
          </a:xfrm>
          <a:custGeom>
            <a:rect b="b" l="l" r="r" t="t"/>
            <a:pathLst>
              <a:path extrusionOk="0" h="4572000" w="3229713">
                <a:moveTo>
                  <a:pt x="0" y="76200"/>
                </a:moveTo>
                <a:cubicBezTo>
                  <a:pt x="0" y="34114"/>
                  <a:pt x="34114" y="0"/>
                  <a:pt x="76200" y="0"/>
                </a:cubicBezTo>
                <a:lnTo>
                  <a:pt x="3153513" y="0"/>
                </a:lnTo>
                <a:cubicBezTo>
                  <a:pt x="3195598" y="0"/>
                  <a:pt x="3229713" y="34114"/>
                  <a:pt x="3229713" y="76200"/>
                </a:cubicBezTo>
                <a:cubicBezTo>
                  <a:pt x="3229713" y="51655"/>
                  <a:pt x="3195599" y="50800"/>
                  <a:pt x="3153513" y="50800"/>
                </a:cubicBezTo>
                <a:lnTo>
                  <a:pt x="76200" y="50800"/>
                </a:lnTo>
                <a:cubicBezTo>
                  <a:pt x="34114" y="50800"/>
                  <a:pt x="0" y="51655"/>
                  <a:pt x="0" y="76200"/>
                </a:cubicBezTo>
                <a:close/>
              </a:path>
            </a:pathLst>
          </a:custGeom>
          <a:solidFill>
            <a:srgbClr val="2E7D32"/>
          </a:solidFill>
          <a:ln>
            <a:noFill/>
          </a:ln>
        </p:spPr>
        <p:txBody>
          <a:bodyPr rtlCol="0" anchor="ctr"/>
          <a:lstStyle/>
          <a:p>
            <a:pPr algn="ctr"/>
          </a:p>
        </p:txBody>
      </p:sp>
      <p:sp>
        <p:nvSpPr>
          <p:cNvPr id="9" name="TextBox 8"/>
          <p:cNvSpPr txBox="1"/>
          <p:nvPr/>
        </p:nvSpPr>
        <p:spPr>
          <a:xfrm>
            <a:off x="8730639" y="1664208"/>
            <a:ext cx="2863953" cy="256032"/>
          </a:xfrm>
          <a:prstGeom prst="rect">
            <a:avLst/>
          </a:prstGeom>
          <a:noFill/>
        </p:spPr>
        <p:txBody>
          <a:bodyPr wrap="square" lIns="0" tIns="0" rIns="0" bIns="0" anchor="t">
            <a:noAutofit/>
          </a:bodyPr>
          <a:lstStyle/>
          <a:p>
            <a:pPr algn="l">
              <a:lnSpc>
                <a:spcPct val="115000"/>
              </a:lnSpc>
              <a:spcBef>
                <a:spcPts val="0"/>
              </a:spcBef>
              <a:spcAft>
                <a:spcPts val="0"/>
              </a:spcAft>
            </a:pPr>
            <a:r>
              <a:rPr sz="1300" b="1" i="0">
                <a:solidFill>
                  <a:srgbClr val="2E7D32"/>
                </a:solidFill>
                <a:latin typeface="Source Sans 3"/>
              </a:rPr>
              <a:t>6 ACTEURS</a:t>
            </a:r>
          </a:p>
        </p:txBody>
      </p:sp>
      <p:sp>
        <p:nvSpPr>
          <p:cNvPr id="10" name="TextBox 9"/>
          <p:cNvSpPr txBox="1"/>
          <p:nvPr/>
        </p:nvSpPr>
        <p:spPr>
          <a:xfrm>
            <a:off x="8730639" y="1975104"/>
            <a:ext cx="2863953" cy="1097280"/>
          </a:xfrm>
          <a:prstGeom prst="rect">
            <a:avLst/>
          </a:prstGeom>
          <a:noFill/>
        </p:spPr>
        <p:txBody>
          <a:bodyPr wrap="square" lIns="0" tIns="0" rIns="0" bIns="0" anchor="t">
            <a:noAutofit/>
          </a:bodyPr>
          <a:lstStyle/>
          <a:p>
            <a:pPr algn="l">
              <a:lnSpc>
                <a:spcPct val="108000"/>
              </a:lnSpc>
              <a:spcBef>
                <a:spcPts val="0"/>
              </a:spcBef>
              <a:spcAft>
                <a:spcPts val="400"/>
              </a:spcAft>
            </a:pPr>
            <a:r>
              <a:rPr sz="1300" b="1" i="0">
                <a:solidFill>
                  <a:srgbClr val="12263A"/>
                </a:solidFill>
                <a:latin typeface="Source Sans 3"/>
              </a:rPr>
              <a:t>4 humains : </a:t>
            </a:r>
            <a:r>
              <a:rPr sz="1300" b="0" i="0">
                <a:solidFill>
                  <a:srgbClr val="2B3A48"/>
                </a:solidFill>
                <a:latin typeface="Source Sans 3"/>
              </a:rPr>
              <a:t>planificateur, responsable d’exploitation, direction, administrateur</a:t>
            </a:r>
          </a:p>
          <a:p>
            <a:pPr algn="l">
              <a:lnSpc>
                <a:spcPct val="108000"/>
              </a:lnSpc>
              <a:spcBef>
                <a:spcPts val="0"/>
              </a:spcBef>
              <a:spcAft>
                <a:spcPts val="400"/>
              </a:spcAft>
            </a:pPr>
            <a:r>
              <a:rPr sz="1300" b="1" i="0">
                <a:solidFill>
                  <a:srgbClr val="12263A"/>
                </a:solidFill>
                <a:latin typeface="Source Sans 3"/>
              </a:rPr>
              <a:t>2 systèmes : </a:t>
            </a:r>
            <a:r>
              <a:rPr sz="1300" b="0" i="0">
                <a:solidFill>
                  <a:srgbClr val="2B3A48"/>
                </a:solidFill>
                <a:latin typeface="Source Sans 3"/>
              </a:rPr>
              <a:t>système source (WMS / SIRH), planificateur de tâches</a:t>
            </a:r>
          </a:p>
        </p:txBody>
      </p:sp>
      <p:sp>
        <p:nvSpPr>
          <p:cNvPr id="11" name="TextBox 10"/>
          <p:cNvSpPr txBox="1"/>
          <p:nvPr/>
        </p:nvSpPr>
        <p:spPr>
          <a:xfrm>
            <a:off x="8730639" y="3346704"/>
            <a:ext cx="2863953" cy="256032"/>
          </a:xfrm>
          <a:prstGeom prst="rect">
            <a:avLst/>
          </a:prstGeom>
          <a:noFill/>
        </p:spPr>
        <p:txBody>
          <a:bodyPr wrap="square" lIns="0" tIns="0" rIns="0" bIns="0" anchor="t">
            <a:noAutofit/>
          </a:bodyPr>
          <a:lstStyle/>
          <a:p>
            <a:pPr algn="l">
              <a:lnSpc>
                <a:spcPct val="115000"/>
              </a:lnSpc>
              <a:spcBef>
                <a:spcPts val="0"/>
              </a:spcBef>
              <a:spcAft>
                <a:spcPts val="0"/>
              </a:spcAft>
            </a:pPr>
            <a:r>
              <a:rPr sz="1300" b="1" i="0">
                <a:solidFill>
                  <a:srgbClr val="2E7D32"/>
                </a:solidFill>
                <a:latin typeface="Source Sans 3"/>
              </a:rPr>
              <a:t>7 PAQUETS</a:t>
            </a:r>
          </a:p>
        </p:txBody>
      </p:sp>
      <p:sp>
        <p:nvSpPr>
          <p:cNvPr id="12" name="TextBox 11"/>
          <p:cNvSpPr txBox="1"/>
          <p:nvPr/>
        </p:nvSpPr>
        <p:spPr>
          <a:xfrm>
            <a:off x="8730639" y="3639312"/>
            <a:ext cx="2863953" cy="1554480"/>
          </a:xfrm>
          <a:prstGeom prst="rect">
            <a:avLst/>
          </a:prstGeom>
          <a:noFill/>
        </p:spPr>
        <p:txBody>
          <a:bodyPr wrap="square" lIns="0" tIns="0" rIns="0" bIns="0" anchor="t">
            <a:noAutofit/>
          </a:bodyPr>
          <a:lstStyle/>
          <a:p>
            <a:pPr algn="l">
              <a:lnSpc>
                <a:spcPct val="102000"/>
              </a:lnSpc>
              <a:spcBef>
                <a:spcPts val="0"/>
              </a:spcBef>
              <a:spcAft>
                <a:spcPts val="100"/>
              </a:spcAft>
            </a:pPr>
            <a:r>
              <a:rPr sz="1250" b="0" i="0">
                <a:solidFill>
                  <a:srgbClr val="2B3A48"/>
                </a:solidFill>
                <a:latin typeface="Source Sans 3"/>
              </a:rPr>
              <a:t>Accès et administration</a:t>
            </a:r>
          </a:p>
          <a:p>
            <a:pPr algn="l">
              <a:lnSpc>
                <a:spcPct val="102000"/>
              </a:lnSpc>
              <a:spcBef>
                <a:spcPts val="0"/>
              </a:spcBef>
              <a:spcAft>
                <a:spcPts val="100"/>
              </a:spcAft>
            </a:pPr>
            <a:r>
              <a:rPr sz="1250" b="0" i="0">
                <a:solidFill>
                  <a:srgbClr val="2B3A48"/>
                </a:solidFill>
                <a:latin typeface="Source Sans 3"/>
              </a:rPr>
              <a:t>Données</a:t>
            </a:r>
          </a:p>
          <a:p>
            <a:pPr algn="l">
              <a:lnSpc>
                <a:spcPct val="102000"/>
              </a:lnSpc>
              <a:spcBef>
                <a:spcPts val="0"/>
              </a:spcBef>
              <a:spcAft>
                <a:spcPts val="100"/>
              </a:spcAft>
            </a:pPr>
            <a:r>
              <a:rPr sz="1250" b="0" i="0">
                <a:solidFill>
                  <a:srgbClr val="2B3A48"/>
                </a:solidFill>
                <a:latin typeface="Source Sans 3"/>
              </a:rPr>
              <a:t>Modèles de prévision</a:t>
            </a:r>
          </a:p>
          <a:p>
            <a:pPr algn="l">
              <a:lnSpc>
                <a:spcPct val="102000"/>
              </a:lnSpc>
              <a:spcBef>
                <a:spcPts val="0"/>
              </a:spcBef>
              <a:spcAft>
                <a:spcPts val="100"/>
              </a:spcAft>
            </a:pPr>
            <a:r>
              <a:rPr sz="1250" b="0" i="0">
                <a:solidFill>
                  <a:srgbClr val="2B3A48"/>
                </a:solidFill>
                <a:latin typeface="Source Sans 3"/>
              </a:rPr>
              <a:t>Prévision et planification</a:t>
            </a:r>
          </a:p>
          <a:p>
            <a:pPr algn="l">
              <a:lnSpc>
                <a:spcPct val="102000"/>
              </a:lnSpc>
              <a:spcBef>
                <a:spcPts val="0"/>
              </a:spcBef>
              <a:spcAft>
                <a:spcPts val="100"/>
              </a:spcAft>
            </a:pPr>
            <a:r>
              <a:rPr sz="1250" b="0" i="0">
                <a:solidFill>
                  <a:srgbClr val="2B3A48"/>
                </a:solidFill>
                <a:latin typeface="Source Sans 3"/>
              </a:rPr>
              <a:t>Cibles, KPI et alertes</a:t>
            </a:r>
          </a:p>
          <a:p>
            <a:pPr algn="l">
              <a:lnSpc>
                <a:spcPct val="102000"/>
              </a:lnSpc>
              <a:spcBef>
                <a:spcPts val="0"/>
              </a:spcBef>
              <a:spcAft>
                <a:spcPts val="100"/>
              </a:spcAft>
            </a:pPr>
            <a:r>
              <a:rPr sz="1250" b="0" i="0">
                <a:solidFill>
                  <a:srgbClr val="2B3A48"/>
                </a:solidFill>
                <a:latin typeface="Source Sans 3"/>
              </a:rPr>
              <a:t>Comparaison réel / prévu</a:t>
            </a:r>
          </a:p>
          <a:p>
            <a:pPr algn="l">
              <a:lnSpc>
                <a:spcPct val="102000"/>
              </a:lnSpc>
              <a:spcBef>
                <a:spcPts val="0"/>
              </a:spcBef>
              <a:spcAft>
                <a:spcPts val="100"/>
              </a:spcAft>
            </a:pPr>
            <a:r>
              <a:rPr sz="1250" b="0" i="0">
                <a:solidFill>
                  <a:srgbClr val="2B3A48"/>
                </a:solidFill>
                <a:latin typeface="Source Sans 3"/>
              </a:rPr>
              <a:t>Tableaux de bord et rapports</a:t>
            </a:r>
          </a:p>
        </p:txBody>
      </p:sp>
      <p:sp>
        <p:nvSpPr>
          <p:cNvPr id="13" name="TextBox 12"/>
          <p:cNvSpPr txBox="1"/>
          <p:nvPr/>
        </p:nvSpPr>
        <p:spPr>
          <a:xfrm>
            <a:off x="8730639" y="5212080"/>
            <a:ext cx="2863953" cy="256032"/>
          </a:xfrm>
          <a:prstGeom prst="rect">
            <a:avLst/>
          </a:prstGeom>
          <a:noFill/>
        </p:spPr>
        <p:txBody>
          <a:bodyPr wrap="square" lIns="0" tIns="0" rIns="0" bIns="0" anchor="t">
            <a:noAutofit/>
          </a:bodyPr>
          <a:lstStyle/>
          <a:p>
            <a:pPr algn="l">
              <a:lnSpc>
                <a:spcPct val="115000"/>
              </a:lnSpc>
              <a:spcBef>
                <a:spcPts val="0"/>
              </a:spcBef>
              <a:spcAft>
                <a:spcPts val="0"/>
              </a:spcAft>
            </a:pPr>
            <a:r>
              <a:rPr sz="1300" b="1" i="0">
                <a:solidFill>
                  <a:srgbClr val="2E7D32"/>
                </a:solidFill>
                <a:latin typeface="Source Sans 3"/>
              </a:rPr>
              <a:t>RELATIONS</a:t>
            </a:r>
          </a:p>
        </p:txBody>
      </p:sp>
      <p:sp>
        <p:nvSpPr>
          <p:cNvPr id="14" name="TextBox 13"/>
          <p:cNvSpPr txBox="1"/>
          <p:nvPr/>
        </p:nvSpPr>
        <p:spPr>
          <a:xfrm>
            <a:off x="8730639" y="5486400"/>
            <a:ext cx="2863953" cy="548640"/>
          </a:xfrm>
          <a:prstGeom prst="rect">
            <a:avLst/>
          </a:prstGeom>
          <a:noFill/>
        </p:spPr>
        <p:txBody>
          <a:bodyPr wrap="square" lIns="0" tIns="0" rIns="0" bIns="0" anchor="t">
            <a:noAutofit/>
          </a:bodyPr>
          <a:lstStyle/>
          <a:p>
            <a:pPr algn="l">
              <a:lnSpc>
                <a:spcPct val="102000"/>
              </a:lnSpc>
              <a:spcBef>
                <a:spcPts val="0"/>
              </a:spcBef>
              <a:spcAft>
                <a:spcPts val="200"/>
              </a:spcAft>
            </a:pPr>
            <a:r>
              <a:rPr sz="1250" b="1" i="0">
                <a:solidFill>
                  <a:srgbClr val="12263A"/>
                </a:solidFill>
                <a:latin typeface="Source Sans 3"/>
              </a:rPr>
              <a:t>« include » </a:t>
            </a:r>
            <a:r>
              <a:rPr sz="1250" b="0" i="0">
                <a:solidFill>
                  <a:srgbClr val="2B3A48"/>
                </a:solidFill>
                <a:latin typeface="Source Sans 3"/>
              </a:rPr>
              <a:t>étape toujours exécutée</a:t>
            </a:r>
          </a:p>
          <a:p>
            <a:pPr algn="l">
              <a:lnSpc>
                <a:spcPct val="102000"/>
              </a:lnSpc>
              <a:spcBef>
                <a:spcPts val="0"/>
              </a:spcBef>
              <a:spcAft>
                <a:spcPts val="200"/>
              </a:spcAft>
            </a:pPr>
            <a:r>
              <a:rPr sz="1250" b="1" i="0">
                <a:solidFill>
                  <a:srgbClr val="12263A"/>
                </a:solidFill>
                <a:latin typeface="Source Sans 3"/>
              </a:rPr>
              <a:t>« extend » </a:t>
            </a:r>
            <a:r>
              <a:rPr sz="1250" b="0" i="0">
                <a:solidFill>
                  <a:srgbClr val="2B3A48"/>
                </a:solidFill>
                <a:latin typeface="Source Sans 3"/>
              </a:rPr>
              <a:t>étape sous condition</a:t>
            </a:r>
          </a:p>
        </p:txBody>
      </p:sp>
      <p:sp>
        <p:nvSpPr>
          <p:cNvPr id="15" name="TextBox 14"/>
          <p:cNvSpPr txBox="1"/>
          <p:nvPr/>
        </p:nvSpPr>
        <p:spPr>
          <a:xfrm>
            <a:off x="402336" y="6437376"/>
            <a:ext cx="11338560" cy="237744"/>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5F6B77"/>
                </a:solidFill>
                <a:latin typeface="Source Sans 3"/>
              </a:rPr>
              <a:t>Source : diagramme de cas d’utilisation de l’application 2.3.3 (rapport de l’équipe 15).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022628"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Le RAG donne aux agents une base de connaissances pour expliquer les pannes</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28</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3483864" cy="2697480"/>
          </a:xfrm>
          <a:prstGeom prst="roundRect">
            <a:avLst>
              <a:gd name="adj" fmla="val 5650"/>
            </a:avLst>
          </a:prstGeom>
          <a:solidFill>
            <a:srgbClr val="FFFFFF"/>
          </a:solidFill>
          <a:ln>
            <a:noFill/>
          </a:ln>
        </p:spPr>
        <p:txBody>
          <a:bodyPr rtlCol="0" anchor="ctr"/>
          <a:lstStyle/>
          <a:p>
            <a:pPr algn="ctr"/>
          </a:p>
        </p:txBody>
      </p:sp>
      <p:sp>
        <p:nvSpPr>
          <p:cNvPr id="114" name="Rectangle 113"/>
          <p:cNvSpPr/>
          <p:nvPr/>
        </p:nvSpPr>
        <p:spPr>
          <a:xfrm>
            <a:off x="6949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5" name="Oval 114"/>
          <p:cNvSpPr/>
          <p:nvPr/>
        </p:nvSpPr>
        <p:spPr>
          <a:xfrm>
            <a:off x="923544" y="2029968"/>
            <a:ext cx="457200" cy="45720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1</a:t>
            </a:r>
          </a:p>
        </p:txBody>
      </p:sp>
      <p:sp>
        <p:nvSpPr>
          <p:cNvPr id="116" name="TextBox 115"/>
          <p:cNvSpPr txBox="1"/>
          <p:nvPr/>
        </p:nvSpPr>
        <p:spPr>
          <a:xfrm>
            <a:off x="1517904" y="2029968"/>
            <a:ext cx="2468880" cy="457200"/>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1B2A4A"/>
                </a:solidFill>
                <a:latin typeface="Sora"/>
              </a:rPr>
              <a:t>Recherche</a:t>
            </a:r>
          </a:p>
        </p:txBody>
      </p:sp>
      <p:sp>
        <p:nvSpPr>
          <p:cNvPr id="117" name="TextBox 116"/>
          <p:cNvSpPr txBox="1"/>
          <p:nvPr/>
        </p:nvSpPr>
        <p:spPr>
          <a:xfrm>
            <a:off x="923544" y="2724912"/>
            <a:ext cx="3063240" cy="169164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À partir du bilan, Workly formule la question (statut, étapes manquantes, échecs) et retrouve les passages les plus proches dans la base.</a:t>
            </a:r>
          </a:p>
        </p:txBody>
      </p:sp>
      <p:cxnSp>
        <p:nvCxnSpPr>
          <p:cNvPr id="118" name="Connector 117"/>
          <p:cNvCxnSpPr/>
          <p:nvPr/>
        </p:nvCxnSpPr>
        <p:spPr>
          <a:xfrm>
            <a:off x="4206240" y="3108960"/>
            <a:ext cx="137160" cy="0"/>
          </a:xfrm>
          <a:prstGeom prst="line">
            <a:avLst/>
          </a:prstGeom>
          <a:ln w="22225">
            <a:solidFill>
              <a:srgbClr val="1B2A4A"/>
            </a:solidFill>
            <a:tailEnd type="triangle" w="med" len="med"/>
          </a:ln>
        </p:spPr>
      </p:cxnSp>
      <p:sp>
        <p:nvSpPr>
          <p:cNvPr id="119" name="Rounded Rectangle 118"/>
          <p:cNvSpPr/>
          <p:nvPr/>
        </p:nvSpPr>
        <p:spPr>
          <a:xfrm>
            <a:off x="4352544" y="1773936"/>
            <a:ext cx="3483864" cy="2697480"/>
          </a:xfrm>
          <a:prstGeom prst="roundRect">
            <a:avLst>
              <a:gd name="adj" fmla="val 5650"/>
            </a:avLst>
          </a:prstGeom>
          <a:solidFill>
            <a:srgbClr val="FFFFFF"/>
          </a:solidFill>
          <a:ln>
            <a:noFill/>
          </a:ln>
        </p:spPr>
        <p:txBody>
          <a:bodyPr rtlCol="0" anchor="ctr"/>
          <a:lstStyle/>
          <a:p>
            <a:pPr algn="ctr"/>
          </a:p>
        </p:txBody>
      </p:sp>
      <p:sp>
        <p:nvSpPr>
          <p:cNvPr id="120" name="Rectangle 119"/>
          <p:cNvSpPr/>
          <p:nvPr/>
        </p:nvSpPr>
        <p:spPr>
          <a:xfrm>
            <a:off x="43525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1" name="Oval 120"/>
          <p:cNvSpPr/>
          <p:nvPr/>
        </p:nvSpPr>
        <p:spPr>
          <a:xfrm>
            <a:off x="4581144" y="2029968"/>
            <a:ext cx="457200" cy="45720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2</a:t>
            </a:r>
          </a:p>
        </p:txBody>
      </p:sp>
      <p:sp>
        <p:nvSpPr>
          <p:cNvPr id="122" name="TextBox 121"/>
          <p:cNvSpPr txBox="1"/>
          <p:nvPr/>
        </p:nvSpPr>
        <p:spPr>
          <a:xfrm>
            <a:off x="5175504" y="2029968"/>
            <a:ext cx="2468880" cy="457200"/>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1B2A4A"/>
                </a:solidFill>
                <a:latin typeface="Sora"/>
              </a:rPr>
              <a:t>Augmentation</a:t>
            </a:r>
          </a:p>
        </p:txBody>
      </p:sp>
      <p:sp>
        <p:nvSpPr>
          <p:cNvPr id="123" name="TextBox 122"/>
          <p:cNvSpPr txBox="1"/>
          <p:nvPr/>
        </p:nvSpPr>
        <p:spPr>
          <a:xfrm>
            <a:off x="4581144" y="2724912"/>
            <a:ext cx="3063240" cy="169164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Ces passages sont ajoutés au bilan, puis donnés à l’agent Analyste avec sa consigne.</a:t>
            </a:r>
          </a:p>
        </p:txBody>
      </p:sp>
      <p:cxnSp>
        <p:nvCxnSpPr>
          <p:cNvPr id="124" name="Connector 123"/>
          <p:cNvCxnSpPr/>
          <p:nvPr/>
        </p:nvCxnSpPr>
        <p:spPr>
          <a:xfrm>
            <a:off x="7863840" y="3108960"/>
            <a:ext cx="137160" cy="0"/>
          </a:xfrm>
          <a:prstGeom prst="line">
            <a:avLst/>
          </a:prstGeom>
          <a:ln w="22225">
            <a:solidFill>
              <a:srgbClr val="1B2A4A"/>
            </a:solidFill>
            <a:tailEnd type="triangle" w="med" len="med"/>
          </a:ln>
        </p:spPr>
      </p:cxnSp>
      <p:sp>
        <p:nvSpPr>
          <p:cNvPr id="125" name="Rounded Rectangle 124"/>
          <p:cNvSpPr/>
          <p:nvPr/>
        </p:nvSpPr>
        <p:spPr>
          <a:xfrm>
            <a:off x="8010144" y="1773936"/>
            <a:ext cx="3483864" cy="2697480"/>
          </a:xfrm>
          <a:prstGeom prst="roundRect">
            <a:avLst>
              <a:gd name="adj" fmla="val 5650"/>
            </a:avLst>
          </a:prstGeom>
          <a:solidFill>
            <a:srgbClr val="FFFFFF"/>
          </a:solidFill>
          <a:ln>
            <a:noFill/>
          </a:ln>
        </p:spPr>
        <p:txBody>
          <a:bodyPr rtlCol="0" anchor="ctr"/>
          <a:lstStyle/>
          <a:p>
            <a:pPr algn="ctr"/>
          </a:p>
        </p:txBody>
      </p:sp>
      <p:sp>
        <p:nvSpPr>
          <p:cNvPr id="126" name="Rectangle 125"/>
          <p:cNvSpPr/>
          <p:nvPr/>
        </p:nvSpPr>
        <p:spPr>
          <a:xfrm>
            <a:off x="8010144" y="1773936"/>
            <a:ext cx="3483864" cy="2697480"/>
          </a:xfrm>
          <a:custGeom>
            <a:rect b="b" l="l" r="r" t="t"/>
            <a:pathLst>
              <a:path extrusionOk="0" h="26974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7" name="Oval 126"/>
          <p:cNvSpPr/>
          <p:nvPr/>
        </p:nvSpPr>
        <p:spPr>
          <a:xfrm>
            <a:off x="8238744" y="2029968"/>
            <a:ext cx="457200" cy="45720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600" b="1" i="0">
                <a:solidFill>
                  <a:srgbClr val="1B2A4A"/>
                </a:solidFill>
                <a:latin typeface="Sora"/>
              </a:rPr>
              <a:t>3</a:t>
            </a:r>
          </a:p>
        </p:txBody>
      </p:sp>
      <p:sp>
        <p:nvSpPr>
          <p:cNvPr id="128" name="TextBox 127"/>
          <p:cNvSpPr txBox="1"/>
          <p:nvPr/>
        </p:nvSpPr>
        <p:spPr>
          <a:xfrm>
            <a:off x="8833104" y="2029968"/>
            <a:ext cx="2468880" cy="457200"/>
          </a:xfrm>
          <a:prstGeom prst="rect">
            <a:avLst/>
          </a:prstGeom>
          <a:noFill/>
        </p:spPr>
        <p:txBody>
          <a:bodyPr wrap="square" lIns="0" tIns="0" rIns="0" bIns="0" anchor="ctr">
            <a:noAutofit/>
          </a:bodyPr>
          <a:lstStyle/>
          <a:p>
            <a:pPr algn="l">
              <a:lnSpc>
                <a:spcPct val="115000"/>
              </a:lnSpc>
              <a:spcBef>
                <a:spcPts val="0"/>
              </a:spcBef>
              <a:spcAft>
                <a:spcPts val="0"/>
              </a:spcAft>
            </a:pPr>
            <a:r>
              <a:rPr sz="1700" b="1" i="0">
                <a:solidFill>
                  <a:srgbClr val="1B2A4A"/>
                </a:solidFill>
                <a:latin typeface="Sora"/>
              </a:rPr>
              <a:t>Génération</a:t>
            </a:r>
          </a:p>
        </p:txBody>
      </p:sp>
      <p:sp>
        <p:nvSpPr>
          <p:cNvPr id="129" name="TextBox 128"/>
          <p:cNvSpPr txBox="1"/>
          <p:nvPr/>
        </p:nvSpPr>
        <p:spPr>
          <a:xfrm>
            <a:off x="8238744" y="2724912"/>
            <a:ext cx="3063240" cy="169164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L’Analyste explique la panne à partir de ces passages et cite sa source ; le Rédacteur écrit le message du matin.</a:t>
            </a:r>
          </a:p>
        </p:txBody>
      </p:sp>
      <p:sp>
        <p:nvSpPr>
          <p:cNvPr id="130" name="Rounded Rectangle 129"/>
          <p:cNvSpPr/>
          <p:nvPr/>
        </p:nvSpPr>
        <p:spPr>
          <a:xfrm>
            <a:off x="694944" y="4681728"/>
            <a:ext cx="10799064" cy="1417320"/>
          </a:xfrm>
          <a:prstGeom prst="roundRect">
            <a:avLst>
              <a:gd name="adj" fmla="val 7741"/>
            </a:avLst>
          </a:prstGeom>
          <a:solidFill>
            <a:srgbClr val="1B2A4A"/>
          </a:solidFill>
          <a:ln>
            <a:noFill/>
          </a:ln>
        </p:spPr>
        <p:txBody>
          <a:bodyPr rtlCol="0" anchor="ctr"/>
          <a:lstStyle/>
          <a:p>
            <a:pPr algn="ctr"/>
          </a:p>
        </p:txBody>
      </p:sp>
      <p:sp>
        <p:nvSpPr>
          <p:cNvPr id="131" name="TextBox 130"/>
          <p:cNvSpPr txBox="1"/>
          <p:nvPr/>
        </p:nvSpPr>
        <p:spPr>
          <a:xfrm>
            <a:off x="987552" y="4828032"/>
            <a:ext cx="1024128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BASE DE CONNAISSANCES D’EXPLOITATION</a:t>
            </a:r>
          </a:p>
        </p:txBody>
      </p:sp>
      <p:sp>
        <p:nvSpPr>
          <p:cNvPr id="132" name="TextBox 131"/>
          <p:cNvSpPr txBox="1"/>
          <p:nvPr/>
        </p:nvSpPr>
        <p:spPr>
          <a:xfrm>
            <a:off x="987552" y="5157216"/>
            <a:ext cx="10241280" cy="86868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FFFFFF"/>
                </a:solidFill>
                <a:latin typeface="DM Sans"/>
              </a:rPr>
              <a:t>27 sections</a:t>
            </a:r>
            <a:r>
              <a:rPr sz="1350" b="0" i="0">
                <a:solidFill>
                  <a:srgbClr val="E4E9F5"/>
                </a:solidFill>
                <a:latin typeface="DM Sans"/>
              </a:rPr>
              <a:t> rédigées à partir du fonctionnement réel de Workly : statuts du bilan, douze tâches et leurs pannes connues, erreurs courantes, flux, Odoo. Un simple fichier texte, facile à relire et à compléter. Si aucune section ne correspond, l’agent répond « cause inconnue dans la base » au lieu d’inventer.</a:t>
            </a:r>
          </a:p>
        </p:txBody>
      </p:sp>
      <p:sp>
        <p:nvSpPr>
          <p:cNvPr id="133" name="TextBox 132"/>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Outil développé dans Workly : la recherche s’exécute dans l’application, sans service externe.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1022628" cy="284480"/>
          </a:xfrm>
          <a:prstGeom prst="roundRect">
            <a:avLst>
              <a:gd name="adj" fmla="val 50000"/>
            </a:avLst>
          </a:prstGeom>
          <a:solidFill>
            <a:srgbClr val="1B2A4A"/>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a:spLocks noGrp="1"/>
          </p:cNvSpPr>
          <p:nvPr>
            <p:ph type="title"/>
          </p:nvPr>
        </p:nvSpPr>
        <p:spPr>
          <a:xfrm>
            <a:off x="698500" y="919480"/>
            <a:ext cx="1149350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1B2A4A"/>
              </a:buClr>
              <a:buSzPts val="2100"/>
              <a:buFont typeface="Sora"/>
              <a:buNone/>
            </a:pPr>
            <a:r>
              <a:rPr lang="en-US" sz="2100" b="1" i="0">
                <a:solidFill>
                  <a:srgbClr val="1B2A4A"/>
                </a:solidFill>
                <a:latin typeface="Sora"/>
                <a:ea typeface="Sora"/>
                <a:cs typeface="Sora"/>
                <a:sym typeface="Sora"/>
              </a:rPr>
              <a:t>Résultats : les messages citent la cause et l’action de la base de connaissances</a:t>
            </a:r>
            <a:endParaRPr sz="2100"/>
          </a:p>
        </p:txBody>
      </p:sp>
      <p:sp>
        <p:nvSpPr>
          <p:cNvPr id="108" name="Google Shape;108;p3"/>
          <p:cNvSpPr/>
          <p:nvPr/>
        </p:nvSpPr>
        <p:spPr>
          <a:xfrm>
            <a:off x="10680700" y="6344920"/>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1B2A4A"/>
              </a:buClr>
              <a:buSzPts val="1200"/>
              <a:buFont typeface="Sora"/>
              <a:buNone/>
            </a:pPr>
            <a:r>
              <a:rPr lang="en-US" sz="1200" b="1">
                <a:solidFill>
                  <a:srgbClr val="1B2A4A"/>
                </a:solidFill>
                <a:latin typeface="Sora"/>
                <a:ea typeface="Sora"/>
                <a:cs typeface="Sora"/>
                <a:sym typeface="Sora"/>
              </a:rPr>
              <a:t>29</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113" name="Rounded Rectangle 112"/>
          <p:cNvSpPr/>
          <p:nvPr/>
        </p:nvSpPr>
        <p:spPr>
          <a:xfrm>
            <a:off x="694944" y="1773936"/>
            <a:ext cx="5312664" cy="1965960"/>
          </a:xfrm>
          <a:prstGeom prst="roundRect">
            <a:avLst>
              <a:gd name="adj" fmla="val 7753"/>
            </a:avLst>
          </a:prstGeom>
          <a:solidFill>
            <a:srgbClr val="FFFFFF"/>
          </a:solidFill>
          <a:ln>
            <a:noFill/>
          </a:ln>
        </p:spPr>
        <p:txBody>
          <a:bodyPr rtlCol="0" anchor="ctr"/>
          <a:lstStyle/>
          <a:p>
            <a:pPr algn="ctr"/>
          </a:p>
        </p:txBody>
      </p:sp>
      <p:sp>
        <p:nvSpPr>
          <p:cNvPr id="114" name="Rectangle 113"/>
          <p:cNvSpPr/>
          <p:nvPr/>
        </p:nvSpPr>
        <p:spPr>
          <a:xfrm>
            <a:off x="694944" y="1773936"/>
            <a:ext cx="5312664" cy="1965960"/>
          </a:xfrm>
          <a:custGeom>
            <a:rect b="b" l="l" r="r" t="t"/>
            <a:pathLst>
              <a:path extrusionOk="0" h="196596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15" name="Rounded Rectangle 114"/>
          <p:cNvSpPr/>
          <p:nvPr/>
        </p:nvSpPr>
        <p:spPr>
          <a:xfrm>
            <a:off x="923544" y="1993392"/>
            <a:ext cx="1188720" cy="256032"/>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SANS RAG</a:t>
            </a:r>
          </a:p>
        </p:txBody>
      </p:sp>
      <p:sp>
        <p:nvSpPr>
          <p:cNvPr id="116" name="TextBox 115"/>
          <p:cNvSpPr txBox="1"/>
          <p:nvPr/>
        </p:nvSpPr>
        <p:spPr>
          <a:xfrm>
            <a:off x="923544" y="2377440"/>
            <a:ext cx="4892040" cy="128016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 Actions requises : 1. Vérifier le planificateur de tâches ou les services d’automatisation. 2. Relancer manuellement les étapes manquantes. »</a:t>
            </a:r>
          </a:p>
        </p:txBody>
      </p:sp>
      <p:sp>
        <p:nvSpPr>
          <p:cNvPr id="117" name="Rounded Rectangle 116"/>
          <p:cNvSpPr/>
          <p:nvPr/>
        </p:nvSpPr>
        <p:spPr>
          <a:xfrm>
            <a:off x="6181344" y="1773936"/>
            <a:ext cx="5312664" cy="1965960"/>
          </a:xfrm>
          <a:prstGeom prst="roundRect">
            <a:avLst>
              <a:gd name="adj" fmla="val 7753"/>
            </a:avLst>
          </a:prstGeom>
          <a:solidFill>
            <a:srgbClr val="FFFFFF"/>
          </a:solidFill>
          <a:ln>
            <a:noFill/>
          </a:ln>
        </p:spPr>
        <p:txBody>
          <a:bodyPr rtlCol="0" anchor="ctr"/>
          <a:lstStyle/>
          <a:p>
            <a:pPr algn="ctr"/>
          </a:p>
        </p:txBody>
      </p:sp>
      <p:sp>
        <p:nvSpPr>
          <p:cNvPr id="118" name="Rectangle 117"/>
          <p:cNvSpPr/>
          <p:nvPr/>
        </p:nvSpPr>
        <p:spPr>
          <a:xfrm>
            <a:off x="6181344" y="1773936"/>
            <a:ext cx="5312664" cy="1965960"/>
          </a:xfrm>
          <a:custGeom>
            <a:rect b="b" l="l" r="r" t="t"/>
            <a:pathLst>
              <a:path extrusionOk="0" h="1965960" w="5312664">
                <a:moveTo>
                  <a:pt x="0" y="152400"/>
                </a:moveTo>
                <a:cubicBezTo>
                  <a:pt x="0" y="68229"/>
                  <a:pt x="68229" y="0"/>
                  <a:pt x="152400" y="0"/>
                </a:cubicBezTo>
                <a:lnTo>
                  <a:pt x="5160264" y="0"/>
                </a:lnTo>
                <a:cubicBezTo>
                  <a:pt x="5244434" y="0"/>
                  <a:pt x="5312664" y="68229"/>
                  <a:pt x="5312664" y="152400"/>
                </a:cubicBezTo>
                <a:cubicBezTo>
                  <a:pt x="5312664" y="103311"/>
                  <a:pt x="5244435" y="63500"/>
                  <a:pt x="51602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19" name="Rounded Rectangle 118"/>
          <p:cNvSpPr/>
          <p:nvPr/>
        </p:nvSpPr>
        <p:spPr>
          <a:xfrm>
            <a:off x="6409944" y="1993392"/>
            <a:ext cx="1188720" cy="256032"/>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AVEC RAG</a:t>
            </a:r>
          </a:p>
        </p:txBody>
      </p:sp>
      <p:sp>
        <p:nvSpPr>
          <p:cNvPr id="120" name="TextBox 119"/>
          <p:cNvSpPr txBox="1"/>
          <p:nvPr/>
        </p:nvSpPr>
        <p:spPr>
          <a:xfrm>
            <a:off x="6409944" y="2377440"/>
            <a:ext cx="4892040" cy="1280160"/>
          </a:xfrm>
          <a:prstGeom prst="rect">
            <a:avLst/>
          </a:prstGeom>
          <a:noFill/>
        </p:spPr>
        <p:txBody>
          <a:bodyPr wrap="square" lIns="0" tIns="0" rIns="0" bIns="0" anchor="t">
            <a:noAutofit/>
          </a:bodyPr>
          <a:lstStyle/>
          <a:p>
            <a:pPr algn="l">
              <a:lnSpc>
                <a:spcPct val="115000"/>
              </a:lnSpc>
              <a:spcBef>
                <a:spcPts val="0"/>
              </a:spcBef>
              <a:spcAft>
                <a:spcPts val="0"/>
              </a:spcAft>
            </a:pPr>
            <a:r>
              <a:rPr sz="1350" b="0" i="0">
                <a:solidFill>
                  <a:srgbClr val="2B3350"/>
                </a:solidFill>
                <a:latin typeface="DM Sans"/>
              </a:rPr>
              <a:t>« Cause probable : le PC était éteint ou en veille à 00:30 UTC, ou le planificateur était arrêté. Action : relancer le planificateur, puis exécuter la chaîne manquante. »</a:t>
            </a:r>
          </a:p>
        </p:txBody>
      </p:sp>
      <p:sp>
        <p:nvSpPr>
          <p:cNvPr id="121" name="TextBox 120"/>
          <p:cNvSpPr txBox="1"/>
          <p:nvPr/>
        </p:nvSpPr>
        <p:spPr>
          <a:xfrm>
            <a:off x="694944" y="3858768"/>
            <a:ext cx="10789920" cy="256032"/>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Même situation : nuit incomplète.</a:t>
            </a:r>
          </a:p>
        </p:txBody>
      </p:sp>
      <p:sp>
        <p:nvSpPr>
          <p:cNvPr id="122" name="Rounded Rectangle 121"/>
          <p:cNvSpPr/>
          <p:nvPr/>
        </p:nvSpPr>
        <p:spPr>
          <a:xfrm>
            <a:off x="694944" y="4251960"/>
            <a:ext cx="3483864" cy="1828800"/>
          </a:xfrm>
          <a:prstGeom prst="roundRect">
            <a:avLst>
              <a:gd name="adj" fmla="val 8335"/>
            </a:avLst>
          </a:prstGeom>
          <a:solidFill>
            <a:srgbClr val="FFFFFF"/>
          </a:solidFill>
          <a:ln>
            <a:noFill/>
          </a:ln>
        </p:spPr>
        <p:txBody>
          <a:bodyPr rtlCol="0" anchor="ctr"/>
          <a:lstStyle/>
          <a:p>
            <a:pPr algn="ctr"/>
          </a:p>
        </p:txBody>
      </p:sp>
      <p:sp>
        <p:nvSpPr>
          <p:cNvPr id="123" name="Rectangle 122"/>
          <p:cNvSpPr/>
          <p:nvPr/>
        </p:nvSpPr>
        <p:spPr>
          <a:xfrm>
            <a:off x="6949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24" name="TextBox 123"/>
          <p:cNvSpPr txBox="1"/>
          <p:nvPr/>
        </p:nvSpPr>
        <p:spPr>
          <a:xfrm>
            <a:off x="8961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Panne simulée de la sauvegarde</a:t>
            </a:r>
          </a:p>
        </p:txBody>
      </p:sp>
      <p:sp>
        <p:nvSpPr>
          <p:cNvPr id="125" name="Rounded Rectangle 124"/>
          <p:cNvSpPr/>
          <p:nvPr/>
        </p:nvSpPr>
        <p:spPr>
          <a:xfrm>
            <a:off x="8961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critique</a:t>
            </a:r>
          </a:p>
        </p:txBody>
      </p:sp>
      <p:sp>
        <p:nvSpPr>
          <p:cNvPr id="126" name="TextBox 125"/>
          <p:cNvSpPr txBox="1"/>
          <p:nvPr/>
        </p:nvSpPr>
        <p:spPr>
          <a:xfrm>
            <a:off x="8961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L’outil de sauvegarde est introuvable : installer les outils PostgreSQL ou indiquer leur emplacement.</a:t>
            </a:r>
          </a:p>
        </p:txBody>
      </p:sp>
      <p:sp>
        <p:nvSpPr>
          <p:cNvPr id="127" name="Rounded Rectangle 126"/>
          <p:cNvSpPr/>
          <p:nvPr/>
        </p:nvSpPr>
        <p:spPr>
          <a:xfrm>
            <a:off x="4352544" y="4251960"/>
            <a:ext cx="3483864" cy="1828800"/>
          </a:xfrm>
          <a:prstGeom prst="roundRect">
            <a:avLst>
              <a:gd name="adj" fmla="val 8335"/>
            </a:avLst>
          </a:prstGeom>
          <a:solidFill>
            <a:srgbClr val="FFFFFF"/>
          </a:solidFill>
          <a:ln>
            <a:noFill/>
          </a:ln>
        </p:spPr>
        <p:txBody>
          <a:bodyPr rtlCol="0" anchor="ctr"/>
          <a:lstStyle/>
          <a:p>
            <a:pPr algn="ctr"/>
          </a:p>
        </p:txBody>
      </p:sp>
      <p:sp>
        <p:nvSpPr>
          <p:cNvPr id="128" name="Rectangle 127"/>
          <p:cNvSpPr/>
          <p:nvPr/>
        </p:nvSpPr>
        <p:spPr>
          <a:xfrm>
            <a:off x="43525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29" name="TextBox 128"/>
          <p:cNvSpPr txBox="1"/>
          <p:nvPr/>
        </p:nvSpPr>
        <p:spPr>
          <a:xfrm>
            <a:off x="45537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Nuit non exécutée (PC éteint)</a:t>
            </a:r>
          </a:p>
        </p:txBody>
      </p:sp>
      <p:sp>
        <p:nvSpPr>
          <p:cNvPr id="130" name="Rounded Rectangle 129"/>
          <p:cNvSpPr/>
          <p:nvPr/>
        </p:nvSpPr>
        <p:spPr>
          <a:xfrm>
            <a:off x="45537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attention</a:t>
            </a:r>
          </a:p>
        </p:txBody>
      </p:sp>
      <p:sp>
        <p:nvSpPr>
          <p:cNvPr id="131" name="TextBox 130"/>
          <p:cNvSpPr txBox="1"/>
          <p:nvPr/>
        </p:nvSpPr>
        <p:spPr>
          <a:xfrm>
            <a:off x="45537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Relancer le planificateur, puis exécuter la chaîne manquante.</a:t>
            </a:r>
          </a:p>
        </p:txBody>
      </p:sp>
      <p:sp>
        <p:nvSpPr>
          <p:cNvPr id="132" name="Rounded Rectangle 131"/>
          <p:cNvSpPr/>
          <p:nvPr/>
        </p:nvSpPr>
        <p:spPr>
          <a:xfrm>
            <a:off x="8010144" y="4251960"/>
            <a:ext cx="3483864" cy="1828800"/>
          </a:xfrm>
          <a:prstGeom prst="roundRect">
            <a:avLst>
              <a:gd name="adj" fmla="val 8335"/>
            </a:avLst>
          </a:prstGeom>
          <a:solidFill>
            <a:srgbClr val="FFFFFF"/>
          </a:solidFill>
          <a:ln>
            <a:noFill/>
          </a:ln>
        </p:spPr>
        <p:txBody>
          <a:bodyPr rtlCol="0" anchor="ctr"/>
          <a:lstStyle/>
          <a:p>
            <a:pPr algn="ctr"/>
          </a:p>
        </p:txBody>
      </p:sp>
      <p:sp>
        <p:nvSpPr>
          <p:cNvPr id="133" name="Rectangle 132"/>
          <p:cNvSpPr/>
          <p:nvPr/>
        </p:nvSpPr>
        <p:spPr>
          <a:xfrm>
            <a:off x="8010144" y="4251960"/>
            <a:ext cx="3483864" cy="1828800"/>
          </a:xfrm>
          <a:custGeom>
            <a:rect b="b" l="l" r="r" t="t"/>
            <a:pathLst>
              <a:path extrusionOk="0" h="182880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34" name="TextBox 133"/>
          <p:cNvSpPr txBox="1"/>
          <p:nvPr/>
        </p:nvSpPr>
        <p:spPr>
          <a:xfrm>
            <a:off x="8211312" y="4434840"/>
            <a:ext cx="3108960" cy="274320"/>
          </a:xfrm>
          <a:prstGeom prst="rect">
            <a:avLst/>
          </a:prstGeom>
          <a:noFill/>
        </p:spPr>
        <p:txBody>
          <a:bodyPr wrap="square" lIns="0" tIns="0" rIns="0" bIns="0" anchor="t">
            <a:noAutofit/>
          </a:bodyPr>
          <a:lstStyle/>
          <a:p>
            <a:pPr algn="l">
              <a:lnSpc>
                <a:spcPct val="115000"/>
              </a:lnSpc>
              <a:spcBef>
                <a:spcPts val="0"/>
              </a:spcBef>
              <a:spcAft>
                <a:spcPts val="0"/>
              </a:spcAft>
            </a:pPr>
            <a:r>
              <a:rPr sz="1350" b="1" i="0">
                <a:solidFill>
                  <a:srgbClr val="1B2A4A"/>
                </a:solidFill>
                <a:latin typeface="Sora"/>
              </a:rPr>
              <a:t>Nuit réussie</a:t>
            </a:r>
          </a:p>
        </p:txBody>
      </p:sp>
      <p:sp>
        <p:nvSpPr>
          <p:cNvPr id="135" name="Rounded Rectangle 134"/>
          <p:cNvSpPr/>
          <p:nvPr/>
        </p:nvSpPr>
        <p:spPr>
          <a:xfrm>
            <a:off x="8211312" y="4846320"/>
            <a:ext cx="1005840" cy="237744"/>
          </a:xfrm>
          <a:prstGeom prst="roundRect">
            <a:avLst>
              <a:gd name="adj" fmla="val 50000"/>
            </a:avLst>
          </a:prstGeom>
          <a:solidFill>
            <a:srgbClr val="E3F0FC"/>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1B2A4A"/>
                </a:solidFill>
                <a:latin typeface="DM Sans"/>
              </a:rPr>
              <a:t>ok</a:t>
            </a:r>
          </a:p>
        </p:txBody>
      </p:sp>
      <p:sp>
        <p:nvSpPr>
          <p:cNvPr id="136" name="TextBox 135"/>
          <p:cNvSpPr txBox="1"/>
          <p:nvPr/>
        </p:nvSpPr>
        <p:spPr>
          <a:xfrm>
            <a:off x="8211312" y="5212080"/>
            <a:ext cx="3108960" cy="82296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Situation nominale : aucune action corrective requise.</a:t>
            </a:r>
          </a:p>
        </p:txBody>
      </p:sp>
      <p:sp>
        <p:nvSpPr>
          <p:cNvPr id="137" name="TextBox 136"/>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exécutions réelles du flux Agentic AI, octobre 2026.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26937" cy="284480"/>
          </a:xfrm>
          <a:prstGeom prst="roundRect">
            <a:avLst>
              <a:gd name="adj" fmla="val 50000"/>
            </a:avLst>
          </a:prstGeom>
          <a:solidFill>
            <a:srgbClr val="FFFFFF"/>
          </a:solidFill>
          <a:ln>
            <a:noFill/>
          </a:ln>
        </p:spPr>
        <p:txBody>
          <a:bodyPr spcFirstLastPara="1" wrap="square" lIns="0" tIns="0" rIns="0" bIns="0" anchor="ctr" anchorCtr="0">
            <a:normAutofit fontScale="92500" lnSpcReduction="10000"/>
          </a:bodyPr>
          <a:lstStyle/>
          <a:p>
            <a:pPr marL="0" marR="0" lvl="0" indent="0" algn="ctr" rtl="0">
              <a:lnSpc>
                <a:spcPct val="120000"/>
              </a:lnSpc>
              <a:spcBef>
                <a:spcPts val="0"/>
              </a:spcBef>
              <a:spcAft>
                <a:spcPts val="0"/>
              </a:spcAft>
              <a:buClr>
                <a:srgbClr val="FFFFFF"/>
              </a:buClr>
              <a:buSzPts val="1200"/>
              <a:buFont typeface="DM Sans"/>
              <a:buNone/>
            </a:pPr>
            <a:r>
              <a:rPr lang="en-US" sz="1200" b="1">
                <a:solidFill>
                  <a:srgbClr val="1B2A4A"/>
                </a:solidFill>
                <a:latin typeface="DM Sans"/>
                <a:ea typeface="DM Sans"/>
                <a:cs typeface="DM Sans"/>
                <a:sym typeface="DM Sans"/>
              </a:rPr>
              <a:t>BILAN</a:t>
            </a:r>
            <a:endParaRPr sz="1200">
              <a:solidFill>
                <a:schemeClr val="dk1"/>
              </a:solidFill>
              <a:latin typeface="DM Sans"/>
              <a:ea typeface="DM Sans"/>
              <a:cs typeface="DM Sans"/>
              <a:sym typeface="DM Sans"/>
            </a:endParaRPr>
          </a:p>
        </p:txBody>
      </p:sp>
      <p:sp>
        <p:nvSpPr>
          <p:cNvPr id="227" name="Google Shape;227;p9"/>
          <p:cNvSpPr txBox="1">
            <a:spLocks noGrp="1"/>
          </p:cNvSpPr>
          <p:nvPr>
            <p:ph type="title"/>
          </p:nvPr>
        </p:nvSpPr>
        <p:spPr>
          <a:xfrm>
            <a:off x="698500" y="919479"/>
            <a:ext cx="11118850" cy="667512"/>
          </a:xfrm>
          <a:prstGeom prst="rect">
            <a:avLst/>
          </a:prstGeom>
          <a:noFill/>
          <a:ln>
            <a:noFill/>
          </a:ln>
        </p:spPr>
        <p:txBody>
          <a:bodyPr spcFirstLastPara="1" wrap="square" lIns="0" tIns="0" rIns="0" bIns="0" anchor="t" anchorCtr="0">
            <a:normAutofit fontScale="90000"/>
          </a:bodyPr>
          <a:lstStyle/>
          <a:p>
            <a:pPr marL="0" lvl="0" indent="0" algn="l" rtl="0">
              <a:lnSpc>
                <a:spcPct val="120000"/>
              </a:lnSpc>
              <a:spcBef>
                <a:spcPts val="0"/>
              </a:spcBef>
              <a:spcAft>
                <a:spcPts val="0"/>
              </a:spcAft>
              <a:buClr>
                <a:srgbClr val="FFFFFF"/>
              </a:buClr>
              <a:buSzPts val="2100"/>
              <a:buFont typeface="Sora"/>
              <a:buNone/>
            </a:pPr>
            <a:r>
              <a:rPr lang="en-US" sz="2100" b="1" i="0">
                <a:solidFill>
                  <a:srgbClr val="FFFFFF"/>
                </a:solidFill>
                <a:latin typeface="Sora"/>
                <a:ea typeface="Sora"/>
                <a:cs typeface="Sora"/>
                <a:sym typeface="Sora"/>
              </a:rPr>
              <a:t>Bilan du livrable 3 : ce que nous avons atteint</a:t>
            </a:r>
            <a:endParaRPr sz="2100"/>
          </a:p>
        </p:txBody>
      </p:sp>
      <p:sp>
        <p:nvSpPr>
          <p:cNvPr id="247" name="Google Shape;247;p9"/>
          <p:cNvSpPr/>
          <p:nvPr/>
        </p:nvSpPr>
        <p:spPr>
          <a:xfrm>
            <a:off x="10680700" y="6344921"/>
            <a:ext cx="812800" cy="208280"/>
          </a:xfrm>
          <a:prstGeom prst="rect">
            <a:avLst/>
          </a:prstGeom>
          <a:noFill/>
          <a:ln>
            <a:noFill/>
          </a:ln>
        </p:spPr>
        <p:txBody>
          <a:bodyPr spcFirstLastPara="1" wrap="square" lIns="0" tIns="0" rIns="0" bIns="0" anchor="t" anchorCtr="0">
            <a:normAutofit lnSpcReduction="10000"/>
          </a:bodyPr>
          <a:lstStyle/>
          <a:p>
            <a:pPr marL="0" marR="0" lvl="0" indent="0" algn="r" rtl="0">
              <a:lnSpc>
                <a:spcPct val="120000"/>
              </a:lnSpc>
              <a:spcBef>
                <a:spcPts val="0"/>
              </a:spcBef>
              <a:spcAft>
                <a:spcPts val="0"/>
              </a:spcAft>
              <a:buClr>
                <a:srgbClr val="FFFFFF"/>
              </a:buClr>
              <a:buSzPts val="1200"/>
              <a:buFont typeface="Sora"/>
              <a:buNone/>
            </a:pPr>
            <a:r>
              <a:rPr lang="en-US" sz="1200" b="1">
                <a:solidFill>
                  <a:srgbClr val="FFFFFF"/>
                </a:solidFill>
                <a:latin typeface="Sora"/>
                <a:ea typeface="Sora"/>
                <a:cs typeface="Sora"/>
                <a:sym typeface="Sora"/>
              </a:rPr>
              <a:t>33</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endParaRP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endParaRP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endParaRP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endParaRPr/>
          </a:p>
        </p:txBody>
      </p:sp>
      <p:sp>
        <p:nvSpPr>
          <p:cNvPr id="252" name="Rounded Rectangle 251"/>
          <p:cNvSpPr/>
          <p:nvPr/>
        </p:nvSpPr>
        <p:spPr>
          <a:xfrm>
            <a:off x="694944" y="1773936"/>
            <a:ext cx="3483864" cy="2011680"/>
          </a:xfrm>
          <a:prstGeom prst="roundRect">
            <a:avLst>
              <a:gd name="adj" fmla="val 7577"/>
            </a:avLst>
          </a:prstGeom>
          <a:solidFill>
            <a:srgbClr val="24375F"/>
          </a:solidFill>
          <a:ln>
            <a:noFill/>
          </a:ln>
        </p:spPr>
        <p:txBody>
          <a:bodyPr rtlCol="0" anchor="ctr"/>
          <a:lstStyle/>
          <a:p>
            <a:pPr algn="ctr"/>
          </a:p>
        </p:txBody>
      </p:sp>
      <p:sp>
        <p:nvSpPr>
          <p:cNvPr id="253" name="Rectangle 252"/>
          <p:cNvSpPr/>
          <p:nvPr/>
        </p:nvSpPr>
        <p:spPr>
          <a:xfrm>
            <a:off x="694944" y="177393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54" name="TextBox 253"/>
          <p:cNvSpPr txBox="1"/>
          <p:nvPr/>
        </p:nvSpPr>
        <p:spPr>
          <a:xfrm>
            <a:off x="923544" y="200253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4A9BE0"/>
                </a:solidFill>
                <a:latin typeface="Sora"/>
              </a:rPr>
              <a:t>MODÈLES</a:t>
            </a:r>
          </a:p>
        </p:txBody>
      </p:sp>
      <p:sp>
        <p:nvSpPr>
          <p:cNvPr id="255" name="TextBox 254"/>
          <p:cNvSpPr txBox="1"/>
          <p:nvPr/>
        </p:nvSpPr>
        <p:spPr>
          <a:xfrm>
            <a:off x="923544" y="234086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3 modèles comparés</a:t>
            </a:r>
          </a:p>
        </p:txBody>
      </p:sp>
      <p:sp>
        <p:nvSpPr>
          <p:cNvPr id="256" name="TextBox 255"/>
          <p:cNvSpPr txBox="1"/>
          <p:nvPr/>
        </p:nvSpPr>
        <p:spPr>
          <a:xfrm>
            <a:off x="923544" y="296265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Régression linéaire, réseau de neurones et gradient boosting, retenu et intégré à l’application.</a:t>
            </a:r>
          </a:p>
        </p:txBody>
      </p:sp>
      <p:sp>
        <p:nvSpPr>
          <p:cNvPr id="257" name="Rounded Rectangle 256"/>
          <p:cNvSpPr/>
          <p:nvPr/>
        </p:nvSpPr>
        <p:spPr>
          <a:xfrm>
            <a:off x="4334256" y="1773936"/>
            <a:ext cx="3483864" cy="2011680"/>
          </a:xfrm>
          <a:prstGeom prst="roundRect">
            <a:avLst>
              <a:gd name="adj" fmla="val 7577"/>
            </a:avLst>
          </a:prstGeom>
          <a:solidFill>
            <a:srgbClr val="24375F"/>
          </a:solidFill>
          <a:ln>
            <a:noFill/>
          </a:ln>
        </p:spPr>
        <p:txBody>
          <a:bodyPr rtlCol="0" anchor="ctr"/>
          <a:lstStyle/>
          <a:p>
            <a:pPr algn="ctr"/>
          </a:p>
        </p:txBody>
      </p:sp>
      <p:sp>
        <p:nvSpPr>
          <p:cNvPr id="258" name="Rectangle 257"/>
          <p:cNvSpPr/>
          <p:nvPr/>
        </p:nvSpPr>
        <p:spPr>
          <a:xfrm>
            <a:off x="4334256" y="177393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59" name="TextBox 258"/>
          <p:cNvSpPr txBox="1"/>
          <p:nvPr/>
        </p:nvSpPr>
        <p:spPr>
          <a:xfrm>
            <a:off x="4562856" y="200253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AUTOMATISATION</a:t>
            </a:r>
          </a:p>
        </p:txBody>
      </p:sp>
      <p:sp>
        <p:nvSpPr>
          <p:cNvPr id="260" name="TextBox 259"/>
          <p:cNvSpPr txBox="1"/>
          <p:nvPr/>
        </p:nvSpPr>
        <p:spPr>
          <a:xfrm>
            <a:off x="4562856" y="234086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12 tâches planifiées</a:t>
            </a:r>
          </a:p>
        </p:txBody>
      </p:sp>
      <p:sp>
        <p:nvSpPr>
          <p:cNvPr id="261" name="TextBox 260"/>
          <p:cNvSpPr txBox="1"/>
          <p:nvPr/>
        </p:nvSpPr>
        <p:spPr>
          <a:xfrm>
            <a:off x="4562856" y="296265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Huit étapes chaque nuit à 00:30 UTC, sans interface graphique.</a:t>
            </a:r>
          </a:p>
        </p:txBody>
      </p:sp>
      <p:sp>
        <p:nvSpPr>
          <p:cNvPr id="262" name="Rounded Rectangle 261"/>
          <p:cNvSpPr/>
          <p:nvPr/>
        </p:nvSpPr>
        <p:spPr>
          <a:xfrm>
            <a:off x="7973568" y="1773936"/>
            <a:ext cx="3483864" cy="2011680"/>
          </a:xfrm>
          <a:prstGeom prst="roundRect">
            <a:avLst>
              <a:gd name="adj" fmla="val 7577"/>
            </a:avLst>
          </a:prstGeom>
          <a:solidFill>
            <a:srgbClr val="24375F"/>
          </a:solidFill>
          <a:ln>
            <a:noFill/>
          </a:ln>
        </p:spPr>
        <p:txBody>
          <a:bodyPr rtlCol="0" anchor="ctr"/>
          <a:lstStyle/>
          <a:p>
            <a:pPr algn="ctr"/>
          </a:p>
        </p:txBody>
      </p:sp>
      <p:sp>
        <p:nvSpPr>
          <p:cNvPr id="263" name="Rectangle 262"/>
          <p:cNvSpPr/>
          <p:nvPr/>
        </p:nvSpPr>
        <p:spPr>
          <a:xfrm>
            <a:off x="7973568" y="177393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64" name="TextBox 263"/>
          <p:cNvSpPr txBox="1"/>
          <p:nvPr/>
        </p:nvSpPr>
        <p:spPr>
          <a:xfrm>
            <a:off x="8202168" y="200253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B39DDB"/>
                </a:solidFill>
                <a:latin typeface="Sora"/>
              </a:rPr>
              <a:t>BOTTOM LINE</a:t>
            </a:r>
          </a:p>
        </p:txBody>
      </p:sp>
      <p:sp>
        <p:nvSpPr>
          <p:cNvPr id="265" name="TextBox 264"/>
          <p:cNvSpPr txBox="1"/>
          <p:nvPr/>
        </p:nvSpPr>
        <p:spPr>
          <a:xfrm>
            <a:off x="8202168" y="234086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+15 113 MAD de gain net</a:t>
            </a:r>
          </a:p>
        </p:txBody>
      </p:sp>
      <p:sp>
        <p:nvSpPr>
          <p:cNvPr id="266" name="TextBox 265"/>
          <p:cNvSpPr txBox="1"/>
          <p:nvPr/>
        </p:nvSpPr>
        <p:spPr>
          <a:xfrm>
            <a:off x="8202168" y="296265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Soit 183 874 MAD par an ; taux de service de 94,6 % à 99,9 % (simulation sur données de démonstration).</a:t>
            </a:r>
          </a:p>
        </p:txBody>
      </p:sp>
      <p:sp>
        <p:nvSpPr>
          <p:cNvPr id="267" name="Rounded Rectangle 266"/>
          <p:cNvSpPr/>
          <p:nvPr/>
        </p:nvSpPr>
        <p:spPr>
          <a:xfrm>
            <a:off x="694944" y="3968496"/>
            <a:ext cx="3483864" cy="2011680"/>
          </a:xfrm>
          <a:prstGeom prst="roundRect">
            <a:avLst>
              <a:gd name="adj" fmla="val 7577"/>
            </a:avLst>
          </a:prstGeom>
          <a:solidFill>
            <a:srgbClr val="24375F"/>
          </a:solidFill>
          <a:ln>
            <a:noFill/>
          </a:ln>
        </p:spPr>
        <p:txBody>
          <a:bodyPr rtlCol="0" anchor="ctr"/>
          <a:lstStyle/>
          <a:p>
            <a:pPr algn="ctr"/>
          </a:p>
        </p:txBody>
      </p:sp>
      <p:sp>
        <p:nvSpPr>
          <p:cNvPr id="268" name="Rectangle 267"/>
          <p:cNvSpPr/>
          <p:nvPr/>
        </p:nvSpPr>
        <p:spPr>
          <a:xfrm>
            <a:off x="694944" y="396849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269" name="TextBox 268"/>
          <p:cNvSpPr txBox="1"/>
          <p:nvPr/>
        </p:nvSpPr>
        <p:spPr>
          <a:xfrm>
            <a:off x="923544" y="419709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3FA0"/>
                </a:solidFill>
                <a:latin typeface="Sora"/>
              </a:rPr>
              <a:t>SUPERVISION</a:t>
            </a:r>
          </a:p>
        </p:txBody>
      </p:sp>
      <p:sp>
        <p:nvSpPr>
          <p:cNvPr id="270" name="TextBox 269"/>
          <p:cNvSpPr txBox="1"/>
          <p:nvPr/>
        </p:nvSpPr>
        <p:spPr>
          <a:xfrm>
            <a:off x="923544" y="453542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Un message Slack chaque matin</a:t>
            </a:r>
          </a:p>
        </p:txBody>
      </p:sp>
      <p:sp>
        <p:nvSpPr>
          <p:cNvPr id="271" name="TextBox 270"/>
          <p:cNvSpPr txBox="1"/>
          <p:nvPr/>
        </p:nvSpPr>
        <p:spPr>
          <a:xfrm>
            <a:off x="923544" y="515721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Bilan en trois statuts, analysé par deux agents IA, lancé par un Cron à 06:00.</a:t>
            </a:r>
          </a:p>
        </p:txBody>
      </p:sp>
      <p:sp>
        <p:nvSpPr>
          <p:cNvPr id="272" name="Rounded Rectangle 271"/>
          <p:cNvSpPr/>
          <p:nvPr/>
        </p:nvSpPr>
        <p:spPr>
          <a:xfrm>
            <a:off x="4334256" y="3968496"/>
            <a:ext cx="3483864" cy="2011680"/>
          </a:xfrm>
          <a:prstGeom prst="roundRect">
            <a:avLst>
              <a:gd name="adj" fmla="val 7577"/>
            </a:avLst>
          </a:prstGeom>
          <a:solidFill>
            <a:srgbClr val="24375F"/>
          </a:solidFill>
          <a:ln>
            <a:noFill/>
          </a:ln>
        </p:spPr>
        <p:txBody>
          <a:bodyPr rtlCol="0" anchor="ctr"/>
          <a:lstStyle/>
          <a:p>
            <a:pPr algn="ctr"/>
          </a:p>
        </p:txBody>
      </p:sp>
      <p:sp>
        <p:nvSpPr>
          <p:cNvPr id="273" name="Rectangle 272"/>
          <p:cNvSpPr/>
          <p:nvPr/>
        </p:nvSpPr>
        <p:spPr>
          <a:xfrm>
            <a:off x="4334256" y="396849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74" name="TextBox 273"/>
          <p:cNvSpPr txBox="1"/>
          <p:nvPr/>
        </p:nvSpPr>
        <p:spPr>
          <a:xfrm>
            <a:off x="4562856" y="419709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RAG</a:t>
            </a:r>
          </a:p>
        </p:txBody>
      </p:sp>
      <p:sp>
        <p:nvSpPr>
          <p:cNvPr id="275" name="TextBox 274"/>
          <p:cNvSpPr txBox="1"/>
          <p:nvPr/>
        </p:nvSpPr>
        <p:spPr>
          <a:xfrm>
            <a:off x="4562856" y="453542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27 sections de connaissances</a:t>
            </a:r>
          </a:p>
        </p:txBody>
      </p:sp>
      <p:sp>
        <p:nvSpPr>
          <p:cNvPr id="276" name="TextBox 275"/>
          <p:cNvSpPr txBox="1"/>
          <p:nvPr/>
        </p:nvSpPr>
        <p:spPr>
          <a:xfrm>
            <a:off x="4562856" y="515721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Les agents expliquent la panne et citent leur source.</a:t>
            </a:r>
          </a:p>
        </p:txBody>
      </p:sp>
      <p:sp>
        <p:nvSpPr>
          <p:cNvPr id="277" name="Rounded Rectangle 276"/>
          <p:cNvSpPr/>
          <p:nvPr/>
        </p:nvSpPr>
        <p:spPr>
          <a:xfrm>
            <a:off x="7973568" y="3968496"/>
            <a:ext cx="3483864" cy="2011680"/>
          </a:xfrm>
          <a:prstGeom prst="roundRect">
            <a:avLst>
              <a:gd name="adj" fmla="val 7577"/>
            </a:avLst>
          </a:prstGeom>
          <a:solidFill>
            <a:srgbClr val="24375F"/>
          </a:solidFill>
          <a:ln>
            <a:noFill/>
          </a:ln>
        </p:spPr>
        <p:txBody>
          <a:bodyPr rtlCol="0" anchor="ctr"/>
          <a:lstStyle/>
          <a:p>
            <a:pPr algn="ctr"/>
          </a:p>
        </p:txBody>
      </p:sp>
      <p:sp>
        <p:nvSpPr>
          <p:cNvPr id="278" name="Rectangle 277"/>
          <p:cNvSpPr/>
          <p:nvPr/>
        </p:nvSpPr>
        <p:spPr>
          <a:xfrm>
            <a:off x="7973568" y="3968496"/>
            <a:ext cx="3483864" cy="2011680"/>
          </a:xfrm>
          <a:custGeom>
            <a:rect b="b" l="l" r="r" t="t"/>
            <a:pathLst>
              <a:path extrusionOk="0" h="2011680" w="3483864">
                <a:moveTo>
                  <a:pt x="0" y="152400"/>
                </a:moveTo>
                <a:cubicBezTo>
                  <a:pt x="0" y="68229"/>
                  <a:pt x="68229" y="0"/>
                  <a:pt x="152400" y="0"/>
                </a:cubicBezTo>
                <a:lnTo>
                  <a:pt x="3331464" y="0"/>
                </a:lnTo>
                <a:cubicBezTo>
                  <a:pt x="3415634" y="0"/>
                  <a:pt x="3483864" y="68229"/>
                  <a:pt x="3483864" y="152400"/>
                </a:cubicBezTo>
                <a:cubicBezTo>
                  <a:pt x="3483864" y="103311"/>
                  <a:pt x="3415635" y="63500"/>
                  <a:pt x="33314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79" name="TextBox 278"/>
          <p:cNvSpPr txBox="1"/>
          <p:nvPr/>
        </p:nvSpPr>
        <p:spPr>
          <a:xfrm>
            <a:off x="8202168" y="4197096"/>
            <a:ext cx="3017520" cy="237744"/>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4A9BE0"/>
                </a:solidFill>
                <a:latin typeface="Sora"/>
              </a:rPr>
              <a:t>ODOO</a:t>
            </a:r>
          </a:p>
        </p:txBody>
      </p:sp>
      <p:sp>
        <p:nvSpPr>
          <p:cNvPr id="280" name="TextBox 279"/>
          <p:cNvSpPr txBox="1"/>
          <p:nvPr/>
        </p:nvSpPr>
        <p:spPr>
          <a:xfrm>
            <a:off x="8202168" y="4535424"/>
            <a:ext cx="3063240" cy="548640"/>
          </a:xfrm>
          <a:prstGeom prst="rect">
            <a:avLst/>
          </a:prstGeom>
          <a:noFill/>
        </p:spPr>
        <p:txBody>
          <a:bodyPr wrap="square" lIns="0" tIns="0" rIns="0" bIns="0" anchor="t">
            <a:noAutofit/>
          </a:bodyPr>
          <a:lstStyle/>
          <a:p>
            <a:pPr algn="l">
              <a:lnSpc>
                <a:spcPct val="105000"/>
              </a:lnSpc>
              <a:spcBef>
                <a:spcPts val="0"/>
              </a:spcBef>
              <a:spcAft>
                <a:spcPts val="0"/>
              </a:spcAft>
            </a:pPr>
            <a:r>
              <a:rPr sz="1650" b="1" i="0">
                <a:solidFill>
                  <a:srgbClr val="FFFFFF"/>
                </a:solidFill>
                <a:latin typeface="Sora"/>
              </a:rPr>
              <a:t>Connexion testée</a:t>
            </a:r>
          </a:p>
        </p:txBody>
      </p:sp>
      <p:sp>
        <p:nvSpPr>
          <p:cNvPr id="281" name="TextBox 280"/>
          <p:cNvSpPr txBox="1"/>
          <p:nvPr/>
        </p:nvSpPr>
        <p:spPr>
          <a:xfrm>
            <a:off x="8202168" y="5157216"/>
            <a:ext cx="3063240" cy="77724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C9D1E8"/>
                </a:solidFill>
                <a:latin typeface="DM Sans"/>
              </a:rPr>
              <a:t>Workly atteint Odoo ; l’import des volumes reste à brancher.</a:t>
            </a:r>
          </a:p>
        </p:txBody>
      </p:sp>
      <p:sp>
        <p:nvSpPr>
          <p:cNvPr id="282" name="TextBox 281"/>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Valeurs : application Workly et exécutions réelles du livrable 3 ; gains issus du jeu de données de démonstration.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ORKLY : Modèles de prévision, validité et automatisation (2.3.3)">
  <a:themeElements>
    <a:clrScheme name="WORKLY : Modèles de prévision, validité et automatisation (2.3.3)">
      <a:dk1>
        <a:srgbClr val="1B2A4A"/>
      </a:dk1>
      <a:lt1>
        <a:srgbClr val="F4F6FB"/>
      </a:lt1>
      <a:dk2>
        <a:srgbClr val="515D76"/>
      </a:dk2>
      <a:lt2>
        <a:srgbClr val="DEE2E9"/>
      </a:lt2>
      <a:accent1>
        <a:srgbClr val="7ACFC0"/>
      </a:accent1>
      <a:accent2>
        <a:srgbClr val="6B3FA0"/>
      </a:accent2>
      <a:accent3>
        <a:srgbClr val="4A9BE0"/>
      </a:accent3>
      <a:accent4>
        <a:srgbClr val="B39DDB"/>
      </a:accent4>
      <a:accent5>
        <a:srgbClr val="A9B4D0"/>
      </a:accent5>
      <a:accent6>
        <a:srgbClr val="6B739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TotalTime>
  <Words>5322</Words>
  <Application>Microsoft Office PowerPoint</Application>
  <PresentationFormat>Grand écran</PresentationFormat>
  <Paragraphs>545</Paragraphs>
  <Slides>29</Slides>
  <Notes>27</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29</vt:i4>
      </vt:variant>
    </vt:vector>
  </HeadingPairs>
  <TitlesOfParts>
    <vt:vector size="37" baseType="lpstr">
      <vt:lpstr>Calibri</vt:lpstr>
      <vt:lpstr>Consolas</vt:lpstr>
      <vt:lpstr>DM Sans</vt:lpstr>
      <vt:lpstr>Arial</vt:lpstr>
      <vt:lpstr>Sora</vt:lpstr>
      <vt:lpstr>Source Sans 3</vt:lpstr>
      <vt:lpstr>Office Theme</vt:lpstr>
      <vt:lpstr>WORKLY : Modèles de prévision, validité et automatisation (2.3.3)</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Gradient Boosting est retenu car il répond à la congestion non linéaire sans modifier l’architecture</vt:lpstr>
      <vt:lpstr>Douze tâches planifiées automatisent les calculs ; les décisions engageantes restent humaines</vt:lpstr>
      <vt:lpstr>Les calculs sont automatiques et les choix de gestion restent manuels</vt:lpstr>
      <vt:lpstr>Les indicateurs et les alertes sont calculés ; la validation et la clôture restent manuelles</vt:lpstr>
      <vt:lpstr>Le processus automatise les calculs et réserve les décisions engageantes à un responsable</vt:lpstr>
      <vt:lpstr>Le processus automatise les calculs et réserve les décisions engageantes à un responsable</vt:lpstr>
      <vt:lpstr>Le Bottom line mesure l’impact de Workly face à un planning reconduit chaque semaine</vt:lpstr>
      <vt:lpstr>Use case : superviser la chaîne de nuit pour détecter une panne avant la journée de travail</vt:lpstr>
      <vt:lpstr>Le pilotage s’inverse : Workly planifie sa nuit, la plateforme la surveille et en rend compte</vt:lpstr>
      <vt:lpstr>Une chaîne complète de bout en bout : Cron, flux Agentic AI, deux agents et message Slack</vt:lpstr>
      <vt:lpstr>Le planificateur démarre sans interface graphique et exécute seul la chaîne de nuit</vt:lpstr>
      <vt:lpstr>L’écran Tâches de Workly montre l’état de chaque tâche et ouvre le journal d’exécution</vt:lpstr>
      <vt:lpstr>La route GET /bilan résume l’état des automatisations en un statut : succès, incomplet ou échec</vt:lpstr>
      <vt:lpstr>Le flux Agentic AI lit le bilan, le fait analyser puis rédiger, et l’envoie sur Slack</vt:lpstr>
      <vt:lpstr>Deux agents aux rôles séparés : l’un analyse en JSON, l’autre rédige le message</vt:lpstr>
      <vt:lpstr>Un Cron Fusion déclenche le flux chaque matin à 06:00  par un simple nœud HTTP</vt:lpstr>
      <vt:lpstr>Le message du matin change selon l’état de la nuit</vt:lpstr>
      <vt:lpstr>Cinq obstacles levés ; le plus structurant : Gemini refuse les outils de Composio</vt:lpstr>
      <vt:lpstr>Workly se connecte à Odoo par son API externe ; l’import des volumes reste à brancher</vt:lpstr>
      <vt:lpstr>Limites et prochaines étapes : signaler une panne, puis fiabiliser l’hébergement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EL WARDI HABIB</cp:lastModifiedBy>
  <cp:revision>16</cp:revision>
  <dcterms:created xsi:type="dcterms:W3CDTF">2026-10-02T20:17:43Z</dcterms:created>
  <dcterms:modified xsi:type="dcterms:W3CDTF">2026-10-09T21:54:51Z</dcterms:modified>
</cp:coreProperties>
</file>