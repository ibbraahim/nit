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32"/>
  </p:notesMasterIdLst>
  <p:sldIdLst>
    <p:sldId id="256" r:id="rId3"/>
    <p:sldId id="324" r:id="rId47"/>
    <p:sldId id="307" r:id="rId48"/>
    <p:sldId id="308" r:id="rId49"/>
    <p:sldId id="300" r:id="rId6"/>
    <p:sldId id="309" r:id="rId50"/>
    <p:sldId id="310" r:id="rId51"/>
    <p:sldId id="311" r:id="rId52"/>
    <p:sldId id="312" r:id="rId53"/>
    <p:sldId id="313" r:id="rId54"/>
    <p:sldId id="314" r:id="rId55"/>
    <p:sldId id="315" r:id="rId56"/>
    <p:sldId id="305" r:id="rId11"/>
    <p:sldId id="316" r:id="rId57"/>
    <p:sldId id="317" r:id="rId58"/>
    <p:sldId id="274" r:id="rId14"/>
    <p:sldId id="275" r:id="rId15"/>
    <p:sldId id="297" r:id="rId16"/>
    <p:sldId id="276" r:id="rId17"/>
    <p:sldId id="281" r:id="rId18"/>
    <p:sldId id="318" r:id="rId59"/>
    <p:sldId id="306" r:id="rId19"/>
    <p:sldId id="285" r:id="rId20"/>
    <p:sldId id="286" r:id="rId21"/>
    <p:sldId id="287" r:id="rId22"/>
    <p:sldId id="288" r:id="rId23"/>
    <p:sldId id="289" r:id="rId24"/>
    <p:sldId id="290" r:id="rId25"/>
    <p:sldId id="291" r:id="rId26"/>
    <p:sldId id="319" r:id="rId60"/>
    <p:sldId id="320" r:id="rId61"/>
    <p:sldId id="321" r:id="rId62"/>
    <p:sldId id="292" r:id="rId27"/>
    <p:sldId id="293" r:id="rId28"/>
    <p:sldId id="295" r:id="rId30"/>
    <p:sldId id="322" r:id="rId63"/>
    <p:sldId id="296" r:id="rId31"/>
    <p:sldId id="323" r:id="rId64"/>
  </p:sldIdLst>
  <p:sldSz cx="12192000" cy="6858000"/>
  <p:notesSz cx="6858000" cy="12192000"/>
  <p:embeddedFontLst>
    <p:embeddedFont>
      <p:font typeface="Consolas" panose="020B0609020204030204" pitchFamily="49" charset="0"/>
      <p:regular r:id="rId33"/>
      <p:bold r:id="rId34"/>
      <p:italic r:id="rId35"/>
      <p:boldItalic r:id="rId36"/>
    </p:embeddedFont>
    <p:embeddedFont>
      <p:font typeface="DM Sans" pitchFamily="2" charset="0"/>
      <p:regular r:id="rId37"/>
      <p:bold r:id="rId38"/>
      <p:italic r:id="rId39"/>
      <p:boldItalic r:id="rId40"/>
    </p:embeddedFont>
    <p:embeddedFont>
      <p:font typeface="Sora" panose="020B0604020202020204"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5" roundtripDataSignature="AMtx7mgw+XJJYjX9oEtzHzcteUKfSoJj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09B6FF-CDFB-4AB1-8E42-484B63002EFC}">
  <a:tblStyle styleId="{2709B6FF-CDFB-4AB1-8E42-484B63002EF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4660"/>
  </p:normalViewPr>
  <p:slideViewPr>
    <p:cSldViewPr snapToGrid="0">
      <p:cViewPr varScale="1">
        <p:scale>
          <a:sx n="78" d="100"/>
          <a:sy n="78" d="100"/>
        </p:scale>
        <p:origin x="89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6" Type="http://schemas.openxmlformats.org/officeDocument/2006/relationships/slide" Target="slides/slide4.xml"/><Relationship Id="rId11" Type="http://schemas.openxmlformats.org/officeDocument/2006/relationships/slide" Target="slides/slide9.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schemas.openxmlformats.org/officeDocument/2006/relationships/font" Target="fonts/font9.fntdata"/><Relationship Id="rId42" Type="http://schemas.openxmlformats.org/officeDocument/2006/relationships/font" Target="fonts/font10.fntdata"/><Relationship Id="rId47" Type="http://schemas.openxmlformats.org/officeDocument/2006/relationships/slide" Target="slides/slide47.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 Id="rId51" Type="http://schemas.openxmlformats.org/officeDocument/2006/relationships/slide" Target="slides/slide33.xml"/><Relationship Id="rId52" Type="http://schemas.openxmlformats.org/officeDocument/2006/relationships/slide" Target="slides/slide34.xml"/><Relationship Id="rId53" Type="http://schemas.openxmlformats.org/officeDocument/2006/relationships/slide" Target="slides/slide35.xml"/><Relationship Id="rId54" Type="http://schemas.openxmlformats.org/officeDocument/2006/relationships/slide" Target="slides/slide36.xml"/><Relationship Id="rId55" Type="http://schemas.openxmlformats.org/officeDocument/2006/relationships/slide" Target="slides/slide37.xml"/><Relationship Id="rId56" Type="http://schemas.openxmlformats.org/officeDocument/2006/relationships/slide" Target="slides/slide38.xml"/><Relationship Id="rId57" Type="http://schemas.openxmlformats.org/officeDocument/2006/relationships/slide" Target="slides/slide39.xml"/><Relationship Id="rId58" Type="http://schemas.openxmlformats.org/officeDocument/2006/relationships/slide" Target="slides/slide40.xml"/><Relationship Id="rId59" Type="http://schemas.openxmlformats.org/officeDocument/2006/relationships/slide" Target="slides/slide41.xml"/><Relationship Id="rId60" Type="http://schemas.openxmlformats.org/officeDocument/2006/relationships/slide" Target="slides/slide42.xml"/><Relationship Id="rId61" Type="http://schemas.openxmlformats.org/officeDocument/2006/relationships/slide" Target="slides/slide43.xml"/><Relationship Id="rId62" Type="http://schemas.openxmlformats.org/officeDocument/2006/relationships/slide" Target="slides/slide44.xml"/><Relationship Id="rId63" Type="http://schemas.openxmlformats.org/officeDocument/2006/relationships/slide" Target="slides/slide45.xml"/><Relationship Id="rId64" Type="http://schemas.openxmlformats.org/officeDocument/2006/relationships/slide" Target="slides/slide46.xml"/><Relationship Id="rId65" Type="http://customschemas.google.com/relationships/presentationmetadata" Target="metadata"/><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Sans Workly</c:v>
                </c:pt>
              </c:strCache>
            </c:strRef>
          </c:tx>
          <c:spPr>
            <a:solidFill>
              <a:srgbClr val="B39DDB"/>
            </a:solidFill>
          </c:spPr>
          <c:cat>
            <c:strRef>
              <c:f>Sheet1!$A$2:$A$5</c:f>
              <c:strCache>
                <c:ptCount val="4"/>
                <c:pt idx="0">
                  <c:v>Coût total</c:v>
                </c:pt>
                <c:pt idx="1">
                  <c:v>Gaspillage d’heures</c:v>
                </c:pt>
                <c:pt idx="2">
                  <c:v>Heures sup.</c:v>
                </c:pt>
                <c:pt idx="3">
                  <c:v>Pénalités</c:v>
                </c:pt>
              </c:strCache>
            </c:strRef>
          </c:cat>
          <c:val>
            <c:numRef>
              <c:f>Sheet1!$B$2:$B$5</c:f>
              <c:numCache>
                <c:formatCode>General</c:formatCode>
                <c:ptCount val="4"/>
                <c:pt idx="0">
                  <c:v>100</c:v>
                </c:pt>
                <c:pt idx="1">
                  <c:v>100</c:v>
                </c:pt>
                <c:pt idx="2">
                  <c:v>100</c:v>
                </c:pt>
                <c:pt idx="3">
                  <c:v>100</c:v>
                </c:pt>
              </c:numCache>
            </c:numRef>
          </c:val>
        </c:ser>
        <c:ser>
          <c:idx val="1"/>
          <c:order val="1"/>
          <c:tx>
            <c:strRef>
              <c:f>Sheet1!$C$1</c:f>
              <c:strCache>
                <c:ptCount val="1"/>
                <c:pt idx="0">
                  <c:v>Avec Workly</c:v>
                </c:pt>
              </c:strCache>
            </c:strRef>
          </c:tx>
          <c:spPr>
            <a:solidFill>
              <a:srgbClr val="6B3FA0"/>
            </a:solidFill>
          </c:spPr>
          <c:cat>
            <c:strRef>
              <c:f>Sheet1!$A$2:$A$5</c:f>
              <c:strCache>
                <c:ptCount val="4"/>
                <c:pt idx="0">
                  <c:v>Coût total</c:v>
                </c:pt>
                <c:pt idx="1">
                  <c:v>Gaspillage d’heures</c:v>
                </c:pt>
                <c:pt idx="2">
                  <c:v>Heures sup.</c:v>
                </c:pt>
                <c:pt idx="3">
                  <c:v>Pénalités</c:v>
                </c:pt>
              </c:strCache>
            </c:strRef>
          </c:cat>
          <c:val>
            <c:numRef>
              <c:f>Sheet1!$C$2:$C$5</c:f>
              <c:numCache>
                <c:formatCode>General</c:formatCode>
                <c:ptCount val="4"/>
                <c:pt idx="0">
                  <c:v>97</c:v>
                </c:pt>
                <c:pt idx="1">
                  <c:v>43</c:v>
                </c:pt>
                <c:pt idx="2">
                  <c:v>2</c:v>
                </c:pt>
                <c:pt idx="3">
                  <c:v>2</c:v>
                </c:pt>
              </c:numCache>
            </c:numRef>
          </c:val>
        </c:ser>
        <c:dLbls>
          <c:numFmt formatCode="0" sourceLinked="0"/>
          <c:txPr>
            <a:bodyPr/>
            <a:lstStyle/>
            <a:p>
              <a:pPr>
                <a:defRPr sz="1100" b="1">
                  <a:solidFill>
                    <a:srgbClr val="1B2A4A"/>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none"/>
        <c:minorTickMark val="none"/>
        <c:tickLblPos val="nextTo"/>
        <c:spPr>
          <a:ln>
            <a:solidFill>
              <a:srgbClr val="D5DAE8"/>
            </a:solidFill>
          </a:ln>
        </c:spPr>
        <c:txPr>
          <a:bodyPr/>
          <a:lstStyle/>
          <a:p>
            <a:pPr>
              <a:defRPr sz="1050"/>
            </a:pPr>
          </a:p>
        </c:txPr>
        <c:crossAx val="-2113994440"/>
        <c:crosses val="autoZero"/>
        <c:auto val="1"/>
        <c:lblAlgn val="ctr"/>
        <c:lblOffset val="100"/>
        <c:noMultiLvlLbl val="0"/>
      </c:catAx>
      <c:valAx>
        <c:axId val="-2113994440"/>
        <c:scaling>
          <c:max val="125.0"/>
          <c:min val="0.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050">
          <a:solidFill>
            <a:srgbClr val="2B3350"/>
          </a:solidFill>
          <a:latin typeface="DM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MAD</c:v>
                </c:pt>
              </c:strCache>
            </c:strRef>
          </c:tx>
          <c:spPr>
            <a:solidFill>
              <a:srgbClr val="6B3FA0"/>
            </a:solidFill>
          </c:spPr>
          <c:dPt>
            <c:idx val="0"/>
            <c:spPr>
              <a:solidFill>
                <a:srgbClr val="6B3FA0"/>
              </a:solidFill>
            </c:spPr>
          </c:dPt>
          <c:dPt>
            <c:idx val="1"/>
            <c:spPr>
              <a:solidFill>
                <a:srgbClr val="4A9BE0"/>
              </a:solidFill>
            </c:spPr>
          </c:dPt>
          <c:dPt>
            <c:idx val="2"/>
            <c:spPr>
              <a:solidFill>
                <a:srgbClr val="7ACFC0"/>
              </a:solidFill>
            </c:spPr>
          </c:dPt>
          <c:cat>
            <c:strRef>
              <c:f>Sheet1!$A$2:$A$4</c:f>
              <c:strCache>
                <c:ptCount val="3"/>
                <c:pt idx="0">
                  <c:v>Pénalités de retard évitées</c:v>
                </c:pt>
                <c:pt idx="1">
                  <c:v>Main-d’œuvre (heures sup. et inutilisées)</c:v>
                </c:pt>
                <c:pt idx="2">
                  <c:v>Pénurie traitée à l’avance</c:v>
                </c:pt>
              </c:strCache>
            </c:strRef>
          </c:cat>
          <c:val>
            <c:numRef>
              <c:f>Sheet1!$B$2:$B$4</c:f>
              <c:numCache>
                <c:formatCode>General</c:formatCode>
                <c:ptCount val="3"/>
                <c:pt idx="0">
                  <c:v>10849</c:v>
                </c:pt>
                <c:pt idx="1">
                  <c:v>2764</c:v>
                </c:pt>
                <c:pt idx="2">
                  <c:v>1500</c:v>
                </c:pt>
              </c:numCache>
            </c:numRef>
          </c:val>
        </c:ser>
        <c:dLbls>
          <c:numFmt formatCode="#,##0" sourceLinked="0"/>
          <c:txPr>
            <a:bodyPr/>
            <a:lstStyle/>
            <a:p>
              <a:pPr>
                <a:defRPr sz="1050" b="1">
                  <a:solidFill>
                    <a:srgbClr val="1B2A4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none"/>
        <c:minorTickMark val="none"/>
        <c:tickLblPos val="nextTo"/>
        <c:spPr>
          <a:ln>
            <a:solidFill>
              <a:srgbClr val="D5DAE8"/>
            </a:solidFill>
          </a:ln>
        </c:spPr>
        <c:txPr>
          <a:bodyPr/>
          <a:lstStyle/>
          <a:p>
            <a:pPr>
              <a:defRPr sz="1000"/>
            </a:pPr>
          </a:p>
        </c:txPr>
        <c:crossAx val="-2113994440"/>
        <c:crosses val="autoZero"/>
        <c:auto val="1"/>
        <c:lblAlgn val="ctr"/>
        <c:lblOffset val="100"/>
        <c:noMultiLvlLbl val="0"/>
      </c:catAx>
      <c:valAx>
        <c:axId val="-2113994440"/>
        <c:scaling>
          <c:max val="15500.0"/>
          <c:min val="0.0"/>
        </c:scaling>
        <c:delete/>
        <c:axPos val="b"/>
        <c:majorTickMark val="out"/>
        <c:minorTickMark val="none"/>
        <c:tickLblPos val="nextTo"/>
        <c:crossAx val="-2068027336"/>
        <c:crosses val="autoZero"/>
      </c:valAx>
    </c:plotArea>
    <c:dispBlanksAs val="gap"/>
  </c:chart>
  <c:txPr>
    <a:bodyPr/>
    <a:lstStyle/>
    <a:p>
      <a:pPr>
        <a:defRPr sz="1000">
          <a:solidFill>
            <a:srgbClr val="2B3350"/>
          </a:solidFill>
          <a:latin typeface="DM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MAD</c:v>
                </c:pt>
              </c:strCache>
            </c:strRef>
          </c:tx>
          <c:spPr>
            <a:solidFill>
              <a:srgbClr val="1B2A4A"/>
            </a:solidFill>
          </c:spPr>
          <c:dPt>
            <c:idx val="0"/>
            <c:spPr>
              <a:solidFill>
                <a:srgbClr val="1B2A4A"/>
              </a:solidFill>
            </c:spPr>
          </c:dPt>
          <c:dPt>
            <c:idx val="1"/>
            <c:spPr>
              <a:solidFill>
                <a:srgbClr val="1B2A4A"/>
              </a:solidFill>
            </c:spPr>
          </c:dPt>
          <c:dPt>
            <c:idx val="2"/>
            <c:spPr>
              <a:solidFill>
                <a:srgbClr val="B39DDB"/>
              </a:solidFill>
            </c:spPr>
          </c:dPt>
          <c:dPt>
            <c:idx val="3"/>
            <c:spPr>
              <a:solidFill>
                <a:srgbClr val="B39DDB"/>
              </a:solidFill>
            </c:spPr>
          </c:dPt>
          <c:cat>
            <c:strRef>
              <c:f>Sheet1!$A$2:$A$5</c:f>
              <c:strCache>
                <c:ptCount val="4"/>
                <c:pt idx="0">
                  <c:v>Expédition</c:v>
                </c:pt>
                <c:pt idx="1">
                  <c:v>Stockage</c:v>
                </c:pt>
                <c:pt idx="2">
                  <c:v>Réception</c:v>
                </c:pt>
                <c:pt idx="3">
                  <c:v>Préparation</c:v>
                </c:pt>
              </c:strCache>
            </c:strRef>
          </c:cat>
          <c:val>
            <c:numRef>
              <c:f>Sheet1!$B$2:$B$5</c:f>
              <c:numCache>
                <c:formatCode>General</c:formatCode>
                <c:ptCount val="4"/>
                <c:pt idx="0">
                  <c:v>6054</c:v>
                </c:pt>
                <c:pt idx="1">
                  <c:v>5353</c:v>
                </c:pt>
                <c:pt idx="2">
                  <c:v>1525</c:v>
                </c:pt>
                <c:pt idx="3">
                  <c:v>681</c:v>
                </c:pt>
              </c:numCache>
            </c:numRef>
          </c:val>
        </c:ser>
        <c:dLbls>
          <c:numFmt formatCode="#,##0" sourceLinked="0"/>
          <c:txPr>
            <a:bodyPr/>
            <a:lstStyle/>
            <a:p>
              <a:pPr>
                <a:defRPr sz="1050" b="1">
                  <a:solidFill>
                    <a:srgbClr val="1B2A4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none"/>
        <c:minorTickMark val="none"/>
        <c:tickLblPos val="nextTo"/>
        <c:spPr>
          <a:ln>
            <a:solidFill>
              <a:srgbClr val="D5DAE8"/>
            </a:solidFill>
          </a:ln>
        </c:spPr>
        <c:txPr>
          <a:bodyPr/>
          <a:lstStyle/>
          <a:p>
            <a:pPr>
              <a:defRPr sz="1000"/>
            </a:pPr>
          </a:p>
        </c:txPr>
        <c:crossAx val="-2113994440"/>
        <c:crosses val="autoZero"/>
        <c:auto val="1"/>
        <c:lblAlgn val="ctr"/>
        <c:lblOffset val="100"/>
        <c:noMultiLvlLbl val="0"/>
      </c:catAx>
      <c:valAx>
        <c:axId val="-2113994440"/>
        <c:scaling>
          <c:max val="8000.0"/>
          <c:min val="0.0"/>
        </c:scaling>
        <c:delete/>
        <c:axPos val="b"/>
        <c:majorTickMark val="out"/>
        <c:minorTickMark val="none"/>
        <c:tickLblPos val="nextTo"/>
        <c:crossAx val="-2068027336"/>
        <c:crosses val="autoZero"/>
      </c:valAx>
    </c:plotArea>
    <c:dispBlanksAs val="gap"/>
  </c:chart>
  <c:txPr>
    <a:bodyPr/>
    <a:lstStyle/>
    <a:p>
      <a:pPr>
        <a:defRPr sz="1000">
          <a:solidFill>
            <a:srgbClr val="2B3350"/>
          </a:solidFill>
          <a:latin typeface="DM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 name="Google Shape;27;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Livrable 3 de l’équipe 15 : nous présentons Workly, l’application de planification des ressources humaines et des équipements. Nous commençons par le contexte, puis les modèles de prévision, l’automatisation, le Bottom line et l’automatisation supervisée par des agents IA, avec un outil RAG.</a:t>
            </a:r>
          </a:p>
        </p:txBody>
      </p:sp>
      <p:sp>
        <p:nvSpPr>
          <p:cNvPr id="28" name="Google Shape;28;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rgbClr val="000000"/>
                </a:solidFill>
                <a:latin typeface="Arial"/>
                <a:ea typeface="Arial"/>
                <a:cs typeface="Arial"/>
                <a:sym typeface="Arial"/>
              </a:rPr>
              <a:t>1</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Six approches de prévision ont été comparées : régression linéaire, réseau de neurones, forêt aléatoire, gradient boosting, GAM et processus gaussien. Nous retenons le gradient boosting : un bon compromis entre précision, prise en compte des relations non linéaires et facilité de mise en œuvre.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Cette première moitié couvre les cas d’usage UC01 à UC13. Le critère est unique : un calcul sans jugement est automatique, un choix ou un arbitrage est manuel. Le jury peut vérifier en particulier que l’activation d’un modèle, UC10, n’est jamais automatique, même après un bon score. La diapositive suivante couvre les cas d’usage UC14 à UC24.</a:t>
            </a:r>
            <a:endParaRPr/>
          </a:p>
        </p:txBody>
      </p:sp>
      <p:sp>
        <p:nvSpPr>
          <p:cNvPr id="449" name="Google Shape;449;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5" name="Google Shape;465;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Cette seconde moitié couvre les cas d’usage UC14 à UC24. Le calcul des KPI, des alertes, de la dérive et des rapports est automatique. Valider un plan, définir les cibles, traiter les alertes et exporter un rapport restent manuels. UC22 est le seul cas mixte : la vue est automatique, la consultation est manuelle. Le diagramme BPMN regroupe l’ensemble de ces workflows.</a:t>
            </a:r>
            <a:endParaRPr/>
          </a:p>
        </p:txBody>
      </p:sp>
      <p:sp>
        <p:nvSpPr>
          <p:cNvPr id="466" name="Google Shape;466;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Le diagramme BPMN rassemble tous les workflows ; la légende distingue les tâches automatiques, les tâches manuelles et les passerelles de décision. Le jury doit retenir que le processus automatise les calculs et réserve les décisions engageantes à un responsable. [à compléter : lecture du diagramme une fois la figure insérée]. La partie 4 présente les limites et l’apport attendu.</a:t>
            </a:r>
            <a:endParaRPr/>
          </a:p>
        </p:txBody>
      </p:sp>
      <p:sp>
        <p:nvSpPr>
          <p:cNvPr id="483" name="Google Shape;483;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3805258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Le diagramme BPMN rassemble tous les workflows ; la légende distingue les tâches automatiques, les tâches manuelles et les passerelles de décision. Le jury doit retenir que le processus automatise les calculs et réserve les décisions engageantes à un responsable. [à compléter : lecture du diagramme une fois la figure insérée]. La partie 4 présente les limites et l’apport attendu.</a:t>
            </a:r>
            <a:endParaRPr/>
          </a:p>
        </p:txBody>
      </p:sp>
      <p:sp>
        <p:nvSpPr>
          <p:cNvPr id="483" name="Google Shape;483;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1" name="Google Shape;551;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Le Bottom line compare deux façons de planifier sur le même besoin réel : reconduire chaque semaine le plan de la semaine précédente, ou suivre la prévision de Workly. Résultat : 771 heures mal allouées évitées, 542 commandes en retard évitées, un taux de service qui passe de 94,6 % à 99,9 % et un gain net de 15 113 MAD, soit 183 874 MAD par an. Ce sont des résultats de simulation sur le jeu de données de démonstration.</a:t>
            </a:r>
          </a:p>
        </p:txBody>
      </p:sp>
      <p:sp>
        <p:nvSpPr>
          <p:cNvPr id="552" name="Google Shape;552;p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rgbClr val="000000"/>
                </a:solidFill>
                <a:latin typeface="Arial"/>
                <a:ea typeface="Arial"/>
                <a:cs typeface="Arial"/>
                <a:sym typeface="Arial"/>
              </a:rPr>
              <a:t>16</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Description du use case. Aujourd’hui, Workly exécute seul sa chaîne de nuit, mais personne n’est prévenu si elle échoue ou si elle ne tourne pas, par exemple parce que le PC est éteint : Workly ne peut pas signaler sa propre absence, et le contrôle du journal reste manuel. Le use case ajoute une supervision automatique : chaque matin, la plateforme lit la route de bilan, deux agents analysent et rédigent, et un message part sur Slack. La cible Bottom line est proposée par l’équipe : toutes les nuits supervisées sans action manuelle, une panne détectée en six heures au plus, et une meilleure prise en charge des alertes. Les valeurs de départ viennent de l’onglet Bottom line du livrable 2 (alertes traitées 28 %, prise en charge 18,3 h) et de la nuit mesurée du 7 octobre (2,7 h de temps manuel évité). Les cibles restent à valider.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Jusqu’au livrable 2, la plateforme pilotait chaque étape : dix-sept nœuds HTTP, un par tâche, et un jeton saisi dans chacun. Cette semaine, nous avons inversé le pilotage. Workly enchaîne lui-même ses huit étapes de nuit ; la plateforme se contente de lire un bilan, de le faire analyser par deux agents et de prévenir l’équipe. Le jury doit retenir le principe : Workly planifie et exécute, la plateforme surveille et prévient.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Voici la chaîne complète. À 00:30 UTC, Workly exécute seul les huit étapes de la nuit. À 06:00 UTC, un Cron Fusion lance le flux Agentic AI. Le flux lit le bilan de Workly, accompagné des passages utiles de la base de connaissances, deux agents l’analysent puis rédigent le message, et un message arrive sur Slack.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Le planificateur de Workly démarre sans interface graphique et exécute seul la chaîne de nuit : sauvegarde, import, comparaison, KPI, alertes, prévisions et rapport, dans l’ordre des dépendances. L’heure est explicite, 00:30 UTC. Si le PC dort à l’heure prévue, la nuit part au réveil.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Dans Workly, l’onglet Tâches de l’administration liste les douze tâches avec leur étape de pipeline, leur dernière et leur prochaine exécution et leur dernier statut. Un bouton exécute la tâche sélectionnée, un autre ouvre le journal. Les exécutions lancées de l’extérieur, par la plateforme, apparaissent au même endroit : le journal est la source unique que lit la route de bilan. [à compléter : lecture de la capture une fois insérée]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Le bilan lit le journal des tâches et le résume en un statut : succès, incomplet ou échec. Incomplet signifie qu’une étape de la nuit n’a pas réussi depuis trente heures, par exemple parce que le PC était éteint. Ce cas s’est produit en réel : le bilan l’a signalé et la chaîne a été relancée. À droite, les mesures de la nuit du 6 au 7 octobre : huit étapes réussies sur huit en 2,1 secondes.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Le flux comporte cinq étapes. Une API Request lit le bilan de Workly avec, en cas de panne, les passages de la base de connaissances. Le Parser et le Prompt Template le mettent en forme. L’agent Analyste évalue la gravité et cite sa source. L’agent Rédacteur écrit le message. Enfin le message est envoyé sur Slack.</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Nous avons séparé deux rôles. L’Analyste ne travaille que sur les données reçues : le bilan et les passages de la base de connaissances ; il évalue la gravité, la cause probable et l’action, et cite sa source. Le Rédacteur transforme cette analyse en un court message en français, sans adresse ni jeton. L’exemple montré est celui d’une nuit non exécutée parce que le PC était éteint.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Côté Fusion, il ne reste qu’un Cron et un nœud HTTP. Le Cron s’exprime en UTC et s’active dès l’enregistrement du workflow. Le nœud appelle le flux avec un jeton Bearer, sans corps. Son délai se règle en millisecondes : nous avons perdu du temps avec la valeur 120, qui produisait une erreur de délai, avant de saisir 120 000. [à compléter : lecture de la capture du canevas une fois insérée]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Démonstration. Le même flux produit des messages différents selon l’état de la nuit. Pour une nuit non exécutée, le message donne la cause probable et l’action, tirées de la base de connaissances. Quand tout va bien, il le dit en deux lignes et aucune intervention n’est requise.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cartographie de la chaîne d’approvisionnement. Le flux physique va des fournisseurs aux clients en passant par l’achat, la production et la gestion de stock ; la prévision et la planification pilotent l’ensemble, la logistique inverse et le contrôle qualité l’entourent. Notre application se situe dans la prévision et la planification.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Workly se connecte à Odoo par l’API externe XML-RPC, avec une clé API conservée dans des variables d’environnement du PC. Le test renvoie la version 20.0+e et zéro commande de vente, car la base de démonstration est vide. L’import des commandes comme volumes prévus reste à réaliser : c’est la prochaine source de données, en plus de l’application.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Limites assumées : le PC doit rester allumé, sinon le bilan est injoignable ; l’alerte passe par Slack ; l’adresse publique gratuite est liée à un compte personnel ; la base de connaissances ne couvre que les pannes déjà décrites, et l’agent le dit quand il ne sait pas. Prochaines étapes : alerter quand Workly ne répond pas, héberger Workly sur un serveur permanent, importer les commandes Odoo, et mesurer la fiabilité sur plusieurs nuits.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Partir de la définition de référence du CSCMP, qui sert de cadre à toute la cartographie. La définition ne se limite pas à l’entreprise : elle inclut les partenaires, en amont comme en aval. Trois mots-clés : planifier, qui renvoie au métier 2, coordonner, qui renvoie aux relations avec fournisseurs et clients, intégrer l’offre et la demande, qui concerne l’ensemble du flux. La traduction est la nôtre. Original : « Supply chain management encompasses the planning and management of all activities involved in sourcing and procurement, conversion, and all logistics management activities. Importantly, it also includes coordination and collaboration with channel partners, which can be suppliers, intermediaries, third party service providers, and customers. In essence, supply chain management integrates supply and demand management within and across companies. »</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Montrer que la gestion logistique est une partie du supply chain management, pas un synonyme. Insister sur les deux sens du flux : le sens retour fera l’objet d’un métier à part entière, la logistique inverse. L’information circule avec les biens, ce qui justifie les outils de planification. Transition : la cartographie qui suit découpe ce périmètre en métiers.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Clarifions deux notions. Un processus est un ensemble d’activités liées qui transforment des éléments d’entrée en un résultat attendu : c’est la définition de la norme ISO 9000, reformulée. Un sous-processus est une partie d’un processus : un groupe d’activités plus fin, avec ses propres entrées et son propre résultat. Dans la cartographie CSCMP, trois niveaux s’emboîtent : les métiers, qui sont les grands processus, les sous-métiers, et les sous-processus. Notre exemple : le métier 2, Prévision et planification, contient le sous-métier 2.3, Planification des capacités, qui contient le sous-processus 2.3.3, Ressources humaines et équipements.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cartographie CSCMP complète, avec ses neuf métiers et ses cinquante-cinq sous-processus. Tout est atténué, sauf l’endroit qui nous intéresse. Il se trouve dans le métier 2, Prévision et planification, dans le sous-métier 2.3, Planification des capacités. Ce sous-métier compte trois sous-processus : les capacités d’entreposage, les capacités de transport, et le 2.3.3, Ressources humaines et équipements, qui est le nôtre.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Replacer le 2.3.3 dans sa famille : ses deux voisins dimensionnent l’espace et les véhicules, lui dimensionne les personnes et les machines. Insister sur le mot « transforme » : le 2.3.3 ne prévoit pas la demande, il part d’une prévision déjà faite. Lire la question à voix haute et marquer un temps : c’est la question que se pose chaque responsable de plateforme. Annoncer la diapositive suivante, qui détaille ses entrées et ses sorties.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Lire le schéma de gauche à droite. À l’entrée, la prévision de volume vient d’un autre sous-processus, le 2.1.1 : le 2.3.3 la reçoit, il ne la produit pas. Au centre, le calcul est le cœur de notre application. À la sortie, les couleurs montrent que le plan sert à la fois la planification (vert) et les métiers d’exécution dans l’entrepôt (orange et violet).</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Désamorcer une objection fréquente : la prévision n’est pas en cause, puisque le pic était connu dès le lundi. Pointer la case en pointillés du schéma, c’est exactement le maillon qui manque. Souligner les deux limites actuelles : l’intuition, qui dépend d’une personne, et les ratios figés, qui ne suivent pas les variations de volume. Lire ensuite la problématique lentement, en insistant sur la fin : il faut aussi pouvoir mesurer la fiabilité.</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objectif est un résultat à atteindre, que l’on formule de façon précise et mesurable : c’est la définition de la norme ISO 9000, reformulée. Notre application, qui porte sur le sous-processus 2.3.3, poursuit quatre objectifs. Le premier répond à la situation du jeudi, en prévenant à l’avance. Le deuxième permet de savoir si le plan est tenu, grâce à des cibles et à un code couleur. Le troisième répond à la fin de la problématique, mesurer la fiabilité, en comparant trois approches de prévision au réel. Le quatrième rend ces informations lisibles pour chaque rôle.</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diagramme de cas d’utilisation montre ce que fait l’application et qui l’utilise. Six acteurs : quatre utilisateurs humains, le planificateur, le responsable d’exploitation, la direction et l’administrateur, et deux acteurs techniques, le système source, WMS ou SIRH, qui fournit les données, et le planificateur de tâches, qui lance les traitements automatiques. Vingt-quatre cas d’utilisation sont regroupés en sept paquets, un par grande fonction. La relation include désigne une étape toujours exécutée, la relation extend une étape sous condition.</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Nous retenons le Gradient Boosting pour trois raisons : il capte la congestion non linéaire du jeu de démonstration, il s’intègre à l’architecture existante sans la modifier, et il se compare aux deux autres approches avec les mêmes métriques. Les alternatives étudiées, forêt aléatoire, GAM et processus gaussien, ont été écartées. Limite assumée : le modèle n’extrapole pas, la régression linéaire reste le filet de sécurité. Il est intégré à l’application : entraînement, prévision, comparaison et rapports.</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Douze tâches planifiées automatisent les calculs : huit chaque nuit, et quatre périodiques (hebdomadaire, capacités de la semaine, mensuel, annuel). Sur les 24 cas d’usage, 11 sont entièrement automatiques, 12 exigent une décision humaine, UC01 compris, et un seul est mixte, UC22. Ce qui reste manuel engage une responsabilité et ne résulte pas d’un manque d’outillage.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Premier graphique : à indice 100 pour le planning reconduit, le coût total passe à 97, le gaspillage d’heures à 43, les heures supplémentaires et les pénalités à 2. Le coût total baisse peu, mais sa composition change. Le taux de service passe de 94,6 % à 99,9 %. Deuxième graphique : sur les 15 113 MAD de gain net, 10 849 viennent des pénalités évitées, 2 764 de la main-d’œuvre et 1 500 d’une pénurie d’équipement traitée à l’avance. Troisième graphique : l’expédition et le stockage portent 84 % du gain de planification. Annualisé, le gain atteint 183 874 MAD. Ce sont des résultats de simulation sur le jeu de données de démonstration.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RAG suit trois étapes. Recherche, ou retrieval : à partir des pannes du bilan, Workly construit une question et retrouve les passages les plus proches dans la base de connaissances. Augmentation : ces passages sont ajoutés au bilan, puis donnés à l’agent avec sa consigne. Génération : l’agent Analyste explique la panne à partir de ces passages et cite la section utilisée, puis le Rédacteur écrit le message. La base compte vingt-sept sections tirées du fonctionnement réel de Workly. Si aucune section ne correspond, l’agent répond « cause inconnue dans la base » au lieu d’inventer.</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flux Agentic AI reste le même, avec une seule différence : l’appel au bilan demande aussi les connaissances. Dans Workly, le bilan est construit à partir du journal des tâches ; quand il y a une panne, Workly formule une question, retrouve les trois passages les plus proches dans la base et les ajoute au bilan. Dans le flux, l’Analyste reçoit ce bilan enrichi et cite sa source, le Rédacteur écrit le message et Slack le reçoit. Quand la nuit est réussie, aucun passage n’est ajouté.</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Premier constat : pour la même situation, une nuit incomplète, le message sans RAG restait générique : vérifier le planificateur ou les services. Avec le RAG, il donne la cause probable, un PC éteint ou en veille à 00:30 UTC, et la procédure de reprise. Deuxième constat : le flux produit trois messages différents selon l’état de la nuit. Pour une panne simulée de la sauvegarde, il indique que l’outil de sauvegarde est introuvable ; pour une nuit non exécutée, il propose de relancer le planificateur ; quand tout va bien, il le dit en deux lignes.</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ce que nous avons atteint. Les modèles : trois approches comparées, dont le gradient boosting, retenu et intégré. L’automatisation : douze tâches planifiées, dont huit étapes chaque nuit, sans interface graphique. Le Bottom line : un gain net de 15 113 MAD sur la période de démonstration, soit 183 874 MAD par an, et un taux de service de 94,6 % à 99,9 %. La supervision : un bilan en trois statuts, analysé par deux agents et envoyé sur Slack chaque matin. Le RAG : vingt-sept sections de connaissances, dont les agents citent la source. Enfin la connexion à Odoo, testée.</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Merci de votre attention. Nous sommes à votre disposition pour vos questions.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plan compte une partie de contexte puis quatre parties : les modèles de prévision, l’automatisation, le Bottom line, puis l’automatisation supervisée par des agents IA, avec l’outil RAG. Nous commençons par le contexte : la supply chain selon le CSCMP, les processus, notre sous-processus, les objectifs et les cas d’utilisation.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4F6FB"/>
        </a:solidFill>
        <a:effectLst/>
      </p:bgPr>
    </p:bg>
    <p:spTree>
      <p:nvGrpSpPr>
        <p:cNvPr id="1" name="Shape 10"/>
        <p:cNvGrpSpPr/>
        <p:nvPr/>
      </p:nvGrpSpPr>
      <p:grpSpPr>
        <a:xfrm>
          <a:off x="0" y="0"/>
          <a:ext cx="0" cy="0"/>
          <a:chOff x="0" y="0"/>
          <a:chExt cx="0" cy="0"/>
        </a:xfrm>
      </p:grpSpPr>
      <p:sp>
        <p:nvSpPr>
          <p:cNvPr id="11" name="Google Shape;11;p33"/>
          <p:cNvSpPr txBox="1">
            <a:spLocks noGrp="1"/>
          </p:cNvSpPr>
          <p:nvPr>
            <p:ph type="title"/>
          </p:nvPr>
        </p:nvSpPr>
        <p:spPr>
          <a:xfrm>
            <a:off x="698500" y="919481"/>
            <a:ext cx="10795000" cy="64008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B2A4A"/>
              </a:buClr>
              <a:buSzPts val="2100"/>
              <a:buFont typeface="Sora"/>
              <a:buNone/>
              <a:defRPr sz="2100">
                <a:solidFill>
                  <a:srgbClr val="1B2A4A"/>
                </a:solidFill>
                <a:latin typeface="Sora"/>
                <a:ea typeface="Sora"/>
                <a:cs typeface="Sora"/>
                <a:sym typeface="So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 name="Google Shape;12;p33"/>
          <p:cNvSpPr txBox="1">
            <a:spLocks noGrp="1"/>
          </p:cNvSpPr>
          <p:nvPr>
            <p:ph type="body" idx="1"/>
          </p:nvPr>
        </p:nvSpPr>
        <p:spPr>
          <a:xfrm>
            <a:off x="698500" y="1864361"/>
            <a:ext cx="10680700" cy="4180839"/>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1B2A4A"/>
              </a:buClr>
              <a:buSzPts val="1600"/>
              <a:buNone/>
              <a:defRPr sz="1600">
                <a:solidFill>
                  <a:srgbClr val="1B2A4A"/>
                </a:solidFill>
                <a:latin typeface="DM Sans"/>
                <a:ea typeface="DM Sans"/>
                <a:cs typeface="DM Sans"/>
                <a:sym typeface="DM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7"/>
        <p:cNvGrpSpPr/>
        <p:nvPr/>
      </p:nvGrpSpPr>
      <p:grpSpPr>
        <a:xfrm>
          <a:off x="0" y="0"/>
          <a:ext cx="0" cy="0"/>
          <a:chOff x="0" y="0"/>
          <a:chExt cx="0" cy="0"/>
        </a:xfrm>
      </p:grpSpPr>
      <p:sp>
        <p:nvSpPr>
          <p:cNvPr id="8" name="Google Shape;8;p32"/>
          <p:cNvSpPr txBox="1">
            <a:spLocks noGrp="1"/>
          </p:cNvSpPr>
          <p:nvPr>
            <p:ph type="title"/>
          </p:nvPr>
        </p:nvSpPr>
        <p:spPr>
          <a:xfrm>
            <a:off x="698500" y="919481"/>
            <a:ext cx="10795000" cy="640080"/>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1B2A4A"/>
              </a:buClr>
              <a:buSzPts val="2100"/>
              <a:buFont typeface="Sora"/>
              <a:buNone/>
              <a:defRPr sz="2100" b="0" i="0" u="none" strike="noStrike" cap="none">
                <a:solidFill>
                  <a:srgbClr val="1B2A4A"/>
                </a:solidFill>
                <a:latin typeface="Sora"/>
                <a:ea typeface="Sora"/>
                <a:cs typeface="Sora"/>
                <a:sym typeface="Sor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32"/>
          <p:cNvSpPr txBox="1">
            <a:spLocks noGrp="1"/>
          </p:cNvSpPr>
          <p:nvPr>
            <p:ph type="body" idx="1"/>
          </p:nvPr>
        </p:nvSpPr>
        <p:spPr>
          <a:xfrm>
            <a:off x="698500" y="1864361"/>
            <a:ext cx="10680700" cy="4180839"/>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1B2A4A"/>
              </a:buClr>
              <a:buSzPts val="1600"/>
              <a:buFont typeface="Arial"/>
              <a:buNone/>
              <a:defRPr sz="1600" b="0" i="0" u="none" strike="noStrike" cap="none">
                <a:solidFill>
                  <a:srgbClr val="1B2A4A"/>
                </a:solidFill>
                <a:latin typeface="DM Sans"/>
                <a:ea typeface="DM Sans"/>
                <a:cs typeface="DM Sans"/>
                <a:sym typeface="DM Sans"/>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DM Sans"/>
                <a:ea typeface="DM Sans"/>
                <a:cs typeface="DM Sans"/>
                <a:sym typeface="DM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DM Sans"/>
                <a:ea typeface="DM Sans"/>
                <a:cs typeface="DM Sans"/>
                <a:sym typeface="DM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29"/>
        <p:cNvGrpSpPr/>
        <p:nvPr/>
      </p:nvGrpSpPr>
      <p:grpSpPr>
        <a:xfrm>
          <a:off x="0" y="0"/>
          <a:ext cx="0" cy="0"/>
          <a:chOff x="0" y="0"/>
          <a:chExt cx="0" cy="0"/>
        </a:xfrm>
      </p:grpSpPr>
      <p:sp>
        <p:nvSpPr>
          <p:cNvPr id="30" name="Google Shape;30;p1"/>
          <p:cNvSpPr/>
          <p:nvPr/>
        </p:nvSpPr>
        <p:spPr>
          <a:xfrm>
            <a:off x="8778240" y="5114544"/>
            <a:ext cx="609600" cy="1743456"/>
          </a:xfrm>
          <a:prstGeom prst="rect">
            <a:avLst/>
          </a:prstGeom>
          <a:solidFill>
            <a:srgbClr val="4A9BE0"/>
          </a:solidFill>
          <a:ln w="12700" cap="flat" cmpd="sng">
            <a:solidFill>
              <a:srgbClr val="4A9B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1" name="Google Shape;31;p1"/>
          <p:cNvSpPr/>
          <p:nvPr/>
        </p:nvSpPr>
        <p:spPr>
          <a:xfrm>
            <a:off x="9485376" y="4322064"/>
            <a:ext cx="609600" cy="2535936"/>
          </a:xfrm>
          <a:prstGeom prst="rect">
            <a:avLst/>
          </a:prstGeom>
          <a:solidFill>
            <a:srgbClr val="B39DDB"/>
          </a:solidFill>
          <a:ln w="12700" cap="flat" cmpd="sng">
            <a:solidFill>
              <a:srgbClr val="B39D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2" name="Google Shape;32;p1"/>
          <p:cNvSpPr/>
          <p:nvPr/>
        </p:nvSpPr>
        <p:spPr>
          <a:xfrm>
            <a:off x="10192512" y="4639056"/>
            <a:ext cx="609600" cy="2218944"/>
          </a:xfrm>
          <a:prstGeom prst="rect">
            <a:avLst/>
          </a:prstGeom>
          <a:solidFill>
            <a:srgbClr val="7ACFC0"/>
          </a:solidFill>
          <a:ln w="12700" cap="flat" cmpd="sng">
            <a:solidFill>
              <a:srgbClr val="7ACF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3" name="Google Shape;33;p1"/>
          <p:cNvSpPr/>
          <p:nvPr/>
        </p:nvSpPr>
        <p:spPr>
          <a:xfrm>
            <a:off x="10899648" y="3846576"/>
            <a:ext cx="609600" cy="3011424"/>
          </a:xfrm>
          <a:prstGeom prst="rect">
            <a:avLst/>
          </a:prstGeom>
          <a:solidFill>
            <a:srgbClr val="6B3FA0"/>
          </a:solidFill>
          <a:ln w="12700" cap="flat" cmpd="sng">
            <a:solidFill>
              <a:srgbClr val="6B3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4" name="Google Shape;34;p1"/>
          <p:cNvSpPr/>
          <p:nvPr/>
        </p:nvSpPr>
        <p:spPr>
          <a:xfrm>
            <a:off x="11606784" y="4480560"/>
            <a:ext cx="609600" cy="2377440"/>
          </a:xfrm>
          <a:prstGeom prst="rect">
            <a:avLst/>
          </a:prstGeom>
          <a:solidFill>
            <a:srgbClr val="4A9BE0"/>
          </a:solidFill>
          <a:ln w="12700" cap="flat" cmpd="sng">
            <a:solidFill>
              <a:srgbClr val="4A9B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5" name="Google Shape;35;p1"/>
          <p:cNvSpPr/>
          <p:nvPr/>
        </p:nvSpPr>
        <p:spPr>
          <a:xfrm>
            <a:off x="0" y="0"/>
            <a:ext cx="219456" cy="6858000"/>
          </a:xfrm>
          <a:prstGeom prst="rect">
            <a:avLst/>
          </a:prstGeom>
          <a:solidFill>
            <a:srgbClr val="7ACFC0"/>
          </a:solidFill>
          <a:ln w="12700" cap="flat" cmpd="sng">
            <a:solidFill>
              <a:srgbClr val="7ACF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6" name="Google Shape;36;p1"/>
          <p:cNvSpPr/>
          <p:nvPr/>
        </p:nvSpPr>
        <p:spPr>
          <a:xfrm>
            <a:off x="731520" y="487680"/>
            <a:ext cx="1755648" cy="799795"/>
          </a:xfrm>
          <a:prstGeom prst="roundRect">
            <a:avLst>
              <a:gd name="adj" fmla="val 12195"/>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pic>
        <p:nvPicPr>
          <p:cNvPr id="37" name="Google Shape;37;p1" descr="logo.png"/>
          <p:cNvPicPr preferRelativeResize="0"/>
          <p:nvPr/>
        </p:nvPicPr>
        <p:blipFill rotWithShape="1">
          <a:blip r:embed="rId3">
            <a:alphaModFix/>
          </a:blip>
          <a:srcRect/>
          <a:stretch/>
        </p:blipFill>
        <p:spPr>
          <a:xfrm>
            <a:off x="914400" y="609600"/>
            <a:ext cx="1389888" cy="555955"/>
          </a:xfrm>
          <a:prstGeom prst="rect">
            <a:avLst/>
          </a:prstGeom>
          <a:noFill/>
          <a:ln>
            <a:noFill/>
          </a:ln>
        </p:spPr>
      </p:pic>
      <p:sp>
        <p:nvSpPr>
          <p:cNvPr id="38" name="Google Shape;38;p1"/>
          <p:cNvSpPr/>
          <p:nvPr/>
        </p:nvSpPr>
        <p:spPr>
          <a:xfrm>
            <a:off x="9022080" y="548640"/>
            <a:ext cx="2560320" cy="414528"/>
          </a:xfrm>
          <a:prstGeom prst="rect">
            <a:avLst/>
          </a:prstGeom>
          <a:solidFill>
            <a:srgbClr val="6B3FA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67" b="1" i="0" u="none" strike="noStrike" cap="none">
                <a:solidFill>
                  <a:srgbClr val="FFFFFF"/>
                </a:solidFill>
                <a:latin typeface="Calibri"/>
                <a:ea typeface="Calibri"/>
                <a:cs typeface="Calibri"/>
                <a:sym typeface="Calibri"/>
              </a:rPr>
              <a:t>LIVRABLE 3</a:t>
            </a:r>
            <a:endParaRPr sz="1467" b="0" i="0" u="none" strike="noStrike" cap="none">
              <a:solidFill>
                <a:srgbClr val="000000"/>
              </a:solidFill>
              <a:latin typeface="Calibri"/>
              <a:ea typeface="Calibri"/>
              <a:cs typeface="Calibri"/>
              <a:sym typeface="Calibri"/>
            </a:endParaRPr>
          </a:p>
        </p:txBody>
      </p:sp>
      <p:sp>
        <p:nvSpPr>
          <p:cNvPr id="39" name="Google Shape;39;p1"/>
          <p:cNvSpPr/>
          <p:nvPr/>
        </p:nvSpPr>
        <p:spPr>
          <a:xfrm>
            <a:off x="682752" y="1575816"/>
            <a:ext cx="9753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67" b="1" i="0" u="none" strike="noStrike" cap="none">
                <a:solidFill>
                  <a:srgbClr val="B39DDB"/>
                </a:solidFill>
                <a:latin typeface="Calibri"/>
                <a:ea typeface="Calibri"/>
                <a:cs typeface="Calibri"/>
                <a:sym typeface="Calibri"/>
              </a:rPr>
              <a:t> ANNÉE UNIVERSITAIRE 2026/2027</a:t>
            </a:r>
            <a:endParaRPr sz="1467" b="0" i="0" u="none" strike="noStrike" cap="none">
              <a:solidFill>
                <a:srgbClr val="000000"/>
              </a:solidFill>
              <a:latin typeface="Calibri"/>
              <a:ea typeface="Calibri"/>
              <a:cs typeface="Calibri"/>
              <a:sym typeface="Calibri"/>
            </a:endParaRPr>
          </a:p>
        </p:txBody>
      </p:sp>
      <p:sp>
        <p:nvSpPr>
          <p:cNvPr id="40" name="Google Shape;40;p1"/>
          <p:cNvSpPr/>
          <p:nvPr/>
        </p:nvSpPr>
        <p:spPr>
          <a:xfrm>
            <a:off x="731520" y="2072640"/>
            <a:ext cx="9997440" cy="182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867" b="1" i="0" u="none" strike="noStrike" cap="none" dirty="0">
                <a:solidFill>
                  <a:srgbClr val="7ACFC0"/>
                </a:solidFill>
                <a:latin typeface="Calibri"/>
                <a:ea typeface="Calibri"/>
                <a:cs typeface="Calibri"/>
                <a:sym typeface="Calibri"/>
              </a:rPr>
              <a:t>WORKLY</a:t>
            </a:r>
            <a:endParaRPr sz="5867"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3733" b="0" i="0" u="none" strike="noStrike" cap="none" dirty="0" err="1">
                <a:solidFill>
                  <a:srgbClr val="FFFFFF"/>
                </a:solidFill>
                <a:latin typeface="Calibri"/>
                <a:ea typeface="Calibri"/>
                <a:cs typeface="Calibri"/>
                <a:sym typeface="Calibri"/>
              </a:rPr>
              <a:t>Modèles</a:t>
            </a:r>
            <a:r>
              <a:rPr lang="en-US" sz="3733" b="0" i="0" u="none" strike="noStrike" cap="none" dirty="0">
                <a:solidFill>
                  <a:srgbClr val="FFFFFF"/>
                </a:solidFill>
                <a:latin typeface="Calibri"/>
                <a:ea typeface="Calibri"/>
                <a:cs typeface="Calibri"/>
                <a:sym typeface="Calibri"/>
              </a:rPr>
              <a:t> de </a:t>
            </a:r>
            <a:r>
              <a:rPr lang="en-US" sz="3733" b="0" i="0" u="none" strike="noStrike" cap="none" dirty="0" err="1">
                <a:solidFill>
                  <a:srgbClr val="FFFFFF"/>
                </a:solidFill>
                <a:latin typeface="Calibri"/>
                <a:ea typeface="Calibri"/>
                <a:cs typeface="Calibri"/>
                <a:sym typeface="Calibri"/>
              </a:rPr>
              <a:t>prévision</a:t>
            </a:r>
            <a:r>
              <a:rPr lang="en-US" sz="3733" b="0" i="0" u="none" strike="noStrike" cap="none" dirty="0">
                <a:solidFill>
                  <a:srgbClr val="FFFFFF"/>
                </a:solidFill>
                <a:latin typeface="Calibri"/>
                <a:ea typeface="Calibri"/>
                <a:cs typeface="Calibri"/>
                <a:sym typeface="Calibri"/>
              </a:rPr>
              <a:t>, </a:t>
            </a:r>
            <a:r>
              <a:rPr lang="en-US" sz="3733" b="0" i="0" u="none" strike="noStrike" cap="none" dirty="0" err="1">
                <a:solidFill>
                  <a:srgbClr val="FFFFFF"/>
                </a:solidFill>
                <a:latin typeface="Calibri"/>
                <a:ea typeface="Calibri"/>
                <a:cs typeface="Calibri"/>
                <a:sym typeface="Calibri"/>
              </a:rPr>
              <a:t>automatisation</a:t>
            </a:r>
            <a:r>
              <a:rPr lang="en-US" sz="3733" b="0" i="0" u="none" strike="noStrike" cap="none" dirty="0">
                <a:solidFill>
                  <a:srgbClr val="FFFFFF"/>
                </a:solidFill>
                <a:latin typeface="Calibri"/>
                <a:ea typeface="Calibri"/>
                <a:cs typeface="Calibri"/>
                <a:sym typeface="Calibri"/>
              </a:rPr>
              <a:t> et agents IA</a:t>
            </a:r>
            <a:endParaRPr sz="5867" b="0" i="0" u="none" strike="noStrike" cap="none" dirty="0">
              <a:solidFill>
                <a:srgbClr val="000000"/>
              </a:solidFill>
              <a:latin typeface="Calibri"/>
              <a:ea typeface="Calibri"/>
              <a:cs typeface="Calibri"/>
              <a:sym typeface="Calibri"/>
            </a:endParaRPr>
          </a:p>
        </p:txBody>
      </p:sp>
      <p:sp>
        <p:nvSpPr>
          <p:cNvPr id="41" name="Google Shape;41;p1"/>
          <p:cNvSpPr/>
          <p:nvPr/>
        </p:nvSpPr>
        <p:spPr>
          <a:xfrm>
            <a:off x="731520" y="3962400"/>
            <a:ext cx="7802880" cy="4267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67" b="0" i="0" u="none" strike="noStrike" cap="none" dirty="0">
                <a:solidFill>
                  <a:srgbClr val="C9D1E0"/>
                </a:solidFill>
                <a:latin typeface="Calibri"/>
                <a:ea typeface="Calibri"/>
                <a:cs typeface="Calibri"/>
                <a:sym typeface="Calibri"/>
              </a:rPr>
              <a:t>Planification des </a:t>
            </a:r>
            <a:r>
              <a:rPr lang="en-US" sz="1867" b="0" i="0" u="none" strike="noStrike" cap="none" dirty="0" err="1">
                <a:solidFill>
                  <a:srgbClr val="C9D1E0"/>
                </a:solidFill>
                <a:latin typeface="Calibri"/>
                <a:ea typeface="Calibri"/>
                <a:cs typeface="Calibri"/>
                <a:sym typeface="Calibri"/>
              </a:rPr>
              <a:t>ressources</a:t>
            </a:r>
            <a:r>
              <a:rPr lang="en-US" sz="1867" b="0" i="0" u="none" strike="noStrike" cap="none" dirty="0">
                <a:solidFill>
                  <a:srgbClr val="C9D1E0"/>
                </a:solidFill>
                <a:latin typeface="Calibri"/>
                <a:ea typeface="Calibri"/>
                <a:cs typeface="Calibri"/>
                <a:sym typeface="Calibri"/>
              </a:rPr>
              <a:t> </a:t>
            </a:r>
            <a:r>
              <a:rPr lang="en-US" sz="1867" b="0" i="0" u="none" strike="noStrike" cap="none" dirty="0" err="1">
                <a:solidFill>
                  <a:srgbClr val="C9D1E0"/>
                </a:solidFill>
                <a:latin typeface="Calibri"/>
                <a:ea typeface="Calibri"/>
                <a:cs typeface="Calibri"/>
                <a:sym typeface="Calibri"/>
              </a:rPr>
              <a:t>humaines</a:t>
            </a:r>
            <a:r>
              <a:rPr lang="en-US" sz="1867" b="0" i="0" u="none" strike="noStrike" cap="none" dirty="0">
                <a:solidFill>
                  <a:srgbClr val="C9D1E0"/>
                </a:solidFill>
                <a:latin typeface="Calibri"/>
                <a:ea typeface="Calibri"/>
                <a:cs typeface="Calibri"/>
                <a:sym typeface="Calibri"/>
              </a:rPr>
              <a:t> et </a:t>
            </a:r>
            <a:r>
              <a:rPr lang="en-US" sz="1867" b="0" i="0" u="none" strike="noStrike" cap="none" dirty="0" err="1">
                <a:solidFill>
                  <a:srgbClr val="C9D1E0"/>
                </a:solidFill>
                <a:latin typeface="Calibri"/>
                <a:ea typeface="Calibri"/>
                <a:cs typeface="Calibri"/>
                <a:sym typeface="Calibri"/>
              </a:rPr>
              <a:t>équipements</a:t>
            </a:r>
            <a:r>
              <a:rPr lang="en-US" sz="1867" b="0" i="0" u="none" strike="noStrike" cap="none" dirty="0">
                <a:solidFill>
                  <a:srgbClr val="C9D1E0"/>
                </a:solidFill>
                <a:latin typeface="Calibri"/>
                <a:ea typeface="Calibri"/>
                <a:cs typeface="Calibri"/>
                <a:sym typeface="Calibri"/>
              </a:rPr>
              <a:t>, sous-processus</a:t>
            </a:r>
            <a:endParaRPr sz="1867" b="0" i="0" u="none" strike="noStrike" cap="none" dirty="0">
              <a:solidFill>
                <a:srgbClr val="000000"/>
              </a:solidFill>
              <a:latin typeface="Calibri"/>
              <a:ea typeface="Calibri"/>
              <a:cs typeface="Calibri"/>
              <a:sym typeface="Calibri"/>
            </a:endParaRPr>
          </a:p>
        </p:txBody>
      </p:sp>
      <p:cxnSp>
        <p:nvCxnSpPr>
          <p:cNvPr id="42" name="Google Shape;42;p1"/>
          <p:cNvCxnSpPr/>
          <p:nvPr/>
        </p:nvCxnSpPr>
        <p:spPr>
          <a:xfrm>
            <a:off x="731520" y="4632960"/>
            <a:ext cx="7559040" cy="0"/>
          </a:xfrm>
          <a:prstGeom prst="straightConnector1">
            <a:avLst/>
          </a:prstGeom>
          <a:noFill/>
          <a:ln w="12700" cap="flat" cmpd="sng">
            <a:solidFill>
              <a:srgbClr val="3A4A6E"/>
            </a:solidFill>
            <a:prstDash val="solid"/>
            <a:round/>
            <a:headEnd type="none" w="sm" len="sm"/>
            <a:tailEnd type="none" w="sm" len="sm"/>
          </a:ln>
        </p:spPr>
      </p:cxnSp>
      <p:sp>
        <p:nvSpPr>
          <p:cNvPr id="43" name="Google Shape;43;p1"/>
          <p:cNvSpPr/>
          <p:nvPr/>
        </p:nvSpPr>
        <p:spPr>
          <a:xfrm>
            <a:off x="731520" y="4815840"/>
            <a:ext cx="3657600" cy="304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33" b="1" i="0" u="none" strike="noStrike" cap="none">
                <a:solidFill>
                  <a:srgbClr val="7ACFC0"/>
                </a:solidFill>
                <a:latin typeface="Calibri"/>
                <a:ea typeface="Calibri"/>
                <a:cs typeface="Calibri"/>
                <a:sym typeface="Calibri"/>
              </a:rPr>
              <a:t>ÉQUIPE 15</a:t>
            </a:r>
            <a:endParaRPr sz="1333" b="0" i="0" u="none" strike="noStrike" cap="none">
              <a:solidFill>
                <a:srgbClr val="000000"/>
              </a:solidFill>
              <a:latin typeface="Calibri"/>
              <a:ea typeface="Calibri"/>
              <a:cs typeface="Calibri"/>
              <a:sym typeface="Calibri"/>
            </a:endParaRPr>
          </a:p>
        </p:txBody>
      </p:sp>
      <p:sp>
        <p:nvSpPr>
          <p:cNvPr id="44" name="Google Shape;44;p1"/>
          <p:cNvSpPr/>
          <p:nvPr/>
        </p:nvSpPr>
        <p:spPr>
          <a:xfrm>
            <a:off x="731520" y="5181600"/>
            <a:ext cx="4023360" cy="1158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EL WARDI </a:t>
            </a:r>
            <a:r>
              <a:rPr lang="en-US" sz="1867" b="0" i="0" u="none" strike="noStrike" cap="none" dirty="0" err="1">
                <a:solidFill>
                  <a:srgbClr val="FFFFFF"/>
                </a:solidFill>
                <a:latin typeface="Calibri"/>
                <a:ea typeface="Calibri"/>
                <a:cs typeface="Calibri"/>
                <a:sym typeface="Calibri"/>
              </a:rPr>
              <a:t>Noha</a:t>
            </a:r>
            <a:endParaRPr sz="1867"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BENYAACOUB Ibrahim</a:t>
            </a:r>
            <a:endParaRPr sz="1867" b="0" i="0" u="none" strike="noStrike" cap="none" dirty="0">
              <a:solidFill>
                <a:srgbClr val="000000"/>
              </a:solidFill>
              <a:latin typeface="Calibri"/>
              <a:ea typeface="Calibri"/>
              <a:cs typeface="Calibri"/>
              <a:sym typeface="Calibri"/>
            </a:endParaRPr>
          </a:p>
        </p:txBody>
      </p:sp>
      <p:sp>
        <p:nvSpPr>
          <p:cNvPr id="45" name="Google Shape;45;p1"/>
          <p:cNvSpPr/>
          <p:nvPr/>
        </p:nvSpPr>
        <p:spPr>
          <a:xfrm>
            <a:off x="5120640" y="4815840"/>
            <a:ext cx="3169920" cy="304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33" b="1" i="0" u="none" strike="noStrike" cap="none">
                <a:solidFill>
                  <a:srgbClr val="7ACFC0"/>
                </a:solidFill>
                <a:latin typeface="Calibri"/>
                <a:ea typeface="Calibri"/>
                <a:cs typeface="Calibri"/>
                <a:sym typeface="Calibri"/>
              </a:rPr>
              <a:t>ENCADRANT</a:t>
            </a:r>
            <a:endParaRPr sz="1333" b="0" i="0" u="none" strike="noStrike" cap="none">
              <a:solidFill>
                <a:srgbClr val="000000"/>
              </a:solidFill>
              <a:latin typeface="Calibri"/>
              <a:ea typeface="Calibri"/>
              <a:cs typeface="Calibri"/>
              <a:sym typeface="Calibri"/>
            </a:endParaRPr>
          </a:p>
        </p:txBody>
      </p:sp>
      <p:sp>
        <p:nvSpPr>
          <p:cNvPr id="46" name="Google Shape;46;p1"/>
          <p:cNvSpPr/>
          <p:nvPr/>
        </p:nvSpPr>
        <p:spPr>
          <a:xfrm>
            <a:off x="5120640" y="5181600"/>
            <a:ext cx="3169920" cy="4267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Monsieur BELKHAYAT Najib</a:t>
            </a:r>
            <a:endParaRPr sz="1867"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619ED4F-F2A6-4EA1-0C32-DD21758EDAB2}"/>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15199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B9CE04A-E88A-F011-BD97-8A126F14E18F}"/>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672924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450"/>
        <p:cNvGrpSpPr/>
        <p:nvPr/>
      </p:nvGrpSpPr>
      <p:grpSpPr>
        <a:xfrm>
          <a:off x="0" y="0"/>
          <a:ext cx="0" cy="0"/>
          <a:chOff x="0" y="0"/>
          <a:chExt cx="0" cy="0"/>
        </a:xfrm>
      </p:grpSpPr>
      <p:sp>
        <p:nvSpPr>
          <p:cNvPr id="451" name="Google Shape;451;p19"/>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2" name="Google Shape;452;p1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3" name="Google Shape;453;p1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4" name="Google Shape;454;p1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5" name="Google Shape;455;p1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6" name="Google Shape;456;p19"/>
          <p:cNvSpPr/>
          <p:nvPr/>
        </p:nvSpPr>
        <p:spPr>
          <a:xfrm>
            <a:off x="698500" y="533400"/>
            <a:ext cx="2456783"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2 · AUTOMATISATION</a:t>
            </a:r>
            <a:endParaRPr sz="1200">
              <a:solidFill>
                <a:schemeClr val="dk1"/>
              </a:solidFill>
              <a:latin typeface="DM Sans"/>
              <a:ea typeface="DM Sans"/>
              <a:cs typeface="DM Sans"/>
              <a:sym typeface="DM Sans"/>
            </a:endParaRPr>
          </a:p>
        </p:txBody>
      </p:sp>
      <p:sp>
        <p:nvSpPr>
          <p:cNvPr id="457" name="Google Shape;457;p19"/>
          <p:cNvSpPr txBox="1">
            <a:spLocks noGrp="1"/>
          </p:cNvSpPr>
          <p:nvPr>
            <p:ph type="title"/>
          </p:nvPr>
        </p:nvSpPr>
        <p:spPr>
          <a:xfrm>
            <a:off x="698500" y="919485"/>
            <a:ext cx="11118850" cy="66548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rgbClr val="1B2A4A"/>
              </a:buClr>
              <a:buSzPts val="2100"/>
              <a:buFont typeface="Sora"/>
              <a:buNone/>
            </a:pPr>
            <a:r>
              <a:rPr lang="en-US" b="1" dirty="0"/>
              <a:t>L</a:t>
            </a:r>
            <a:r>
              <a:rPr lang="en-US" sz="2100" b="1" i="0" dirty="0">
                <a:solidFill>
                  <a:srgbClr val="1B2A4A"/>
                </a:solidFill>
                <a:latin typeface="Sora"/>
                <a:ea typeface="Sora"/>
                <a:cs typeface="Sora"/>
                <a:sym typeface="Sora"/>
              </a:rPr>
              <a:t>es </a:t>
            </a:r>
            <a:r>
              <a:rPr lang="en-US" sz="2100" b="1" i="0" dirty="0" err="1">
                <a:solidFill>
                  <a:srgbClr val="1B2A4A"/>
                </a:solidFill>
                <a:latin typeface="Sora"/>
                <a:ea typeface="Sora"/>
                <a:cs typeface="Sora"/>
                <a:sym typeface="Sora"/>
              </a:rPr>
              <a:t>calculs</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sont</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automatiques</a:t>
            </a:r>
            <a:r>
              <a:rPr lang="en-US" sz="2100" b="1" i="0" dirty="0">
                <a:solidFill>
                  <a:srgbClr val="1B2A4A"/>
                </a:solidFill>
                <a:latin typeface="Sora"/>
                <a:ea typeface="Sora"/>
                <a:cs typeface="Sora"/>
                <a:sym typeface="Sora"/>
              </a:rPr>
              <a:t> et les choix de gestion </a:t>
            </a:r>
            <a:r>
              <a:rPr lang="en-US" sz="2100" b="1" i="0" dirty="0" err="1">
                <a:solidFill>
                  <a:srgbClr val="1B2A4A"/>
                </a:solidFill>
                <a:latin typeface="Sora"/>
                <a:ea typeface="Sora"/>
                <a:cs typeface="Sora"/>
                <a:sym typeface="Sora"/>
              </a:rPr>
              <a:t>restent</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manuels</a:t>
            </a:r>
            <a:endParaRPr sz="2100" dirty="0"/>
          </a:p>
        </p:txBody>
      </p:sp>
      <p:graphicFrame>
        <p:nvGraphicFramePr>
          <p:cNvPr id="458" name="Google Shape;458;p19"/>
          <p:cNvGraphicFramePr/>
          <p:nvPr>
            <p:extLst>
              <p:ext uri="{D42A27DB-BD31-4B8C-83A1-F6EECF244321}">
                <p14:modId xmlns:p14="http://schemas.microsoft.com/office/powerpoint/2010/main" val="1329752192"/>
              </p:ext>
            </p:extLst>
          </p:nvPr>
        </p:nvGraphicFramePr>
        <p:xfrm>
          <a:off x="708660" y="1788160"/>
          <a:ext cx="4103075" cy="4064577"/>
        </p:xfrm>
        <a:graphic>
          <a:graphicData uri="http://schemas.openxmlformats.org/drawingml/2006/table">
            <a:tbl>
              <a:tblPr>
                <a:noFill/>
                <a:tableStyleId>{2709B6FF-CDFB-4AB1-8E42-484B63002EFC}</a:tableStyleId>
              </a:tblPr>
              <a:tblGrid>
                <a:gridCol w="4103075">
                  <a:extLst>
                    <a:ext uri="{9D8B030D-6E8A-4147-A177-3AD203B41FA5}">
                      <a16:colId xmlns:a16="http://schemas.microsoft.com/office/drawing/2014/main" val="20001"/>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dirty="0" err="1">
                          <a:solidFill>
                            <a:srgbClr val="FFFFFF"/>
                          </a:solidFill>
                          <a:latin typeface="DM Sans"/>
                          <a:ea typeface="DM Sans"/>
                          <a:cs typeface="DM Sans"/>
                          <a:sym typeface="DM Sans"/>
                        </a:rPr>
                        <a:t>Tâche</a:t>
                      </a:r>
                      <a:endParaRPr sz="1300" u="none" strike="noStrike" cap="none" dirty="0">
                        <a:latin typeface="DM Sans"/>
                        <a:ea typeface="DM Sans"/>
                        <a:cs typeface="DM Sans"/>
                        <a:sym typeface="DM Sans"/>
                      </a:endParaRPr>
                    </a:p>
                  </a:txBody>
                  <a:tcPr marL="88900" marR="88900" marT="57150" marB="57150">
                    <a:lnL w="12700" cap="flat" cmpd="sng">
                      <a:solidFill>
                        <a:srgbClr val="19253E"/>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lgn="ctr">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S’identifier</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19253E"/>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Administrer utilisateurs et référentiels</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Importer l’historique</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Saisir la demande client</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Contrôler la qualité des données</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Paramétrer les modèles</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Entraîner et évaluer les modèles</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Activer un modèle</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Générer les prévisions</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dirty="0" err="1">
                          <a:solidFill>
                            <a:srgbClr val="2B3350"/>
                          </a:solidFill>
                          <a:latin typeface="DM Sans"/>
                          <a:ea typeface="DM Sans"/>
                          <a:cs typeface="DM Sans"/>
                          <a:sym typeface="DM Sans"/>
                        </a:rPr>
                        <a:t>Élaborer</a:t>
                      </a:r>
                      <a:r>
                        <a:rPr lang="en-US" sz="1300" u="none" strike="noStrike" cap="none" dirty="0">
                          <a:solidFill>
                            <a:srgbClr val="2B3350"/>
                          </a:solidFill>
                          <a:latin typeface="DM Sans"/>
                          <a:ea typeface="DM Sans"/>
                          <a:cs typeface="DM Sans"/>
                          <a:sym typeface="DM Sans"/>
                        </a:rPr>
                        <a:t> / </a:t>
                      </a:r>
                      <a:r>
                        <a:rPr lang="en-US" sz="1300" u="none" strike="noStrike" cap="none" dirty="0" err="1">
                          <a:solidFill>
                            <a:srgbClr val="2B3350"/>
                          </a:solidFill>
                          <a:latin typeface="DM Sans"/>
                          <a:ea typeface="DM Sans"/>
                          <a:cs typeface="DM Sans"/>
                          <a:sym typeface="DM Sans"/>
                        </a:rPr>
                        <a:t>simuler</a:t>
                      </a:r>
                      <a:r>
                        <a:rPr lang="en-US" sz="1300" u="none" strike="noStrike" cap="none" dirty="0">
                          <a:solidFill>
                            <a:srgbClr val="2B3350"/>
                          </a:solidFill>
                          <a:latin typeface="DM Sans"/>
                          <a:ea typeface="DM Sans"/>
                          <a:cs typeface="DM Sans"/>
                          <a:sym typeface="DM Sans"/>
                        </a:rPr>
                        <a:t> le plan</a:t>
                      </a:r>
                      <a:endParaRPr sz="1300" u="none" strike="noStrike" cap="none" dirty="0">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10"/>
                  </a:ext>
                </a:extLst>
              </a:tr>
            </a:tbl>
          </a:graphicData>
        </a:graphic>
      </p:graphicFrame>
      <p:graphicFrame>
        <p:nvGraphicFramePr>
          <p:cNvPr id="459" name="Google Shape;459;p19"/>
          <p:cNvGraphicFramePr/>
          <p:nvPr>
            <p:extLst>
              <p:ext uri="{D42A27DB-BD31-4B8C-83A1-F6EECF244321}">
                <p14:modId xmlns:p14="http://schemas.microsoft.com/office/powerpoint/2010/main" val="3581140779"/>
              </p:ext>
            </p:extLst>
          </p:nvPr>
        </p:nvGraphicFramePr>
        <p:xfrm>
          <a:off x="5367995" y="1788160"/>
          <a:ext cx="1069350" cy="4064577"/>
        </p:xfrm>
        <a:graphic>
          <a:graphicData uri="http://schemas.openxmlformats.org/drawingml/2006/table">
            <a:tbl>
              <a:tblPr>
                <a:noFill/>
                <a:tableStyleId>{2709B6FF-CDFB-4AB1-8E42-484B63002EFC}</a:tableStyleId>
              </a:tblPr>
              <a:tblGrid>
                <a:gridCol w="1069350">
                  <a:extLst>
                    <a:ext uri="{9D8B030D-6E8A-4147-A177-3AD203B41FA5}">
                      <a16:colId xmlns:a16="http://schemas.microsoft.com/office/drawing/2014/main" val="20000"/>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a:solidFill>
                            <a:srgbClr val="FFFFFF"/>
                          </a:solidFill>
                          <a:latin typeface="DM Sans"/>
                          <a:ea typeface="DM Sans"/>
                          <a:cs typeface="DM Sans"/>
                          <a:sym typeface="DM Sans"/>
                        </a:rPr>
                        <a:t>Statut</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9"/>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dirty="0">
                          <a:solidFill>
                            <a:srgbClr val="1B2A4A"/>
                          </a:solidFill>
                          <a:latin typeface="DM Sans"/>
                          <a:ea typeface="DM Sans"/>
                          <a:cs typeface="DM Sans"/>
                          <a:sym typeface="DM Sans"/>
                        </a:rPr>
                        <a:t>Manuel</a:t>
                      </a:r>
                      <a:endParaRPr sz="1300" u="none" strike="noStrike" cap="none" dirty="0">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10"/>
                  </a:ext>
                </a:extLst>
              </a:tr>
            </a:tbl>
          </a:graphicData>
        </a:graphic>
      </p:graphicFrame>
      <p:graphicFrame>
        <p:nvGraphicFramePr>
          <p:cNvPr id="460" name="Google Shape;460;p19"/>
          <p:cNvGraphicFramePr/>
          <p:nvPr/>
        </p:nvGraphicFramePr>
        <p:xfrm>
          <a:off x="7058660" y="1788160"/>
          <a:ext cx="4434850" cy="4064577"/>
        </p:xfrm>
        <a:graphic>
          <a:graphicData uri="http://schemas.openxmlformats.org/drawingml/2006/table">
            <a:tbl>
              <a:tblPr>
                <a:noFill/>
                <a:tableStyleId>{2709B6FF-CDFB-4AB1-8E42-484B63002EFC}</a:tableStyleId>
              </a:tblPr>
              <a:tblGrid>
                <a:gridCol w="4434850">
                  <a:extLst>
                    <a:ext uri="{9D8B030D-6E8A-4147-A177-3AD203B41FA5}">
                      <a16:colId xmlns:a16="http://schemas.microsoft.com/office/drawing/2014/main" val="20000"/>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a:solidFill>
                            <a:srgbClr val="FFFFFF"/>
                          </a:solidFill>
                          <a:latin typeface="DM Sans"/>
                          <a:ea typeface="DM Sans"/>
                          <a:cs typeface="DM Sans"/>
                          <a:sym typeface="DM Sans"/>
                        </a:rPr>
                        <a:t>Justification</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Chaque utilisateur s’identifie lui-même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Décision organisationnelle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Lecture et contrôle de format sans jugement</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Donnée détenue par le client</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Règles de validation fixes</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Choix de gestion (seuils, cadence)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 périodique sur paramètres fixés</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Jamais automatique, même après un bon score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 RL + RN sur données déjà actées</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Arbitrage entre prévision et capacité réelle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10"/>
                  </a:ext>
                </a:extLst>
              </a:tr>
            </a:tbl>
          </a:graphicData>
        </a:graphic>
      </p:graphicFrame>
      <p:sp>
        <p:nvSpPr>
          <p:cNvPr id="461" name="Google Shape;461;p19"/>
          <p:cNvSpPr/>
          <p:nvPr/>
        </p:nvSpPr>
        <p:spPr>
          <a:xfrm>
            <a:off x="698500" y="6344927"/>
            <a:ext cx="9156700" cy="208280"/>
          </a:xfrm>
          <a:prstGeom prst="rect">
            <a:avLst/>
          </a:prstGeom>
          <a:noFill/>
          <a:ln>
            <a:noFill/>
          </a:ln>
        </p:spPr>
        <p:txBody>
          <a:bodyPr spcFirstLastPara="1" wrap="square" lIns="0" tIns="0" rIns="0" bIns="0" anchor="t" anchorCtr="0">
            <a:normAutofit lnSpcReduction="10000"/>
          </a:bodyPr>
          <a:lstStyle/>
          <a:p>
            <a:pPr marL="0" marR="0" lvl="0" indent="0" algn="l" rtl="0">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462" name="Google Shape;462;p19"/>
          <p:cNvSpPr/>
          <p:nvPr/>
        </p:nvSpPr>
        <p:spPr>
          <a:xfrm>
            <a:off x="10680700" y="6344927"/>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16</a:t>
            </a:r>
            <a:endParaRPr sz="1200">
              <a:solidFill>
                <a:schemeClr val="dk1"/>
              </a:solidFill>
              <a:latin typeface="DM Sans"/>
              <a:ea typeface="DM Sans"/>
              <a:cs typeface="DM Sans"/>
              <a:sym typeface="DM Sans"/>
            </a:endParaRPr>
          </a:p>
        </p:txBody>
      </p:sp>
      <p:sp>
        <p:nvSpPr>
          <p:cNvPr id="463" name="Rectangle 462"/>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464" name="Rectangle 463"/>
          <p:cNvSpPr/>
          <p:nvPr/>
        </p:nvSpPr>
        <p:spPr>
          <a:xfrm>
            <a:off x="155448" y="6803136"/>
            <a:ext cx="5067894" cy="54864"/>
          </a:xfrm>
          <a:prstGeom prst="rect">
            <a:avLst/>
          </a:prstGeom>
          <a:solidFill>
            <a:srgbClr val="6B3FA0"/>
          </a:solidFill>
          <a:ln>
            <a:noFill/>
          </a:ln>
        </p:spPr>
        <p:txBody>
          <a:bodyPr rtlCol="0" anchor="ctr"/>
          <a:lstStyle/>
          <a:p>
            <a:pPr algn="c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467"/>
        <p:cNvGrpSpPr/>
        <p:nvPr/>
      </p:nvGrpSpPr>
      <p:grpSpPr>
        <a:xfrm>
          <a:off x="0" y="0"/>
          <a:ext cx="0" cy="0"/>
          <a:chOff x="0" y="0"/>
          <a:chExt cx="0" cy="0"/>
        </a:xfrm>
      </p:grpSpPr>
      <p:sp>
        <p:nvSpPr>
          <p:cNvPr id="468" name="Google Shape;468;p20"/>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69" name="Google Shape;469;p20"/>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70" name="Google Shape;470;p20"/>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71" name="Google Shape;471;p20"/>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72" name="Google Shape;472;p20"/>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73" name="Google Shape;473;p20"/>
          <p:cNvSpPr/>
          <p:nvPr/>
        </p:nvSpPr>
        <p:spPr>
          <a:xfrm>
            <a:off x="698500" y="533400"/>
            <a:ext cx="2456783"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2 · AUTOMATISATION</a:t>
            </a:r>
            <a:endParaRPr sz="1200">
              <a:solidFill>
                <a:schemeClr val="dk1"/>
              </a:solidFill>
              <a:latin typeface="DM Sans"/>
              <a:ea typeface="DM Sans"/>
              <a:cs typeface="DM Sans"/>
              <a:sym typeface="DM Sans"/>
            </a:endParaRPr>
          </a:p>
        </p:txBody>
      </p:sp>
      <p:sp>
        <p:nvSpPr>
          <p:cNvPr id="474" name="Google Shape;474;p20"/>
          <p:cNvSpPr txBox="1">
            <a:spLocks noGrp="1"/>
          </p:cNvSpPr>
          <p:nvPr>
            <p:ph type="title"/>
          </p:nvPr>
        </p:nvSpPr>
        <p:spPr>
          <a:xfrm>
            <a:off x="708660" y="888463"/>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b="1" dirty="0"/>
              <a:t>L</a:t>
            </a:r>
            <a:r>
              <a:rPr lang="en-US" sz="2100" b="1" i="0" dirty="0">
                <a:solidFill>
                  <a:srgbClr val="1B2A4A"/>
                </a:solidFill>
                <a:latin typeface="Sora"/>
                <a:ea typeface="Sora"/>
                <a:cs typeface="Sora"/>
                <a:sym typeface="Sora"/>
              </a:rPr>
              <a:t>es </a:t>
            </a:r>
            <a:r>
              <a:rPr lang="en-US" sz="2100" b="1" i="0" dirty="0" err="1">
                <a:solidFill>
                  <a:srgbClr val="1B2A4A"/>
                </a:solidFill>
                <a:latin typeface="Sora"/>
                <a:ea typeface="Sora"/>
                <a:cs typeface="Sora"/>
                <a:sym typeface="Sora"/>
              </a:rPr>
              <a:t>indicateurs</a:t>
            </a:r>
            <a:r>
              <a:rPr lang="en-US" sz="2100" b="1" i="0" dirty="0">
                <a:solidFill>
                  <a:srgbClr val="1B2A4A"/>
                </a:solidFill>
                <a:latin typeface="Sora"/>
                <a:ea typeface="Sora"/>
                <a:cs typeface="Sora"/>
                <a:sym typeface="Sora"/>
              </a:rPr>
              <a:t> et les </a:t>
            </a:r>
            <a:r>
              <a:rPr lang="en-US" sz="2100" b="1" i="0" dirty="0" err="1">
                <a:solidFill>
                  <a:srgbClr val="1B2A4A"/>
                </a:solidFill>
                <a:latin typeface="Sora"/>
                <a:ea typeface="Sora"/>
                <a:cs typeface="Sora"/>
                <a:sym typeface="Sora"/>
              </a:rPr>
              <a:t>alertes</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sont</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calculés</a:t>
            </a:r>
            <a:r>
              <a:rPr lang="en-US" sz="2100" b="1" i="0" dirty="0">
                <a:solidFill>
                  <a:srgbClr val="1B2A4A"/>
                </a:solidFill>
                <a:latin typeface="Sora"/>
                <a:ea typeface="Sora"/>
                <a:cs typeface="Sora"/>
                <a:sym typeface="Sora"/>
              </a:rPr>
              <a:t> ; la validation et la </a:t>
            </a:r>
            <a:r>
              <a:rPr lang="en-US" sz="2100" b="1" i="0" dirty="0" err="1">
                <a:solidFill>
                  <a:srgbClr val="1B2A4A"/>
                </a:solidFill>
                <a:latin typeface="Sora"/>
                <a:ea typeface="Sora"/>
                <a:cs typeface="Sora"/>
                <a:sym typeface="Sora"/>
              </a:rPr>
              <a:t>clôture</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restent</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manuelles</a:t>
            </a:r>
            <a:endParaRPr sz="2100" dirty="0"/>
          </a:p>
        </p:txBody>
      </p:sp>
      <p:graphicFrame>
        <p:nvGraphicFramePr>
          <p:cNvPr id="475" name="Google Shape;475;p20"/>
          <p:cNvGraphicFramePr/>
          <p:nvPr>
            <p:extLst>
              <p:ext uri="{D42A27DB-BD31-4B8C-83A1-F6EECF244321}">
                <p14:modId xmlns:p14="http://schemas.microsoft.com/office/powerpoint/2010/main" val="298961478"/>
              </p:ext>
            </p:extLst>
          </p:nvPr>
        </p:nvGraphicFramePr>
        <p:xfrm>
          <a:off x="708660" y="1788160"/>
          <a:ext cx="4103075" cy="3695070"/>
        </p:xfrm>
        <a:graphic>
          <a:graphicData uri="http://schemas.openxmlformats.org/drawingml/2006/table">
            <a:tbl>
              <a:tblPr>
                <a:noFill/>
                <a:tableStyleId>{2709B6FF-CDFB-4AB1-8E42-484B63002EFC}</a:tableStyleId>
              </a:tblPr>
              <a:tblGrid>
                <a:gridCol w="4103075">
                  <a:extLst>
                    <a:ext uri="{9D8B030D-6E8A-4147-A177-3AD203B41FA5}">
                      <a16:colId xmlns:a16="http://schemas.microsoft.com/office/drawing/2014/main" val="20001"/>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dirty="0" err="1">
                          <a:solidFill>
                            <a:srgbClr val="FFFFFF"/>
                          </a:solidFill>
                          <a:latin typeface="DM Sans"/>
                          <a:ea typeface="DM Sans"/>
                          <a:cs typeface="DM Sans"/>
                          <a:sym typeface="DM Sans"/>
                        </a:rPr>
                        <a:t>Tâche</a:t>
                      </a:r>
                      <a:endParaRPr sz="1300" u="none" strike="noStrike" cap="none" dirty="0">
                        <a:latin typeface="DM Sans"/>
                        <a:ea typeface="DM Sans"/>
                        <a:cs typeface="DM Sans"/>
                        <a:sym typeface="DM Sans"/>
                      </a:endParaRPr>
                    </a:p>
                  </a:txBody>
                  <a:tcPr marL="88900" marR="88900" marT="57150" marB="57150">
                    <a:lnL w="12700" cap="flat" cmpd="sng">
                      <a:solidFill>
                        <a:srgbClr val="19253E"/>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lgn="ctr">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Valider / rejeter le plan</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19253E"/>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Définir les cibles KPI</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Calculer / comparer les KPI</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Émettre les alertes</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Traiter les alertes</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Comparer réel/prévu, détecter la dérive</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Consulter le tableau de bord</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Générer un rapport</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dirty="0">
                          <a:solidFill>
                            <a:srgbClr val="2B3350"/>
                          </a:solidFill>
                          <a:latin typeface="DM Sans"/>
                          <a:ea typeface="DM Sans"/>
                          <a:cs typeface="DM Sans"/>
                          <a:sym typeface="DM Sans"/>
                        </a:rPr>
                        <a:t>Exporter un rapport</a:t>
                      </a:r>
                      <a:endParaRPr sz="1300" u="none" strike="noStrike" cap="none" dirty="0">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graphicFrame>
        <p:nvGraphicFramePr>
          <p:cNvPr id="476" name="Google Shape;476;p20"/>
          <p:cNvGraphicFramePr/>
          <p:nvPr>
            <p:extLst>
              <p:ext uri="{D42A27DB-BD31-4B8C-83A1-F6EECF244321}">
                <p14:modId xmlns:p14="http://schemas.microsoft.com/office/powerpoint/2010/main" val="1282071146"/>
              </p:ext>
            </p:extLst>
          </p:nvPr>
        </p:nvGraphicFramePr>
        <p:xfrm>
          <a:off x="5400522" y="1796681"/>
          <a:ext cx="1069350" cy="3695070"/>
        </p:xfrm>
        <a:graphic>
          <a:graphicData uri="http://schemas.openxmlformats.org/drawingml/2006/table">
            <a:tbl>
              <a:tblPr>
                <a:noFill/>
                <a:tableStyleId>{2709B6FF-CDFB-4AB1-8E42-484B63002EFC}</a:tableStyleId>
              </a:tblPr>
              <a:tblGrid>
                <a:gridCol w="1069350">
                  <a:extLst>
                    <a:ext uri="{9D8B030D-6E8A-4147-A177-3AD203B41FA5}">
                      <a16:colId xmlns:a16="http://schemas.microsoft.com/office/drawing/2014/main" val="20000"/>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dirty="0" err="1">
                          <a:solidFill>
                            <a:srgbClr val="FFFFFF"/>
                          </a:solidFill>
                          <a:latin typeface="DM Sans"/>
                          <a:ea typeface="DM Sans"/>
                          <a:cs typeface="DM Sans"/>
                          <a:sym typeface="DM Sans"/>
                        </a:rPr>
                        <a:t>Statut</a:t>
                      </a:r>
                      <a:endParaRPr sz="1300" u="none" strike="noStrike" cap="none" dirty="0">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dirty="0">
                          <a:solidFill>
                            <a:srgbClr val="1B2A4A"/>
                          </a:solidFill>
                          <a:latin typeface="DM Sans"/>
                          <a:ea typeface="DM Sans"/>
                          <a:cs typeface="DM Sans"/>
                          <a:sym typeface="DM Sans"/>
                        </a:rPr>
                        <a:t>Manuel</a:t>
                      </a:r>
                      <a:endParaRPr sz="1300" u="none" strike="noStrike" cap="none" dirty="0">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lgn="ctr">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Mixte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64A69A"/>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64A69A"/>
                      </a:solidFill>
                      <a:prstDash val="solid"/>
                      <a:round/>
                      <a:headEnd type="none" w="sm" len="sm"/>
                      <a:tailEnd type="none" w="sm" len="sm"/>
                    </a:lnB>
                    <a:solidFill>
                      <a:srgbClr val="7ACFC0"/>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64A69A"/>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dirty="0">
                          <a:solidFill>
                            <a:srgbClr val="1B2A4A"/>
                          </a:solidFill>
                          <a:latin typeface="DM Sans"/>
                          <a:ea typeface="DM Sans"/>
                          <a:cs typeface="DM Sans"/>
                          <a:sym typeface="DM Sans"/>
                        </a:rPr>
                        <a:t>Manuel</a:t>
                      </a:r>
                      <a:endParaRPr sz="1300" u="none" strike="noStrike" cap="none" dirty="0">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9"/>
                  </a:ext>
                </a:extLst>
              </a:tr>
            </a:tbl>
          </a:graphicData>
        </a:graphic>
      </p:graphicFrame>
      <p:graphicFrame>
        <p:nvGraphicFramePr>
          <p:cNvPr id="477" name="Google Shape;477;p20"/>
          <p:cNvGraphicFramePr/>
          <p:nvPr/>
        </p:nvGraphicFramePr>
        <p:xfrm>
          <a:off x="7058660" y="1788160"/>
          <a:ext cx="4434850" cy="3695070"/>
        </p:xfrm>
        <a:graphic>
          <a:graphicData uri="http://schemas.openxmlformats.org/drawingml/2006/table">
            <a:tbl>
              <a:tblPr>
                <a:noFill/>
                <a:tableStyleId>{2709B6FF-CDFB-4AB1-8E42-484B63002EFC}</a:tableStyleId>
              </a:tblPr>
              <a:tblGrid>
                <a:gridCol w="4434850">
                  <a:extLst>
                    <a:ext uri="{9D8B030D-6E8A-4147-A177-3AD203B41FA5}">
                      <a16:colId xmlns:a16="http://schemas.microsoft.com/office/drawing/2014/main" val="20000"/>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a:solidFill>
                            <a:srgbClr val="FFFFFF"/>
                          </a:solidFill>
                          <a:latin typeface="DM Sans"/>
                          <a:ea typeface="DM Sans"/>
                          <a:cs typeface="DM Sans"/>
                          <a:sym typeface="DM Sans"/>
                        </a:rPr>
                        <a:t>Justification</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Engage la responsabilité du responsable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Choix de politique de gestion</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 sur cibles déjà fixées</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Détection par seuil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Clore un incident engage une responsabilité</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 quotidien sans jugement</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Vue automatique, consultation manuelle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Agrégation périodique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Action ponctuelle à la demande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478" name="Google Shape;478;p20"/>
          <p:cNvSpPr/>
          <p:nvPr/>
        </p:nvSpPr>
        <p:spPr>
          <a:xfrm>
            <a:off x="698500" y="6344927"/>
            <a:ext cx="9156700" cy="208280"/>
          </a:xfrm>
          <a:prstGeom prst="rect">
            <a:avLst/>
          </a:prstGeom>
          <a:noFill/>
          <a:ln>
            <a:noFill/>
          </a:ln>
        </p:spPr>
        <p:txBody>
          <a:bodyPr spcFirstLastPara="1" wrap="square" lIns="0" tIns="0" rIns="0" bIns="0" anchor="t" anchorCtr="0">
            <a:normAutofit lnSpcReduction="10000"/>
          </a:bodyPr>
          <a:lstStyle/>
          <a:p>
            <a:pPr marL="0" marR="0" lvl="0" indent="0" algn="l" rtl="0">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479" name="Google Shape;479;p20"/>
          <p:cNvSpPr/>
          <p:nvPr/>
        </p:nvSpPr>
        <p:spPr>
          <a:xfrm>
            <a:off x="10680700" y="6344927"/>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17</a:t>
            </a:r>
            <a:endParaRPr sz="1200">
              <a:solidFill>
                <a:schemeClr val="dk1"/>
              </a:solidFill>
              <a:latin typeface="DM Sans"/>
              <a:ea typeface="DM Sans"/>
              <a:cs typeface="DM Sans"/>
              <a:sym typeface="DM Sans"/>
            </a:endParaRPr>
          </a:p>
        </p:txBody>
      </p:sp>
      <p:sp>
        <p:nvSpPr>
          <p:cNvPr id="480" name="Rectangle 479"/>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481" name="Rectangle 480"/>
          <p:cNvSpPr/>
          <p:nvPr/>
        </p:nvSpPr>
        <p:spPr>
          <a:xfrm>
            <a:off x="155448" y="6803136"/>
            <a:ext cx="5384637" cy="54864"/>
          </a:xfrm>
          <a:prstGeom prst="rect">
            <a:avLst/>
          </a:prstGeom>
          <a:solidFill>
            <a:srgbClr val="6B3FA0"/>
          </a:solidFill>
          <a:ln>
            <a:noFill/>
          </a:ln>
        </p:spPr>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484"/>
        <p:cNvGrpSpPr/>
        <p:nvPr/>
      </p:nvGrpSpPr>
      <p:grpSpPr>
        <a:xfrm>
          <a:off x="0" y="0"/>
          <a:ext cx="0" cy="0"/>
          <a:chOff x="0" y="0"/>
          <a:chExt cx="0" cy="0"/>
        </a:xfrm>
      </p:grpSpPr>
      <p:sp>
        <p:nvSpPr>
          <p:cNvPr id="485" name="Google Shape;485;p21"/>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6" name="Google Shape;486;p21"/>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7" name="Google Shape;487;p21"/>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8" name="Google Shape;488;p21"/>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9" name="Google Shape;489;p21"/>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90" name="Google Shape;490;p21"/>
          <p:cNvSpPr/>
          <p:nvPr/>
        </p:nvSpPr>
        <p:spPr>
          <a:xfrm>
            <a:off x="698500" y="533400"/>
            <a:ext cx="2456783"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2 · AUTOMATISATION</a:t>
            </a:r>
            <a:endParaRPr sz="1200">
              <a:solidFill>
                <a:schemeClr val="dk1"/>
              </a:solidFill>
              <a:latin typeface="DM Sans"/>
              <a:ea typeface="DM Sans"/>
              <a:cs typeface="DM Sans"/>
              <a:sym typeface="DM Sans"/>
            </a:endParaRPr>
          </a:p>
        </p:txBody>
      </p:sp>
      <p:sp>
        <p:nvSpPr>
          <p:cNvPr id="491" name="Google Shape;491;p21"/>
          <p:cNvSpPr txBox="1">
            <a:spLocks noGrp="1"/>
          </p:cNvSpPr>
          <p:nvPr>
            <p:ph type="title"/>
          </p:nvPr>
        </p:nvSpPr>
        <p:spPr>
          <a:xfrm>
            <a:off x="698500" y="919485"/>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processus automatise les calculs et réserve les décisions engageantes à un responsable</a:t>
            </a:r>
            <a:endParaRPr sz="2100"/>
          </a:p>
        </p:txBody>
      </p:sp>
      <p:sp>
        <p:nvSpPr>
          <p:cNvPr id="493" name="Google Shape;493;p21"/>
          <p:cNvSpPr/>
          <p:nvPr/>
        </p:nvSpPr>
        <p:spPr>
          <a:xfrm>
            <a:off x="10680700" y="6344927"/>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18</a:t>
            </a:r>
            <a:endParaRPr sz="1200">
              <a:solidFill>
                <a:schemeClr val="dk1"/>
              </a:solidFill>
              <a:latin typeface="DM Sans"/>
              <a:ea typeface="DM Sans"/>
              <a:cs typeface="DM Sans"/>
              <a:sym typeface="DM Sans"/>
            </a:endParaRPr>
          </a:p>
        </p:txBody>
      </p:sp>
      <p:sp>
        <p:nvSpPr>
          <p:cNvPr id="494" name="Google Shape;494;p21"/>
          <p:cNvSpPr/>
          <p:nvPr/>
        </p:nvSpPr>
        <p:spPr>
          <a:xfrm>
            <a:off x="317716" y="1698632"/>
            <a:ext cx="11556567" cy="4377694"/>
          </a:xfrm>
          <a:prstGeom prst="rect">
            <a:avLst/>
          </a:prstGeom>
          <a:noFill/>
          <a:ln>
            <a:noFill/>
          </a:ln>
        </p:spPr>
        <p:txBody>
          <a:bodyPr/>
          <a:lstStyle/>
          <a:p>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716" y="1899546"/>
            <a:ext cx="11789403" cy="4719613"/>
          </a:xfrm>
          <a:prstGeom prst="rect">
            <a:avLst/>
          </a:prstGeom>
        </p:spPr>
      </p:pic>
      <p:sp>
        <p:nvSpPr>
          <p:cNvPr id="495" name="Rectangle 494"/>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496" name="Rectangle 495"/>
          <p:cNvSpPr/>
          <p:nvPr/>
        </p:nvSpPr>
        <p:spPr>
          <a:xfrm>
            <a:off x="155448" y="6803136"/>
            <a:ext cx="5701380" cy="54864"/>
          </a:xfrm>
          <a:prstGeom prst="rect">
            <a:avLst/>
          </a:prstGeom>
          <a:solidFill>
            <a:srgbClr val="6B3FA0"/>
          </a:solidFill>
          <a:ln>
            <a:noFill/>
          </a:ln>
        </p:spPr>
        <p:txBody>
          <a:bodyPr rtlCol="0" anchor="ctr"/>
          <a:lstStyle/>
          <a:p>
            <a:pPr algn="ctr"/>
          </a:p>
        </p:txBody>
      </p:sp>
    </p:spTree>
    <p:extLst>
      <p:ext uri="{BB962C8B-B14F-4D97-AF65-F5344CB8AC3E}">
        <p14:creationId xmlns:p14="http://schemas.microsoft.com/office/powerpoint/2010/main" val="4138651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484"/>
        <p:cNvGrpSpPr/>
        <p:nvPr/>
      </p:nvGrpSpPr>
      <p:grpSpPr>
        <a:xfrm>
          <a:off x="0" y="0"/>
          <a:ext cx="0" cy="0"/>
          <a:chOff x="0" y="0"/>
          <a:chExt cx="0" cy="0"/>
        </a:xfrm>
      </p:grpSpPr>
      <p:sp>
        <p:nvSpPr>
          <p:cNvPr id="485" name="Google Shape;485;p21"/>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6" name="Google Shape;486;p21"/>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7" name="Google Shape;487;p21"/>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8" name="Google Shape;488;p21"/>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9" name="Google Shape;489;p21"/>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90" name="Google Shape;490;p21"/>
          <p:cNvSpPr/>
          <p:nvPr/>
        </p:nvSpPr>
        <p:spPr>
          <a:xfrm>
            <a:off x="698500" y="533400"/>
            <a:ext cx="2456783"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2 · AUTOMATISATION</a:t>
            </a:r>
            <a:endParaRPr sz="1200">
              <a:solidFill>
                <a:schemeClr val="dk1"/>
              </a:solidFill>
              <a:latin typeface="DM Sans"/>
              <a:ea typeface="DM Sans"/>
              <a:cs typeface="DM Sans"/>
              <a:sym typeface="DM Sans"/>
            </a:endParaRPr>
          </a:p>
        </p:txBody>
      </p:sp>
      <p:sp>
        <p:nvSpPr>
          <p:cNvPr id="491" name="Google Shape;491;p21"/>
          <p:cNvSpPr txBox="1">
            <a:spLocks noGrp="1"/>
          </p:cNvSpPr>
          <p:nvPr>
            <p:ph type="title"/>
          </p:nvPr>
        </p:nvSpPr>
        <p:spPr>
          <a:xfrm>
            <a:off x="698500" y="919485"/>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processus automatise les calculs et réserve les décisions engageantes à un responsable</a:t>
            </a:r>
            <a:endParaRPr sz="2100"/>
          </a:p>
        </p:txBody>
      </p:sp>
      <p:sp>
        <p:nvSpPr>
          <p:cNvPr id="493" name="Google Shape;493;p21"/>
          <p:cNvSpPr/>
          <p:nvPr/>
        </p:nvSpPr>
        <p:spPr>
          <a:xfrm>
            <a:off x="10680700" y="6344927"/>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19</a:t>
            </a:r>
            <a:endParaRPr sz="1200">
              <a:solidFill>
                <a:schemeClr val="dk1"/>
              </a:solidFill>
              <a:latin typeface="DM Sans"/>
              <a:ea typeface="DM Sans"/>
              <a:cs typeface="DM Sans"/>
              <a:sym typeface="DM Sans"/>
            </a:endParaRPr>
          </a:p>
        </p:txBody>
      </p:sp>
      <p:sp>
        <p:nvSpPr>
          <p:cNvPr id="494" name="Google Shape;494;p21"/>
          <p:cNvSpPr/>
          <p:nvPr/>
        </p:nvSpPr>
        <p:spPr>
          <a:xfrm>
            <a:off x="317716" y="1698632"/>
            <a:ext cx="11556567" cy="4377694"/>
          </a:xfrm>
          <a:prstGeom prst="rect">
            <a:avLst/>
          </a:prstGeom>
          <a:noFill/>
          <a:ln>
            <a:noFill/>
          </a:ln>
        </p:spPr>
        <p:txBody>
          <a:bodyPr/>
          <a:lstStyle/>
          <a:p>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922" y="1804740"/>
            <a:ext cx="11861480" cy="4748467"/>
          </a:xfrm>
          <a:prstGeom prst="rect">
            <a:avLst/>
          </a:prstGeom>
        </p:spPr>
      </p:pic>
      <p:sp>
        <p:nvSpPr>
          <p:cNvPr id="495" name="Rectangle 494"/>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496" name="Rectangle 495"/>
          <p:cNvSpPr/>
          <p:nvPr/>
        </p:nvSpPr>
        <p:spPr>
          <a:xfrm>
            <a:off x="155448" y="6803136"/>
            <a:ext cx="6018124" cy="54864"/>
          </a:xfrm>
          <a:prstGeom prst="rect">
            <a:avLst/>
          </a:prstGeom>
          <a:solidFill>
            <a:srgbClr val="6B3FA0"/>
          </a:solidFill>
          <a:ln>
            <a:noFill/>
          </a:ln>
        </p:spPr>
        <p:txBody>
          <a:bodyPr rtlCol="0" anchor="ctr"/>
          <a:lstStyle/>
          <a:p>
            <a:pPr algn="c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553"/>
        <p:cNvGrpSpPr/>
        <p:nvPr/>
      </p:nvGrpSpPr>
      <p:grpSpPr>
        <a:xfrm>
          <a:off x="0" y="0"/>
          <a:ext cx="0" cy="0"/>
          <a:chOff x="0" y="0"/>
          <a:chExt cx="0" cy="0"/>
        </a:xfrm>
      </p:grpSpPr>
      <p:sp>
        <p:nvSpPr>
          <p:cNvPr id="554" name="Google Shape;554;p26"/>
          <p:cNvSpPr/>
          <p:nvPr/>
        </p:nvSpPr>
        <p:spPr>
          <a:xfrm>
            <a:off x="0" y="0"/>
            <a:ext cx="152400" cy="68580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5" name="Google Shape;555;p26"/>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6" name="Google Shape;556;p26"/>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7" name="Google Shape;557;p26"/>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8" name="Google Shape;558;p26"/>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9" name="Google Shape;559;p26"/>
          <p:cNvSpPr/>
          <p:nvPr/>
        </p:nvSpPr>
        <p:spPr>
          <a:xfrm>
            <a:off x="698500" y="533400"/>
            <a:ext cx="2138220" cy="284480"/>
          </a:xfrm>
          <a:prstGeom prst="roundRect">
            <a:avLst>
              <a:gd name="adj" fmla="val 50000"/>
            </a:avLst>
          </a:prstGeom>
          <a:solidFill>
            <a:srgbClr val="B39DDB"/>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i="0" u="none" strike="noStrike" cap="none">
                <a:solidFill>
                  <a:srgbClr val="1B2A4A"/>
                </a:solidFill>
                <a:latin typeface="DM Sans"/>
                <a:ea typeface="DM Sans"/>
                <a:cs typeface="DM Sans"/>
                <a:sym typeface="DM Sans"/>
              </a:rPr>
              <a:t>PARTIE 3 · BOTTOM LINE</a:t>
            </a:r>
            <a:endParaRPr/>
          </a:p>
        </p:txBody>
      </p:sp>
      <p:sp>
        <p:nvSpPr>
          <p:cNvPr id="560" name="Google Shape;560;p26"/>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a:solidFill>
                  <a:srgbClr val="FFFFFF"/>
                </a:solidFill>
                <a:latin typeface="Sora"/>
                <a:ea typeface="Sora"/>
                <a:cs typeface="Sora"/>
                <a:sym typeface="Sora"/>
              </a:rPr>
              <a:t>Le Bottom line mesure l’impact de Workly face à un planning reconduit chaque semaine</a:t>
            </a:r>
            <a:endParaRPr/>
          </a:p>
        </p:txBody>
      </p:sp>
      <p:sp>
        <p:nvSpPr>
          <p:cNvPr id="561" name="Google Shape;561;p26"/>
          <p:cNvSpPr/>
          <p:nvPr/>
        </p:nvSpPr>
        <p:spPr>
          <a:xfrm>
            <a:off x="10680700" y="6344927"/>
            <a:ext cx="812800" cy="208280"/>
          </a:xfrm>
          <a:prstGeom prst="rect">
            <a:avLst/>
          </a:prstGeom>
          <a:noFill/>
          <a:ln>
            <a:noFill/>
          </a:ln>
        </p:spPr>
        <p:txBody>
          <a:bodyPr spcFirstLastPara="1" wrap="square" lIns="0" tIns="0" rIns="0" bIns="0" anchor="t" anchorCtr="0">
            <a:normAutofit fontScale="92500" lnSpcReduction="10000"/>
          </a:bodyPr>
          <a:lstStyle/>
          <a:p>
            <a:pPr marL="0" marR="0" lvl="0" indent="0" algn="r" rtl="0">
              <a:lnSpc>
                <a:spcPct val="130000"/>
              </a:lnSpc>
              <a:spcBef>
                <a:spcPts val="0"/>
              </a:spcBef>
              <a:spcAft>
                <a:spcPts val="0"/>
              </a:spcAft>
              <a:buClr>
                <a:srgbClr val="FFFFFF"/>
              </a:buClr>
              <a:buSzPts val="1200"/>
              <a:buFont typeface="Sora"/>
              <a:buNone/>
            </a:pPr>
            <a:r>
              <a:rPr lang="en-US" sz="1200" b="1" i="0" u="none" strike="noStrike" cap="none">
                <a:solidFill>
                  <a:srgbClr val="FFFFFF"/>
                </a:solidFill>
                <a:latin typeface="Sora"/>
                <a:ea typeface="Sora"/>
                <a:cs typeface="Sora"/>
                <a:sym typeface="Sora"/>
              </a:rPr>
              <a:t>20</a:t>
            </a:r>
            <a:endParaRPr/>
          </a:p>
        </p:txBody>
      </p:sp>
      <p:sp>
        <p:nvSpPr>
          <p:cNvPr id="562" name="Google Shape;562;p26"/>
          <p:cNvSpPr/>
          <p:nvPr/>
        </p:nvSpPr>
        <p:spPr>
          <a:xfrm>
            <a:off x="698500" y="1778000"/>
            <a:ext cx="2584450" cy="270000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63" name="Google Shape;563;p26"/>
          <p:cNvSpPr/>
          <p:nvPr/>
        </p:nvSpPr>
        <p:spPr>
          <a:xfrm>
            <a:off x="698500" y="1778000"/>
            <a:ext cx="2584450" cy="2700000"/>
          </a:xfrm>
          <a:custGeom>
            <a:avLst/>
            <a:gdLst/>
            <a:ahLst/>
            <a:cxnLst/>
            <a:rect l="l" t="t" r="r" b="b"/>
            <a:pathLst>
              <a:path w="2584450" h="270000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B39DD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64" name="Google Shape;564;p26"/>
          <p:cNvSpPr/>
          <p:nvPr/>
        </p:nvSpPr>
        <p:spPr>
          <a:xfrm>
            <a:off x="889000" y="2108000"/>
            <a:ext cx="2203450" cy="640000"/>
          </a:xfrm>
          <a:prstGeom prst="rect">
            <a:avLst/>
          </a:prstGeom>
          <a:noFill/>
          <a:ln>
            <a:noFill/>
          </a:ln>
        </p:spPr>
        <p:txBody>
          <a:bodyPr spcFirstLastPara="1" wrap="square" lIns="0" tIns="0" rIns="0" bIns="0" anchor="t" anchorCtr="0">
            <a:normAutofit lnSpcReduction="10000"/>
          </a:bodyPr>
          <a:lstStyle/>
          <a:p>
            <a:pPr marL="0" marR="0" lvl="0" indent="0" algn="l" rtl="0">
              <a:lnSpc>
                <a:spcPct val="119444"/>
              </a:lnSpc>
              <a:spcBef>
                <a:spcPts val="0"/>
              </a:spcBef>
              <a:spcAft>
                <a:spcPts val="0"/>
              </a:spcAft>
              <a:buClr>
                <a:srgbClr val="FFFFFF"/>
              </a:buClr>
              <a:buSzPts val="3600"/>
              <a:buFont typeface="Sora"/>
              <a:buNone/>
            </a:pPr>
            <a:r>
              <a:rPr lang="en-US" sz="3600" b="1" i="0" u="none" strike="noStrike" cap="none">
                <a:solidFill>
                  <a:srgbClr val="FFFFFF"/>
                </a:solidFill>
                <a:latin typeface="Sora"/>
                <a:ea typeface="Sora"/>
                <a:cs typeface="Sora"/>
                <a:sym typeface="Sora"/>
              </a:rPr>
              <a:t>+15 113</a:t>
            </a:r>
            <a:endParaRPr/>
          </a:p>
        </p:txBody>
      </p:sp>
      <p:sp>
        <p:nvSpPr>
          <p:cNvPr id="565" name="Google Shape;565;p26"/>
          <p:cNvSpPr/>
          <p:nvPr/>
        </p:nvSpPr>
        <p:spPr>
          <a:xfrm>
            <a:off x="889000" y="2928000"/>
            <a:ext cx="2203450" cy="760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b="0" i="0" u="none" strike="noStrike" cap="none">
                <a:solidFill>
                  <a:srgbClr val="E4E9F5"/>
                </a:solidFill>
                <a:latin typeface="DM Sans"/>
                <a:ea typeface="DM Sans"/>
                <a:cs typeface="DM Sans"/>
                <a:sym typeface="DM Sans"/>
              </a:rPr>
              <a:t>MAD de gain net sur 84 jours de zone</a:t>
            </a:r>
            <a:endParaRPr/>
          </a:p>
        </p:txBody>
      </p:sp>
      <p:sp>
        <p:nvSpPr>
          <p:cNvPr id="566" name="Google Shape;566;p26"/>
          <p:cNvSpPr/>
          <p:nvPr/>
        </p:nvSpPr>
        <p:spPr>
          <a:xfrm>
            <a:off x="889000" y="3828000"/>
            <a:ext cx="2203450" cy="420000"/>
          </a:xfrm>
          <a:prstGeom prst="rect">
            <a:avLst/>
          </a:prstGeom>
          <a:noFill/>
          <a:ln>
            <a:noFill/>
          </a:ln>
        </p:spPr>
        <p:txBody>
          <a:bodyPr spcFirstLastPara="1" wrap="square" lIns="0" tIns="0" rIns="0" bIns="0" anchor="t" anchorCtr="0">
            <a:normAutofit/>
          </a:bodyPr>
          <a:lstStyle/>
          <a:p>
            <a:pPr marL="0" marR="0" lvl="0" indent="0" algn="l" rtl="0">
              <a:lnSpc>
                <a:spcPct val="128571"/>
              </a:lnSpc>
              <a:spcBef>
                <a:spcPts val="0"/>
              </a:spcBef>
              <a:spcAft>
                <a:spcPts val="0"/>
              </a:spcAft>
              <a:buClr>
                <a:srgbClr val="B39DDB"/>
              </a:buClr>
              <a:buSzPts val="1400"/>
              <a:buFont typeface="DM Sans"/>
              <a:buNone/>
            </a:pPr>
            <a:r>
              <a:rPr lang="en-US" sz="1400" b="1" i="0" u="none" strike="noStrike" cap="none">
                <a:solidFill>
                  <a:srgbClr val="B39DDB"/>
                </a:solidFill>
                <a:latin typeface="DM Sans"/>
                <a:ea typeface="DM Sans"/>
                <a:cs typeface="DM Sans"/>
                <a:sym typeface="DM Sans"/>
              </a:rPr>
              <a:t>vs planning reconduit</a:t>
            </a:r>
            <a:endParaRPr/>
          </a:p>
        </p:txBody>
      </p:sp>
      <p:sp>
        <p:nvSpPr>
          <p:cNvPr id="567" name="Google Shape;567;p26"/>
          <p:cNvSpPr/>
          <p:nvPr/>
        </p:nvSpPr>
        <p:spPr>
          <a:xfrm>
            <a:off x="3435350" y="1778000"/>
            <a:ext cx="2584450" cy="270000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68" name="Google Shape;568;p26"/>
          <p:cNvSpPr/>
          <p:nvPr/>
        </p:nvSpPr>
        <p:spPr>
          <a:xfrm>
            <a:off x="3435350" y="1778000"/>
            <a:ext cx="2584450" cy="2700000"/>
          </a:xfrm>
          <a:custGeom>
            <a:avLst/>
            <a:gdLst/>
            <a:ahLst/>
            <a:cxnLst/>
            <a:rect l="l" t="t" r="r" b="b"/>
            <a:pathLst>
              <a:path w="2584450" h="270000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7ACF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69" name="Google Shape;569;p26"/>
          <p:cNvSpPr/>
          <p:nvPr/>
        </p:nvSpPr>
        <p:spPr>
          <a:xfrm>
            <a:off x="3625850" y="2108000"/>
            <a:ext cx="2203450" cy="640000"/>
          </a:xfrm>
          <a:prstGeom prst="rect">
            <a:avLst/>
          </a:prstGeom>
          <a:noFill/>
          <a:ln>
            <a:noFill/>
          </a:ln>
        </p:spPr>
        <p:txBody>
          <a:bodyPr spcFirstLastPara="1" wrap="square" lIns="0" tIns="0" rIns="0" bIns="0" anchor="t" anchorCtr="0">
            <a:normAutofit lnSpcReduction="10000"/>
          </a:bodyPr>
          <a:lstStyle/>
          <a:p>
            <a:pPr marL="0" marR="0" lvl="0" indent="0" algn="l" rtl="0">
              <a:lnSpc>
                <a:spcPct val="119444"/>
              </a:lnSpc>
              <a:spcBef>
                <a:spcPts val="0"/>
              </a:spcBef>
              <a:spcAft>
                <a:spcPts val="0"/>
              </a:spcAft>
              <a:buClr>
                <a:srgbClr val="7ACFC0"/>
              </a:buClr>
              <a:buSzPts val="3600"/>
              <a:buFont typeface="Sora"/>
              <a:buNone/>
            </a:pPr>
            <a:r>
              <a:rPr lang="en-US" sz="3600" b="1" i="0" u="none" strike="noStrike" cap="none">
                <a:solidFill>
                  <a:srgbClr val="7ACFC0"/>
                </a:solidFill>
                <a:latin typeface="Sora"/>
                <a:ea typeface="Sora"/>
                <a:cs typeface="Sora"/>
                <a:sym typeface="Sora"/>
              </a:rPr>
              <a:t>771 h</a:t>
            </a:r>
            <a:endParaRPr/>
          </a:p>
        </p:txBody>
      </p:sp>
      <p:sp>
        <p:nvSpPr>
          <p:cNvPr id="570" name="Google Shape;570;p26"/>
          <p:cNvSpPr/>
          <p:nvPr/>
        </p:nvSpPr>
        <p:spPr>
          <a:xfrm>
            <a:off x="3625850" y="2928000"/>
            <a:ext cx="2203450" cy="760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b="0" i="0" u="none" strike="noStrike" cap="none">
                <a:solidFill>
                  <a:srgbClr val="E4E9F5"/>
                </a:solidFill>
                <a:latin typeface="DM Sans"/>
                <a:ea typeface="DM Sans"/>
                <a:cs typeface="DM Sans"/>
                <a:sym typeface="DM Sans"/>
              </a:rPr>
              <a:t>d’heures de travail mal allouées évitées</a:t>
            </a:r>
            <a:endParaRPr/>
          </a:p>
        </p:txBody>
      </p:sp>
      <p:sp>
        <p:nvSpPr>
          <p:cNvPr id="571" name="Google Shape;571;p26"/>
          <p:cNvSpPr/>
          <p:nvPr/>
        </p:nvSpPr>
        <p:spPr>
          <a:xfrm>
            <a:off x="3625850" y="3828000"/>
            <a:ext cx="2203450" cy="420000"/>
          </a:xfrm>
          <a:prstGeom prst="rect">
            <a:avLst/>
          </a:prstGeom>
          <a:noFill/>
          <a:ln>
            <a:noFill/>
          </a:ln>
        </p:spPr>
        <p:txBody>
          <a:bodyPr spcFirstLastPara="1" wrap="square" lIns="0" tIns="0" rIns="0" bIns="0" anchor="t" anchorCtr="0">
            <a:normAutofit/>
          </a:bodyPr>
          <a:lstStyle/>
          <a:p>
            <a:pPr marL="0" marR="0" lvl="0" indent="0" algn="l" rtl="0">
              <a:lnSpc>
                <a:spcPct val="128571"/>
              </a:lnSpc>
              <a:spcBef>
                <a:spcPts val="0"/>
              </a:spcBef>
              <a:spcAft>
                <a:spcPts val="0"/>
              </a:spcAft>
              <a:buClr>
                <a:srgbClr val="7ACFC0"/>
              </a:buClr>
              <a:buSzPts val="1400"/>
              <a:buFont typeface="DM Sans"/>
              <a:buNone/>
            </a:pPr>
            <a:r>
              <a:rPr lang="en-US" sz="1400" b="1" i="0" u="none" strike="noStrike" cap="none">
                <a:solidFill>
                  <a:srgbClr val="7ACFC0"/>
                </a:solidFill>
                <a:latin typeface="DM Sans"/>
                <a:ea typeface="DM Sans"/>
                <a:cs typeface="DM Sans"/>
                <a:sym typeface="DM Sans"/>
              </a:rPr>
              <a:t>1 348 h → 578 h</a:t>
            </a:r>
            <a:endParaRPr/>
          </a:p>
        </p:txBody>
      </p:sp>
      <p:sp>
        <p:nvSpPr>
          <p:cNvPr id="572" name="Google Shape;572;p26"/>
          <p:cNvSpPr/>
          <p:nvPr/>
        </p:nvSpPr>
        <p:spPr>
          <a:xfrm>
            <a:off x="6172200" y="1778000"/>
            <a:ext cx="2584450" cy="270000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73" name="Google Shape;573;p26"/>
          <p:cNvSpPr/>
          <p:nvPr/>
        </p:nvSpPr>
        <p:spPr>
          <a:xfrm>
            <a:off x="6172200" y="1778000"/>
            <a:ext cx="2584450" cy="2700000"/>
          </a:xfrm>
          <a:custGeom>
            <a:avLst/>
            <a:gdLst/>
            <a:ahLst/>
            <a:cxnLst/>
            <a:rect l="l" t="t" r="r" b="b"/>
            <a:pathLst>
              <a:path w="2584450" h="270000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4A9BE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74" name="Google Shape;574;p26"/>
          <p:cNvSpPr/>
          <p:nvPr/>
        </p:nvSpPr>
        <p:spPr>
          <a:xfrm>
            <a:off x="6362700" y="2108000"/>
            <a:ext cx="2203450" cy="640000"/>
          </a:xfrm>
          <a:prstGeom prst="rect">
            <a:avLst/>
          </a:prstGeom>
          <a:noFill/>
          <a:ln>
            <a:noFill/>
          </a:ln>
        </p:spPr>
        <p:txBody>
          <a:bodyPr spcFirstLastPara="1" wrap="square" lIns="0" tIns="0" rIns="0" bIns="0" anchor="t" anchorCtr="0">
            <a:normAutofit lnSpcReduction="10000"/>
          </a:bodyPr>
          <a:lstStyle/>
          <a:p>
            <a:pPr marL="0" marR="0" lvl="0" indent="0" algn="l" rtl="0">
              <a:lnSpc>
                <a:spcPct val="119444"/>
              </a:lnSpc>
              <a:spcBef>
                <a:spcPts val="0"/>
              </a:spcBef>
              <a:spcAft>
                <a:spcPts val="0"/>
              </a:spcAft>
              <a:buClr>
                <a:srgbClr val="4A9BE0"/>
              </a:buClr>
              <a:buSzPts val="3600"/>
              <a:buFont typeface="Sora"/>
              <a:buNone/>
            </a:pPr>
            <a:r>
              <a:rPr lang="en-US" sz="3600" b="1" i="0" u="none" strike="noStrike" cap="none">
                <a:solidFill>
                  <a:srgbClr val="4A9BE0"/>
                </a:solidFill>
                <a:latin typeface="Sora"/>
                <a:ea typeface="Sora"/>
                <a:cs typeface="Sora"/>
                <a:sym typeface="Sora"/>
              </a:rPr>
              <a:t>103</a:t>
            </a:r>
            <a:endParaRPr/>
          </a:p>
        </p:txBody>
      </p:sp>
      <p:sp>
        <p:nvSpPr>
          <p:cNvPr id="575" name="Google Shape;575;p26"/>
          <p:cNvSpPr/>
          <p:nvPr/>
        </p:nvSpPr>
        <p:spPr>
          <a:xfrm>
            <a:off x="6362700" y="2928000"/>
            <a:ext cx="2203450" cy="760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b="0" i="0" u="none" strike="noStrike" cap="none">
                <a:solidFill>
                  <a:srgbClr val="E4E9F5"/>
                </a:solidFill>
                <a:latin typeface="DM Sans"/>
                <a:ea typeface="DM Sans"/>
                <a:cs typeface="DM Sans"/>
                <a:sym typeface="DM Sans"/>
              </a:rPr>
              <a:t>postes-jours mal alloués évités</a:t>
            </a:r>
            <a:endParaRPr/>
          </a:p>
        </p:txBody>
      </p:sp>
      <p:sp>
        <p:nvSpPr>
          <p:cNvPr id="576" name="Google Shape;576;p26"/>
          <p:cNvSpPr/>
          <p:nvPr/>
        </p:nvSpPr>
        <p:spPr>
          <a:xfrm>
            <a:off x="6362700" y="3828000"/>
            <a:ext cx="2203450" cy="420000"/>
          </a:xfrm>
          <a:prstGeom prst="rect">
            <a:avLst/>
          </a:prstGeom>
          <a:noFill/>
          <a:ln>
            <a:noFill/>
          </a:ln>
        </p:spPr>
        <p:txBody>
          <a:bodyPr spcFirstLastPara="1" wrap="square" lIns="0" tIns="0" rIns="0" bIns="0" anchor="t" anchorCtr="0">
            <a:normAutofit/>
          </a:bodyPr>
          <a:lstStyle/>
          <a:p>
            <a:pPr marL="0" marR="0" lvl="0" indent="0" algn="l" rtl="0">
              <a:lnSpc>
                <a:spcPct val="128571"/>
              </a:lnSpc>
              <a:spcBef>
                <a:spcPts val="0"/>
              </a:spcBef>
              <a:spcAft>
                <a:spcPts val="0"/>
              </a:spcAft>
              <a:buClr>
                <a:srgbClr val="4A9BE0"/>
              </a:buClr>
              <a:buSzPts val="1400"/>
              <a:buFont typeface="DM Sans"/>
              <a:buNone/>
            </a:pPr>
            <a:r>
              <a:rPr lang="en-US" sz="1400" b="1" i="0" u="none" strike="noStrike" cap="none">
                <a:solidFill>
                  <a:srgbClr val="4A9BE0"/>
                </a:solidFill>
                <a:latin typeface="DM Sans"/>
                <a:ea typeface="DM Sans"/>
                <a:cs typeface="DM Sans"/>
                <a:sym typeface="DM Sans"/>
              </a:rPr>
              <a:t>180 → 77 postes-jours</a:t>
            </a:r>
            <a:endParaRPr/>
          </a:p>
        </p:txBody>
      </p:sp>
      <p:sp>
        <p:nvSpPr>
          <p:cNvPr id="577" name="Google Shape;577;p26"/>
          <p:cNvSpPr/>
          <p:nvPr/>
        </p:nvSpPr>
        <p:spPr>
          <a:xfrm>
            <a:off x="8909050" y="1778000"/>
            <a:ext cx="2584450" cy="270000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78" name="Google Shape;578;p26"/>
          <p:cNvSpPr/>
          <p:nvPr/>
        </p:nvSpPr>
        <p:spPr>
          <a:xfrm>
            <a:off x="8909050" y="1778000"/>
            <a:ext cx="2584450" cy="2700000"/>
          </a:xfrm>
          <a:custGeom>
            <a:avLst/>
            <a:gdLst/>
            <a:ahLst/>
            <a:cxnLst/>
            <a:rect l="l" t="t" r="r" b="b"/>
            <a:pathLst>
              <a:path w="2584450" h="270000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79" name="Google Shape;579;p26"/>
          <p:cNvSpPr/>
          <p:nvPr/>
        </p:nvSpPr>
        <p:spPr>
          <a:xfrm>
            <a:off x="9099550" y="2108000"/>
            <a:ext cx="2203450" cy="640000"/>
          </a:xfrm>
          <a:prstGeom prst="rect">
            <a:avLst/>
          </a:prstGeom>
          <a:noFill/>
          <a:ln>
            <a:noFill/>
          </a:ln>
        </p:spPr>
        <p:txBody>
          <a:bodyPr spcFirstLastPara="1" wrap="square" lIns="0" tIns="0" rIns="0" bIns="0" anchor="t" anchorCtr="0">
            <a:normAutofit lnSpcReduction="10000"/>
          </a:bodyPr>
          <a:lstStyle/>
          <a:p>
            <a:pPr marL="0" marR="0" lvl="0" indent="0" algn="l" rtl="0">
              <a:lnSpc>
                <a:spcPct val="119444"/>
              </a:lnSpc>
              <a:spcBef>
                <a:spcPts val="0"/>
              </a:spcBef>
              <a:spcAft>
                <a:spcPts val="0"/>
              </a:spcAft>
              <a:buClr>
                <a:srgbClr val="B39DDB"/>
              </a:buClr>
              <a:buSzPts val="3600"/>
              <a:buFont typeface="Sora"/>
              <a:buNone/>
            </a:pPr>
            <a:r>
              <a:rPr lang="en-US" sz="3600" b="1" i="0" u="none" strike="noStrike" cap="none">
                <a:solidFill>
                  <a:srgbClr val="B39DDB"/>
                </a:solidFill>
                <a:latin typeface="Sora"/>
                <a:ea typeface="Sora"/>
                <a:cs typeface="Sora"/>
                <a:sym typeface="Sora"/>
              </a:rPr>
              <a:t>542</a:t>
            </a:r>
            <a:endParaRPr/>
          </a:p>
        </p:txBody>
      </p:sp>
      <p:sp>
        <p:nvSpPr>
          <p:cNvPr id="580" name="Google Shape;580;p26"/>
          <p:cNvSpPr/>
          <p:nvPr/>
        </p:nvSpPr>
        <p:spPr>
          <a:xfrm>
            <a:off x="9099550" y="2928000"/>
            <a:ext cx="2203450" cy="760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b="0" i="0" u="none" strike="noStrike" cap="none">
                <a:solidFill>
                  <a:srgbClr val="E4E9F5"/>
                </a:solidFill>
                <a:latin typeface="DM Sans"/>
                <a:ea typeface="DM Sans"/>
                <a:cs typeface="DM Sans"/>
                <a:sym typeface="DM Sans"/>
              </a:rPr>
              <a:t>commandes en retard évitées</a:t>
            </a:r>
            <a:endParaRPr/>
          </a:p>
        </p:txBody>
      </p:sp>
      <p:sp>
        <p:nvSpPr>
          <p:cNvPr id="581" name="Google Shape;581;p26"/>
          <p:cNvSpPr/>
          <p:nvPr/>
        </p:nvSpPr>
        <p:spPr>
          <a:xfrm>
            <a:off x="9099550" y="3828000"/>
            <a:ext cx="2203450" cy="420000"/>
          </a:xfrm>
          <a:prstGeom prst="rect">
            <a:avLst/>
          </a:prstGeom>
          <a:noFill/>
          <a:ln>
            <a:noFill/>
          </a:ln>
        </p:spPr>
        <p:txBody>
          <a:bodyPr spcFirstLastPara="1" wrap="square" lIns="0" tIns="0" rIns="0" bIns="0" anchor="t" anchorCtr="0">
            <a:normAutofit/>
          </a:bodyPr>
          <a:lstStyle/>
          <a:p>
            <a:pPr marL="0" marR="0" lvl="0" indent="0" algn="l" rtl="0">
              <a:lnSpc>
                <a:spcPct val="128571"/>
              </a:lnSpc>
              <a:spcBef>
                <a:spcPts val="0"/>
              </a:spcBef>
              <a:spcAft>
                <a:spcPts val="0"/>
              </a:spcAft>
              <a:buClr>
                <a:srgbClr val="B39DDB"/>
              </a:buClr>
              <a:buSzPts val="1400"/>
              <a:buFont typeface="DM Sans"/>
              <a:buNone/>
            </a:pPr>
            <a:r>
              <a:rPr lang="en-US" sz="1400" b="1" i="0" u="none" strike="noStrike" cap="none">
                <a:solidFill>
                  <a:srgbClr val="B39DDB"/>
                </a:solidFill>
                <a:latin typeface="DM Sans"/>
                <a:ea typeface="DM Sans"/>
                <a:cs typeface="DM Sans"/>
                <a:sym typeface="DM Sans"/>
              </a:rPr>
              <a:t>555 → 12 commandes</a:t>
            </a:r>
            <a:endParaRPr/>
          </a:p>
        </p:txBody>
      </p:sp>
      <p:sp>
        <p:nvSpPr>
          <p:cNvPr id="582" name="Google Shape;582;p26"/>
          <p:cNvSpPr/>
          <p:nvPr/>
        </p:nvSpPr>
        <p:spPr>
          <a:xfrm>
            <a:off x="609600" y="5022000"/>
            <a:ext cx="10795000" cy="1000000"/>
          </a:xfrm>
          <a:prstGeom prst="roundRect">
            <a:avLst>
              <a:gd name="adj" fmla="val 12000"/>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dirty="0">
              <a:solidFill>
                <a:srgbClr val="1B2A4A"/>
              </a:solidFill>
              <a:latin typeface="DM Sans"/>
              <a:ea typeface="DM Sans"/>
              <a:cs typeface="DM Sans"/>
              <a:sym typeface="DM Sans"/>
            </a:endParaRPr>
          </a:p>
        </p:txBody>
      </p:sp>
      <p:sp>
        <p:nvSpPr>
          <p:cNvPr id="583" name="Google Shape;583;p26"/>
          <p:cNvSpPr/>
          <p:nvPr/>
        </p:nvSpPr>
        <p:spPr>
          <a:xfrm>
            <a:off x="998500" y="4750000"/>
            <a:ext cx="10195000" cy="1000000"/>
          </a:xfrm>
          <a:prstGeom prst="rect">
            <a:avLst/>
          </a:prstGeom>
          <a:noFill/>
          <a:ln>
            <a:noFill/>
          </a:ln>
        </p:spPr>
        <p:txBody>
          <a:bodyPr spcFirstLastPara="1" wrap="square" lIns="0" tIns="0" rIns="0" bIns="0" anchor="ctr" anchorCtr="0">
            <a:normAutofit/>
          </a:bodyPr>
          <a:lstStyle/>
          <a:p>
            <a:pPr marL="0" marR="0" lvl="0" indent="0" algn="l" rtl="0">
              <a:lnSpc>
                <a:spcPct val="137500"/>
              </a:lnSpc>
              <a:spcBef>
                <a:spcPts val="0"/>
              </a:spcBef>
              <a:spcAft>
                <a:spcPts val="0"/>
              </a:spcAft>
              <a:buClr>
                <a:srgbClr val="7ACFC0"/>
              </a:buClr>
              <a:buSzPts val="1600"/>
              <a:buFont typeface="DM Sans"/>
              <a:buNone/>
            </a:pPr>
            <a:endParaRPr dirty="0"/>
          </a:p>
        </p:txBody>
      </p:sp>
      <p:sp>
        <p:nvSpPr>
          <p:cNvPr id="584" name="Google Shape;584;p26"/>
          <p:cNvSpPr/>
          <p:nvPr/>
        </p:nvSpPr>
        <p:spPr>
          <a:xfrm>
            <a:off x="698500" y="6344921"/>
            <a:ext cx="9156700" cy="2082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9FB0D6"/>
              </a:buClr>
              <a:buSzPts val="1200"/>
              <a:buFont typeface="DM Sans"/>
              <a:buNone/>
            </a:pPr>
            <a:r>
              <a:rPr lang="en-US" sz="1200" b="0" i="0" u="none" strike="noStrike" cap="none">
                <a:solidFill>
                  <a:srgbClr val="9FB0D6"/>
                </a:solidFill>
                <a:latin typeface="DM Sans"/>
                <a:ea typeface="DM Sans"/>
                <a:cs typeface="DM Sans"/>
                <a:sym typeface="DM Sans"/>
              </a:rPr>
              <a:t>Source : onglet Bottom line de l’application Workly ; simulation sur le jeu de données de démonstration (84 jours de zone).</a:t>
            </a:r>
            <a:endParaRPr/>
          </a:p>
        </p:txBody>
      </p:sp>
      <p:sp>
        <p:nvSpPr>
          <p:cNvPr id="585" name="TextBox 584"/>
          <p:cNvSpPr txBox="1"/>
          <p:nvPr/>
        </p:nvSpPr>
        <p:spPr>
          <a:xfrm>
            <a:off x="883920" y="5022000"/>
            <a:ext cx="10246360" cy="1000000"/>
          </a:xfrm>
          <a:prstGeom prst="rect">
            <a:avLst/>
          </a:prstGeom>
          <a:noFill/>
        </p:spPr>
        <p:txBody>
          <a:bodyPr wrap="square" lIns="0" tIns="0" rIns="0" bIns="0" anchor="ctr">
            <a:noAutofit/>
          </a:bodyPr>
          <a:lstStyle/>
          <a:p>
            <a:pPr algn="l">
              <a:lnSpc>
                <a:spcPct val="115000"/>
              </a:lnSpc>
              <a:spcBef>
                <a:spcPts val="0"/>
              </a:spcBef>
              <a:spcAft>
                <a:spcPts val="0"/>
              </a:spcAft>
            </a:pPr>
            <a:r>
              <a:rPr sz="1600" b="1" i="0">
                <a:solidFill>
                  <a:srgbClr val="7ACFC0"/>
                </a:solidFill>
                <a:latin typeface="DM Sans"/>
              </a:rPr>
              <a:t>Résultat : </a:t>
            </a:r>
            <a:r>
              <a:rPr sz="1600" b="0" i="0">
                <a:solidFill>
                  <a:srgbClr val="FFFFFF"/>
                </a:solidFill>
                <a:latin typeface="DM Sans"/>
              </a:rPr>
              <a:t>taux de service de 94,6 % à 99,9 %, et un gain annualisé de 183 874 MAD.</a:t>
            </a:r>
          </a:p>
        </p:txBody>
      </p:sp>
      <p:sp>
        <p:nvSpPr>
          <p:cNvPr id="586" name="Rectangle 585"/>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587" name="Rectangle 586"/>
          <p:cNvSpPr/>
          <p:nvPr/>
        </p:nvSpPr>
        <p:spPr>
          <a:xfrm>
            <a:off x="155448" y="6803136"/>
            <a:ext cx="6334867" cy="54864"/>
          </a:xfrm>
          <a:prstGeom prst="rect">
            <a:avLst/>
          </a:prstGeom>
          <a:solidFill>
            <a:srgbClr val="7ACFC0"/>
          </a:solidFill>
          <a:ln>
            <a:noFill/>
          </a:ln>
        </p:spPr>
        <p:txBody>
          <a:bodyPr rtlCol="0" anchor="ct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05519"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USE CASE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Use case : superviser la chaîne de nuit pour détecter une panne avant la journée de travail</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22</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37360"/>
            <a:ext cx="10799064" cy="658368"/>
          </a:xfrm>
          <a:prstGeom prst="roundRect">
            <a:avLst>
              <a:gd name="adj" fmla="val 16666"/>
            </a:avLst>
          </a:prstGeom>
          <a:solidFill>
            <a:srgbClr val="1B2A4A"/>
          </a:solidFill>
          <a:ln>
            <a:noFill/>
          </a:ln>
        </p:spPr>
        <p:txBody>
          <a:bodyPr rtlCol="0" anchor="ctr"/>
          <a:lstStyle/>
          <a:p>
            <a:pPr algn="ctr"/>
            <a:endParaRPr/>
          </a:p>
        </p:txBody>
      </p:sp>
      <p:sp>
        <p:nvSpPr>
          <p:cNvPr id="114" name="TextBox 113"/>
          <p:cNvSpPr txBox="1"/>
          <p:nvPr/>
        </p:nvSpPr>
        <p:spPr>
          <a:xfrm>
            <a:off x="987552" y="1737360"/>
            <a:ext cx="10241280" cy="658368"/>
          </a:xfrm>
          <a:prstGeom prst="rect">
            <a:avLst/>
          </a:prstGeom>
          <a:noFill/>
        </p:spPr>
        <p:txBody>
          <a:bodyPr wrap="square" lIns="0" tIns="0" rIns="0" bIns="0" anchor="ctr">
            <a:noAutofit/>
          </a:bodyPr>
          <a:lstStyle/>
          <a:p>
            <a:pPr algn="l">
              <a:lnSpc>
                <a:spcPct val="112000"/>
              </a:lnSpc>
              <a:spcBef>
                <a:spcPts val="0"/>
              </a:spcBef>
              <a:spcAft>
                <a:spcPts val="0"/>
              </a:spcAft>
            </a:pPr>
            <a:r>
              <a:rPr sz="1400" b="1" i="0">
                <a:solidFill>
                  <a:srgbClr val="7ACFC0"/>
                </a:solidFill>
                <a:latin typeface="DM Sans"/>
              </a:rPr>
              <a:t>Description : </a:t>
            </a:r>
            <a:r>
              <a:rPr sz="1400" b="0" i="0">
                <a:solidFill>
                  <a:srgbClr val="FFFFFF"/>
                </a:solidFill>
                <a:latin typeface="DM Sans"/>
              </a:rPr>
              <a:t>chaque matin, Workly signale seul l’état de sa chaîne de nuit ; une panne ou une nuit non exécutée est détectée avant la journée de travail, sans que personne ouvre le journal.</a:t>
            </a:r>
          </a:p>
        </p:txBody>
      </p:sp>
      <p:sp>
        <p:nvSpPr>
          <p:cNvPr id="115" name="Rounded Rectangle 114"/>
          <p:cNvSpPr/>
          <p:nvPr/>
        </p:nvSpPr>
        <p:spPr>
          <a:xfrm>
            <a:off x="694944" y="2560320"/>
            <a:ext cx="3520440" cy="3639312"/>
          </a:xfrm>
          <a:prstGeom prst="roundRect">
            <a:avLst>
              <a:gd name="adj" fmla="val 4329"/>
            </a:avLst>
          </a:prstGeom>
          <a:solidFill>
            <a:srgbClr val="FFFFFF"/>
          </a:solidFill>
          <a:ln>
            <a:noFill/>
          </a:ln>
        </p:spPr>
        <p:txBody>
          <a:bodyPr rtlCol="0" anchor="ctr"/>
          <a:lstStyle/>
          <a:p>
            <a:pPr algn="ctr"/>
            <a:endParaRPr/>
          </a:p>
        </p:txBody>
      </p:sp>
      <p:sp>
        <p:nvSpPr>
          <p:cNvPr id="116" name="Rectangle 115"/>
          <p:cNvSpPr/>
          <p:nvPr/>
        </p:nvSpPr>
        <p:spPr>
          <a:xfrm>
            <a:off x="694944" y="2560320"/>
            <a:ext cx="3520440" cy="3639312"/>
          </a:xfrm>
          <a:custGeom>
            <a:avLst/>
            <a:gdLst/>
            <a:ahLst/>
            <a:cxnLst/>
            <a:rect l="l" t="t" r="r" b="b"/>
            <a:pathLst>
              <a:path w="3520440" h="3639312" extrusionOk="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17" name="Oval 116"/>
          <p:cNvSpPr/>
          <p:nvPr/>
        </p:nvSpPr>
        <p:spPr>
          <a:xfrm>
            <a:off x="896112" y="2779776"/>
            <a:ext cx="329184" cy="329184"/>
          </a:xfrm>
          <a:prstGeom prst="ellipse">
            <a:avLst/>
          </a:prstGeom>
          <a:solidFill>
            <a:srgbClr val="4A9BE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1</a:t>
            </a:r>
          </a:p>
        </p:txBody>
      </p:sp>
      <p:sp>
        <p:nvSpPr>
          <p:cNvPr id="118" name="TextBox 117"/>
          <p:cNvSpPr txBox="1"/>
          <p:nvPr/>
        </p:nvSpPr>
        <p:spPr>
          <a:xfrm>
            <a:off x="1335024"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PROCESSUS</a:t>
            </a:r>
          </a:p>
        </p:txBody>
      </p:sp>
      <p:sp>
        <p:nvSpPr>
          <p:cNvPr id="119" name="Rounded Rectangle 118"/>
          <p:cNvSpPr/>
          <p:nvPr/>
        </p:nvSpPr>
        <p:spPr>
          <a:xfrm>
            <a:off x="4334256" y="2560320"/>
            <a:ext cx="3520440" cy="3639312"/>
          </a:xfrm>
          <a:prstGeom prst="roundRect">
            <a:avLst>
              <a:gd name="adj" fmla="val 4329"/>
            </a:avLst>
          </a:prstGeom>
          <a:solidFill>
            <a:srgbClr val="FFFFFF"/>
          </a:solidFill>
          <a:ln>
            <a:noFill/>
          </a:ln>
        </p:spPr>
        <p:txBody>
          <a:bodyPr rtlCol="0" anchor="ctr"/>
          <a:lstStyle/>
          <a:p>
            <a:pPr algn="ctr"/>
            <a:endParaRPr/>
          </a:p>
        </p:txBody>
      </p:sp>
      <p:sp>
        <p:nvSpPr>
          <p:cNvPr id="120" name="Rectangle 119"/>
          <p:cNvSpPr/>
          <p:nvPr/>
        </p:nvSpPr>
        <p:spPr>
          <a:xfrm>
            <a:off x="4334256" y="2560320"/>
            <a:ext cx="3520440" cy="3639312"/>
          </a:xfrm>
          <a:custGeom>
            <a:avLst/>
            <a:gdLst/>
            <a:ahLst/>
            <a:cxnLst/>
            <a:rect l="l" t="t" r="r" b="b"/>
            <a:pathLst>
              <a:path w="3520440" h="3639312" extrusionOk="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121" name="Oval 120"/>
          <p:cNvSpPr/>
          <p:nvPr/>
        </p:nvSpPr>
        <p:spPr>
          <a:xfrm>
            <a:off x="4535424" y="2779776"/>
            <a:ext cx="329184" cy="329184"/>
          </a:xfrm>
          <a:prstGeom prst="ellipse">
            <a:avLst/>
          </a:prstGeom>
          <a:solidFill>
            <a:srgbClr val="B39DDB"/>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2</a:t>
            </a:r>
          </a:p>
        </p:txBody>
      </p:sp>
      <p:sp>
        <p:nvSpPr>
          <p:cNvPr id="122" name="TextBox 121"/>
          <p:cNvSpPr txBox="1"/>
          <p:nvPr/>
        </p:nvSpPr>
        <p:spPr>
          <a:xfrm>
            <a:off x="4974336"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OPPORTUNITÉ DÉTECTÉE</a:t>
            </a:r>
          </a:p>
        </p:txBody>
      </p:sp>
      <p:sp>
        <p:nvSpPr>
          <p:cNvPr id="123" name="Rounded Rectangle 122"/>
          <p:cNvSpPr/>
          <p:nvPr/>
        </p:nvSpPr>
        <p:spPr>
          <a:xfrm>
            <a:off x="7973568" y="2560320"/>
            <a:ext cx="3520440" cy="3639312"/>
          </a:xfrm>
          <a:prstGeom prst="roundRect">
            <a:avLst>
              <a:gd name="adj" fmla="val 4329"/>
            </a:avLst>
          </a:prstGeom>
          <a:solidFill>
            <a:srgbClr val="FFFFFF"/>
          </a:solidFill>
          <a:ln>
            <a:noFill/>
          </a:ln>
        </p:spPr>
        <p:txBody>
          <a:bodyPr rtlCol="0" anchor="ctr"/>
          <a:lstStyle/>
          <a:p>
            <a:pPr algn="ctr"/>
            <a:endParaRPr/>
          </a:p>
        </p:txBody>
      </p:sp>
      <p:sp>
        <p:nvSpPr>
          <p:cNvPr id="124" name="Rectangle 123"/>
          <p:cNvSpPr/>
          <p:nvPr/>
        </p:nvSpPr>
        <p:spPr>
          <a:xfrm>
            <a:off x="7973568" y="2560320"/>
            <a:ext cx="3520440" cy="3639312"/>
          </a:xfrm>
          <a:custGeom>
            <a:avLst/>
            <a:gdLst/>
            <a:ahLst/>
            <a:cxnLst/>
            <a:rect l="l" t="t" r="r" b="b"/>
            <a:pathLst>
              <a:path w="3520440" h="3639312" extrusionOk="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125" name="Oval 124"/>
          <p:cNvSpPr/>
          <p:nvPr/>
        </p:nvSpPr>
        <p:spPr>
          <a:xfrm>
            <a:off x="8174736" y="2779776"/>
            <a:ext cx="329184" cy="329184"/>
          </a:xfrm>
          <a:prstGeom prst="ellipse">
            <a:avLst/>
          </a:prstGeom>
          <a:solidFill>
            <a:srgbClr val="7ACFC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3</a:t>
            </a:r>
          </a:p>
        </p:txBody>
      </p:sp>
      <p:sp>
        <p:nvSpPr>
          <p:cNvPr id="126" name="TextBox 125"/>
          <p:cNvSpPr txBox="1"/>
          <p:nvPr/>
        </p:nvSpPr>
        <p:spPr>
          <a:xfrm>
            <a:off x="8613648"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CIBLE · BOTTOM LINE</a:t>
            </a:r>
          </a:p>
        </p:txBody>
      </p:sp>
      <p:sp>
        <p:nvSpPr>
          <p:cNvPr id="127" name="TextBox 126"/>
          <p:cNvSpPr txBox="1"/>
          <p:nvPr/>
        </p:nvSpPr>
        <p:spPr>
          <a:xfrm>
            <a:off x="923544" y="3310128"/>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7390"/>
                </a:solidFill>
                <a:latin typeface="Sora"/>
              </a:rPr>
              <a:t>AUJOURD’HUI</a:t>
            </a:r>
          </a:p>
        </p:txBody>
      </p:sp>
      <p:sp>
        <p:nvSpPr>
          <p:cNvPr id="128" name="Rounded Rectangle 127"/>
          <p:cNvSpPr/>
          <p:nvPr/>
        </p:nvSpPr>
        <p:spPr>
          <a:xfrm>
            <a:off x="923544" y="3602736"/>
            <a:ext cx="694944" cy="237744"/>
          </a:xfrm>
          <a:prstGeom prst="roundRect">
            <a:avLst>
              <a:gd name="adj" fmla="val 50000"/>
            </a:avLst>
          </a:prstGeom>
          <a:solidFill>
            <a:srgbClr val="CDEEE8"/>
          </a:solidFill>
          <a:ln>
            <a:noFill/>
          </a:ln>
        </p:spPr>
        <p:txBody>
          <a:bodyPr wrap="square" lIns="36576" tIns="0" rIns="36576" bIns="0" rtlCol="0" anchor="ctr">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29" name="TextBox 128"/>
          <p:cNvSpPr txBox="1"/>
          <p:nvPr/>
        </p:nvSpPr>
        <p:spPr>
          <a:xfrm>
            <a:off x="1709928" y="3584448"/>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00:30 UTC : 8 étapes de nuit</a:t>
            </a:r>
          </a:p>
        </p:txBody>
      </p:sp>
      <p:sp>
        <p:nvSpPr>
          <p:cNvPr id="130" name="Rounded Rectangle 129"/>
          <p:cNvSpPr/>
          <p:nvPr/>
        </p:nvSpPr>
        <p:spPr>
          <a:xfrm>
            <a:off x="923544" y="4005072"/>
            <a:ext cx="694944" cy="237744"/>
          </a:xfrm>
          <a:prstGeom prst="roundRect">
            <a:avLst>
              <a:gd name="adj" fmla="val 50000"/>
            </a:avLst>
          </a:prstGeom>
          <a:solidFill>
            <a:srgbClr val="E2D9F3"/>
          </a:solidFill>
          <a:ln>
            <a:noFill/>
          </a:ln>
        </p:spPr>
        <p:txBody>
          <a:bodyPr wrap="square" lIns="36576" tIns="0" rIns="36576" bIns="0" rtlCol="0" anchor="ctr">
            <a:noAutofit/>
          </a:bodyPr>
          <a:lstStyle/>
          <a:p>
            <a:pPr algn="ctr">
              <a:lnSpc>
                <a:spcPct val="100000"/>
              </a:lnSpc>
              <a:spcBef>
                <a:spcPts val="0"/>
              </a:spcBef>
              <a:spcAft>
                <a:spcPts val="0"/>
              </a:spcAft>
            </a:pPr>
            <a:r>
              <a:rPr sz="1000" b="1" i="0">
                <a:solidFill>
                  <a:srgbClr val="1B2A4A"/>
                </a:solidFill>
                <a:latin typeface="DM Sans"/>
              </a:rPr>
              <a:t>Manuel</a:t>
            </a:r>
          </a:p>
        </p:txBody>
      </p:sp>
      <p:sp>
        <p:nvSpPr>
          <p:cNvPr id="131" name="TextBox 130"/>
          <p:cNvSpPr txBox="1"/>
          <p:nvPr/>
        </p:nvSpPr>
        <p:spPr>
          <a:xfrm>
            <a:off x="1709928" y="3986784"/>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Matin : contrôle du journal</a:t>
            </a:r>
          </a:p>
        </p:txBody>
      </p:sp>
      <p:cxnSp>
        <p:nvCxnSpPr>
          <p:cNvPr id="132" name="Connector 131"/>
          <p:cNvCxnSpPr/>
          <p:nvPr/>
        </p:nvCxnSpPr>
        <p:spPr>
          <a:xfrm>
            <a:off x="923544" y="4407408"/>
            <a:ext cx="3063240" cy="0"/>
          </a:xfrm>
          <a:prstGeom prst="line">
            <a:avLst/>
          </a:prstGeom>
          <a:ln w="12700">
            <a:solidFill>
              <a:srgbClr val="D5DAE8"/>
            </a:solidFill>
          </a:ln>
        </p:spPr>
      </p:cxnSp>
      <p:sp>
        <p:nvSpPr>
          <p:cNvPr id="133" name="TextBox 132"/>
          <p:cNvSpPr txBox="1"/>
          <p:nvPr/>
        </p:nvSpPr>
        <p:spPr>
          <a:xfrm>
            <a:off x="923544" y="4572000"/>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3FA0"/>
                </a:solidFill>
                <a:latin typeface="Sora"/>
              </a:rPr>
              <a:t>AVEC LE USE CASE</a:t>
            </a:r>
          </a:p>
        </p:txBody>
      </p:sp>
      <p:sp>
        <p:nvSpPr>
          <p:cNvPr id="134" name="Rounded Rectangle 133"/>
          <p:cNvSpPr/>
          <p:nvPr/>
        </p:nvSpPr>
        <p:spPr>
          <a:xfrm>
            <a:off x="923544" y="4864608"/>
            <a:ext cx="694944" cy="237744"/>
          </a:xfrm>
          <a:prstGeom prst="roundRect">
            <a:avLst>
              <a:gd name="adj" fmla="val 50000"/>
            </a:avLst>
          </a:prstGeom>
          <a:solidFill>
            <a:srgbClr val="CDEEE8"/>
          </a:solidFill>
          <a:ln>
            <a:noFill/>
          </a:ln>
        </p:spPr>
        <p:txBody>
          <a:bodyPr wrap="square" lIns="36576" tIns="0" rIns="36576" bIns="0" rtlCol="0" anchor="ctr">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35" name="TextBox 134"/>
          <p:cNvSpPr txBox="1"/>
          <p:nvPr/>
        </p:nvSpPr>
        <p:spPr>
          <a:xfrm>
            <a:off x="1709928" y="4846320"/>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06:00 UTC : bilan et 2 agents</a:t>
            </a:r>
          </a:p>
        </p:txBody>
      </p:sp>
      <p:sp>
        <p:nvSpPr>
          <p:cNvPr id="136" name="Rounded Rectangle 135"/>
          <p:cNvSpPr/>
          <p:nvPr/>
        </p:nvSpPr>
        <p:spPr>
          <a:xfrm>
            <a:off x="923544" y="5266944"/>
            <a:ext cx="694944" cy="237744"/>
          </a:xfrm>
          <a:prstGeom prst="roundRect">
            <a:avLst>
              <a:gd name="adj" fmla="val 50000"/>
            </a:avLst>
          </a:prstGeom>
          <a:solidFill>
            <a:srgbClr val="CDEEE8"/>
          </a:solidFill>
          <a:ln>
            <a:noFill/>
          </a:ln>
        </p:spPr>
        <p:txBody>
          <a:bodyPr wrap="square" lIns="36576" tIns="0" rIns="36576" bIns="0" rtlCol="0" anchor="ctr">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37" name="TextBox 136"/>
          <p:cNvSpPr txBox="1"/>
          <p:nvPr/>
        </p:nvSpPr>
        <p:spPr>
          <a:xfrm>
            <a:off x="1709928" y="5248656"/>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Message Slack chaque matin</a:t>
            </a:r>
          </a:p>
        </p:txBody>
      </p:sp>
      <p:sp>
        <p:nvSpPr>
          <p:cNvPr id="138" name="Rectangle 137"/>
          <p:cNvSpPr/>
          <p:nvPr/>
        </p:nvSpPr>
        <p:spPr>
          <a:xfrm>
            <a:off x="4562856" y="3374136"/>
            <a:ext cx="100584" cy="100584"/>
          </a:xfrm>
          <a:prstGeom prst="rect">
            <a:avLst/>
          </a:prstGeom>
          <a:solidFill>
            <a:srgbClr val="B39DDB"/>
          </a:solidFill>
          <a:ln>
            <a:noFill/>
          </a:ln>
        </p:spPr>
        <p:txBody>
          <a:bodyPr rtlCol="0" anchor="ctr"/>
          <a:lstStyle/>
          <a:p>
            <a:pPr algn="ctr"/>
            <a:endParaRPr/>
          </a:p>
        </p:txBody>
      </p:sp>
      <p:sp>
        <p:nvSpPr>
          <p:cNvPr id="139" name="TextBox 138"/>
          <p:cNvSpPr txBox="1"/>
          <p:nvPr/>
        </p:nvSpPr>
        <p:spPr>
          <a:xfrm>
            <a:off x="4818888" y="3310128"/>
            <a:ext cx="2807208" cy="740474"/>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Un trou de supervision. </a:t>
            </a:r>
            <a:r>
              <a:rPr sz="1300" b="0" i="0">
                <a:solidFill>
                  <a:srgbClr val="2B3350"/>
                </a:solidFill>
                <a:latin typeface="DM Sans"/>
              </a:rPr>
              <a:t>Une nuit non exécutée (PC éteint, planificateur arrêté) ne déclenche aucune alerte.</a:t>
            </a:r>
          </a:p>
        </p:txBody>
      </p:sp>
      <p:sp>
        <p:nvSpPr>
          <p:cNvPr id="140" name="Rectangle 139"/>
          <p:cNvSpPr/>
          <p:nvPr/>
        </p:nvSpPr>
        <p:spPr>
          <a:xfrm>
            <a:off x="4562856" y="4315778"/>
            <a:ext cx="100584" cy="100584"/>
          </a:xfrm>
          <a:prstGeom prst="rect">
            <a:avLst/>
          </a:prstGeom>
          <a:solidFill>
            <a:srgbClr val="B39DDB"/>
          </a:solidFill>
          <a:ln>
            <a:noFill/>
          </a:ln>
        </p:spPr>
        <p:txBody>
          <a:bodyPr rtlCol="0" anchor="ctr"/>
          <a:lstStyle/>
          <a:p>
            <a:pPr algn="ctr"/>
            <a:endParaRPr/>
          </a:p>
        </p:txBody>
      </p:sp>
      <p:sp>
        <p:nvSpPr>
          <p:cNvPr id="141" name="TextBox 140"/>
          <p:cNvSpPr txBox="1"/>
          <p:nvPr/>
        </p:nvSpPr>
        <p:spPr>
          <a:xfrm>
            <a:off x="4818888" y="4251770"/>
            <a:ext cx="2807208" cy="493649"/>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Un contrôle manuel. </a:t>
            </a:r>
            <a:r>
              <a:rPr sz="1300" b="0" i="0">
                <a:solidFill>
                  <a:srgbClr val="2B3350"/>
                </a:solidFill>
                <a:latin typeface="DM Sans"/>
              </a:rPr>
              <a:t>Le journal est vérifié à la main, sans mesure.</a:t>
            </a:r>
          </a:p>
        </p:txBody>
      </p:sp>
      <p:sp>
        <p:nvSpPr>
          <p:cNvPr id="142" name="Rectangle 141"/>
          <p:cNvSpPr/>
          <p:nvPr/>
        </p:nvSpPr>
        <p:spPr>
          <a:xfrm>
            <a:off x="4562856" y="5010594"/>
            <a:ext cx="100584" cy="100584"/>
          </a:xfrm>
          <a:prstGeom prst="rect">
            <a:avLst/>
          </a:prstGeom>
          <a:solidFill>
            <a:srgbClr val="B39DDB"/>
          </a:solidFill>
          <a:ln>
            <a:noFill/>
          </a:ln>
        </p:spPr>
        <p:txBody>
          <a:bodyPr rtlCol="0" anchor="ctr"/>
          <a:lstStyle/>
          <a:p>
            <a:pPr algn="ctr"/>
            <a:endParaRPr/>
          </a:p>
        </p:txBody>
      </p:sp>
      <p:sp>
        <p:nvSpPr>
          <p:cNvPr id="143" name="TextBox 142"/>
          <p:cNvSpPr txBox="1"/>
          <p:nvPr/>
        </p:nvSpPr>
        <p:spPr>
          <a:xfrm>
            <a:off x="4818888" y="4946586"/>
            <a:ext cx="2807208" cy="493649"/>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Des alertes tardives. </a:t>
            </a:r>
            <a:r>
              <a:rPr sz="1300" b="0" i="0">
                <a:solidFill>
                  <a:srgbClr val="2B3350"/>
                </a:solidFill>
                <a:latin typeface="DM Sans"/>
              </a:rPr>
              <a:t>28 % traitées, 18,3 h de prise en charge (livrable 2).</a:t>
            </a:r>
          </a:p>
        </p:txBody>
      </p:sp>
      <p:sp>
        <p:nvSpPr>
          <p:cNvPr id="144" name="TextBox 143"/>
          <p:cNvSpPr txBox="1"/>
          <p:nvPr/>
        </p:nvSpPr>
        <p:spPr>
          <a:xfrm>
            <a:off x="8202168" y="3291840"/>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Nuits supervisées sans action manuelle</a:t>
            </a:r>
          </a:p>
        </p:txBody>
      </p:sp>
      <p:sp>
        <p:nvSpPr>
          <p:cNvPr id="145" name="TextBox 144"/>
          <p:cNvSpPr txBox="1"/>
          <p:nvPr/>
        </p:nvSpPr>
        <p:spPr>
          <a:xfrm>
            <a:off x="8202168" y="3529584"/>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0 %</a:t>
            </a:r>
          </a:p>
        </p:txBody>
      </p:sp>
      <p:cxnSp>
        <p:nvCxnSpPr>
          <p:cNvPr id="146" name="Connector 145"/>
          <p:cNvCxnSpPr/>
          <p:nvPr/>
        </p:nvCxnSpPr>
        <p:spPr>
          <a:xfrm>
            <a:off x="9482328" y="3685032"/>
            <a:ext cx="347472" cy="0"/>
          </a:xfrm>
          <a:prstGeom prst="line">
            <a:avLst/>
          </a:prstGeom>
          <a:ln w="22225">
            <a:solidFill>
              <a:srgbClr val="7ACFC0"/>
            </a:solidFill>
            <a:tailEnd type="triangle" w="med" len="med"/>
          </a:ln>
        </p:spPr>
      </p:cxnSp>
      <p:sp>
        <p:nvSpPr>
          <p:cNvPr id="147" name="TextBox 146"/>
          <p:cNvSpPr txBox="1"/>
          <p:nvPr/>
        </p:nvSpPr>
        <p:spPr>
          <a:xfrm>
            <a:off x="9939528" y="3511296"/>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100 %</a:t>
            </a:r>
          </a:p>
        </p:txBody>
      </p:sp>
      <p:sp>
        <p:nvSpPr>
          <p:cNvPr id="148" name="TextBox 147"/>
          <p:cNvSpPr txBox="1"/>
          <p:nvPr/>
        </p:nvSpPr>
        <p:spPr>
          <a:xfrm>
            <a:off x="8202168" y="3913632"/>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Détection d’une nuit en échec</a:t>
            </a:r>
          </a:p>
        </p:txBody>
      </p:sp>
      <p:sp>
        <p:nvSpPr>
          <p:cNvPr id="149" name="TextBox 148"/>
          <p:cNvSpPr txBox="1"/>
          <p:nvPr/>
        </p:nvSpPr>
        <p:spPr>
          <a:xfrm>
            <a:off x="8202168" y="4151376"/>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non mesurée</a:t>
            </a:r>
          </a:p>
        </p:txBody>
      </p:sp>
      <p:cxnSp>
        <p:nvCxnSpPr>
          <p:cNvPr id="150" name="Connector 149"/>
          <p:cNvCxnSpPr/>
          <p:nvPr/>
        </p:nvCxnSpPr>
        <p:spPr>
          <a:xfrm>
            <a:off x="9482328" y="4306824"/>
            <a:ext cx="347472" cy="0"/>
          </a:xfrm>
          <a:prstGeom prst="line">
            <a:avLst/>
          </a:prstGeom>
          <a:ln w="22225">
            <a:solidFill>
              <a:srgbClr val="7ACFC0"/>
            </a:solidFill>
            <a:tailEnd type="triangle" w="med" len="med"/>
          </a:ln>
        </p:spPr>
      </p:cxnSp>
      <p:sp>
        <p:nvSpPr>
          <p:cNvPr id="151" name="TextBox 150"/>
          <p:cNvSpPr txBox="1"/>
          <p:nvPr/>
        </p:nvSpPr>
        <p:spPr>
          <a:xfrm>
            <a:off x="9939528" y="4133088"/>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6 h</a:t>
            </a:r>
          </a:p>
        </p:txBody>
      </p:sp>
      <p:sp>
        <p:nvSpPr>
          <p:cNvPr id="152" name="TextBox 151"/>
          <p:cNvSpPr txBox="1"/>
          <p:nvPr/>
        </p:nvSpPr>
        <p:spPr>
          <a:xfrm>
            <a:off x="8202168" y="4535424"/>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Alertes traitées</a:t>
            </a:r>
          </a:p>
        </p:txBody>
      </p:sp>
      <p:sp>
        <p:nvSpPr>
          <p:cNvPr id="153" name="TextBox 152"/>
          <p:cNvSpPr txBox="1"/>
          <p:nvPr/>
        </p:nvSpPr>
        <p:spPr>
          <a:xfrm>
            <a:off x="8202168" y="4773168"/>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28 %</a:t>
            </a:r>
          </a:p>
        </p:txBody>
      </p:sp>
      <p:cxnSp>
        <p:nvCxnSpPr>
          <p:cNvPr id="154" name="Connector 153"/>
          <p:cNvCxnSpPr/>
          <p:nvPr/>
        </p:nvCxnSpPr>
        <p:spPr>
          <a:xfrm>
            <a:off x="9482328" y="4928616"/>
            <a:ext cx="347472" cy="0"/>
          </a:xfrm>
          <a:prstGeom prst="line">
            <a:avLst/>
          </a:prstGeom>
          <a:ln w="22225">
            <a:solidFill>
              <a:srgbClr val="7ACFC0"/>
            </a:solidFill>
            <a:tailEnd type="triangle" w="med" len="med"/>
          </a:ln>
        </p:spPr>
      </p:cxnSp>
      <p:sp>
        <p:nvSpPr>
          <p:cNvPr id="155" name="TextBox 154"/>
          <p:cNvSpPr txBox="1"/>
          <p:nvPr/>
        </p:nvSpPr>
        <p:spPr>
          <a:xfrm>
            <a:off x="9939528" y="4754880"/>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80 %</a:t>
            </a:r>
          </a:p>
        </p:txBody>
      </p:sp>
      <p:sp>
        <p:nvSpPr>
          <p:cNvPr id="156" name="TextBox 155"/>
          <p:cNvSpPr txBox="1"/>
          <p:nvPr/>
        </p:nvSpPr>
        <p:spPr>
          <a:xfrm>
            <a:off x="8202168" y="5157216"/>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Délai de prise en charge d’une alerte</a:t>
            </a:r>
          </a:p>
        </p:txBody>
      </p:sp>
      <p:sp>
        <p:nvSpPr>
          <p:cNvPr id="157" name="TextBox 156"/>
          <p:cNvSpPr txBox="1"/>
          <p:nvPr/>
        </p:nvSpPr>
        <p:spPr>
          <a:xfrm>
            <a:off x="8202168" y="5394960"/>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18,3 h</a:t>
            </a:r>
          </a:p>
        </p:txBody>
      </p:sp>
      <p:cxnSp>
        <p:nvCxnSpPr>
          <p:cNvPr id="158" name="Connector 157"/>
          <p:cNvCxnSpPr/>
          <p:nvPr/>
        </p:nvCxnSpPr>
        <p:spPr>
          <a:xfrm>
            <a:off x="9482328" y="5550408"/>
            <a:ext cx="347472" cy="0"/>
          </a:xfrm>
          <a:prstGeom prst="line">
            <a:avLst/>
          </a:prstGeom>
          <a:ln w="22225">
            <a:solidFill>
              <a:srgbClr val="7ACFC0"/>
            </a:solidFill>
            <a:tailEnd type="triangle" w="med" len="med"/>
          </a:ln>
        </p:spPr>
      </p:cxnSp>
      <p:sp>
        <p:nvSpPr>
          <p:cNvPr id="159" name="TextBox 158"/>
          <p:cNvSpPr txBox="1"/>
          <p:nvPr/>
        </p:nvSpPr>
        <p:spPr>
          <a:xfrm>
            <a:off x="9939528" y="5376672"/>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8 h</a:t>
            </a:r>
          </a:p>
        </p:txBody>
      </p:sp>
      <p:sp>
        <p:nvSpPr>
          <p:cNvPr id="160" name="Rounded Rectangle 159"/>
          <p:cNvSpPr/>
          <p:nvPr/>
        </p:nvSpPr>
        <p:spPr>
          <a:xfrm>
            <a:off x="8202168" y="5797296"/>
            <a:ext cx="3063240" cy="310896"/>
          </a:xfrm>
          <a:prstGeom prst="roundRect">
            <a:avLst>
              <a:gd name="adj" fmla="val 50000"/>
            </a:avLst>
          </a:prstGeom>
          <a:solidFill>
            <a:srgbClr val="CDEEE8"/>
          </a:solidFill>
          <a:ln>
            <a:noFill/>
          </a:ln>
        </p:spPr>
        <p:txBody>
          <a:bodyPr wrap="square" lIns="36576" tIns="0" rIns="36576" bIns="0" rtlCol="0" anchor="ctr">
            <a:noAutofit/>
          </a:bodyPr>
          <a:lstStyle/>
          <a:p>
            <a:pPr algn="ctr">
              <a:lnSpc>
                <a:spcPct val="100000"/>
              </a:lnSpc>
              <a:spcBef>
                <a:spcPts val="0"/>
              </a:spcBef>
              <a:spcAft>
                <a:spcPts val="0"/>
              </a:spcAft>
            </a:pPr>
            <a:r>
              <a:rPr sz="1150" b="1" i="0">
                <a:solidFill>
                  <a:srgbClr val="1B2A4A"/>
                </a:solidFill>
                <a:latin typeface="DM Sans"/>
              </a:rPr>
              <a:t>Temps manuel évité : 2,7 h par nuit</a:t>
            </a:r>
          </a:p>
        </p:txBody>
      </p:sp>
      <p:sp>
        <p:nvSpPr>
          <p:cNvPr id="161" name="TextBox 160"/>
          <p:cNvSpPr txBox="1"/>
          <p:nvPr/>
        </p:nvSpPr>
        <p:spPr>
          <a:xfrm>
            <a:off x="694944" y="6291072"/>
            <a:ext cx="987552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Valeurs de départ : onglet Bottom line (livrable 2) et nuit du 7 octobre (8 étapes × 20 min). Cibles proposées par l’équipe, à valider.</a:t>
            </a:r>
          </a:p>
        </p:txBody>
      </p:sp>
      <p:sp>
        <p:nvSpPr>
          <p:cNvPr id="162" name="Rectangle 161"/>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63" name="Rectangle 162"/>
          <p:cNvSpPr/>
          <p:nvPr/>
        </p:nvSpPr>
        <p:spPr>
          <a:xfrm>
            <a:off x="155448" y="6803136"/>
            <a:ext cx="6968354" cy="54864"/>
          </a:xfrm>
          <a:prstGeom prst="rect">
            <a:avLst/>
          </a:prstGeom>
          <a:solidFill>
            <a:srgbClr val="6B3FA0"/>
          </a:solidFill>
          <a:ln>
            <a:noFill/>
          </a:ln>
        </p:spPr>
        <p:txBody>
          <a:bodyPr rtlCol="0" anchor="ctr"/>
          <a:lstStyle/>
          <a:p>
            <a:pPr algn="ct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pilotage s’inverse : Workly planifie sa nuit, la plateforme la surveille et en rend compte</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5294376" cy="3474720"/>
          </a:xfrm>
          <a:prstGeom prst="roundRect">
            <a:avLst>
              <a:gd name="adj" fmla="val 4386"/>
            </a:avLst>
          </a:prstGeom>
          <a:solidFill>
            <a:srgbClr val="FFFFFF"/>
          </a:solidFill>
          <a:ln>
            <a:noFill/>
          </a:ln>
        </p:spPr>
        <p:txBody>
          <a:bodyPr rtlCol="0" anchor="ctr"/>
          <a:lstStyle/>
          <a:p>
            <a:pPr algn="ctr"/>
            <a:endParaRPr/>
          </a:p>
        </p:txBody>
      </p:sp>
      <p:sp>
        <p:nvSpPr>
          <p:cNvPr id="114" name="Rectangle 113"/>
          <p:cNvSpPr/>
          <p:nvPr/>
        </p:nvSpPr>
        <p:spPr>
          <a:xfrm>
            <a:off x="694944" y="1773936"/>
            <a:ext cx="5294376" cy="3474720"/>
          </a:xfrm>
          <a:custGeom>
            <a:avLst/>
            <a:gdLst/>
            <a:ahLst/>
            <a:cxnLst/>
            <a:rect l="l" t="t" r="r" b="b"/>
            <a:pathLst>
              <a:path w="5294376" h="3474720" extrusionOk="0">
                <a:moveTo>
                  <a:pt x="0" y="152400"/>
                </a:moveTo>
                <a:cubicBezTo>
                  <a:pt x="0" y="68229"/>
                  <a:pt x="68229" y="0"/>
                  <a:pt x="152400" y="0"/>
                </a:cubicBezTo>
                <a:lnTo>
                  <a:pt x="5141976" y="0"/>
                </a:lnTo>
                <a:cubicBezTo>
                  <a:pt x="5226146" y="0"/>
                  <a:pt x="5294376" y="68229"/>
                  <a:pt x="5294376" y="152400"/>
                </a:cubicBezTo>
                <a:cubicBezTo>
                  <a:pt x="5294376" y="103311"/>
                  <a:pt x="5226147" y="63500"/>
                  <a:pt x="5141976"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115" name="TextBox 114"/>
          <p:cNvSpPr txBox="1"/>
          <p:nvPr/>
        </p:nvSpPr>
        <p:spPr>
          <a:xfrm>
            <a:off x="969264" y="2048256"/>
            <a:ext cx="47548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7390"/>
                </a:solidFill>
                <a:latin typeface="Sora"/>
              </a:rPr>
              <a:t>AVANT · LIVRABLE 2</a:t>
            </a:r>
          </a:p>
        </p:txBody>
      </p:sp>
      <p:sp>
        <p:nvSpPr>
          <p:cNvPr id="116" name="TextBox 115"/>
          <p:cNvSpPr txBox="1"/>
          <p:nvPr/>
        </p:nvSpPr>
        <p:spPr>
          <a:xfrm>
            <a:off x="969264" y="2304288"/>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La plateforme pilote chaque étape</a:t>
            </a:r>
          </a:p>
        </p:txBody>
      </p:sp>
      <p:pic>
        <p:nvPicPr>
          <p:cNvPr id="117" name="Picture 116" descr="131.png"/>
          <p:cNvPicPr>
            <a:picLocks noChangeAspect="1"/>
          </p:cNvPicPr>
          <p:nvPr/>
        </p:nvPicPr>
        <p:blipFill>
          <a:blip r:embed="rId3"/>
          <a:stretch>
            <a:fillRect/>
          </a:stretch>
        </p:blipFill>
        <p:spPr>
          <a:xfrm>
            <a:off x="969264" y="2825496"/>
            <a:ext cx="4745736" cy="1972254"/>
          </a:xfrm>
          <a:prstGeom prst="rect">
            <a:avLst/>
          </a:prstGeom>
          <a:ln w="9525">
            <a:solidFill>
              <a:srgbClr val="D5DAE8"/>
            </a:solidFill>
          </a:ln>
        </p:spPr>
      </p:pic>
      <p:sp>
        <p:nvSpPr>
          <p:cNvPr id="118" name="TextBox 117"/>
          <p:cNvSpPr txBox="1"/>
          <p:nvPr/>
        </p:nvSpPr>
        <p:spPr>
          <a:xfrm>
            <a:off x="969264" y="4907478"/>
            <a:ext cx="475488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Dix-sept nœuds HTTP, un jeton saisi dans chacun</a:t>
            </a:r>
          </a:p>
        </p:txBody>
      </p:sp>
      <p:sp>
        <p:nvSpPr>
          <p:cNvPr id="119" name="Rounded Rectangle 118"/>
          <p:cNvSpPr/>
          <p:nvPr/>
        </p:nvSpPr>
        <p:spPr>
          <a:xfrm>
            <a:off x="6199632" y="1773936"/>
            <a:ext cx="5294376" cy="3474720"/>
          </a:xfrm>
          <a:prstGeom prst="roundRect">
            <a:avLst>
              <a:gd name="adj" fmla="val 4386"/>
            </a:avLst>
          </a:prstGeom>
          <a:solidFill>
            <a:srgbClr val="FFFFFF"/>
          </a:solidFill>
          <a:ln>
            <a:noFill/>
          </a:ln>
        </p:spPr>
        <p:txBody>
          <a:bodyPr rtlCol="0" anchor="ctr"/>
          <a:lstStyle/>
          <a:p>
            <a:pPr algn="ctr"/>
            <a:endParaRPr/>
          </a:p>
        </p:txBody>
      </p:sp>
      <p:sp>
        <p:nvSpPr>
          <p:cNvPr id="120" name="Rectangle 119"/>
          <p:cNvSpPr/>
          <p:nvPr/>
        </p:nvSpPr>
        <p:spPr>
          <a:xfrm>
            <a:off x="6199632" y="1773936"/>
            <a:ext cx="5294376" cy="3474720"/>
          </a:xfrm>
          <a:custGeom>
            <a:avLst/>
            <a:gdLst/>
            <a:ahLst/>
            <a:cxnLst/>
            <a:rect l="l" t="t" r="r" b="b"/>
            <a:pathLst>
              <a:path w="5294376" h="3474720" extrusionOk="0">
                <a:moveTo>
                  <a:pt x="0" y="152400"/>
                </a:moveTo>
                <a:cubicBezTo>
                  <a:pt x="0" y="68229"/>
                  <a:pt x="68229" y="0"/>
                  <a:pt x="152400" y="0"/>
                </a:cubicBezTo>
                <a:lnTo>
                  <a:pt x="5141976" y="0"/>
                </a:lnTo>
                <a:cubicBezTo>
                  <a:pt x="5226146" y="0"/>
                  <a:pt x="5294376" y="68229"/>
                  <a:pt x="5294376" y="152400"/>
                </a:cubicBezTo>
                <a:cubicBezTo>
                  <a:pt x="5294376" y="103311"/>
                  <a:pt x="5226147" y="63500"/>
                  <a:pt x="5141976"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121" name="TextBox 120"/>
          <p:cNvSpPr txBox="1"/>
          <p:nvPr/>
        </p:nvSpPr>
        <p:spPr>
          <a:xfrm>
            <a:off x="6473952" y="2048256"/>
            <a:ext cx="47548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3FA0"/>
                </a:solidFill>
                <a:latin typeface="Sora"/>
              </a:rPr>
              <a:t>MAINTENANT · LIVRABLE 3</a:t>
            </a:r>
          </a:p>
        </p:txBody>
      </p:sp>
      <p:sp>
        <p:nvSpPr>
          <p:cNvPr id="122" name="TextBox 121"/>
          <p:cNvSpPr txBox="1"/>
          <p:nvPr/>
        </p:nvSpPr>
        <p:spPr>
          <a:xfrm>
            <a:off x="6473952" y="2304288"/>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Workly pilote, la plateforme surveille</a:t>
            </a:r>
          </a:p>
        </p:txBody>
      </p:sp>
      <p:sp>
        <p:nvSpPr>
          <p:cNvPr id="123" name="Rounded Rectangle 122"/>
          <p:cNvSpPr/>
          <p:nvPr/>
        </p:nvSpPr>
        <p:spPr>
          <a:xfrm>
            <a:off x="6473952" y="2907792"/>
            <a:ext cx="1280160" cy="329184"/>
          </a:xfrm>
          <a:prstGeom prst="roundRect">
            <a:avLst>
              <a:gd name="adj" fmla="val 50000"/>
            </a:avLst>
          </a:prstGeom>
          <a:solidFill>
            <a:srgbClr val="6B3FA0"/>
          </a:solidFill>
          <a:ln>
            <a:noFill/>
          </a:ln>
        </p:spPr>
        <p:txBody>
          <a:bodyPr wrap="square" lIns="36576" tIns="0" rIns="36576" bIns="0" rtlCol="0" anchor="ctr">
            <a:noAutofit/>
          </a:bodyPr>
          <a:lstStyle/>
          <a:p>
            <a:pPr algn="ctr">
              <a:lnSpc>
                <a:spcPct val="100000"/>
              </a:lnSpc>
              <a:spcBef>
                <a:spcPts val="0"/>
              </a:spcBef>
              <a:spcAft>
                <a:spcPts val="0"/>
              </a:spcAft>
            </a:pPr>
            <a:r>
              <a:rPr sz="1250" b="1" i="0">
                <a:solidFill>
                  <a:srgbClr val="FFFFFF"/>
                </a:solidFill>
                <a:latin typeface="DM Sans"/>
              </a:rPr>
              <a:t>Workly</a:t>
            </a:r>
          </a:p>
        </p:txBody>
      </p:sp>
      <p:sp>
        <p:nvSpPr>
          <p:cNvPr id="124" name="TextBox 123"/>
          <p:cNvSpPr txBox="1"/>
          <p:nvPr/>
        </p:nvSpPr>
        <p:spPr>
          <a:xfrm>
            <a:off x="7936992" y="2871216"/>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planificateur intégré : huit étapes enchaînées chaque nuit à 00:30 UTC</a:t>
            </a:r>
          </a:p>
        </p:txBody>
      </p:sp>
      <p:sp>
        <p:nvSpPr>
          <p:cNvPr id="125" name="Rounded Rectangle 124"/>
          <p:cNvSpPr/>
          <p:nvPr/>
        </p:nvSpPr>
        <p:spPr>
          <a:xfrm>
            <a:off x="6473952" y="3675888"/>
            <a:ext cx="1280160" cy="329184"/>
          </a:xfrm>
          <a:prstGeom prst="roundRect">
            <a:avLst>
              <a:gd name="adj" fmla="val 50000"/>
            </a:avLst>
          </a:prstGeom>
          <a:solidFill>
            <a:srgbClr val="4A9BE0"/>
          </a:solidFill>
          <a:ln>
            <a:noFill/>
          </a:ln>
        </p:spPr>
        <p:txBody>
          <a:bodyPr wrap="square" lIns="36576" tIns="0" rIns="36576" bIns="0" rtlCol="0" anchor="ctr">
            <a:noAutofit/>
          </a:bodyPr>
          <a:lstStyle/>
          <a:p>
            <a:pPr algn="ctr">
              <a:lnSpc>
                <a:spcPct val="100000"/>
              </a:lnSpc>
              <a:spcBef>
                <a:spcPts val="0"/>
              </a:spcBef>
              <a:spcAft>
                <a:spcPts val="0"/>
              </a:spcAft>
            </a:pPr>
            <a:r>
              <a:rPr sz="1250" b="1" i="0">
                <a:solidFill>
                  <a:srgbClr val="1B2A4A"/>
                </a:solidFill>
                <a:latin typeface="DM Sans"/>
              </a:rPr>
              <a:t>Fusion</a:t>
            </a:r>
          </a:p>
        </p:txBody>
      </p:sp>
      <p:sp>
        <p:nvSpPr>
          <p:cNvPr id="126" name="TextBox 125"/>
          <p:cNvSpPr txBox="1"/>
          <p:nvPr/>
        </p:nvSpPr>
        <p:spPr>
          <a:xfrm>
            <a:off x="7936992" y="3639312"/>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un Cron à 06:00 UTC et un nœud HTTP, à la place de dix-sept nœuds</a:t>
            </a:r>
          </a:p>
        </p:txBody>
      </p:sp>
      <p:sp>
        <p:nvSpPr>
          <p:cNvPr id="127" name="Rounded Rectangle 126"/>
          <p:cNvSpPr/>
          <p:nvPr/>
        </p:nvSpPr>
        <p:spPr>
          <a:xfrm>
            <a:off x="6473952" y="4443984"/>
            <a:ext cx="1280160" cy="329184"/>
          </a:xfrm>
          <a:prstGeom prst="roundRect">
            <a:avLst>
              <a:gd name="adj" fmla="val 50000"/>
            </a:avLst>
          </a:prstGeom>
          <a:solidFill>
            <a:srgbClr val="7ACFC0"/>
          </a:solidFill>
          <a:ln>
            <a:noFill/>
          </a:ln>
        </p:spPr>
        <p:txBody>
          <a:bodyPr wrap="square" lIns="36576" tIns="0" rIns="36576" bIns="0" rtlCol="0" anchor="ctr">
            <a:noAutofit/>
          </a:bodyPr>
          <a:lstStyle/>
          <a:p>
            <a:pPr algn="ctr">
              <a:lnSpc>
                <a:spcPct val="100000"/>
              </a:lnSpc>
              <a:spcBef>
                <a:spcPts val="0"/>
              </a:spcBef>
              <a:spcAft>
                <a:spcPts val="0"/>
              </a:spcAft>
            </a:pPr>
            <a:r>
              <a:rPr sz="1250" b="1" i="0">
                <a:solidFill>
                  <a:srgbClr val="1B2A4A"/>
                </a:solidFill>
                <a:latin typeface="DM Sans"/>
              </a:rPr>
              <a:t>Agentic AI</a:t>
            </a:r>
          </a:p>
        </p:txBody>
      </p:sp>
      <p:sp>
        <p:nvSpPr>
          <p:cNvPr id="128" name="TextBox 127"/>
          <p:cNvSpPr txBox="1"/>
          <p:nvPr/>
        </p:nvSpPr>
        <p:spPr>
          <a:xfrm>
            <a:off x="7936992" y="4407408"/>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deux agents analysent le bilan, appuyés par un outil RAG, et rédigent le message</a:t>
            </a:r>
          </a:p>
        </p:txBody>
      </p:sp>
      <p:sp>
        <p:nvSpPr>
          <p:cNvPr id="129" name="Rounded Rectangle 128"/>
          <p:cNvSpPr/>
          <p:nvPr/>
        </p:nvSpPr>
        <p:spPr>
          <a:xfrm>
            <a:off x="694944" y="5468112"/>
            <a:ext cx="10799064" cy="694944"/>
          </a:xfrm>
          <a:prstGeom prst="roundRect">
            <a:avLst>
              <a:gd name="adj" fmla="val 15789"/>
            </a:avLst>
          </a:prstGeom>
          <a:solidFill>
            <a:srgbClr val="1B2A4A"/>
          </a:solidFill>
          <a:ln>
            <a:noFill/>
          </a:ln>
        </p:spPr>
        <p:txBody>
          <a:bodyPr rtlCol="0" anchor="ctr"/>
          <a:lstStyle/>
          <a:p>
            <a:pPr algn="ctr"/>
            <a:endParaRPr/>
          </a:p>
        </p:txBody>
      </p:sp>
      <p:sp>
        <p:nvSpPr>
          <p:cNvPr id="130" name="TextBox 129"/>
          <p:cNvSpPr txBox="1"/>
          <p:nvPr/>
        </p:nvSpPr>
        <p:spPr>
          <a:xfrm>
            <a:off x="987552" y="5468112"/>
            <a:ext cx="10241280" cy="694944"/>
          </a:xfrm>
          <a:prstGeom prst="rect">
            <a:avLst/>
          </a:prstGeom>
          <a:noFill/>
        </p:spPr>
        <p:txBody>
          <a:bodyPr wrap="square" lIns="0" tIns="0" rIns="0" bIns="0" anchor="ctr">
            <a:noAutofit/>
          </a:bodyPr>
          <a:lstStyle/>
          <a:p>
            <a:pPr algn="l">
              <a:lnSpc>
                <a:spcPct val="115000"/>
              </a:lnSpc>
              <a:spcBef>
                <a:spcPts val="0"/>
              </a:spcBef>
              <a:spcAft>
                <a:spcPts val="0"/>
              </a:spcAft>
            </a:pPr>
            <a:r>
              <a:rPr sz="1600" b="1" i="0">
                <a:solidFill>
                  <a:srgbClr val="7ACFC0"/>
                </a:solidFill>
                <a:latin typeface="DM Sans"/>
              </a:rPr>
              <a:t>Principe retenu : </a:t>
            </a:r>
            <a:r>
              <a:rPr sz="1600" b="0" i="0">
                <a:solidFill>
                  <a:srgbClr val="FFFFFF"/>
                </a:solidFill>
                <a:latin typeface="DM Sans"/>
              </a:rPr>
              <a:t>Workly planifie et exécute ; la plateforme surveille, analyse et prévient l’équipe.</a:t>
            </a:r>
          </a:p>
        </p:txBody>
      </p:sp>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Capture de gauche : canevas Fusion du livrable 2, dix-sept nœuds HTTP enchaînés par la plateforme.</a:t>
            </a:r>
          </a:p>
        </p:txBody>
      </p:sp>
      <p:sp>
        <p:nvSpPr>
          <p:cNvPr id="132" name="Rectangle 131"/>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3" name="Rectangle 132"/>
          <p:cNvSpPr/>
          <p:nvPr/>
        </p:nvSpPr>
        <p:spPr>
          <a:xfrm>
            <a:off x="155448" y="6803136"/>
            <a:ext cx="7285097" cy="54864"/>
          </a:xfrm>
          <a:prstGeom prst="rect">
            <a:avLst/>
          </a:prstGeom>
          <a:solidFill>
            <a:srgbClr val="6B3FA0"/>
          </a:solidFill>
          <a:ln>
            <a:noFill/>
          </a:ln>
        </p:spPr>
        <p:txBody>
          <a:bodyPr rtlCol="0" anchor="ctr"/>
          <a:lstStyle/>
          <a:p>
            <a:pPr algn="c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1987653"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Une chaîne complète de bout en bout : Workly, Cron, agents IA appuyés par un RAG, message Slack</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24</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810512"/>
            <a:ext cx="3840480" cy="1280160"/>
          </a:xfrm>
          <a:prstGeom prst="roundRect">
            <a:avLst>
              <a:gd name="adj" fmla="val 11907"/>
            </a:avLst>
          </a:prstGeom>
          <a:solidFill>
            <a:srgbClr val="24375F"/>
          </a:solidFill>
          <a:ln>
            <a:noFill/>
          </a:ln>
        </p:spPr>
        <p:txBody>
          <a:bodyPr rtlCol="0" anchor="ctr"/>
          <a:lstStyle/>
          <a:p>
            <a:pPr algn="ctr"/>
            <a:endParaRPr/>
          </a:p>
        </p:txBody>
      </p:sp>
      <p:sp>
        <p:nvSpPr>
          <p:cNvPr id="253" name="Rounded Rectangle 252"/>
          <p:cNvSpPr/>
          <p:nvPr/>
        </p:nvSpPr>
        <p:spPr>
          <a:xfrm>
            <a:off x="896112" y="2011680"/>
            <a:ext cx="1097280" cy="292608"/>
          </a:xfrm>
          <a:prstGeom prst="roundRect">
            <a:avLst>
              <a:gd name="adj" fmla="val 50000"/>
            </a:avLst>
          </a:prstGeom>
          <a:solidFill>
            <a:srgbClr val="6B3FA0"/>
          </a:solidFill>
          <a:ln>
            <a:noFill/>
          </a:ln>
        </p:spPr>
        <p:txBody>
          <a:bodyPr wrap="square" lIns="36576" tIns="0" rIns="36576" bIns="0" rtlCol="0" anchor="ctr">
            <a:noAutofit/>
          </a:bodyPr>
          <a:lstStyle/>
          <a:p>
            <a:pPr algn="ctr">
              <a:lnSpc>
                <a:spcPct val="100000"/>
              </a:lnSpc>
              <a:spcBef>
                <a:spcPts val="0"/>
              </a:spcBef>
              <a:spcAft>
                <a:spcPts val="0"/>
              </a:spcAft>
            </a:pPr>
            <a:r>
              <a:rPr sz="1200" b="1" i="0">
                <a:solidFill>
                  <a:srgbClr val="FFFFFF"/>
                </a:solidFill>
                <a:latin typeface="DM Sans"/>
              </a:rPr>
              <a:t>00:30 UTC</a:t>
            </a:r>
          </a:p>
        </p:txBody>
      </p:sp>
      <p:sp>
        <p:nvSpPr>
          <p:cNvPr id="254" name="TextBox 253"/>
          <p:cNvSpPr txBox="1"/>
          <p:nvPr/>
        </p:nvSpPr>
        <p:spPr>
          <a:xfrm>
            <a:off x="2139696" y="1956816"/>
            <a:ext cx="2286000" cy="45720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E4E9F5"/>
                </a:solidFill>
                <a:latin typeface="DM Sans"/>
              </a:rPr>
              <a:t>Workly exécute les huit étapes de la nuit</a:t>
            </a:r>
          </a:p>
        </p:txBody>
      </p:sp>
      <p:sp>
        <p:nvSpPr>
          <p:cNvPr id="255" name="Rounded Rectangle 254"/>
          <p:cNvSpPr/>
          <p:nvPr/>
        </p:nvSpPr>
        <p:spPr>
          <a:xfrm>
            <a:off x="896112" y="2596896"/>
            <a:ext cx="1097280" cy="292608"/>
          </a:xfrm>
          <a:prstGeom prst="roundRect">
            <a:avLst>
              <a:gd name="adj" fmla="val 50000"/>
            </a:avLst>
          </a:prstGeom>
          <a:solidFill>
            <a:srgbClr val="4A9BE0"/>
          </a:solidFill>
          <a:ln>
            <a:noFill/>
          </a:ln>
        </p:spPr>
        <p:txBody>
          <a:bodyPr wrap="square" lIns="36576" tIns="0" rIns="36576" bIns="0" rtlCol="0" anchor="ctr">
            <a:noAutofit/>
          </a:bodyPr>
          <a:lstStyle/>
          <a:p>
            <a:pPr algn="ctr">
              <a:lnSpc>
                <a:spcPct val="100000"/>
              </a:lnSpc>
              <a:spcBef>
                <a:spcPts val="0"/>
              </a:spcBef>
              <a:spcAft>
                <a:spcPts val="0"/>
              </a:spcAft>
            </a:pPr>
            <a:r>
              <a:rPr sz="1200" b="1" i="0">
                <a:solidFill>
                  <a:srgbClr val="1B2A4A"/>
                </a:solidFill>
                <a:latin typeface="DM Sans"/>
              </a:rPr>
              <a:t>06:00 UTC</a:t>
            </a:r>
          </a:p>
        </p:txBody>
      </p:sp>
      <p:sp>
        <p:nvSpPr>
          <p:cNvPr id="256" name="TextBox 255"/>
          <p:cNvSpPr txBox="1"/>
          <p:nvPr/>
        </p:nvSpPr>
        <p:spPr>
          <a:xfrm>
            <a:off x="2139696" y="2542032"/>
            <a:ext cx="2286000" cy="45720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E4E9F5"/>
                </a:solidFill>
                <a:latin typeface="DM Sans"/>
              </a:rPr>
              <a:t>Fusion déclenche le flux et lit le bilan</a:t>
            </a:r>
          </a:p>
        </p:txBody>
      </p:sp>
      <p:sp>
        <p:nvSpPr>
          <p:cNvPr id="257" name="Rounded Rectangle 256"/>
          <p:cNvSpPr/>
          <p:nvPr/>
        </p:nvSpPr>
        <p:spPr>
          <a:xfrm>
            <a:off x="4809744" y="1810512"/>
            <a:ext cx="1554480" cy="1280160"/>
          </a:xfrm>
          <a:prstGeom prst="roundRect">
            <a:avLst>
              <a:gd name="adj" fmla="val 11907"/>
            </a:avLst>
          </a:prstGeom>
          <a:solidFill>
            <a:srgbClr val="24375F"/>
          </a:solidFill>
          <a:ln>
            <a:noFill/>
          </a:ln>
        </p:spPr>
        <p:txBody>
          <a:bodyPr rtlCol="0" anchor="ctr"/>
          <a:lstStyle/>
          <a:p>
            <a:pPr algn="ctr"/>
            <a:endParaRPr/>
          </a:p>
        </p:txBody>
      </p:sp>
      <p:sp>
        <p:nvSpPr>
          <p:cNvPr id="258" name="Rectangle 257"/>
          <p:cNvSpPr/>
          <p:nvPr/>
        </p:nvSpPr>
        <p:spPr>
          <a:xfrm>
            <a:off x="4809744" y="1810512"/>
            <a:ext cx="1554480" cy="1280160"/>
          </a:xfrm>
          <a:custGeom>
            <a:avLst/>
            <a:gdLst/>
            <a:ahLst/>
            <a:cxnLst/>
            <a:rect l="l" t="t" r="r" b="b"/>
            <a:pathLst>
              <a:path w="1554480" h="1280160" extrusionOk="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259" name="TextBox 258"/>
          <p:cNvSpPr txBox="1"/>
          <p:nvPr/>
        </p:nvSpPr>
        <p:spPr>
          <a:xfrm>
            <a:off x="4809744" y="20116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600" b="1" i="0">
                <a:solidFill>
                  <a:srgbClr val="FFFFFF"/>
                </a:solidFill>
                <a:latin typeface="Sora"/>
              </a:rPr>
              <a:t>Cron</a:t>
            </a:r>
          </a:p>
        </p:txBody>
      </p:sp>
      <p:sp>
        <p:nvSpPr>
          <p:cNvPr id="260" name="TextBox 259"/>
          <p:cNvSpPr txBox="1"/>
          <p:nvPr/>
        </p:nvSpPr>
        <p:spPr>
          <a:xfrm>
            <a:off x="4809744" y="2395728"/>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500" b="1" i="0">
                <a:solidFill>
                  <a:srgbClr val="7ACFC0"/>
                </a:solidFill>
                <a:latin typeface="Sora"/>
              </a:rPr>
              <a:t>06:00 UTC</a:t>
            </a:r>
          </a:p>
        </p:txBody>
      </p:sp>
      <p:sp>
        <p:nvSpPr>
          <p:cNvPr id="261" name="TextBox 260"/>
          <p:cNvSpPr txBox="1"/>
          <p:nvPr/>
        </p:nvSpPr>
        <p:spPr>
          <a:xfrm>
            <a:off x="4809744" y="26974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C9D1E8"/>
                </a:solidFill>
                <a:latin typeface="DM Sans"/>
              </a:rPr>
              <a:t>chaque jour</a:t>
            </a:r>
          </a:p>
        </p:txBody>
      </p:sp>
      <p:cxnSp>
        <p:nvCxnSpPr>
          <p:cNvPr id="262" name="Connector 261"/>
          <p:cNvCxnSpPr/>
          <p:nvPr/>
        </p:nvCxnSpPr>
        <p:spPr>
          <a:xfrm>
            <a:off x="6382512" y="2450592"/>
            <a:ext cx="329184" cy="0"/>
          </a:xfrm>
          <a:prstGeom prst="line">
            <a:avLst/>
          </a:prstGeom>
          <a:ln w="22225">
            <a:solidFill>
              <a:srgbClr val="7ACFC0"/>
            </a:solidFill>
            <a:tailEnd type="triangle" w="med" len="med"/>
          </a:ln>
        </p:spPr>
      </p:cxnSp>
      <p:sp>
        <p:nvSpPr>
          <p:cNvPr id="263" name="Rounded Rectangle 262"/>
          <p:cNvSpPr/>
          <p:nvPr/>
        </p:nvSpPr>
        <p:spPr>
          <a:xfrm>
            <a:off x="6729984" y="1810512"/>
            <a:ext cx="1554480" cy="1280160"/>
          </a:xfrm>
          <a:prstGeom prst="roundRect">
            <a:avLst>
              <a:gd name="adj" fmla="val 11907"/>
            </a:avLst>
          </a:prstGeom>
          <a:solidFill>
            <a:srgbClr val="24375F"/>
          </a:solidFill>
          <a:ln>
            <a:noFill/>
          </a:ln>
        </p:spPr>
        <p:txBody>
          <a:bodyPr rtlCol="0" anchor="ctr"/>
          <a:lstStyle/>
          <a:p>
            <a:pPr algn="ctr"/>
            <a:endParaRPr/>
          </a:p>
        </p:txBody>
      </p:sp>
      <p:sp>
        <p:nvSpPr>
          <p:cNvPr id="264" name="Rectangle 263"/>
          <p:cNvSpPr/>
          <p:nvPr/>
        </p:nvSpPr>
        <p:spPr>
          <a:xfrm>
            <a:off x="6729984" y="1810512"/>
            <a:ext cx="1554480" cy="1280160"/>
          </a:xfrm>
          <a:custGeom>
            <a:avLst/>
            <a:gdLst/>
            <a:ahLst/>
            <a:cxnLst/>
            <a:rect l="l" t="t" r="r" b="b"/>
            <a:pathLst>
              <a:path w="1554480" h="1280160" extrusionOk="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265" name="TextBox 264"/>
          <p:cNvSpPr txBox="1"/>
          <p:nvPr/>
        </p:nvSpPr>
        <p:spPr>
          <a:xfrm>
            <a:off x="6729984" y="20116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600" b="1" i="0">
                <a:solidFill>
                  <a:srgbClr val="FFFFFF"/>
                </a:solidFill>
                <a:latin typeface="Sora"/>
              </a:rPr>
              <a:t>Nœud HTTP</a:t>
            </a:r>
          </a:p>
        </p:txBody>
      </p:sp>
      <p:sp>
        <p:nvSpPr>
          <p:cNvPr id="266" name="TextBox 265"/>
          <p:cNvSpPr txBox="1"/>
          <p:nvPr/>
        </p:nvSpPr>
        <p:spPr>
          <a:xfrm>
            <a:off x="6729984" y="2395728"/>
            <a:ext cx="1554480" cy="457200"/>
          </a:xfrm>
          <a:prstGeom prst="rect">
            <a:avLst/>
          </a:prstGeom>
          <a:noFill/>
        </p:spPr>
        <p:txBody>
          <a:bodyPr wrap="square" lIns="0" tIns="0" rIns="0" bIns="0" anchor="t">
            <a:noAutofit/>
          </a:bodyPr>
          <a:lstStyle/>
          <a:p>
            <a:pPr algn="ctr">
              <a:lnSpc>
                <a:spcPct val="110000"/>
              </a:lnSpc>
              <a:spcBef>
                <a:spcPts val="0"/>
              </a:spcBef>
              <a:spcAft>
                <a:spcPts val="0"/>
              </a:spcAft>
            </a:pPr>
            <a:r>
              <a:rPr sz="1200" b="0" i="0">
                <a:solidFill>
                  <a:srgbClr val="C9D1E8"/>
                </a:solidFill>
                <a:latin typeface="DM Sans"/>
              </a:rPr>
              <a:t>un appel sécurisé</a:t>
            </a:r>
          </a:p>
          <a:p>
            <a:pPr algn="ctr">
              <a:lnSpc>
                <a:spcPct val="110000"/>
              </a:lnSpc>
              <a:spcBef>
                <a:spcPts val="0"/>
              </a:spcBef>
              <a:spcAft>
                <a:spcPts val="0"/>
              </a:spcAft>
            </a:pPr>
            <a:r>
              <a:rPr sz="1200" b="0" i="0">
                <a:solidFill>
                  <a:srgbClr val="C9D1E8"/>
                </a:solidFill>
                <a:latin typeface="DM Sans"/>
              </a:rPr>
              <a:t>par jeton</a:t>
            </a:r>
          </a:p>
        </p:txBody>
      </p:sp>
      <p:cxnSp>
        <p:nvCxnSpPr>
          <p:cNvPr id="267" name="Connector 266"/>
          <p:cNvCxnSpPr/>
          <p:nvPr/>
        </p:nvCxnSpPr>
        <p:spPr>
          <a:xfrm>
            <a:off x="7507224" y="3108960"/>
            <a:ext cx="0" cy="484632"/>
          </a:xfrm>
          <a:prstGeom prst="line">
            <a:avLst/>
          </a:prstGeom>
          <a:ln w="22225">
            <a:solidFill>
              <a:srgbClr val="7ACFC0"/>
            </a:solidFill>
            <a:tailEnd type="triangle" w="med" len="med"/>
          </a:ln>
        </p:spPr>
      </p:cxnSp>
      <p:sp>
        <p:nvSpPr>
          <p:cNvPr id="268" name="TextBox 267"/>
          <p:cNvSpPr txBox="1"/>
          <p:nvPr/>
        </p:nvSpPr>
        <p:spPr>
          <a:xfrm>
            <a:off x="7635240" y="3200400"/>
            <a:ext cx="173736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C9D1E8"/>
                </a:solidFill>
                <a:latin typeface="DM Sans"/>
              </a:rPr>
              <a:t>lance le flux</a:t>
            </a:r>
          </a:p>
        </p:txBody>
      </p:sp>
      <p:sp>
        <p:nvSpPr>
          <p:cNvPr id="269" name="Rounded Rectangle 268"/>
          <p:cNvSpPr/>
          <p:nvPr/>
        </p:nvSpPr>
        <p:spPr>
          <a:xfrm>
            <a:off x="694944" y="3630168"/>
            <a:ext cx="2926080" cy="2057400"/>
          </a:xfrm>
          <a:prstGeom prst="roundRect">
            <a:avLst>
              <a:gd name="adj" fmla="val 7408"/>
            </a:avLst>
          </a:prstGeom>
          <a:solidFill>
            <a:srgbClr val="24375F"/>
          </a:solidFill>
          <a:ln>
            <a:noFill/>
          </a:ln>
        </p:spPr>
        <p:txBody>
          <a:bodyPr rtlCol="0" anchor="ctr"/>
          <a:lstStyle/>
          <a:p>
            <a:pPr algn="ctr"/>
            <a:endParaRPr/>
          </a:p>
        </p:txBody>
      </p:sp>
      <p:sp>
        <p:nvSpPr>
          <p:cNvPr id="270" name="Rectangle 269"/>
          <p:cNvSpPr/>
          <p:nvPr/>
        </p:nvSpPr>
        <p:spPr>
          <a:xfrm>
            <a:off x="694944" y="3630168"/>
            <a:ext cx="2926080" cy="2057400"/>
          </a:xfrm>
          <a:custGeom>
            <a:avLst/>
            <a:gdLst/>
            <a:ahLst/>
            <a:cxnLst/>
            <a:rect l="l" t="t" r="r" b="b"/>
            <a:pathLst>
              <a:path w="2926080" h="2057400" extrusionOk="0">
                <a:moveTo>
                  <a:pt x="0" y="152400"/>
                </a:moveTo>
                <a:cubicBezTo>
                  <a:pt x="0" y="68229"/>
                  <a:pt x="68229" y="0"/>
                  <a:pt x="152400" y="0"/>
                </a:cubicBezTo>
                <a:lnTo>
                  <a:pt x="2773680" y="0"/>
                </a:lnTo>
                <a:cubicBezTo>
                  <a:pt x="2857850" y="0"/>
                  <a:pt x="2926080" y="68229"/>
                  <a:pt x="2926080" y="152400"/>
                </a:cubicBezTo>
                <a:cubicBezTo>
                  <a:pt x="2926080" y="103311"/>
                  <a:pt x="2857851" y="63500"/>
                  <a:pt x="277368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endParaRPr/>
          </a:p>
        </p:txBody>
      </p:sp>
      <p:sp>
        <p:nvSpPr>
          <p:cNvPr id="271" name="TextBox 270"/>
          <p:cNvSpPr txBox="1"/>
          <p:nvPr/>
        </p:nvSpPr>
        <p:spPr>
          <a:xfrm>
            <a:off x="914400" y="3867912"/>
            <a:ext cx="256032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Workly (PC)</a:t>
            </a:r>
          </a:p>
        </p:txBody>
      </p:sp>
      <p:sp>
        <p:nvSpPr>
          <p:cNvPr id="272" name="TextBox 271"/>
          <p:cNvSpPr txBox="1"/>
          <p:nvPr/>
        </p:nvSpPr>
        <p:spPr>
          <a:xfrm>
            <a:off x="914400" y="4343400"/>
            <a:ext cx="256032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Planificateur intégré</a:t>
            </a:r>
          </a:p>
          <a:p>
            <a:pPr algn="l">
              <a:lnSpc>
                <a:spcPct val="115000"/>
              </a:lnSpc>
              <a:spcBef>
                <a:spcPts val="0"/>
              </a:spcBef>
              <a:spcAft>
                <a:spcPts val="300"/>
              </a:spcAft>
            </a:pPr>
            <a:r>
              <a:rPr sz="1300" b="0" i="0">
                <a:solidFill>
                  <a:srgbClr val="C9D1E8"/>
                </a:solidFill>
                <a:latin typeface="DM Sans"/>
              </a:rPr>
              <a:t>Journal des tâches</a:t>
            </a:r>
          </a:p>
          <a:p>
            <a:pPr algn="l">
              <a:lnSpc>
                <a:spcPct val="115000"/>
              </a:lnSpc>
              <a:spcBef>
                <a:spcPts val="0"/>
              </a:spcBef>
              <a:spcAft>
                <a:spcPts val="300"/>
              </a:spcAft>
            </a:pPr>
            <a:r>
              <a:rPr sz="1300" b="0" i="0">
                <a:solidFill>
                  <a:srgbClr val="C9D1E8"/>
                </a:solidFill>
                <a:latin typeface="DM Sans"/>
              </a:rPr>
              <a:t>Bilan de la nuit</a:t>
            </a:r>
          </a:p>
          <a:p>
            <a:pPr algn="l">
              <a:lnSpc>
                <a:spcPct val="115000"/>
              </a:lnSpc>
              <a:spcBef>
                <a:spcPts val="0"/>
              </a:spcBef>
              <a:spcAft>
                <a:spcPts val="300"/>
              </a:spcAft>
            </a:pPr>
            <a:r>
              <a:rPr sz="1300" b="0" i="0">
                <a:solidFill>
                  <a:srgbClr val="C9D1E8"/>
                </a:solidFill>
                <a:latin typeface="DM Sans"/>
              </a:rPr>
              <a:t>Base de connaissances (RAG)</a:t>
            </a:r>
          </a:p>
        </p:txBody>
      </p:sp>
      <p:sp>
        <p:nvSpPr>
          <p:cNvPr id="273" name="Rounded Rectangle 272"/>
          <p:cNvSpPr/>
          <p:nvPr/>
        </p:nvSpPr>
        <p:spPr>
          <a:xfrm>
            <a:off x="4809744" y="3630168"/>
            <a:ext cx="3474720" cy="2057400"/>
          </a:xfrm>
          <a:prstGeom prst="roundRect">
            <a:avLst>
              <a:gd name="adj" fmla="val 7408"/>
            </a:avLst>
          </a:prstGeom>
          <a:solidFill>
            <a:srgbClr val="24375F"/>
          </a:solidFill>
          <a:ln>
            <a:noFill/>
          </a:ln>
        </p:spPr>
        <p:txBody>
          <a:bodyPr rtlCol="0" anchor="ctr"/>
          <a:lstStyle/>
          <a:p>
            <a:pPr algn="ctr"/>
            <a:endParaRPr/>
          </a:p>
        </p:txBody>
      </p:sp>
      <p:sp>
        <p:nvSpPr>
          <p:cNvPr id="274" name="Rectangle 273"/>
          <p:cNvSpPr/>
          <p:nvPr/>
        </p:nvSpPr>
        <p:spPr>
          <a:xfrm>
            <a:off x="4809744" y="3630168"/>
            <a:ext cx="3474720" cy="2057400"/>
          </a:xfrm>
          <a:custGeom>
            <a:avLst/>
            <a:gdLst/>
            <a:ahLst/>
            <a:cxnLst/>
            <a:rect l="l" t="t" r="r" b="b"/>
            <a:pathLst>
              <a:path w="3474720" h="2057400" extrusionOk="0">
                <a:moveTo>
                  <a:pt x="0" y="152400"/>
                </a:moveTo>
                <a:cubicBezTo>
                  <a:pt x="0" y="68229"/>
                  <a:pt x="68229" y="0"/>
                  <a:pt x="152400" y="0"/>
                </a:cubicBezTo>
                <a:lnTo>
                  <a:pt x="3322320" y="0"/>
                </a:lnTo>
                <a:cubicBezTo>
                  <a:pt x="3406490" y="0"/>
                  <a:pt x="3474720" y="68229"/>
                  <a:pt x="3474720" y="152400"/>
                </a:cubicBezTo>
                <a:cubicBezTo>
                  <a:pt x="3474720" y="103311"/>
                  <a:pt x="3406491" y="63500"/>
                  <a:pt x="332232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275" name="TextBox 274"/>
          <p:cNvSpPr txBox="1"/>
          <p:nvPr/>
        </p:nvSpPr>
        <p:spPr>
          <a:xfrm>
            <a:off x="5029200" y="3867912"/>
            <a:ext cx="31089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Flux Agentic AI</a:t>
            </a:r>
          </a:p>
        </p:txBody>
      </p:sp>
      <p:sp>
        <p:nvSpPr>
          <p:cNvPr id="276" name="TextBox 275"/>
          <p:cNvSpPr txBox="1"/>
          <p:nvPr/>
        </p:nvSpPr>
        <p:spPr>
          <a:xfrm>
            <a:off x="5029200" y="4343400"/>
            <a:ext cx="310896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Lecture du bilan et des sources</a:t>
            </a:r>
          </a:p>
          <a:p>
            <a:pPr algn="l">
              <a:lnSpc>
                <a:spcPct val="115000"/>
              </a:lnSpc>
              <a:spcBef>
                <a:spcPts val="0"/>
              </a:spcBef>
              <a:spcAft>
                <a:spcPts val="300"/>
              </a:spcAft>
            </a:pPr>
            <a:r>
              <a:rPr sz="1300" b="0" i="0">
                <a:solidFill>
                  <a:srgbClr val="C9D1E8"/>
                </a:solidFill>
                <a:latin typeface="DM Sans"/>
              </a:rPr>
              <a:t>Agent Analyste : gravité et cause</a:t>
            </a:r>
          </a:p>
          <a:p>
            <a:pPr algn="l">
              <a:lnSpc>
                <a:spcPct val="115000"/>
              </a:lnSpc>
              <a:spcBef>
                <a:spcPts val="0"/>
              </a:spcBef>
              <a:spcAft>
                <a:spcPts val="300"/>
              </a:spcAft>
            </a:pPr>
            <a:r>
              <a:rPr sz="1300" b="0" i="0">
                <a:solidFill>
                  <a:srgbClr val="C9D1E8"/>
                </a:solidFill>
                <a:latin typeface="DM Sans"/>
              </a:rPr>
              <a:t>Agent Rédacteur : message</a:t>
            </a:r>
          </a:p>
          <a:p>
            <a:pPr algn="l">
              <a:lnSpc>
                <a:spcPct val="115000"/>
              </a:lnSpc>
              <a:spcBef>
                <a:spcPts val="0"/>
              </a:spcBef>
              <a:spcAft>
                <a:spcPts val="300"/>
              </a:spcAft>
            </a:pPr>
            <a:r>
              <a:rPr sz="1300" b="0" i="0">
                <a:solidFill>
                  <a:srgbClr val="C9D1E8"/>
                </a:solidFill>
                <a:latin typeface="DM Sans"/>
              </a:rPr>
              <a:t>Envoi du message</a:t>
            </a:r>
          </a:p>
        </p:txBody>
      </p:sp>
      <p:sp>
        <p:nvSpPr>
          <p:cNvPr id="277" name="Rounded Rectangle 276"/>
          <p:cNvSpPr/>
          <p:nvPr/>
        </p:nvSpPr>
        <p:spPr>
          <a:xfrm>
            <a:off x="9107424" y="3630168"/>
            <a:ext cx="2386584" cy="2057400"/>
          </a:xfrm>
          <a:prstGeom prst="roundRect">
            <a:avLst>
              <a:gd name="adj" fmla="val 7408"/>
            </a:avLst>
          </a:prstGeom>
          <a:solidFill>
            <a:srgbClr val="24375F"/>
          </a:solidFill>
          <a:ln>
            <a:noFill/>
          </a:ln>
        </p:spPr>
        <p:txBody>
          <a:bodyPr rtlCol="0" anchor="ctr"/>
          <a:lstStyle/>
          <a:p>
            <a:pPr algn="ctr"/>
            <a:endParaRPr/>
          </a:p>
        </p:txBody>
      </p:sp>
      <p:sp>
        <p:nvSpPr>
          <p:cNvPr id="278" name="Rectangle 277"/>
          <p:cNvSpPr/>
          <p:nvPr/>
        </p:nvSpPr>
        <p:spPr>
          <a:xfrm>
            <a:off x="9107424" y="3630168"/>
            <a:ext cx="2386584" cy="2057400"/>
          </a:xfrm>
          <a:custGeom>
            <a:avLst/>
            <a:gdLst/>
            <a:ahLst/>
            <a:cxnLst/>
            <a:rect l="l" t="t" r="r" b="b"/>
            <a:pathLst>
              <a:path w="2386584" h="2057400" extrusionOk="0">
                <a:moveTo>
                  <a:pt x="0" y="152400"/>
                </a:moveTo>
                <a:cubicBezTo>
                  <a:pt x="0" y="68229"/>
                  <a:pt x="68229" y="0"/>
                  <a:pt x="152400" y="0"/>
                </a:cubicBezTo>
                <a:lnTo>
                  <a:pt x="2234184" y="0"/>
                </a:lnTo>
                <a:cubicBezTo>
                  <a:pt x="2318354" y="0"/>
                  <a:pt x="2386584" y="68229"/>
                  <a:pt x="2386584" y="152400"/>
                </a:cubicBezTo>
                <a:cubicBezTo>
                  <a:pt x="2386584" y="103311"/>
                  <a:pt x="2318355" y="63500"/>
                  <a:pt x="223418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279" name="TextBox 278"/>
          <p:cNvSpPr txBox="1"/>
          <p:nvPr/>
        </p:nvSpPr>
        <p:spPr>
          <a:xfrm>
            <a:off x="9326880" y="3867912"/>
            <a:ext cx="201168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Slack</a:t>
            </a:r>
          </a:p>
        </p:txBody>
      </p:sp>
      <p:sp>
        <p:nvSpPr>
          <p:cNvPr id="280" name="TextBox 279"/>
          <p:cNvSpPr txBox="1"/>
          <p:nvPr/>
        </p:nvSpPr>
        <p:spPr>
          <a:xfrm>
            <a:off x="9326880" y="4343400"/>
            <a:ext cx="205740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Webhook entrant</a:t>
            </a:r>
          </a:p>
          <a:p>
            <a:pPr algn="l">
              <a:lnSpc>
                <a:spcPct val="115000"/>
              </a:lnSpc>
              <a:spcBef>
                <a:spcPts val="0"/>
              </a:spcBef>
              <a:spcAft>
                <a:spcPts val="300"/>
              </a:spcAft>
            </a:pPr>
            <a:r>
              <a:rPr sz="1300" b="0" i="0">
                <a:solidFill>
                  <a:srgbClr val="C9D1E8"/>
                </a:solidFill>
                <a:latin typeface="DM Sans"/>
              </a:rPr>
              <a:t>Canal dédié à l’équipe</a:t>
            </a:r>
          </a:p>
          <a:p>
            <a:pPr algn="l">
              <a:lnSpc>
                <a:spcPct val="115000"/>
              </a:lnSpc>
              <a:spcBef>
                <a:spcPts val="0"/>
              </a:spcBef>
              <a:spcAft>
                <a:spcPts val="300"/>
              </a:spcAft>
            </a:pPr>
            <a:r>
              <a:rPr sz="1300" b="0" i="0">
                <a:solidFill>
                  <a:srgbClr val="C9D1E8"/>
                </a:solidFill>
                <a:latin typeface="DM Sans"/>
              </a:rPr>
              <a:t>Un message par matin</a:t>
            </a:r>
          </a:p>
        </p:txBody>
      </p:sp>
      <p:cxnSp>
        <p:nvCxnSpPr>
          <p:cNvPr id="281" name="Connector 280"/>
          <p:cNvCxnSpPr/>
          <p:nvPr/>
        </p:nvCxnSpPr>
        <p:spPr>
          <a:xfrm flipH="1">
            <a:off x="3657600" y="4288536"/>
            <a:ext cx="1115568" cy="0"/>
          </a:xfrm>
          <a:prstGeom prst="line">
            <a:avLst/>
          </a:prstGeom>
          <a:ln w="22225">
            <a:solidFill>
              <a:srgbClr val="7ACFC0"/>
            </a:solidFill>
            <a:tailEnd type="triangle" w="med" len="med"/>
          </a:ln>
        </p:spPr>
      </p:cxnSp>
      <p:sp>
        <p:nvSpPr>
          <p:cNvPr id="282" name="TextBox 281"/>
          <p:cNvSpPr txBox="1"/>
          <p:nvPr/>
        </p:nvSpPr>
        <p:spPr>
          <a:xfrm>
            <a:off x="3657600" y="3977640"/>
            <a:ext cx="1115568"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lit le bilan</a:t>
            </a:r>
          </a:p>
        </p:txBody>
      </p:sp>
      <p:sp>
        <p:nvSpPr>
          <p:cNvPr id="283" name="Rounded Rectangle 282"/>
          <p:cNvSpPr/>
          <p:nvPr/>
        </p:nvSpPr>
        <p:spPr>
          <a:xfrm>
            <a:off x="3703320" y="4544568"/>
            <a:ext cx="1024128" cy="274320"/>
          </a:xfrm>
          <a:prstGeom prst="roundRect">
            <a:avLst>
              <a:gd name="adj" fmla="val 50000"/>
            </a:avLst>
          </a:prstGeom>
          <a:solidFill>
            <a:srgbClr val="142040"/>
          </a:solidFill>
          <a:ln>
            <a:noFill/>
          </a:ln>
        </p:spPr>
        <p:txBody>
          <a:bodyPr wrap="square" lIns="36576" tIns="0" rIns="36576" bIns="0" rtlCol="0" anchor="ctr">
            <a:noAutofit/>
          </a:bodyPr>
          <a:lstStyle/>
          <a:p>
            <a:pPr algn="ctr">
              <a:lnSpc>
                <a:spcPct val="100000"/>
              </a:lnSpc>
              <a:spcBef>
                <a:spcPts val="0"/>
              </a:spcBef>
              <a:spcAft>
                <a:spcPts val="0"/>
              </a:spcAft>
            </a:pPr>
            <a:r>
              <a:rPr sz="1050" b="1" i="0">
                <a:solidFill>
                  <a:srgbClr val="C9D1E8"/>
                </a:solidFill>
                <a:latin typeface="DM Sans"/>
              </a:rPr>
              <a:t>tunnel ngrok</a:t>
            </a:r>
          </a:p>
        </p:txBody>
      </p:sp>
      <p:cxnSp>
        <p:nvCxnSpPr>
          <p:cNvPr id="284" name="Connector 283"/>
          <p:cNvCxnSpPr/>
          <p:nvPr/>
        </p:nvCxnSpPr>
        <p:spPr>
          <a:xfrm>
            <a:off x="3657600" y="5074920"/>
            <a:ext cx="1115568" cy="0"/>
          </a:xfrm>
          <a:prstGeom prst="line">
            <a:avLst/>
          </a:prstGeom>
          <a:ln w="22225">
            <a:solidFill>
              <a:srgbClr val="7ACFC0"/>
            </a:solidFill>
            <a:tailEnd type="triangle" w="med" len="med"/>
          </a:ln>
        </p:spPr>
      </p:cxnSp>
      <p:sp>
        <p:nvSpPr>
          <p:cNvPr id="285" name="TextBox 284"/>
          <p:cNvSpPr txBox="1"/>
          <p:nvPr/>
        </p:nvSpPr>
        <p:spPr>
          <a:xfrm>
            <a:off x="3657600" y="5148072"/>
            <a:ext cx="1115568"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bilan + sources</a:t>
            </a:r>
          </a:p>
        </p:txBody>
      </p:sp>
      <p:cxnSp>
        <p:nvCxnSpPr>
          <p:cNvPr id="286" name="Connector 285"/>
          <p:cNvCxnSpPr/>
          <p:nvPr/>
        </p:nvCxnSpPr>
        <p:spPr>
          <a:xfrm>
            <a:off x="8321040" y="4681728"/>
            <a:ext cx="749808" cy="0"/>
          </a:xfrm>
          <a:prstGeom prst="line">
            <a:avLst/>
          </a:prstGeom>
          <a:ln w="22225">
            <a:solidFill>
              <a:srgbClr val="7ACFC0"/>
            </a:solidFill>
            <a:tailEnd type="triangle" w="med" len="med"/>
          </a:ln>
        </p:spPr>
      </p:cxnSp>
      <p:sp>
        <p:nvSpPr>
          <p:cNvPr id="287" name="TextBox 286"/>
          <p:cNvSpPr txBox="1"/>
          <p:nvPr/>
        </p:nvSpPr>
        <p:spPr>
          <a:xfrm>
            <a:off x="8284464" y="4361688"/>
            <a:ext cx="822960"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webhook</a:t>
            </a:r>
          </a:p>
        </p:txBody>
      </p:sp>
      <p:sp>
        <p:nvSpPr>
          <p:cNvPr id="288" name="TextBox 28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Jetons et adresse du webhook : saisis dans les nœuds, jamais montrés dans ces diapositives.</a:t>
            </a:r>
          </a:p>
        </p:txBody>
      </p:sp>
      <p:sp>
        <p:nvSpPr>
          <p:cNvPr id="289" name="Rectangle 288"/>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290" name="Rectangle 289"/>
          <p:cNvSpPr/>
          <p:nvPr/>
        </p:nvSpPr>
        <p:spPr>
          <a:xfrm>
            <a:off x="155448" y="6803136"/>
            <a:ext cx="7601840" cy="54864"/>
          </a:xfrm>
          <a:prstGeom prst="rect">
            <a:avLst/>
          </a:prstGeom>
          <a:solidFill>
            <a:srgbClr val="7ACFC0"/>
          </a:solidFill>
          <a:ln>
            <a:noFill/>
          </a:ln>
        </p:spPr>
        <p:txBody>
          <a:bodyPr rtlCol="0" anchor="ctr"/>
          <a:lstStyle/>
          <a:p>
            <a:pPr algn="c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planificateur démarre sans interface graphique et exécute seul la chaîne de nuit</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25</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pic>
        <p:nvPicPr>
          <p:cNvPr id="113" name="Picture 112" descr="terminal.png"/>
          <p:cNvPicPr>
            <a:picLocks noChangeAspect="1"/>
          </p:cNvPicPr>
          <p:nvPr/>
        </p:nvPicPr>
        <p:blipFill>
          <a:blip r:embed="rId3"/>
          <a:stretch>
            <a:fillRect/>
          </a:stretch>
        </p:blipFill>
        <p:spPr>
          <a:xfrm>
            <a:off x="694944" y="1810512"/>
            <a:ext cx="5577840" cy="1327402"/>
          </a:xfrm>
          <a:prstGeom prst="rect">
            <a:avLst/>
          </a:prstGeom>
          <a:ln w="9525">
            <a:solidFill>
              <a:srgbClr val="D5DAE8"/>
            </a:solidFill>
          </a:ln>
        </p:spPr>
      </p:pic>
      <p:sp>
        <p:nvSpPr>
          <p:cNvPr id="114" name="TextBox 113"/>
          <p:cNvSpPr txBox="1"/>
          <p:nvPr/>
        </p:nvSpPr>
        <p:spPr>
          <a:xfrm>
            <a:off x="694944" y="3229354"/>
            <a:ext cx="557784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Figure 3. Démarrage du planificateur sur le poste de démonstration.</a:t>
            </a:r>
          </a:p>
        </p:txBody>
      </p:sp>
      <p:sp>
        <p:nvSpPr>
          <p:cNvPr id="115" name="Rounded Rectangle 114"/>
          <p:cNvSpPr/>
          <p:nvPr/>
        </p:nvSpPr>
        <p:spPr>
          <a:xfrm>
            <a:off x="694944" y="3686554"/>
            <a:ext cx="5577840" cy="1417320"/>
          </a:xfrm>
          <a:prstGeom prst="roundRect">
            <a:avLst>
              <a:gd name="adj" fmla="val 10754"/>
            </a:avLst>
          </a:prstGeom>
          <a:solidFill>
            <a:srgbClr val="142040"/>
          </a:solidFill>
          <a:ln>
            <a:noFill/>
          </a:ln>
        </p:spPr>
        <p:txBody>
          <a:bodyPr rtlCol="0" anchor="ctr"/>
          <a:lstStyle/>
          <a:p>
            <a:pPr algn="ctr"/>
            <a:endParaRPr/>
          </a:p>
        </p:txBody>
      </p:sp>
      <p:sp>
        <p:nvSpPr>
          <p:cNvPr id="116" name="TextBox 115"/>
          <p:cNvSpPr txBox="1"/>
          <p:nvPr/>
        </p:nvSpPr>
        <p:spPr>
          <a:xfrm>
            <a:off x="950976" y="3869434"/>
            <a:ext cx="512064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EN RÉSUMÉ</a:t>
            </a:r>
          </a:p>
        </p:txBody>
      </p:sp>
      <p:sp>
        <p:nvSpPr>
          <p:cNvPr id="117" name="TextBox 116"/>
          <p:cNvSpPr txBox="1"/>
          <p:nvPr/>
        </p:nvSpPr>
        <p:spPr>
          <a:xfrm>
            <a:off x="950976" y="4189474"/>
            <a:ext cx="5120640" cy="32004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FFFFFF"/>
                </a:solidFill>
                <a:latin typeface="DM Sans"/>
              </a:rPr>
              <a:t>Un seul processus, sans interface graphique</a:t>
            </a:r>
          </a:p>
        </p:txBody>
      </p:sp>
      <p:sp>
        <p:nvSpPr>
          <p:cNvPr id="118" name="TextBox 117"/>
          <p:cNvSpPr txBox="1"/>
          <p:nvPr/>
        </p:nvSpPr>
        <p:spPr>
          <a:xfrm>
            <a:off x="950976" y="4600954"/>
            <a:ext cx="5120640" cy="36576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C9D1E8"/>
                </a:solidFill>
                <a:latin typeface="DM Sans"/>
              </a:rPr>
              <a:t>Le planificateur et le serveur local démarrent ensemble ; la nuit s’exécute seule.</a:t>
            </a:r>
          </a:p>
        </p:txBody>
      </p:sp>
      <p:sp>
        <p:nvSpPr>
          <p:cNvPr id="119" name="Rounded Rectangle 118"/>
          <p:cNvSpPr/>
          <p:nvPr/>
        </p:nvSpPr>
        <p:spPr>
          <a:xfrm>
            <a:off x="6583680" y="1810512"/>
            <a:ext cx="4910328" cy="1212291"/>
          </a:xfrm>
          <a:prstGeom prst="roundRect">
            <a:avLst>
              <a:gd name="adj" fmla="val 12573"/>
            </a:avLst>
          </a:prstGeom>
          <a:solidFill>
            <a:srgbClr val="FFFFFF"/>
          </a:solidFill>
          <a:ln>
            <a:noFill/>
          </a:ln>
        </p:spPr>
        <p:txBody>
          <a:bodyPr rtlCol="0" anchor="ctr"/>
          <a:lstStyle/>
          <a:p>
            <a:pPr algn="ctr"/>
            <a:endParaRPr/>
          </a:p>
        </p:txBody>
      </p:sp>
      <p:sp>
        <p:nvSpPr>
          <p:cNvPr id="120" name="Rectangle 119"/>
          <p:cNvSpPr/>
          <p:nvPr/>
        </p:nvSpPr>
        <p:spPr>
          <a:xfrm>
            <a:off x="6583680" y="1810512"/>
            <a:ext cx="4910328" cy="1212291"/>
          </a:xfrm>
          <a:custGeom>
            <a:avLst/>
            <a:gdLst/>
            <a:ahLst/>
            <a:cxnLst/>
            <a:rect l="l" t="t" r="r" b="b"/>
            <a:pathLst>
              <a:path w="4910328" h="1212291" extrusionOk="0">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6B3FA0"/>
          </a:solidFill>
          <a:ln>
            <a:noFill/>
          </a:ln>
        </p:spPr>
        <p:txBody>
          <a:bodyPr rtlCol="0" anchor="ctr"/>
          <a:lstStyle/>
          <a:p>
            <a:pPr algn="ctr"/>
            <a:endParaRPr/>
          </a:p>
        </p:txBody>
      </p:sp>
      <p:sp>
        <p:nvSpPr>
          <p:cNvPr id="121" name="TextBox 120"/>
          <p:cNvSpPr txBox="1"/>
          <p:nvPr/>
        </p:nvSpPr>
        <p:spPr>
          <a:xfrm>
            <a:off x="6812280" y="2011680"/>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Une chaîne</a:t>
            </a:r>
          </a:p>
        </p:txBody>
      </p:sp>
      <p:sp>
        <p:nvSpPr>
          <p:cNvPr id="122" name="TextBox 121"/>
          <p:cNvSpPr txBox="1"/>
          <p:nvPr/>
        </p:nvSpPr>
        <p:spPr>
          <a:xfrm>
            <a:off x="6812280" y="2359152"/>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Sauvegarde, import, comparaison, KPI, alertes, prévisions et rapport, dans l’ordre des dépendances.</a:t>
            </a:r>
          </a:p>
        </p:txBody>
      </p:sp>
      <p:sp>
        <p:nvSpPr>
          <p:cNvPr id="123" name="Rounded Rectangle 122"/>
          <p:cNvSpPr/>
          <p:nvPr/>
        </p:nvSpPr>
        <p:spPr>
          <a:xfrm>
            <a:off x="6583680" y="3187395"/>
            <a:ext cx="4910328" cy="1212291"/>
          </a:xfrm>
          <a:prstGeom prst="roundRect">
            <a:avLst>
              <a:gd name="adj" fmla="val 12573"/>
            </a:avLst>
          </a:prstGeom>
          <a:solidFill>
            <a:srgbClr val="FFFFFF"/>
          </a:solidFill>
          <a:ln>
            <a:noFill/>
          </a:ln>
        </p:spPr>
        <p:txBody>
          <a:bodyPr rtlCol="0" anchor="ctr"/>
          <a:lstStyle/>
          <a:p>
            <a:pPr algn="ctr"/>
            <a:endParaRPr/>
          </a:p>
        </p:txBody>
      </p:sp>
      <p:sp>
        <p:nvSpPr>
          <p:cNvPr id="124" name="Rectangle 123"/>
          <p:cNvSpPr/>
          <p:nvPr/>
        </p:nvSpPr>
        <p:spPr>
          <a:xfrm>
            <a:off x="6583680" y="3187395"/>
            <a:ext cx="4910328" cy="1212291"/>
          </a:xfrm>
          <a:custGeom>
            <a:avLst/>
            <a:gdLst/>
            <a:ahLst/>
            <a:cxnLst/>
            <a:rect l="l" t="t" r="r" b="b"/>
            <a:pathLst>
              <a:path w="4910328" h="1212291" extrusionOk="0">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25" name="TextBox 124"/>
          <p:cNvSpPr txBox="1"/>
          <p:nvPr/>
        </p:nvSpPr>
        <p:spPr>
          <a:xfrm>
            <a:off x="6812280" y="3388563"/>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Heure explicite</a:t>
            </a:r>
          </a:p>
        </p:txBody>
      </p:sp>
      <p:sp>
        <p:nvSpPr>
          <p:cNvPr id="126" name="TextBox 125"/>
          <p:cNvSpPr txBox="1"/>
          <p:nvPr/>
        </p:nvSpPr>
        <p:spPr>
          <a:xfrm>
            <a:off x="6812280" y="3736035"/>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00:30 UTC quel que soit le fuseau du PC ; le terminal affiche l’heure du PC et l’heure UTC.</a:t>
            </a:r>
          </a:p>
        </p:txBody>
      </p:sp>
      <p:sp>
        <p:nvSpPr>
          <p:cNvPr id="127" name="Rounded Rectangle 126"/>
          <p:cNvSpPr/>
          <p:nvPr/>
        </p:nvSpPr>
        <p:spPr>
          <a:xfrm>
            <a:off x="6583680" y="4564278"/>
            <a:ext cx="4910328" cy="1212291"/>
          </a:xfrm>
          <a:prstGeom prst="roundRect">
            <a:avLst>
              <a:gd name="adj" fmla="val 12573"/>
            </a:avLst>
          </a:prstGeom>
          <a:solidFill>
            <a:srgbClr val="FFFFFF"/>
          </a:solidFill>
          <a:ln>
            <a:noFill/>
          </a:ln>
        </p:spPr>
        <p:txBody>
          <a:bodyPr rtlCol="0" anchor="ctr"/>
          <a:lstStyle/>
          <a:p>
            <a:pPr algn="ctr"/>
            <a:endParaRPr/>
          </a:p>
        </p:txBody>
      </p:sp>
      <p:sp>
        <p:nvSpPr>
          <p:cNvPr id="128" name="Rectangle 127"/>
          <p:cNvSpPr/>
          <p:nvPr/>
        </p:nvSpPr>
        <p:spPr>
          <a:xfrm>
            <a:off x="6583680" y="4564278"/>
            <a:ext cx="4910328" cy="1212291"/>
          </a:xfrm>
          <a:custGeom>
            <a:avLst/>
            <a:gdLst/>
            <a:ahLst/>
            <a:cxnLst/>
            <a:rect l="l" t="t" r="r" b="b"/>
            <a:pathLst>
              <a:path w="4910328" h="1212291" extrusionOk="0">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129" name="TextBox 128"/>
          <p:cNvSpPr txBox="1"/>
          <p:nvPr/>
        </p:nvSpPr>
        <p:spPr>
          <a:xfrm>
            <a:off x="6812280" y="4765446"/>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Reprise après veille</a:t>
            </a:r>
          </a:p>
        </p:txBody>
      </p:sp>
      <p:sp>
        <p:nvSpPr>
          <p:cNvPr id="130" name="TextBox 129"/>
          <p:cNvSpPr txBox="1"/>
          <p:nvPr/>
        </p:nvSpPr>
        <p:spPr>
          <a:xfrm>
            <a:off x="6812280" y="5112918"/>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Si le PC dort à l’heure prévue, la nuit part au réveil (tolérance de 3 h) ; un verrou évite les doublons.</a:t>
            </a:r>
          </a:p>
        </p:txBody>
      </p:sp>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terminal du poste de démonstration.</a:t>
            </a:r>
          </a:p>
        </p:txBody>
      </p:sp>
      <p:sp>
        <p:nvSpPr>
          <p:cNvPr id="132" name="Rectangle 131"/>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3" name="Rectangle 132"/>
          <p:cNvSpPr/>
          <p:nvPr/>
        </p:nvSpPr>
        <p:spPr>
          <a:xfrm>
            <a:off x="155448" y="6803136"/>
            <a:ext cx="7918584" cy="54864"/>
          </a:xfrm>
          <a:prstGeom prst="rect">
            <a:avLst/>
          </a:prstGeom>
          <a:solidFill>
            <a:srgbClr val="6B3FA0"/>
          </a:solidFill>
          <a:ln>
            <a:noFill/>
          </a:ln>
        </p:spPr>
        <p:txBody>
          <a:bodyPr rtlCol="0" anchor="ctr"/>
          <a:lstStyle/>
          <a:p>
            <a:pPr algn="ct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L’écran Tâches de Workly montre l’état de chaque tâche et ouvre le journal d’exécution</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26</a:t>
            </a:r>
            <a:endParaRPr sz="1200">
              <a:solidFill>
                <a:schemeClr val="dk1"/>
              </a:solidFill>
              <a:latin typeface="DM Sans"/>
              <a:ea typeface="DM Sans"/>
              <a:cs typeface="DM Sans"/>
              <a:sym typeface="DM Sans"/>
            </a:endParaRPr>
          </a:p>
        </p:txBody>
      </p:sp>
      <p:sp>
        <p:nvSpPr>
          <p:cNvPr id="114" name="Rounded Rectangle 113"/>
          <p:cNvSpPr/>
          <p:nvPr/>
        </p:nvSpPr>
        <p:spPr>
          <a:xfrm>
            <a:off x="7059168" y="1773936"/>
            <a:ext cx="4434840" cy="4224528"/>
          </a:xfrm>
          <a:prstGeom prst="roundRect">
            <a:avLst>
              <a:gd name="adj" fmla="val 3608"/>
            </a:avLst>
          </a:prstGeom>
          <a:solidFill>
            <a:srgbClr val="FFFFFF"/>
          </a:solidFill>
          <a:ln>
            <a:noFill/>
          </a:ln>
        </p:spPr>
        <p:txBody>
          <a:bodyPr rtlCol="0" anchor="ctr"/>
          <a:lstStyle/>
          <a:p>
            <a:pPr algn="ctr"/>
            <a:endParaRPr/>
          </a:p>
        </p:txBody>
      </p:sp>
      <p:sp>
        <p:nvSpPr>
          <p:cNvPr id="115" name="Rectangle 114"/>
          <p:cNvSpPr/>
          <p:nvPr/>
        </p:nvSpPr>
        <p:spPr>
          <a:xfrm>
            <a:off x="7059168" y="1773936"/>
            <a:ext cx="4434840" cy="4224528"/>
          </a:xfrm>
          <a:custGeom>
            <a:avLst/>
            <a:gdLst/>
            <a:ahLst/>
            <a:cxnLst/>
            <a:rect l="l" t="t" r="r" b="b"/>
            <a:pathLst>
              <a:path w="4434840" h="4224528" extrusionOk="0">
                <a:moveTo>
                  <a:pt x="0" y="152400"/>
                </a:moveTo>
                <a:cubicBezTo>
                  <a:pt x="0" y="68229"/>
                  <a:pt x="68229" y="0"/>
                  <a:pt x="152400" y="0"/>
                </a:cubicBezTo>
                <a:lnTo>
                  <a:pt x="4282440" y="0"/>
                </a:lnTo>
                <a:cubicBezTo>
                  <a:pt x="4366610" y="0"/>
                  <a:pt x="4434840" y="68229"/>
                  <a:pt x="4434840" y="152400"/>
                </a:cubicBezTo>
                <a:cubicBezTo>
                  <a:pt x="4434840" y="103311"/>
                  <a:pt x="4366611" y="63500"/>
                  <a:pt x="428244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endParaRPr/>
          </a:p>
        </p:txBody>
      </p:sp>
      <p:sp>
        <p:nvSpPr>
          <p:cNvPr id="116" name="TextBox 115"/>
          <p:cNvSpPr txBox="1"/>
          <p:nvPr/>
        </p:nvSpPr>
        <p:spPr>
          <a:xfrm>
            <a:off x="7315200" y="2011680"/>
            <a:ext cx="39319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Ce que l’écran affiche</a:t>
            </a:r>
          </a:p>
        </p:txBody>
      </p:sp>
      <p:sp>
        <p:nvSpPr>
          <p:cNvPr id="117" name="Rectangle 116"/>
          <p:cNvSpPr/>
          <p:nvPr/>
        </p:nvSpPr>
        <p:spPr>
          <a:xfrm>
            <a:off x="7315200" y="2606040"/>
            <a:ext cx="100584" cy="100584"/>
          </a:xfrm>
          <a:prstGeom prst="rect">
            <a:avLst/>
          </a:prstGeom>
          <a:solidFill>
            <a:srgbClr val="6B3FA0"/>
          </a:solidFill>
          <a:ln>
            <a:noFill/>
          </a:ln>
        </p:spPr>
        <p:txBody>
          <a:bodyPr rtlCol="0" anchor="ctr"/>
          <a:lstStyle/>
          <a:p>
            <a:pPr algn="ctr"/>
            <a:endParaRPr/>
          </a:p>
        </p:txBody>
      </p:sp>
      <p:sp>
        <p:nvSpPr>
          <p:cNvPr id="118" name="TextBox 117"/>
          <p:cNvSpPr txBox="1"/>
          <p:nvPr/>
        </p:nvSpPr>
        <p:spPr>
          <a:xfrm>
            <a:off x="7543800" y="2542032"/>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L’étape du pipeline, de P1 à P9</a:t>
            </a:r>
          </a:p>
        </p:txBody>
      </p:sp>
      <p:sp>
        <p:nvSpPr>
          <p:cNvPr id="119" name="Rectangle 118"/>
          <p:cNvSpPr/>
          <p:nvPr/>
        </p:nvSpPr>
        <p:spPr>
          <a:xfrm>
            <a:off x="7315200" y="2983687"/>
            <a:ext cx="100584" cy="100584"/>
          </a:xfrm>
          <a:prstGeom prst="rect">
            <a:avLst/>
          </a:prstGeom>
          <a:solidFill>
            <a:srgbClr val="6B3FA0"/>
          </a:solidFill>
          <a:ln>
            <a:noFill/>
          </a:ln>
        </p:spPr>
        <p:txBody>
          <a:bodyPr rtlCol="0" anchor="ctr"/>
          <a:lstStyle/>
          <a:p>
            <a:pPr algn="ctr"/>
            <a:endParaRPr/>
          </a:p>
        </p:txBody>
      </p:sp>
      <p:sp>
        <p:nvSpPr>
          <p:cNvPr id="120" name="TextBox 119"/>
          <p:cNvSpPr txBox="1"/>
          <p:nvPr/>
        </p:nvSpPr>
        <p:spPr>
          <a:xfrm>
            <a:off x="7543800" y="2919679"/>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La dernière et la prochaine exécution</a:t>
            </a:r>
          </a:p>
        </p:txBody>
      </p:sp>
      <p:sp>
        <p:nvSpPr>
          <p:cNvPr id="121" name="Rectangle 120"/>
          <p:cNvSpPr/>
          <p:nvPr/>
        </p:nvSpPr>
        <p:spPr>
          <a:xfrm>
            <a:off x="7315200" y="3361334"/>
            <a:ext cx="100584" cy="100584"/>
          </a:xfrm>
          <a:prstGeom prst="rect">
            <a:avLst/>
          </a:prstGeom>
          <a:solidFill>
            <a:srgbClr val="6B3FA0"/>
          </a:solidFill>
          <a:ln>
            <a:noFill/>
          </a:ln>
        </p:spPr>
        <p:txBody>
          <a:bodyPr rtlCol="0" anchor="ctr"/>
          <a:lstStyle/>
          <a:p>
            <a:pPr algn="ctr"/>
            <a:endParaRPr/>
          </a:p>
        </p:txBody>
      </p:sp>
      <p:sp>
        <p:nvSpPr>
          <p:cNvPr id="122" name="TextBox 121"/>
          <p:cNvSpPr txBox="1"/>
          <p:nvPr/>
        </p:nvSpPr>
        <p:spPr>
          <a:xfrm>
            <a:off x="7543800" y="3297326"/>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Le dernier statut, en vert, rouge ou orange</a:t>
            </a:r>
          </a:p>
        </p:txBody>
      </p:sp>
      <p:sp>
        <p:nvSpPr>
          <p:cNvPr id="123" name="Rectangle 122"/>
          <p:cNvSpPr/>
          <p:nvPr/>
        </p:nvSpPr>
        <p:spPr>
          <a:xfrm>
            <a:off x="7315200" y="3738982"/>
            <a:ext cx="100584" cy="100584"/>
          </a:xfrm>
          <a:prstGeom prst="rect">
            <a:avLst/>
          </a:prstGeom>
          <a:solidFill>
            <a:srgbClr val="6B3FA0"/>
          </a:solidFill>
          <a:ln>
            <a:noFill/>
          </a:ln>
        </p:spPr>
        <p:txBody>
          <a:bodyPr rtlCol="0" anchor="ctr"/>
          <a:lstStyle/>
          <a:p>
            <a:pPr algn="ctr"/>
            <a:endParaRPr/>
          </a:p>
        </p:txBody>
      </p:sp>
      <p:sp>
        <p:nvSpPr>
          <p:cNvPr id="124" name="TextBox 123"/>
          <p:cNvSpPr txBox="1"/>
          <p:nvPr/>
        </p:nvSpPr>
        <p:spPr>
          <a:xfrm>
            <a:off x="7543800" y="3674974"/>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Un bouton pour exécuter la tâche choisie</a:t>
            </a:r>
          </a:p>
        </p:txBody>
      </p:sp>
      <p:sp>
        <p:nvSpPr>
          <p:cNvPr id="125" name="Rectangle 124"/>
          <p:cNvSpPr/>
          <p:nvPr/>
        </p:nvSpPr>
        <p:spPr>
          <a:xfrm>
            <a:off x="7315200" y="4116629"/>
            <a:ext cx="100584" cy="100584"/>
          </a:xfrm>
          <a:prstGeom prst="rect">
            <a:avLst/>
          </a:prstGeom>
          <a:solidFill>
            <a:srgbClr val="6B3FA0"/>
          </a:solidFill>
          <a:ln>
            <a:noFill/>
          </a:ln>
        </p:spPr>
        <p:txBody>
          <a:bodyPr rtlCol="0" anchor="ctr"/>
          <a:lstStyle/>
          <a:p>
            <a:pPr algn="ctr"/>
            <a:endParaRPr/>
          </a:p>
        </p:txBody>
      </p:sp>
      <p:sp>
        <p:nvSpPr>
          <p:cNvPr id="126" name="TextBox 125"/>
          <p:cNvSpPr txBox="1"/>
          <p:nvPr/>
        </p:nvSpPr>
        <p:spPr>
          <a:xfrm>
            <a:off x="7543800" y="4052621"/>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Le journal : tâche, début, fin, statut, message</a:t>
            </a:r>
          </a:p>
        </p:txBody>
      </p:sp>
      <p:sp>
        <p:nvSpPr>
          <p:cNvPr id="127" name="Rounded Rectangle 126"/>
          <p:cNvSpPr/>
          <p:nvPr/>
        </p:nvSpPr>
        <p:spPr>
          <a:xfrm>
            <a:off x="7315200" y="4521708"/>
            <a:ext cx="3931920" cy="777240"/>
          </a:xfrm>
          <a:prstGeom prst="roundRect">
            <a:avLst>
              <a:gd name="adj" fmla="val 11764"/>
            </a:avLst>
          </a:prstGeom>
          <a:solidFill>
            <a:srgbClr val="E2D9F3"/>
          </a:solidFill>
          <a:ln>
            <a:noFill/>
          </a:ln>
        </p:spPr>
        <p:txBody>
          <a:bodyPr rtlCol="0" anchor="ctr"/>
          <a:lstStyle/>
          <a:p>
            <a:pPr algn="ctr"/>
            <a:endParaRPr/>
          </a:p>
        </p:txBody>
      </p:sp>
      <p:sp>
        <p:nvSpPr>
          <p:cNvPr id="128" name="TextBox 127"/>
          <p:cNvSpPr txBox="1"/>
          <p:nvPr/>
        </p:nvSpPr>
        <p:spPr>
          <a:xfrm>
            <a:off x="7479792" y="4521708"/>
            <a:ext cx="3611880" cy="777240"/>
          </a:xfrm>
          <a:prstGeom prst="rect">
            <a:avLst/>
          </a:prstGeom>
          <a:noFill/>
        </p:spPr>
        <p:txBody>
          <a:bodyPr wrap="square" lIns="0" tIns="0" rIns="0" bIns="0" anchor="ctr">
            <a:noAutofit/>
          </a:bodyPr>
          <a:lstStyle/>
          <a:p>
            <a:pPr algn="l">
              <a:lnSpc>
                <a:spcPct val="112000"/>
              </a:lnSpc>
              <a:spcBef>
                <a:spcPts val="0"/>
              </a:spcBef>
              <a:spcAft>
                <a:spcPts val="0"/>
              </a:spcAft>
            </a:pPr>
            <a:r>
              <a:rPr sz="1250" b="0" i="0">
                <a:solidFill>
                  <a:srgbClr val="1B2A4A"/>
                </a:solidFill>
                <a:latin typeface="DM Sans"/>
              </a:rPr>
              <a:t>Les exécutions lancées de l’extérieur apparaissent aussi dans ce journal.</a:t>
            </a:r>
          </a:p>
        </p:txBody>
      </p:sp>
      <p:sp>
        <p:nvSpPr>
          <p:cNvPr id="129" name="TextBox 128"/>
          <p:cNvSpPr txBox="1"/>
          <p:nvPr/>
        </p:nvSpPr>
        <p:spPr>
          <a:xfrm>
            <a:off x="698500" y="6441034"/>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dirty="0">
                <a:solidFill>
                  <a:srgbClr val="6B7390"/>
                </a:solidFill>
                <a:latin typeface="DM Sans"/>
              </a:rPr>
              <a:t>Figure 4. Application </a:t>
            </a:r>
            <a:r>
              <a:rPr sz="1150" b="0" i="0" dirty="0" err="1">
                <a:solidFill>
                  <a:srgbClr val="6B7390"/>
                </a:solidFill>
                <a:latin typeface="DM Sans"/>
              </a:rPr>
              <a:t>Workly</a:t>
            </a:r>
            <a:r>
              <a:rPr sz="1150" b="0" i="0" dirty="0">
                <a:solidFill>
                  <a:srgbClr val="6B7390"/>
                </a:solidFill>
                <a:latin typeface="DM Sans"/>
              </a:rPr>
              <a:t>, Administration, </a:t>
            </a:r>
            <a:r>
              <a:rPr sz="1150" b="0" i="0" dirty="0" err="1">
                <a:solidFill>
                  <a:srgbClr val="6B7390"/>
                </a:solidFill>
                <a:latin typeface="DM Sans"/>
              </a:rPr>
              <a:t>onglet</a:t>
            </a:r>
            <a:r>
              <a:rPr sz="1150" b="0" i="0" dirty="0">
                <a:solidFill>
                  <a:srgbClr val="6B7390"/>
                </a:solidFill>
                <a:latin typeface="DM Sans"/>
              </a:rPr>
              <a:t> </a:t>
            </a:r>
            <a:r>
              <a:rPr sz="1150" b="0" i="0" dirty="0" err="1">
                <a:solidFill>
                  <a:srgbClr val="6B7390"/>
                </a:solidFill>
                <a:latin typeface="DM Sans"/>
              </a:rPr>
              <a:t>Tâches</a:t>
            </a:r>
            <a:r>
              <a:rPr sz="1150" b="0" i="0" dirty="0">
                <a:solidFill>
                  <a:srgbClr val="6B7390"/>
                </a:solidFill>
                <a:latin typeface="DM Sans"/>
              </a:rPr>
              <a:t>.</a:t>
            </a:r>
          </a:p>
        </p:txBody>
      </p:sp>
      <p:pic>
        <p:nvPicPr>
          <p:cNvPr id="3" name="Image 2"/>
          <p:cNvPicPr>
            <a:picLocks noChangeAspect="1"/>
          </p:cNvPicPr>
          <p:nvPr/>
        </p:nvPicPr>
        <p:blipFill>
          <a:blip r:embed="rId3"/>
          <a:stretch>
            <a:fillRect/>
          </a:stretch>
        </p:blipFill>
        <p:spPr>
          <a:xfrm>
            <a:off x="155448" y="1350366"/>
            <a:ext cx="6821424" cy="4978400"/>
          </a:xfrm>
          <a:prstGeom prst="rect">
            <a:avLst/>
          </a:prstGeom>
        </p:spPr>
      </p:pic>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30" name="Rectangle 129"/>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1" name="Rectangle 130"/>
          <p:cNvSpPr/>
          <p:nvPr/>
        </p:nvSpPr>
        <p:spPr>
          <a:xfrm>
            <a:off x="155448" y="6803136"/>
            <a:ext cx="8235327" cy="54864"/>
          </a:xfrm>
          <a:prstGeom prst="rect">
            <a:avLst/>
          </a:prstGeom>
          <a:solidFill>
            <a:srgbClr val="6B3FA0"/>
          </a:solidFill>
          <a:ln>
            <a:noFill/>
          </a:ln>
        </p:spPr>
        <p:txBody>
          <a:bodyPr rtlCol="0" anchor="ctr"/>
          <a:lstStyle/>
          <a:p>
            <a:pPr algn="ct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bilan résume l’état des automatisations en un statut : succès, incomplet ou échec</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27</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graphicFrame>
        <p:nvGraphicFramePr>
          <p:cNvPr id="113" name="Table 112"/>
          <p:cNvGraphicFramePr>
            <a:graphicFrameLocks noGrp="1"/>
          </p:cNvGraphicFramePr>
          <p:nvPr/>
        </p:nvGraphicFramePr>
        <p:xfrm>
          <a:off x="694944" y="1773936"/>
          <a:ext cx="6492240" cy="2660904"/>
        </p:xfrm>
        <a:graphic>
          <a:graphicData uri="http://schemas.openxmlformats.org/drawingml/2006/table">
            <a:tbl>
              <a:tblPr/>
              <a:tblGrid>
                <a:gridCol w="13258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411480">
                <a:tc>
                  <a:txBody>
                    <a:bodyPr/>
                    <a:lstStyle/>
                    <a:p>
                      <a:pPr algn="l">
                        <a:lnSpc>
                          <a:spcPct val="110000"/>
                        </a:lnSpc>
                        <a:spcBef>
                          <a:spcPts val="0"/>
                        </a:spcBef>
                        <a:spcAft>
                          <a:spcPts val="0"/>
                        </a:spcAft>
                      </a:pPr>
                      <a:r>
                        <a:rPr sz="1300" b="1" i="0">
                          <a:solidFill>
                            <a:srgbClr val="FFFFFF"/>
                          </a:solidFill>
                          <a:latin typeface="DM Sans"/>
                        </a:rPr>
                        <a:t>Statut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a:lstStyle/>
                    <a:p>
                      <a:pPr algn="l">
                        <a:lnSpc>
                          <a:spcPct val="110000"/>
                        </a:lnSpc>
                        <a:spcBef>
                          <a:spcPts val="0"/>
                        </a:spcBef>
                        <a:spcAft>
                          <a:spcPts val="0"/>
                        </a:spcAft>
                      </a:pPr>
                      <a:r>
                        <a:rPr sz="1300" b="1" i="0">
                          <a:solidFill>
                            <a:srgbClr val="FFFFFF"/>
                          </a:solidFill>
                          <a:latin typeface="DM Sans"/>
                        </a:rPr>
                        <a:t>Règle appliquée par Workly</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a:lstStyle/>
                    <a:p>
                      <a:pPr algn="l">
                        <a:lnSpc>
                          <a:spcPct val="110000"/>
                        </a:lnSpc>
                        <a:spcBef>
                          <a:spcPts val="0"/>
                        </a:spcBef>
                        <a:spcAft>
                          <a:spcPts val="0"/>
                        </a:spcAft>
                      </a:pPr>
                      <a:r>
                        <a:rPr sz="1300" b="1" i="0">
                          <a:solidFill>
                            <a:srgbClr val="FFFFFF"/>
                          </a:solidFill>
                          <a:latin typeface="DM Sans"/>
                        </a:rPr>
                        <a:t>Gravité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extLst>
                  <a:ext uri="{0D108BD9-81ED-4DB2-BD59-A6C34878D82A}">
                    <a16:rowId xmlns:a16="http://schemas.microsoft.com/office/drawing/2014/main" val="10000"/>
                  </a:ext>
                </a:extLst>
              </a:tr>
              <a:tr h="749808">
                <a:tc>
                  <a:txBody>
                    <a:bodyPr/>
                    <a:lstStyle/>
                    <a:p>
                      <a:pPr algn="l">
                        <a:lnSpc>
                          <a:spcPct val="110000"/>
                        </a:lnSpc>
                        <a:spcBef>
                          <a:spcPts val="0"/>
                        </a:spcBef>
                        <a:spcAft>
                          <a:spcPts val="0"/>
                        </a:spcAft>
                      </a:pPr>
                      <a:r>
                        <a:rPr sz="1300" b="1" i="0">
                          <a:solidFill>
                            <a:srgbClr val="6B3FA0"/>
                          </a:solidFill>
                          <a:latin typeface="DM Sans"/>
                        </a:rPr>
                        <a:t>succes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a:lstStyle/>
                    <a:p>
                      <a:pPr algn="l">
                        <a:lnSpc>
                          <a:spcPct val="110000"/>
                        </a:lnSpc>
                        <a:spcBef>
                          <a:spcPts val="0"/>
                        </a:spcBef>
                        <a:spcAft>
                          <a:spcPts val="0"/>
                        </a:spcAft>
                      </a:pPr>
                      <a:r>
                        <a:rPr sz="1300" b="0" i="0">
                          <a:solidFill>
                            <a:srgbClr val="2B3350"/>
                          </a:solidFill>
                          <a:latin typeface="DM Sans"/>
                        </a:rPr>
                        <a:t>Aucun échec depuis 24 h et les huit étapes de la nuit réussies depuis 30 h</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a:lstStyle/>
                    <a:p>
                      <a:pPr algn="l">
                        <a:lnSpc>
                          <a:spcPct val="110000"/>
                        </a:lnSpc>
                        <a:spcBef>
                          <a:spcPts val="0"/>
                        </a:spcBef>
                        <a:spcAft>
                          <a:spcPts val="0"/>
                        </a:spcAft>
                      </a:pPr>
                      <a:r>
                        <a:rPr sz="1300" b="0" i="0">
                          <a:solidFill>
                            <a:srgbClr val="2B3350"/>
                          </a:solidFill>
                          <a:latin typeface="DM Sans"/>
                        </a:rPr>
                        <a:t>ok</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extLst>
                  <a:ext uri="{0D108BD9-81ED-4DB2-BD59-A6C34878D82A}">
                    <a16:rowId xmlns:a16="http://schemas.microsoft.com/office/drawing/2014/main" val="10001"/>
                  </a:ext>
                </a:extLst>
              </a:tr>
              <a:tr h="749808">
                <a:tc>
                  <a:txBody>
                    <a:bodyPr/>
                    <a:lstStyle/>
                    <a:p>
                      <a:pPr algn="l">
                        <a:lnSpc>
                          <a:spcPct val="110000"/>
                        </a:lnSpc>
                        <a:spcBef>
                          <a:spcPts val="0"/>
                        </a:spcBef>
                        <a:spcAft>
                          <a:spcPts val="0"/>
                        </a:spcAft>
                      </a:pPr>
                      <a:r>
                        <a:rPr sz="1300" b="1" i="0">
                          <a:solidFill>
                            <a:srgbClr val="6B3FA0"/>
                          </a:solidFill>
                          <a:latin typeface="DM Sans"/>
                        </a:rPr>
                        <a:t>incomplet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a:lstStyle/>
                    <a:p>
                      <a:pPr algn="l">
                        <a:lnSpc>
                          <a:spcPct val="110000"/>
                        </a:lnSpc>
                        <a:spcBef>
                          <a:spcPts val="0"/>
                        </a:spcBef>
                        <a:spcAft>
                          <a:spcPts val="0"/>
                        </a:spcAft>
                      </a:pPr>
                      <a:r>
                        <a:rPr sz="1300" b="0" i="0">
                          <a:solidFill>
                            <a:srgbClr val="2B3350"/>
                          </a:solidFill>
                          <a:latin typeface="DM Sans"/>
                        </a:rPr>
                        <a:t>Une étape de la nuit sans succès depuis 30 h (PC éteint, planificateur arrêté)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a:lstStyle/>
                    <a:p>
                      <a:pPr algn="l">
                        <a:lnSpc>
                          <a:spcPct val="110000"/>
                        </a:lnSpc>
                        <a:spcBef>
                          <a:spcPts val="0"/>
                        </a:spcBef>
                        <a:spcAft>
                          <a:spcPts val="0"/>
                        </a:spcAft>
                      </a:pPr>
                      <a:r>
                        <a:rPr sz="1300" b="0" i="0">
                          <a:solidFill>
                            <a:srgbClr val="2B3350"/>
                          </a:solidFill>
                          <a:latin typeface="DM Sans"/>
                        </a:rPr>
                        <a:t>attention</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extLst>
                  <a:ext uri="{0D108BD9-81ED-4DB2-BD59-A6C34878D82A}">
                    <a16:rowId xmlns:a16="http://schemas.microsoft.com/office/drawing/2014/main" val="10002"/>
                  </a:ext>
                </a:extLst>
              </a:tr>
              <a:tr h="749808">
                <a:tc>
                  <a:txBody>
                    <a:bodyPr/>
                    <a:lstStyle/>
                    <a:p>
                      <a:pPr algn="l">
                        <a:lnSpc>
                          <a:spcPct val="110000"/>
                        </a:lnSpc>
                        <a:spcBef>
                          <a:spcPts val="0"/>
                        </a:spcBef>
                        <a:spcAft>
                          <a:spcPts val="0"/>
                        </a:spcAft>
                      </a:pPr>
                      <a:r>
                        <a:rPr sz="1300" b="1" i="0">
                          <a:solidFill>
                            <a:srgbClr val="6B3FA0"/>
                          </a:solidFill>
                          <a:latin typeface="DM Sans"/>
                        </a:rPr>
                        <a:t>echec</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a:lstStyle/>
                    <a:p>
                      <a:pPr algn="l">
                        <a:lnSpc>
                          <a:spcPct val="110000"/>
                        </a:lnSpc>
                        <a:spcBef>
                          <a:spcPts val="0"/>
                        </a:spcBef>
                        <a:spcAft>
                          <a:spcPts val="0"/>
                        </a:spcAft>
                      </a:pPr>
                      <a:r>
                        <a:rPr sz="1300" b="0" i="0">
                          <a:solidFill>
                            <a:srgbClr val="2B3350"/>
                          </a:solidFill>
                          <a:latin typeface="DM Sans"/>
                        </a:rPr>
                        <a:t>Une tâche a échoué depuis moins de 24 h</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a:lstStyle/>
                    <a:p>
                      <a:pPr algn="l">
                        <a:lnSpc>
                          <a:spcPct val="110000"/>
                        </a:lnSpc>
                        <a:spcBef>
                          <a:spcPts val="0"/>
                        </a:spcBef>
                        <a:spcAft>
                          <a:spcPts val="0"/>
                        </a:spcAft>
                      </a:pPr>
                      <a:r>
                        <a:rPr sz="1300" b="0" i="0">
                          <a:solidFill>
                            <a:srgbClr val="2B3350"/>
                          </a:solidFill>
                          <a:latin typeface="DM Sans"/>
                        </a:rPr>
                        <a:t>critique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16" name="Rounded Rectangle 115"/>
          <p:cNvSpPr/>
          <p:nvPr/>
        </p:nvSpPr>
        <p:spPr>
          <a:xfrm>
            <a:off x="7424928" y="1773936"/>
            <a:ext cx="4069080" cy="4407408"/>
          </a:xfrm>
          <a:prstGeom prst="roundRect">
            <a:avLst>
              <a:gd name="adj" fmla="val 3746"/>
            </a:avLst>
          </a:prstGeom>
          <a:solidFill>
            <a:srgbClr val="FFFFFF"/>
          </a:solidFill>
          <a:ln>
            <a:noFill/>
          </a:ln>
        </p:spPr>
        <p:txBody>
          <a:bodyPr rtlCol="0" anchor="ctr"/>
          <a:lstStyle/>
          <a:p>
            <a:pPr algn="ctr"/>
            <a:endParaRPr/>
          </a:p>
        </p:txBody>
      </p:sp>
      <p:sp>
        <p:nvSpPr>
          <p:cNvPr id="117" name="Rectangle 116"/>
          <p:cNvSpPr/>
          <p:nvPr/>
        </p:nvSpPr>
        <p:spPr>
          <a:xfrm>
            <a:off x="7424928" y="1773936"/>
            <a:ext cx="4069080" cy="4407408"/>
          </a:xfrm>
          <a:custGeom>
            <a:avLst/>
            <a:gdLst/>
            <a:ahLst/>
            <a:cxnLst/>
            <a:rect l="l" t="t" r="r" b="b"/>
            <a:pathLst>
              <a:path w="4069080" h="4407408" extrusionOk="0">
                <a:moveTo>
                  <a:pt x="0" y="152400"/>
                </a:moveTo>
                <a:cubicBezTo>
                  <a:pt x="0" y="68229"/>
                  <a:pt x="68229" y="0"/>
                  <a:pt x="152400" y="0"/>
                </a:cubicBezTo>
                <a:lnTo>
                  <a:pt x="3916680" y="0"/>
                </a:lnTo>
                <a:cubicBezTo>
                  <a:pt x="4000850" y="0"/>
                  <a:pt x="4069080" y="68229"/>
                  <a:pt x="4069080" y="152400"/>
                </a:cubicBezTo>
                <a:cubicBezTo>
                  <a:pt x="4069080" y="103311"/>
                  <a:pt x="4000851" y="63500"/>
                  <a:pt x="39166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118" name="TextBox 117"/>
          <p:cNvSpPr txBox="1"/>
          <p:nvPr/>
        </p:nvSpPr>
        <p:spPr>
          <a:xfrm>
            <a:off x="7680960" y="2011680"/>
            <a:ext cx="35661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Nuit du 6 au 7 octobre</a:t>
            </a:r>
          </a:p>
        </p:txBody>
      </p:sp>
      <p:sp>
        <p:nvSpPr>
          <p:cNvPr id="119" name="TextBox 118"/>
          <p:cNvSpPr txBox="1"/>
          <p:nvPr/>
        </p:nvSpPr>
        <p:spPr>
          <a:xfrm>
            <a:off x="7680960" y="2359152"/>
            <a:ext cx="3566160" cy="274320"/>
          </a:xfrm>
          <a:prstGeom prst="rect">
            <a:avLst/>
          </a:prstGeom>
          <a:noFill/>
        </p:spPr>
        <p:txBody>
          <a:bodyPr wrap="square" lIns="0" tIns="0" rIns="0" bIns="0" anchor="t">
            <a:noAutofit/>
          </a:bodyPr>
          <a:lstStyle/>
          <a:p>
            <a:pPr algn="l">
              <a:lnSpc>
                <a:spcPct val="115000"/>
              </a:lnSpc>
              <a:spcBef>
                <a:spcPts val="0"/>
              </a:spcBef>
              <a:spcAft>
                <a:spcPts val="0"/>
              </a:spcAft>
            </a:pPr>
            <a:r>
              <a:rPr sz="1250" b="0" i="0">
                <a:solidFill>
                  <a:srgbClr val="6B7390"/>
                </a:solidFill>
                <a:latin typeface="DM Sans"/>
              </a:rPr>
              <a:t>Mesures lues dans le journal</a:t>
            </a:r>
          </a:p>
        </p:txBody>
      </p:sp>
      <p:sp>
        <p:nvSpPr>
          <p:cNvPr id="120" name="Rounded Rectangle 119"/>
          <p:cNvSpPr/>
          <p:nvPr/>
        </p:nvSpPr>
        <p:spPr>
          <a:xfrm>
            <a:off x="7589520" y="2743200"/>
            <a:ext cx="3739896" cy="420624"/>
          </a:xfrm>
          <a:prstGeom prst="roundRect">
            <a:avLst>
              <a:gd name="adj" fmla="val 17391"/>
            </a:avLst>
          </a:prstGeom>
          <a:solidFill>
            <a:srgbClr val="F4F6FB"/>
          </a:solidFill>
          <a:ln>
            <a:noFill/>
          </a:ln>
        </p:spPr>
        <p:txBody>
          <a:bodyPr rtlCol="0" anchor="ctr"/>
          <a:lstStyle/>
          <a:p>
            <a:pPr algn="ctr"/>
            <a:endParaRPr/>
          </a:p>
        </p:txBody>
      </p:sp>
      <p:sp>
        <p:nvSpPr>
          <p:cNvPr id="121" name="TextBox 120"/>
          <p:cNvSpPr txBox="1"/>
          <p:nvPr/>
        </p:nvSpPr>
        <p:spPr>
          <a:xfrm>
            <a:off x="7699248" y="27432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Étapes réussies</a:t>
            </a:r>
          </a:p>
        </p:txBody>
      </p:sp>
      <p:sp>
        <p:nvSpPr>
          <p:cNvPr id="122" name="TextBox 121"/>
          <p:cNvSpPr txBox="1"/>
          <p:nvPr/>
        </p:nvSpPr>
        <p:spPr>
          <a:xfrm>
            <a:off x="9881921" y="27432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8 sur 8</a:t>
            </a:r>
          </a:p>
        </p:txBody>
      </p:sp>
      <p:sp>
        <p:nvSpPr>
          <p:cNvPr id="123" name="TextBox 122"/>
          <p:cNvSpPr txBox="1"/>
          <p:nvPr/>
        </p:nvSpPr>
        <p:spPr>
          <a:xfrm>
            <a:off x="7699248" y="32004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Durée totale</a:t>
            </a:r>
          </a:p>
        </p:txBody>
      </p:sp>
      <p:sp>
        <p:nvSpPr>
          <p:cNvPr id="124" name="TextBox 123"/>
          <p:cNvSpPr txBox="1"/>
          <p:nvPr/>
        </p:nvSpPr>
        <p:spPr>
          <a:xfrm>
            <a:off x="9881921" y="32004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2,1 s</a:t>
            </a:r>
          </a:p>
        </p:txBody>
      </p:sp>
      <p:sp>
        <p:nvSpPr>
          <p:cNvPr id="125" name="Rounded Rectangle 124"/>
          <p:cNvSpPr/>
          <p:nvPr/>
        </p:nvSpPr>
        <p:spPr>
          <a:xfrm>
            <a:off x="7589520" y="3657600"/>
            <a:ext cx="3739896" cy="420624"/>
          </a:xfrm>
          <a:prstGeom prst="roundRect">
            <a:avLst>
              <a:gd name="adj" fmla="val 17391"/>
            </a:avLst>
          </a:prstGeom>
          <a:solidFill>
            <a:srgbClr val="F4F6FB"/>
          </a:solidFill>
          <a:ln>
            <a:noFill/>
          </a:ln>
        </p:spPr>
        <p:txBody>
          <a:bodyPr rtlCol="0" anchor="ctr"/>
          <a:lstStyle/>
          <a:p>
            <a:pPr algn="ctr"/>
            <a:endParaRPr/>
          </a:p>
        </p:txBody>
      </p:sp>
      <p:sp>
        <p:nvSpPr>
          <p:cNvPr id="126" name="TextBox 125"/>
          <p:cNvSpPr txBox="1"/>
          <p:nvPr/>
        </p:nvSpPr>
        <p:spPr>
          <a:xfrm>
            <a:off x="7699248" y="36576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Sauvegarde</a:t>
            </a:r>
          </a:p>
        </p:txBody>
      </p:sp>
      <p:sp>
        <p:nvSpPr>
          <p:cNvPr id="127" name="TextBox 126"/>
          <p:cNvSpPr txBox="1"/>
          <p:nvPr/>
        </p:nvSpPr>
        <p:spPr>
          <a:xfrm>
            <a:off x="9881921" y="36576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224 Ko</a:t>
            </a:r>
          </a:p>
        </p:txBody>
      </p:sp>
      <p:sp>
        <p:nvSpPr>
          <p:cNvPr id="128" name="TextBox 127"/>
          <p:cNvSpPr txBox="1"/>
          <p:nvPr/>
        </p:nvSpPr>
        <p:spPr>
          <a:xfrm>
            <a:off x="7699248" y="41148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Prévisions rapprochées</a:t>
            </a:r>
          </a:p>
        </p:txBody>
      </p:sp>
      <p:sp>
        <p:nvSpPr>
          <p:cNvPr id="129" name="TextBox 128"/>
          <p:cNvSpPr txBox="1"/>
          <p:nvPr/>
        </p:nvSpPr>
        <p:spPr>
          <a:xfrm>
            <a:off x="9881921" y="41148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60</a:t>
            </a:r>
          </a:p>
        </p:txBody>
      </p:sp>
      <p:sp>
        <p:nvSpPr>
          <p:cNvPr id="130" name="Rounded Rectangle 129"/>
          <p:cNvSpPr/>
          <p:nvPr/>
        </p:nvSpPr>
        <p:spPr>
          <a:xfrm>
            <a:off x="7589520" y="4572000"/>
            <a:ext cx="3739896" cy="420624"/>
          </a:xfrm>
          <a:prstGeom prst="roundRect">
            <a:avLst>
              <a:gd name="adj" fmla="val 17391"/>
            </a:avLst>
          </a:prstGeom>
          <a:solidFill>
            <a:srgbClr val="F4F6FB"/>
          </a:solidFill>
          <a:ln>
            <a:noFill/>
          </a:ln>
        </p:spPr>
        <p:txBody>
          <a:bodyPr rtlCol="0" anchor="ctr"/>
          <a:lstStyle/>
          <a:p>
            <a:pPr algn="ctr"/>
            <a:endParaRPr/>
          </a:p>
        </p:txBody>
      </p:sp>
      <p:sp>
        <p:nvSpPr>
          <p:cNvPr id="131" name="TextBox 130"/>
          <p:cNvSpPr txBox="1"/>
          <p:nvPr/>
        </p:nvSpPr>
        <p:spPr>
          <a:xfrm>
            <a:off x="7699248" y="45720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Valeurs de KPI</a:t>
            </a:r>
          </a:p>
        </p:txBody>
      </p:sp>
      <p:sp>
        <p:nvSpPr>
          <p:cNvPr id="132" name="TextBox 131"/>
          <p:cNvSpPr txBox="1"/>
          <p:nvPr/>
        </p:nvSpPr>
        <p:spPr>
          <a:xfrm>
            <a:off x="9881921" y="45720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34</a:t>
            </a:r>
          </a:p>
        </p:txBody>
      </p:sp>
      <p:sp>
        <p:nvSpPr>
          <p:cNvPr id="133" name="TextBox 132"/>
          <p:cNvSpPr txBox="1"/>
          <p:nvPr/>
        </p:nvSpPr>
        <p:spPr>
          <a:xfrm>
            <a:off x="7699248" y="50292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Alertes de capacité</a:t>
            </a:r>
          </a:p>
        </p:txBody>
      </p:sp>
      <p:sp>
        <p:nvSpPr>
          <p:cNvPr id="134" name="TextBox 133"/>
          <p:cNvSpPr txBox="1"/>
          <p:nvPr/>
        </p:nvSpPr>
        <p:spPr>
          <a:xfrm>
            <a:off x="9881921" y="50292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20</a:t>
            </a:r>
          </a:p>
        </p:txBody>
      </p:sp>
      <p:sp>
        <p:nvSpPr>
          <p:cNvPr id="135" name="Rounded Rectangle 134"/>
          <p:cNvSpPr/>
          <p:nvPr/>
        </p:nvSpPr>
        <p:spPr>
          <a:xfrm>
            <a:off x="7589520" y="5486400"/>
            <a:ext cx="3739896" cy="420624"/>
          </a:xfrm>
          <a:prstGeom prst="roundRect">
            <a:avLst>
              <a:gd name="adj" fmla="val 17391"/>
            </a:avLst>
          </a:prstGeom>
          <a:solidFill>
            <a:srgbClr val="F4F6FB"/>
          </a:solidFill>
          <a:ln>
            <a:noFill/>
          </a:ln>
        </p:spPr>
        <p:txBody>
          <a:bodyPr rtlCol="0" anchor="ctr"/>
          <a:lstStyle/>
          <a:p>
            <a:pPr algn="ctr"/>
            <a:endParaRPr/>
          </a:p>
        </p:txBody>
      </p:sp>
      <p:sp>
        <p:nvSpPr>
          <p:cNvPr id="136" name="TextBox 135"/>
          <p:cNvSpPr txBox="1"/>
          <p:nvPr/>
        </p:nvSpPr>
        <p:spPr>
          <a:xfrm>
            <a:off x="7699248" y="54864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Lignes de prévision</a:t>
            </a:r>
          </a:p>
        </p:txBody>
      </p:sp>
      <p:sp>
        <p:nvSpPr>
          <p:cNvPr id="137" name="TextBox 136"/>
          <p:cNvSpPr txBox="1"/>
          <p:nvPr/>
        </p:nvSpPr>
        <p:spPr>
          <a:xfrm>
            <a:off x="9881921" y="54864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144</a:t>
            </a:r>
          </a:p>
        </p:txBody>
      </p:sp>
      <p:sp>
        <p:nvSpPr>
          <p:cNvPr id="138" name="TextBox 13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bilan réel de Workly, nuit du 6 au 7 octobre 2026 (journal des tâches).</a:t>
            </a:r>
          </a:p>
        </p:txBody>
      </p:sp>
      <p:sp>
        <p:nvSpPr>
          <p:cNvPr id="139" name="Rounded Rectangle 138"/>
          <p:cNvSpPr/>
          <p:nvPr/>
        </p:nvSpPr>
        <p:spPr>
          <a:xfrm>
            <a:off x="694944" y="4663440"/>
            <a:ext cx="6492240" cy="1508760"/>
          </a:xfrm>
          <a:prstGeom prst="roundRect">
            <a:avLst>
              <a:gd name="adj" fmla="val 7272"/>
            </a:avLst>
          </a:prstGeom>
          <a:solidFill>
            <a:srgbClr val="1B2A4A"/>
          </a:solidFill>
          <a:ln>
            <a:noFill/>
          </a:ln>
        </p:spPr>
        <p:txBody>
          <a:bodyPr rtlCol="0" anchor="ctr"/>
          <a:lstStyle/>
          <a:p>
            <a:pPr algn="ctr"/>
          </a:p>
        </p:txBody>
      </p:sp>
      <p:sp>
        <p:nvSpPr>
          <p:cNvPr id="140" name="TextBox 139"/>
          <p:cNvSpPr txBox="1"/>
          <p:nvPr/>
        </p:nvSpPr>
        <p:spPr>
          <a:xfrm>
            <a:off x="960120" y="4800600"/>
            <a:ext cx="5943600" cy="237744"/>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EN CONDITIONS RÉELLES</a:t>
            </a:r>
          </a:p>
        </p:txBody>
      </p:sp>
      <p:sp>
        <p:nvSpPr>
          <p:cNvPr id="141" name="TextBox 140"/>
          <p:cNvSpPr txBox="1"/>
          <p:nvPr/>
        </p:nvSpPr>
        <p:spPr>
          <a:xfrm>
            <a:off x="960120" y="5102352"/>
            <a:ext cx="5989320" cy="1005840"/>
          </a:xfrm>
          <a:prstGeom prst="rect">
            <a:avLst/>
          </a:prstGeom>
          <a:noFill/>
        </p:spPr>
        <p:txBody>
          <a:bodyPr wrap="square" lIns="0" tIns="0" rIns="0" bIns="0" anchor="t">
            <a:noAutofit/>
          </a:bodyPr>
          <a:lstStyle/>
          <a:p>
            <a:pPr algn="l">
              <a:lnSpc>
                <a:spcPct val="112000"/>
              </a:lnSpc>
              <a:spcBef>
                <a:spcPts val="0"/>
              </a:spcBef>
              <a:spcAft>
                <a:spcPts val="400"/>
              </a:spcAft>
            </a:pPr>
            <a:r>
              <a:rPr sz="1250" b="0" i="0">
                <a:solidFill>
                  <a:srgbClr val="E4E9F5"/>
                </a:solidFill>
                <a:latin typeface="DM Sans"/>
              </a:rPr>
              <a:t>Quand le PC est resté éteint, le bilan a signalé « incomplet » (dernières exécutions le 9 octobre) ; la chaîne a été relancée et le bilan est revenu à la normale.</a:t>
            </a:r>
          </a:p>
          <a:p>
            <a:pPr algn="l">
              <a:lnSpc>
                <a:spcPct val="112000"/>
              </a:lnSpc>
              <a:spcBef>
                <a:spcPts val="0"/>
              </a:spcBef>
              <a:spcAft>
                <a:spcPts val="400"/>
              </a:spcAft>
            </a:pPr>
            <a:r>
              <a:rPr sz="1250" b="0" i="0">
                <a:solidFill>
                  <a:srgbClr val="E4E9F5"/>
                </a:solidFill>
                <a:latin typeface="DM Sans"/>
              </a:rPr>
              <a:t>En cas de panne, il joint aussi les passages utiles de la base de connaissances.</a:t>
            </a:r>
          </a:p>
        </p:txBody>
      </p:sp>
      <p:sp>
        <p:nvSpPr>
          <p:cNvPr id="142" name="Rectangle 141"/>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43" name="Rectangle 142"/>
          <p:cNvSpPr/>
          <p:nvPr/>
        </p:nvSpPr>
        <p:spPr>
          <a:xfrm>
            <a:off x="155448" y="6803136"/>
            <a:ext cx="8552070" cy="54864"/>
          </a:xfrm>
          <a:prstGeom prst="rect">
            <a:avLst/>
          </a:prstGeom>
          <a:solidFill>
            <a:srgbClr val="6B3FA0"/>
          </a:solidFill>
          <a:ln>
            <a:noFill/>
          </a:ln>
        </p:spPr>
        <p:txBody>
          <a:bodyPr rtlCol="0" anchor="ctr"/>
          <a:lstStyle/>
          <a:p>
            <a:pPr algn="ct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flux Agentic AI lit le bilan, le fait analyser puis rédiger, et l’envoie sur Slack</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28</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Oval 112"/>
          <p:cNvSpPr/>
          <p:nvPr/>
        </p:nvSpPr>
        <p:spPr>
          <a:xfrm>
            <a:off x="694944" y="1874520"/>
            <a:ext cx="365760" cy="365760"/>
          </a:xfrm>
          <a:prstGeom prst="ellipse">
            <a:avLst/>
          </a:prstGeom>
          <a:solidFill>
            <a:srgbClr val="4A9BE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1</a:t>
            </a:r>
          </a:p>
        </p:txBody>
      </p:sp>
      <p:sp>
        <p:nvSpPr>
          <p:cNvPr id="114" name="TextBox 113"/>
          <p:cNvSpPr txBox="1"/>
          <p:nvPr/>
        </p:nvSpPr>
        <p:spPr>
          <a:xfrm>
            <a:off x="1197864" y="177393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API Request — lit le bilan de Workly et, en cas de panne, les passages utiles du RAG</a:t>
            </a:r>
          </a:p>
        </p:txBody>
      </p:sp>
      <p:sp>
        <p:nvSpPr>
          <p:cNvPr id="115" name="Oval 114"/>
          <p:cNvSpPr/>
          <p:nvPr/>
        </p:nvSpPr>
        <p:spPr>
          <a:xfrm>
            <a:off x="694944" y="2743200"/>
            <a:ext cx="365760" cy="365760"/>
          </a:xfrm>
          <a:prstGeom prst="ellipse">
            <a:avLst/>
          </a:prstGeom>
          <a:solidFill>
            <a:srgbClr val="4A9BE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2</a:t>
            </a:r>
          </a:p>
        </p:txBody>
      </p:sp>
      <p:sp>
        <p:nvSpPr>
          <p:cNvPr id="116" name="TextBox 115"/>
          <p:cNvSpPr txBox="1"/>
          <p:nvPr/>
        </p:nvSpPr>
        <p:spPr>
          <a:xfrm>
            <a:off x="1197864" y="264261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Parser et Prompt Template — mettent le bilan en forme et le glissent dans la consigne</a:t>
            </a:r>
          </a:p>
        </p:txBody>
      </p:sp>
      <p:sp>
        <p:nvSpPr>
          <p:cNvPr id="117" name="Oval 116"/>
          <p:cNvSpPr/>
          <p:nvPr/>
        </p:nvSpPr>
        <p:spPr>
          <a:xfrm>
            <a:off x="694944" y="3611880"/>
            <a:ext cx="365760" cy="365760"/>
          </a:xfrm>
          <a:prstGeom prst="ellipse">
            <a:avLst/>
          </a:prstGeom>
          <a:solidFill>
            <a:srgbClr val="B39DDB"/>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3</a:t>
            </a:r>
          </a:p>
        </p:txBody>
      </p:sp>
      <p:sp>
        <p:nvSpPr>
          <p:cNvPr id="118" name="TextBox 117"/>
          <p:cNvSpPr txBox="1"/>
          <p:nvPr/>
        </p:nvSpPr>
        <p:spPr>
          <a:xfrm>
            <a:off x="1197864" y="351129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Agent Analyste — évalue la gravité, la cause probable et l’action, et cite sa source</a:t>
            </a:r>
          </a:p>
        </p:txBody>
      </p:sp>
      <p:sp>
        <p:nvSpPr>
          <p:cNvPr id="119" name="Oval 118"/>
          <p:cNvSpPr/>
          <p:nvPr/>
        </p:nvSpPr>
        <p:spPr>
          <a:xfrm>
            <a:off x="694944" y="4480560"/>
            <a:ext cx="365760" cy="365760"/>
          </a:xfrm>
          <a:prstGeom prst="ellipse">
            <a:avLst/>
          </a:prstGeom>
          <a:solidFill>
            <a:srgbClr val="7ACFC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4</a:t>
            </a:r>
          </a:p>
        </p:txBody>
      </p:sp>
      <p:sp>
        <p:nvSpPr>
          <p:cNvPr id="120" name="TextBox 119"/>
          <p:cNvSpPr txBox="1"/>
          <p:nvPr/>
        </p:nvSpPr>
        <p:spPr>
          <a:xfrm>
            <a:off x="1197864" y="437997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Agent Rédacteur — écrit le message du matin, 120 mots au maximum</a:t>
            </a:r>
          </a:p>
        </p:txBody>
      </p:sp>
      <p:sp>
        <p:nvSpPr>
          <p:cNvPr id="121" name="Oval 120"/>
          <p:cNvSpPr/>
          <p:nvPr/>
        </p:nvSpPr>
        <p:spPr>
          <a:xfrm>
            <a:off x="694944" y="5349240"/>
            <a:ext cx="365760" cy="365760"/>
          </a:xfrm>
          <a:prstGeom prst="ellipse">
            <a:avLst/>
          </a:prstGeom>
          <a:solidFill>
            <a:srgbClr val="7ACFC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5</a:t>
            </a:r>
          </a:p>
        </p:txBody>
      </p:sp>
      <p:sp>
        <p:nvSpPr>
          <p:cNvPr id="122" name="TextBox 121"/>
          <p:cNvSpPr txBox="1"/>
          <p:nvPr/>
        </p:nvSpPr>
        <p:spPr>
          <a:xfrm>
            <a:off x="1197864" y="524865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dirty="0">
                <a:solidFill>
                  <a:srgbClr val="1B2A4A"/>
                </a:solidFill>
                <a:latin typeface="Sora"/>
              </a:rPr>
              <a:t>Dynamic Create Data et API Request — envoient le message sur Slack</a:t>
            </a:r>
          </a:p>
        </p:txBody>
      </p:sp>
      <p:sp>
        <p:nvSpPr>
          <p:cNvPr id="128" name="TextBox 127"/>
          <p:cNvSpPr txBox="1"/>
          <p:nvPr/>
        </p:nvSpPr>
        <p:spPr>
          <a:xfrm>
            <a:off x="694944" y="6344920"/>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5. Flux Agentic AI du livrable 3. Source : plateforme Fusion AI Automation, module Agentic AI.</a:t>
            </a:r>
          </a:p>
        </p:txBody>
      </p:sp>
      <p:pic>
        <p:nvPicPr>
          <p:cNvPr id="2" name="Image 1"/>
          <p:cNvPicPr>
            <a:picLocks noChangeAspect="1"/>
          </p:cNvPicPr>
          <p:nvPr/>
        </p:nvPicPr>
        <p:blipFill>
          <a:blip r:embed="rId3"/>
          <a:stretch>
            <a:fillRect/>
          </a:stretch>
        </p:blipFill>
        <p:spPr>
          <a:xfrm>
            <a:off x="6227064" y="1639824"/>
            <a:ext cx="5898314" cy="4613515"/>
          </a:xfrm>
          <a:prstGeom prst="rect">
            <a:avLst/>
          </a:prstGeom>
        </p:spPr>
      </p:pic>
      <p:sp>
        <p:nvSpPr>
          <p:cNvPr id="129" name="Rectangle 128"/>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0" name="Rectangle 129"/>
          <p:cNvSpPr/>
          <p:nvPr/>
        </p:nvSpPr>
        <p:spPr>
          <a:xfrm>
            <a:off x="155448" y="6803136"/>
            <a:ext cx="8868814" cy="54864"/>
          </a:xfrm>
          <a:prstGeom prst="rect">
            <a:avLst/>
          </a:prstGeom>
          <a:solidFill>
            <a:srgbClr val="6B3FA0"/>
          </a:solidFill>
          <a:ln>
            <a:noFill/>
          </a:ln>
        </p:spPr>
        <p:txBody>
          <a:bodyPr rtlCol="0" anchor="ctr"/>
          <a:lstStyle/>
          <a:p>
            <a:pPr algn="ct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1987653"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Deux agents aux rôles séparés : l’un analyse la panne, l’autre rédige le message</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29</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73936"/>
            <a:ext cx="5120640" cy="2240280"/>
          </a:xfrm>
          <a:prstGeom prst="roundRect">
            <a:avLst>
              <a:gd name="adj" fmla="val 6804"/>
            </a:avLst>
          </a:prstGeom>
          <a:solidFill>
            <a:srgbClr val="24375F"/>
          </a:solidFill>
          <a:ln>
            <a:noFill/>
          </a:ln>
        </p:spPr>
        <p:txBody>
          <a:bodyPr rtlCol="0" anchor="ctr"/>
          <a:lstStyle/>
          <a:p>
            <a:pPr algn="ctr"/>
            <a:endParaRPr/>
          </a:p>
        </p:txBody>
      </p:sp>
      <p:sp>
        <p:nvSpPr>
          <p:cNvPr id="253" name="Rectangle 252"/>
          <p:cNvSpPr/>
          <p:nvPr/>
        </p:nvSpPr>
        <p:spPr>
          <a:xfrm>
            <a:off x="694944" y="1773936"/>
            <a:ext cx="5120640" cy="2240280"/>
          </a:xfrm>
          <a:custGeom>
            <a:avLst/>
            <a:gdLst/>
            <a:ahLst/>
            <a:cxnLst/>
            <a:rect l="l" t="t" r="r" b="b"/>
            <a:pathLst>
              <a:path w="5120640" h="2240280" extrusionOk="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254" name="TextBox 253"/>
          <p:cNvSpPr txBox="1"/>
          <p:nvPr/>
        </p:nvSpPr>
        <p:spPr>
          <a:xfrm>
            <a:off x="932688" y="1993392"/>
            <a:ext cx="4663440" cy="274320"/>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Agent 1 · Analyste</a:t>
            </a:r>
          </a:p>
        </p:txBody>
      </p:sp>
      <p:sp>
        <p:nvSpPr>
          <p:cNvPr id="255" name="TextBox 254"/>
          <p:cNvSpPr txBox="1"/>
          <p:nvPr/>
        </p:nvSpPr>
        <p:spPr>
          <a:xfrm>
            <a:off x="932688" y="2432304"/>
            <a:ext cx="4663440" cy="1463040"/>
          </a:xfrm>
          <a:prstGeom prst="rect">
            <a:avLst/>
          </a:prstGeom>
          <a:noFill/>
        </p:spPr>
        <p:txBody>
          <a:bodyPr wrap="square" lIns="0" tIns="0" rIns="0" bIns="0" anchor="t">
            <a:noAutofit/>
          </a:bodyPr>
          <a:lstStyle/>
          <a:p>
            <a:pPr algn="l">
              <a:lnSpc>
                <a:spcPct val="115000"/>
              </a:lnSpc>
              <a:spcBef>
                <a:spcPts val="0"/>
              </a:spcBef>
              <a:spcAft>
                <a:spcPts val="400"/>
              </a:spcAft>
            </a:pPr>
            <a:r>
              <a:rPr sz="1300" b="0" i="0">
                <a:solidFill>
                  <a:srgbClr val="C9D1E8"/>
                </a:solidFill>
                <a:latin typeface="DM Sans"/>
              </a:rPr>
              <a:t>Entrée : le bilan de Workly et les passages de la base de connaissances</a:t>
            </a:r>
          </a:p>
          <a:p>
            <a:pPr algn="l">
              <a:lnSpc>
                <a:spcPct val="115000"/>
              </a:lnSpc>
              <a:spcBef>
                <a:spcPts val="0"/>
              </a:spcBef>
              <a:spcAft>
                <a:spcPts val="400"/>
              </a:spcAft>
            </a:pPr>
            <a:r>
              <a:rPr sz="1300" b="0" i="0">
                <a:solidFill>
                  <a:srgbClr val="C9D1E8"/>
                </a:solidFill>
                <a:latin typeface="DM Sans"/>
              </a:rPr>
              <a:t>Règle : ne s’appuie que sur ces données, n’invente rien</a:t>
            </a:r>
          </a:p>
          <a:p>
            <a:pPr algn="l">
              <a:lnSpc>
                <a:spcPct val="115000"/>
              </a:lnSpc>
              <a:spcBef>
                <a:spcPts val="0"/>
              </a:spcBef>
              <a:spcAft>
                <a:spcPts val="400"/>
              </a:spcAft>
            </a:pPr>
            <a:r>
              <a:rPr sz="1300" b="0" i="0">
                <a:solidFill>
                  <a:srgbClr val="C9D1E8"/>
                </a:solidFill>
                <a:latin typeface="DM Sans"/>
              </a:rPr>
              <a:t>Sortie : gravité (ok, attention, critique), causes probables et actions, avec la source</a:t>
            </a:r>
          </a:p>
        </p:txBody>
      </p:sp>
      <p:sp>
        <p:nvSpPr>
          <p:cNvPr id="256" name="Rounded Rectangle 255"/>
          <p:cNvSpPr/>
          <p:nvPr/>
        </p:nvSpPr>
        <p:spPr>
          <a:xfrm>
            <a:off x="6373368" y="1773936"/>
            <a:ext cx="5120640" cy="2240280"/>
          </a:xfrm>
          <a:prstGeom prst="roundRect">
            <a:avLst>
              <a:gd name="adj" fmla="val 6804"/>
            </a:avLst>
          </a:prstGeom>
          <a:solidFill>
            <a:srgbClr val="24375F"/>
          </a:solidFill>
          <a:ln>
            <a:noFill/>
          </a:ln>
        </p:spPr>
        <p:txBody>
          <a:bodyPr rtlCol="0" anchor="ctr"/>
          <a:lstStyle/>
          <a:p>
            <a:pPr algn="ctr"/>
            <a:endParaRPr/>
          </a:p>
        </p:txBody>
      </p:sp>
      <p:sp>
        <p:nvSpPr>
          <p:cNvPr id="257" name="Rectangle 256"/>
          <p:cNvSpPr/>
          <p:nvPr/>
        </p:nvSpPr>
        <p:spPr>
          <a:xfrm>
            <a:off x="6373368" y="1773936"/>
            <a:ext cx="5120640" cy="2240280"/>
          </a:xfrm>
          <a:custGeom>
            <a:avLst/>
            <a:gdLst/>
            <a:ahLst/>
            <a:cxnLst/>
            <a:rect l="l" t="t" r="r" b="b"/>
            <a:pathLst>
              <a:path w="5120640" h="2240280" extrusionOk="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258" name="TextBox 257"/>
          <p:cNvSpPr txBox="1"/>
          <p:nvPr/>
        </p:nvSpPr>
        <p:spPr>
          <a:xfrm>
            <a:off x="6611112" y="1993392"/>
            <a:ext cx="4663440" cy="274320"/>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Agent 2 · Rédacteur</a:t>
            </a:r>
          </a:p>
        </p:txBody>
      </p:sp>
      <p:sp>
        <p:nvSpPr>
          <p:cNvPr id="259" name="TextBox 258"/>
          <p:cNvSpPr txBox="1"/>
          <p:nvPr/>
        </p:nvSpPr>
        <p:spPr>
          <a:xfrm>
            <a:off x="6611112" y="2432304"/>
            <a:ext cx="4663440" cy="1463040"/>
          </a:xfrm>
          <a:prstGeom prst="rect">
            <a:avLst/>
          </a:prstGeom>
          <a:noFill/>
        </p:spPr>
        <p:txBody>
          <a:bodyPr wrap="square" lIns="0" tIns="0" rIns="0" bIns="0" anchor="t">
            <a:noAutofit/>
          </a:bodyPr>
          <a:lstStyle/>
          <a:p>
            <a:pPr algn="l">
              <a:lnSpc>
                <a:spcPct val="115000"/>
              </a:lnSpc>
              <a:spcBef>
                <a:spcPts val="0"/>
              </a:spcBef>
              <a:spcAft>
                <a:spcPts val="400"/>
              </a:spcAft>
            </a:pPr>
            <a:r>
              <a:rPr sz="1300" b="0" i="0">
                <a:solidFill>
                  <a:srgbClr val="C9D1E8"/>
                </a:solidFill>
                <a:latin typeface="DM Sans"/>
              </a:rPr>
              <a:t>Entrée : l’analyse de l’Analyste</a:t>
            </a:r>
          </a:p>
          <a:p>
            <a:pPr algn="l">
              <a:lnSpc>
                <a:spcPct val="115000"/>
              </a:lnSpc>
              <a:spcBef>
                <a:spcPts val="0"/>
              </a:spcBef>
              <a:spcAft>
                <a:spcPts val="400"/>
              </a:spcAft>
            </a:pPr>
            <a:r>
              <a:rPr sz="1300" b="0" i="0">
                <a:solidFill>
                  <a:srgbClr val="C9D1E8"/>
                </a:solidFill>
                <a:latin typeface="DM Sans"/>
              </a:rPr>
              <a:t>Consigne : français, ton factuel, 120 mots au maximum</a:t>
            </a:r>
          </a:p>
          <a:p>
            <a:pPr algn="l">
              <a:lnSpc>
                <a:spcPct val="115000"/>
              </a:lnSpc>
              <a:spcBef>
                <a:spcPts val="0"/>
              </a:spcBef>
              <a:spcAft>
                <a:spcPts val="400"/>
              </a:spcAft>
            </a:pPr>
            <a:r>
              <a:rPr sz="1300" b="0" i="0">
                <a:solidFill>
                  <a:srgbClr val="C9D1E8"/>
                </a:solidFill>
                <a:latin typeface="DM Sans"/>
              </a:rPr>
              <a:t>Interdit : adresse, jeton, détail technique interne</a:t>
            </a:r>
          </a:p>
          <a:p>
            <a:pPr algn="l">
              <a:lnSpc>
                <a:spcPct val="115000"/>
              </a:lnSpc>
              <a:spcBef>
                <a:spcPts val="0"/>
              </a:spcBef>
              <a:spcAft>
                <a:spcPts val="400"/>
              </a:spcAft>
            </a:pPr>
            <a:r>
              <a:rPr sz="1300" b="0" i="0">
                <a:solidFill>
                  <a:srgbClr val="C9D1E8"/>
                </a:solidFill>
                <a:latin typeface="DM Sans"/>
              </a:rPr>
              <a:t>Sortie : un objet et un corps de message</a:t>
            </a:r>
          </a:p>
        </p:txBody>
      </p:sp>
      <p:cxnSp>
        <p:nvCxnSpPr>
          <p:cNvPr id="260" name="Connector 259"/>
          <p:cNvCxnSpPr/>
          <p:nvPr/>
        </p:nvCxnSpPr>
        <p:spPr>
          <a:xfrm>
            <a:off x="5852160" y="2889504"/>
            <a:ext cx="493776" cy="0"/>
          </a:xfrm>
          <a:prstGeom prst="line">
            <a:avLst/>
          </a:prstGeom>
          <a:ln w="28575">
            <a:solidFill>
              <a:srgbClr val="7ACFC0"/>
            </a:solidFill>
            <a:tailEnd type="triangle" w="med" len="med"/>
          </a:ln>
        </p:spPr>
      </p:cxnSp>
      <p:sp>
        <p:nvSpPr>
          <p:cNvPr id="261" name="Rounded Rectangle 260"/>
          <p:cNvSpPr/>
          <p:nvPr/>
        </p:nvSpPr>
        <p:spPr>
          <a:xfrm>
            <a:off x="694944" y="4224528"/>
            <a:ext cx="5120640" cy="1783080"/>
          </a:xfrm>
          <a:prstGeom prst="roundRect">
            <a:avLst>
              <a:gd name="adj" fmla="val 6153"/>
            </a:avLst>
          </a:prstGeom>
          <a:solidFill>
            <a:srgbClr val="142040"/>
          </a:solidFill>
          <a:ln>
            <a:noFill/>
          </a:ln>
        </p:spPr>
        <p:txBody>
          <a:bodyPr rtlCol="0" anchor="ctr"/>
          <a:lstStyle/>
          <a:p>
            <a:pPr algn="ctr"/>
            <a:endParaRPr/>
          </a:p>
        </p:txBody>
      </p:sp>
      <p:sp>
        <p:nvSpPr>
          <p:cNvPr id="262" name="TextBox 261"/>
          <p:cNvSpPr txBox="1"/>
          <p:nvPr/>
        </p:nvSpPr>
        <p:spPr>
          <a:xfrm>
            <a:off x="914400" y="4352544"/>
            <a:ext cx="47548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EXEMPLE : NUIT NON EXÉCUTÉE (ANALYSTE)</a:t>
            </a:r>
          </a:p>
        </p:txBody>
      </p:sp>
      <p:sp>
        <p:nvSpPr>
          <p:cNvPr id="263" name="TextBox 262"/>
          <p:cNvSpPr txBox="1"/>
          <p:nvPr/>
        </p:nvSpPr>
        <p:spPr>
          <a:xfrm>
            <a:off x="914400" y="4663440"/>
            <a:ext cx="4709160" cy="12801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E4E9F5"/>
                </a:solidFill>
                <a:latin typeface="DM Sans"/>
              </a:rPr>
              <a:t>Gravité : attention</a:t>
            </a:r>
          </a:p>
          <a:p>
            <a:pPr algn="l">
              <a:lnSpc>
                <a:spcPct val="105000"/>
              </a:lnSpc>
              <a:spcBef>
                <a:spcPts val="0"/>
              </a:spcBef>
              <a:spcAft>
                <a:spcPts val="0"/>
              </a:spcAft>
            </a:pPr>
            <a:r>
              <a:rPr sz="1250" b="0" i="0">
                <a:solidFill>
                  <a:srgbClr val="E4E9F5"/>
                </a:solidFill>
                <a:latin typeface="DM Sans"/>
              </a:rPr>
              <a:t>Cause probable : PC éteint ou planificateur arrêté</a:t>
            </a:r>
          </a:p>
          <a:p>
            <a:pPr algn="l">
              <a:lnSpc>
                <a:spcPct val="105000"/>
              </a:lnSpc>
              <a:spcBef>
                <a:spcPts val="0"/>
              </a:spcBef>
              <a:spcAft>
                <a:spcPts val="0"/>
              </a:spcAft>
            </a:pPr>
            <a:r>
              <a:rPr sz="1250" b="0" i="0">
                <a:solidFill>
                  <a:srgbClr val="E4E9F5"/>
                </a:solidFill>
                <a:latin typeface="DM Sans"/>
              </a:rPr>
              <a:t>Action : relancer le planificateur, puis la chaîne manquante</a:t>
            </a:r>
          </a:p>
          <a:p>
            <a:pPr algn="l">
              <a:lnSpc>
                <a:spcPct val="105000"/>
              </a:lnSpc>
              <a:spcBef>
                <a:spcPts val="0"/>
              </a:spcBef>
              <a:spcAft>
                <a:spcPts val="0"/>
              </a:spcAft>
            </a:pPr>
            <a:r>
              <a:rPr sz="1250" b="0" i="0">
                <a:solidFill>
                  <a:srgbClr val="E4E9F5"/>
                </a:solidFill>
                <a:latin typeface="DM Sans"/>
              </a:rPr>
              <a:t>Source : « Statut incomplet »</a:t>
            </a:r>
          </a:p>
        </p:txBody>
      </p:sp>
      <p:sp>
        <p:nvSpPr>
          <p:cNvPr id="264" name="Rounded Rectangle 263"/>
          <p:cNvSpPr/>
          <p:nvPr/>
        </p:nvSpPr>
        <p:spPr>
          <a:xfrm>
            <a:off x="6373368" y="4224528"/>
            <a:ext cx="5120640" cy="1783080"/>
          </a:xfrm>
          <a:prstGeom prst="roundRect">
            <a:avLst>
              <a:gd name="adj" fmla="val 6153"/>
            </a:avLst>
          </a:prstGeom>
          <a:solidFill>
            <a:srgbClr val="142040"/>
          </a:solidFill>
          <a:ln>
            <a:noFill/>
          </a:ln>
        </p:spPr>
        <p:txBody>
          <a:bodyPr rtlCol="0" anchor="ctr"/>
          <a:lstStyle/>
          <a:p>
            <a:pPr algn="ctr"/>
            <a:endParaRPr/>
          </a:p>
        </p:txBody>
      </p:sp>
      <p:sp>
        <p:nvSpPr>
          <p:cNvPr id="265" name="TextBox 264"/>
          <p:cNvSpPr txBox="1"/>
          <p:nvPr/>
        </p:nvSpPr>
        <p:spPr>
          <a:xfrm>
            <a:off x="6592824" y="4352544"/>
            <a:ext cx="47548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EXEMPLE : MESSAGE DU RÉDACTEUR</a:t>
            </a:r>
          </a:p>
        </p:txBody>
      </p:sp>
      <p:sp>
        <p:nvSpPr>
          <p:cNvPr id="266" name="TextBox 265"/>
          <p:cNvSpPr txBox="1"/>
          <p:nvPr/>
        </p:nvSpPr>
        <p:spPr>
          <a:xfrm>
            <a:off x="6592824" y="4663440"/>
            <a:ext cx="4709160" cy="1280160"/>
          </a:xfrm>
          <a:prstGeom prst="rect">
            <a:avLst/>
          </a:prstGeom>
          <a:noFill/>
        </p:spPr>
        <p:txBody>
          <a:bodyPr wrap="square" lIns="0" tIns="0" rIns="0" bIns="0" anchor="t">
            <a:noAutofit/>
          </a:bodyPr>
          <a:lstStyle/>
          <a:p>
            <a:pPr algn="l">
              <a:lnSpc>
                <a:spcPct val="112000"/>
              </a:lnSpc>
              <a:spcBef>
                <a:spcPts val="0"/>
              </a:spcBef>
              <a:spcAft>
                <a:spcPts val="400"/>
              </a:spcAft>
            </a:pPr>
            <a:r>
              <a:rPr sz="1250" b="1" i="0">
                <a:solidFill>
                  <a:srgbClr val="FFFFFF"/>
                </a:solidFill>
                <a:latin typeface="DM Sans"/>
              </a:rPr>
              <a:t>Objet : Point exploitation – Attention : chaîne nocturne non exécutée</a:t>
            </a:r>
          </a:p>
          <a:p>
            <a:pPr algn="l">
              <a:lnSpc>
                <a:spcPct val="112000"/>
              </a:lnSpc>
              <a:spcBef>
                <a:spcPts val="0"/>
              </a:spcBef>
              <a:spcAft>
                <a:spcPts val="400"/>
              </a:spcAft>
            </a:pPr>
            <a:r>
              <a:rPr sz="1250" b="0" i="0">
                <a:solidFill>
                  <a:srgbClr val="E4E9F5"/>
                </a:solidFill>
                <a:latin typeface="DM Sans"/>
              </a:rPr>
              <a:t>Le PC était éteint ou en veille à 00:30 UTC, ou le planificateur était arrêté. Action : relancer le planificateur, puis exécuter la chaîne manquante.</a:t>
            </a:r>
          </a:p>
        </p:txBody>
      </p:sp>
      <p:sp>
        <p:nvSpPr>
          <p:cNvPr id="267" name="TextBox 266"/>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exécutions réelles du flux Agentic AI, modèle Gemini flash-lite pour les deux agents.</a:t>
            </a:r>
          </a:p>
        </p:txBody>
      </p:sp>
      <p:sp>
        <p:nvSpPr>
          <p:cNvPr id="268" name="Rectangle 267"/>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269" name="Rectangle 268"/>
          <p:cNvSpPr/>
          <p:nvPr/>
        </p:nvSpPr>
        <p:spPr>
          <a:xfrm>
            <a:off x="155448" y="6803136"/>
            <a:ext cx="9185557" cy="54864"/>
          </a:xfrm>
          <a:prstGeom prst="rect">
            <a:avLst/>
          </a:prstGeom>
          <a:solidFill>
            <a:srgbClr val="7ACFC0"/>
          </a:solidFill>
          <a:ln>
            <a:noFill/>
          </a:ln>
        </p:spPr>
        <p:txBody>
          <a:bodyPr rtlCol="0" anchor="ctr"/>
          <a:lstStyle/>
          <a:p>
            <a:pPr algn="ct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dirty="0">
                <a:solidFill>
                  <a:srgbClr val="1B2A4A"/>
                </a:solidFill>
                <a:latin typeface="Sora"/>
                <a:ea typeface="Sora"/>
                <a:cs typeface="Sora"/>
                <a:sym typeface="Sora"/>
              </a:rPr>
              <a:t>Un Cron Fusion déclenche le flux chaque matin à 06:00 par un simple nœud HTTP</a:t>
            </a:r>
            <a:endParaRPr sz="2100" dirty="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33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4" name="Rounded Rectangle 113"/>
          <p:cNvSpPr/>
          <p:nvPr/>
        </p:nvSpPr>
        <p:spPr>
          <a:xfrm>
            <a:off x="7269480" y="1773936"/>
            <a:ext cx="4224528" cy="3246120"/>
          </a:xfrm>
          <a:prstGeom prst="roundRect">
            <a:avLst>
              <a:gd name="adj" fmla="val 4695"/>
            </a:avLst>
          </a:prstGeom>
          <a:solidFill>
            <a:srgbClr val="FFFFFF"/>
          </a:solidFill>
          <a:ln>
            <a:noFill/>
          </a:ln>
        </p:spPr>
        <p:txBody>
          <a:bodyPr rtlCol="0" anchor="ctr"/>
          <a:lstStyle/>
          <a:p>
            <a:pPr algn="ctr"/>
            <a:endParaRPr/>
          </a:p>
        </p:txBody>
      </p:sp>
      <p:sp>
        <p:nvSpPr>
          <p:cNvPr id="115" name="Rectangle 114"/>
          <p:cNvSpPr/>
          <p:nvPr/>
        </p:nvSpPr>
        <p:spPr>
          <a:xfrm>
            <a:off x="7269480" y="1773936"/>
            <a:ext cx="4224528" cy="3246120"/>
          </a:xfrm>
          <a:custGeom>
            <a:avLst/>
            <a:gdLst/>
            <a:ahLst/>
            <a:cxnLst/>
            <a:rect l="l" t="t" r="r" b="b"/>
            <a:pathLst>
              <a:path w="4224528" h="3246120" extrusionOk="0">
                <a:moveTo>
                  <a:pt x="0" y="152400"/>
                </a:moveTo>
                <a:cubicBezTo>
                  <a:pt x="0" y="68229"/>
                  <a:pt x="68229" y="0"/>
                  <a:pt x="152400" y="0"/>
                </a:cubicBezTo>
                <a:lnTo>
                  <a:pt x="4072128" y="0"/>
                </a:lnTo>
                <a:cubicBezTo>
                  <a:pt x="4156298" y="0"/>
                  <a:pt x="4224528" y="68229"/>
                  <a:pt x="4224528" y="152400"/>
                </a:cubicBezTo>
                <a:cubicBezTo>
                  <a:pt x="4224528" y="103311"/>
                  <a:pt x="4156299" y="63500"/>
                  <a:pt x="40721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16" name="TextBox 115"/>
          <p:cNvSpPr txBox="1"/>
          <p:nvPr/>
        </p:nvSpPr>
        <p:spPr>
          <a:xfrm>
            <a:off x="7516368" y="1956816"/>
            <a:ext cx="374904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Réglages du déclencheur</a:t>
            </a:r>
          </a:p>
        </p:txBody>
      </p:sp>
      <p:sp>
        <p:nvSpPr>
          <p:cNvPr id="117" name="Rounded Rectangle 116"/>
          <p:cNvSpPr/>
          <p:nvPr/>
        </p:nvSpPr>
        <p:spPr>
          <a:xfrm>
            <a:off x="7424928" y="2395728"/>
            <a:ext cx="3922776" cy="365760"/>
          </a:xfrm>
          <a:prstGeom prst="roundRect">
            <a:avLst>
              <a:gd name="adj" fmla="val 20000"/>
            </a:avLst>
          </a:prstGeom>
          <a:solidFill>
            <a:srgbClr val="F4F6FB"/>
          </a:solidFill>
          <a:ln>
            <a:noFill/>
          </a:ln>
        </p:spPr>
        <p:txBody>
          <a:bodyPr rtlCol="0" anchor="ctr"/>
          <a:lstStyle/>
          <a:p>
            <a:pPr algn="ctr"/>
            <a:endParaRPr/>
          </a:p>
        </p:txBody>
      </p:sp>
      <p:sp>
        <p:nvSpPr>
          <p:cNvPr id="118" name="TextBox 117"/>
          <p:cNvSpPr txBox="1"/>
          <p:nvPr/>
        </p:nvSpPr>
        <p:spPr>
          <a:xfrm>
            <a:off x="7534656" y="2395728"/>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Heure</a:t>
            </a:r>
          </a:p>
        </p:txBody>
      </p:sp>
      <p:sp>
        <p:nvSpPr>
          <p:cNvPr id="119" name="TextBox 118"/>
          <p:cNvSpPr txBox="1"/>
          <p:nvPr/>
        </p:nvSpPr>
        <p:spPr>
          <a:xfrm>
            <a:off x="9363456" y="2395728"/>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06:00 UTC</a:t>
            </a:r>
          </a:p>
        </p:txBody>
      </p:sp>
      <p:sp>
        <p:nvSpPr>
          <p:cNvPr id="120" name="TextBox 119"/>
          <p:cNvSpPr txBox="1"/>
          <p:nvPr/>
        </p:nvSpPr>
        <p:spPr>
          <a:xfrm>
            <a:off x="7534656" y="2798064"/>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Action</a:t>
            </a:r>
          </a:p>
        </p:txBody>
      </p:sp>
      <p:sp>
        <p:nvSpPr>
          <p:cNvPr id="121" name="TextBox 120"/>
          <p:cNvSpPr txBox="1"/>
          <p:nvPr/>
        </p:nvSpPr>
        <p:spPr>
          <a:xfrm>
            <a:off x="9363456" y="2798064"/>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lance le flux</a:t>
            </a:r>
          </a:p>
        </p:txBody>
      </p:sp>
      <p:sp>
        <p:nvSpPr>
          <p:cNvPr id="122" name="Rounded Rectangle 121"/>
          <p:cNvSpPr/>
          <p:nvPr/>
        </p:nvSpPr>
        <p:spPr>
          <a:xfrm>
            <a:off x="7424928" y="3200400"/>
            <a:ext cx="3922776" cy="365760"/>
          </a:xfrm>
          <a:prstGeom prst="roundRect">
            <a:avLst>
              <a:gd name="adj" fmla="val 20000"/>
            </a:avLst>
          </a:prstGeom>
          <a:solidFill>
            <a:srgbClr val="F4F6FB"/>
          </a:solidFill>
          <a:ln>
            <a:noFill/>
          </a:ln>
        </p:spPr>
        <p:txBody>
          <a:bodyPr rtlCol="0" anchor="ctr"/>
          <a:lstStyle/>
          <a:p>
            <a:pPr algn="ctr"/>
            <a:endParaRPr/>
          </a:p>
        </p:txBody>
      </p:sp>
      <p:sp>
        <p:nvSpPr>
          <p:cNvPr id="123" name="TextBox 122"/>
          <p:cNvSpPr txBox="1"/>
          <p:nvPr/>
        </p:nvSpPr>
        <p:spPr>
          <a:xfrm>
            <a:off x="7534656" y="3200400"/>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Sécurité</a:t>
            </a:r>
          </a:p>
        </p:txBody>
      </p:sp>
      <p:sp>
        <p:nvSpPr>
          <p:cNvPr id="124" name="TextBox 123"/>
          <p:cNvSpPr txBox="1"/>
          <p:nvPr/>
        </p:nvSpPr>
        <p:spPr>
          <a:xfrm>
            <a:off x="9363456" y="3200400"/>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jeton secret</a:t>
            </a:r>
          </a:p>
        </p:txBody>
      </p:sp>
      <p:sp>
        <p:nvSpPr>
          <p:cNvPr id="125" name="TextBox 124"/>
          <p:cNvSpPr txBox="1"/>
          <p:nvPr/>
        </p:nvSpPr>
        <p:spPr>
          <a:xfrm>
            <a:off x="7534656" y="3602736"/>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Données</a:t>
            </a:r>
          </a:p>
        </p:txBody>
      </p:sp>
      <p:sp>
        <p:nvSpPr>
          <p:cNvPr id="126" name="TextBox 125"/>
          <p:cNvSpPr txBox="1"/>
          <p:nvPr/>
        </p:nvSpPr>
        <p:spPr>
          <a:xfrm>
            <a:off x="9363456" y="3602736"/>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aucune transmise</a:t>
            </a:r>
          </a:p>
        </p:txBody>
      </p:sp>
      <p:sp>
        <p:nvSpPr>
          <p:cNvPr id="127" name="Rounded Rectangle 126"/>
          <p:cNvSpPr/>
          <p:nvPr/>
        </p:nvSpPr>
        <p:spPr>
          <a:xfrm>
            <a:off x="7424928" y="4005072"/>
            <a:ext cx="3922776" cy="365760"/>
          </a:xfrm>
          <a:prstGeom prst="roundRect">
            <a:avLst>
              <a:gd name="adj" fmla="val 20000"/>
            </a:avLst>
          </a:prstGeom>
          <a:solidFill>
            <a:srgbClr val="F4F6FB"/>
          </a:solidFill>
          <a:ln>
            <a:noFill/>
          </a:ln>
        </p:spPr>
        <p:txBody>
          <a:bodyPr rtlCol="0" anchor="ctr"/>
          <a:lstStyle/>
          <a:p>
            <a:pPr algn="ctr"/>
            <a:endParaRPr/>
          </a:p>
        </p:txBody>
      </p:sp>
      <p:sp>
        <p:nvSpPr>
          <p:cNvPr id="128" name="TextBox 127"/>
          <p:cNvSpPr txBox="1"/>
          <p:nvPr/>
        </p:nvSpPr>
        <p:spPr>
          <a:xfrm>
            <a:off x="7534656" y="4005072"/>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Délai</a:t>
            </a:r>
          </a:p>
        </p:txBody>
      </p:sp>
      <p:sp>
        <p:nvSpPr>
          <p:cNvPr id="129" name="TextBox 128"/>
          <p:cNvSpPr txBox="1"/>
          <p:nvPr/>
        </p:nvSpPr>
        <p:spPr>
          <a:xfrm>
            <a:off x="9363456" y="4005072"/>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120 secondes</a:t>
            </a:r>
          </a:p>
        </p:txBody>
      </p:sp>
      <p:sp>
        <p:nvSpPr>
          <p:cNvPr id="130" name="TextBox 129"/>
          <p:cNvSpPr txBox="1"/>
          <p:nvPr/>
        </p:nvSpPr>
        <p:spPr>
          <a:xfrm>
            <a:off x="7534656" y="4407408"/>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Sorties</a:t>
            </a:r>
          </a:p>
        </p:txBody>
      </p:sp>
      <p:sp>
        <p:nvSpPr>
          <p:cNvPr id="131" name="TextBox 130"/>
          <p:cNvSpPr txBox="1"/>
          <p:nvPr/>
        </p:nvSpPr>
        <p:spPr>
          <a:xfrm>
            <a:off x="9363456" y="4407408"/>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verte ou rouge</a:t>
            </a:r>
          </a:p>
        </p:txBody>
      </p:sp>
      <p:sp>
        <p:nvSpPr>
          <p:cNvPr id="132" name="Rounded Rectangle 131"/>
          <p:cNvSpPr/>
          <p:nvPr/>
        </p:nvSpPr>
        <p:spPr>
          <a:xfrm>
            <a:off x="694944" y="5230368"/>
            <a:ext cx="10799064" cy="914400"/>
          </a:xfrm>
          <a:prstGeom prst="roundRect">
            <a:avLst>
              <a:gd name="adj" fmla="val 12000"/>
            </a:avLst>
          </a:prstGeom>
          <a:solidFill>
            <a:srgbClr val="E3F0FC"/>
          </a:solidFill>
          <a:ln>
            <a:noFill/>
          </a:ln>
        </p:spPr>
        <p:txBody>
          <a:bodyPr rtlCol="0" anchor="ctr"/>
          <a:lstStyle/>
          <a:p>
            <a:pPr algn="ctr"/>
            <a:endParaRPr/>
          </a:p>
        </p:txBody>
      </p:sp>
      <p:sp>
        <p:nvSpPr>
          <p:cNvPr id="133" name="Rectangle 132"/>
          <p:cNvSpPr/>
          <p:nvPr/>
        </p:nvSpPr>
        <p:spPr>
          <a:xfrm>
            <a:off x="694944" y="5230368"/>
            <a:ext cx="10799064" cy="914400"/>
          </a:xfrm>
          <a:custGeom>
            <a:avLst/>
            <a:gdLst/>
            <a:ahLst/>
            <a:cxnLst/>
            <a:rect l="l" t="t" r="r" b="b"/>
            <a:pathLst>
              <a:path w="10799064" h="914400" extrusionOk="0">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34" name="TextBox 133"/>
          <p:cNvSpPr txBox="1"/>
          <p:nvPr/>
        </p:nvSpPr>
        <p:spPr>
          <a:xfrm>
            <a:off x="987552" y="5230368"/>
            <a:ext cx="10241280" cy="914400"/>
          </a:xfrm>
          <a:prstGeom prst="rect">
            <a:avLst/>
          </a:prstGeom>
          <a:noFill/>
        </p:spPr>
        <p:txBody>
          <a:bodyPr wrap="square" lIns="0" tIns="0" rIns="0" bIns="0" anchor="ctr">
            <a:noAutofit/>
          </a:bodyPr>
          <a:lstStyle/>
          <a:p>
            <a:pPr algn="l">
              <a:lnSpc>
                <a:spcPct val="115000"/>
              </a:lnSpc>
              <a:spcBef>
                <a:spcPts val="0"/>
              </a:spcBef>
              <a:spcAft>
                <a:spcPts val="0"/>
              </a:spcAft>
            </a:pPr>
            <a:r>
              <a:rPr sz="1500" b="1" i="0">
                <a:solidFill>
                  <a:srgbClr val="6B3FA0"/>
                </a:solidFill>
                <a:latin typeface="DM Sans"/>
              </a:rPr>
              <a:t>À retenir : </a:t>
            </a:r>
            <a:r>
              <a:rPr sz="1500" b="0" i="0">
                <a:solidFill>
                  <a:srgbClr val="2B3350"/>
                </a:solidFill>
                <a:latin typeface="DM Sans"/>
              </a:rPr>
              <a:t>le nœud ne transporte aucune donnée. Workly calcule le bilan et retrouve les passages utiles du RAG ; le flux les analyse ; Fusion ne fait que lancer l’exécution à heure fixe.</a:t>
            </a:r>
          </a:p>
        </p:txBody>
      </p:sp>
      <p:sp>
        <p:nvSpPr>
          <p:cNvPr id="135" name="TextBox 134"/>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6. Canevas Fusion du livrable 3. Source : plateforme Fusion AI Automation.</a:t>
            </a:r>
          </a:p>
        </p:txBody>
      </p:sp>
      <p:pic>
        <p:nvPicPr>
          <p:cNvPr id="2" name="Image 1"/>
          <p:cNvPicPr>
            <a:picLocks noChangeAspect="1"/>
          </p:cNvPicPr>
          <p:nvPr/>
        </p:nvPicPr>
        <p:blipFill>
          <a:blip r:embed="rId3"/>
          <a:stretch>
            <a:fillRect/>
          </a:stretch>
        </p:blipFill>
        <p:spPr>
          <a:xfrm>
            <a:off x="656083" y="1773936"/>
            <a:ext cx="5789167" cy="3166855"/>
          </a:xfrm>
          <a:prstGeom prst="rect">
            <a:avLst/>
          </a:prstGeom>
        </p:spPr>
      </p:pic>
      <p:sp>
        <p:nvSpPr>
          <p:cNvPr id="136" name="Rectangle 135"/>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7" name="Rectangle 136"/>
          <p:cNvSpPr/>
          <p:nvPr/>
        </p:nvSpPr>
        <p:spPr>
          <a:xfrm>
            <a:off x="155448" y="6803136"/>
            <a:ext cx="10452530" cy="54864"/>
          </a:xfrm>
          <a:prstGeom prst="rect">
            <a:avLst/>
          </a:prstGeom>
          <a:solidFill>
            <a:srgbClr val="6B3FA0"/>
          </a:solidFill>
          <a:ln>
            <a:noFill/>
          </a:ln>
        </p:spPr>
        <p:txBody>
          <a:bodyPr rtlCol="0" anchor="ctr"/>
          <a:lstStyle/>
          <a:p>
            <a:pPr algn="ct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1987653"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rgbClr val="FFFFFF"/>
              </a:buClr>
              <a:buSzPts val="2100"/>
              <a:buFont typeface="Sora"/>
              <a:buNone/>
            </a:pPr>
            <a:r>
              <a:rPr lang="en-US" b="1" dirty="0">
                <a:solidFill>
                  <a:srgbClr val="FFFFFF"/>
                </a:solidFill>
              </a:rPr>
              <a:t>L</a:t>
            </a:r>
            <a:r>
              <a:rPr lang="en-US" sz="2100" b="1" i="0" dirty="0">
                <a:solidFill>
                  <a:srgbClr val="FFFFFF"/>
                </a:solidFill>
                <a:latin typeface="Sora"/>
                <a:ea typeface="Sora"/>
                <a:cs typeface="Sora"/>
                <a:sym typeface="Sora"/>
              </a:rPr>
              <a:t>e message du matin change </a:t>
            </a:r>
            <a:r>
              <a:rPr lang="en-US" sz="2100" b="1" i="0" dirty="0" err="1">
                <a:solidFill>
                  <a:srgbClr val="FFFFFF"/>
                </a:solidFill>
                <a:latin typeface="Sora"/>
                <a:ea typeface="Sora"/>
                <a:cs typeface="Sora"/>
                <a:sym typeface="Sora"/>
              </a:rPr>
              <a:t>selon</a:t>
            </a:r>
            <a:r>
              <a:rPr lang="en-US" sz="2100" b="1" i="0" dirty="0">
                <a:solidFill>
                  <a:srgbClr val="FFFFFF"/>
                </a:solidFill>
                <a:latin typeface="Sora"/>
                <a:ea typeface="Sora"/>
                <a:cs typeface="Sora"/>
                <a:sym typeface="Sora"/>
              </a:rPr>
              <a:t> </a:t>
            </a:r>
            <a:r>
              <a:rPr lang="en-US" sz="2100" b="1" i="0" dirty="0" err="1">
                <a:solidFill>
                  <a:srgbClr val="FFFFFF"/>
                </a:solidFill>
                <a:latin typeface="Sora"/>
                <a:ea typeface="Sora"/>
                <a:cs typeface="Sora"/>
                <a:sym typeface="Sora"/>
              </a:rPr>
              <a:t>l’état</a:t>
            </a:r>
            <a:r>
              <a:rPr lang="en-US" sz="2100" b="1" i="0" dirty="0">
                <a:solidFill>
                  <a:srgbClr val="FFFFFF"/>
                </a:solidFill>
                <a:latin typeface="Sora"/>
                <a:ea typeface="Sora"/>
                <a:cs typeface="Sora"/>
                <a:sym typeface="Sora"/>
              </a:rPr>
              <a:t> de la nuit</a:t>
            </a:r>
            <a:endParaRPr sz="2100" dirty="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34</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3" name="TextBox 252"/>
          <p:cNvSpPr txBox="1"/>
          <p:nvPr/>
        </p:nvSpPr>
        <p:spPr>
          <a:xfrm>
            <a:off x="694944" y="5724144"/>
            <a:ext cx="5577840" cy="457200"/>
          </a:xfrm>
          <a:prstGeom prst="rect">
            <a:avLst/>
          </a:prstGeom>
          <a:noFill/>
        </p:spPr>
        <p:txBody>
          <a:bodyPr wrap="square" lIns="0" tIns="0" rIns="0" bIns="0" anchor="t">
            <a:noAutofit/>
          </a:bodyPr>
          <a:lstStyle/>
          <a:p>
            <a:pPr algn="l">
              <a:lnSpc>
                <a:spcPct val="112000"/>
              </a:lnSpc>
              <a:spcBef>
                <a:spcPts val="0"/>
              </a:spcBef>
              <a:spcAft>
                <a:spcPts val="0"/>
              </a:spcAft>
            </a:pPr>
            <a:endParaRPr lang="fr-MA" sz="1250" b="0" i="0" dirty="0">
              <a:solidFill>
                <a:srgbClr val="A9B4D0"/>
              </a:solidFill>
              <a:latin typeface="DM Sans"/>
            </a:endParaRPr>
          </a:p>
        </p:txBody>
      </p:sp>
      <p:sp>
        <p:nvSpPr>
          <p:cNvPr id="254" name="Rounded Rectangle 253"/>
          <p:cNvSpPr/>
          <p:nvPr/>
        </p:nvSpPr>
        <p:spPr>
          <a:xfrm>
            <a:off x="6537960" y="1773936"/>
            <a:ext cx="4956048" cy="2194560"/>
          </a:xfrm>
          <a:prstGeom prst="roundRect">
            <a:avLst>
              <a:gd name="adj" fmla="val 6945"/>
            </a:avLst>
          </a:prstGeom>
          <a:solidFill>
            <a:srgbClr val="24375F"/>
          </a:solidFill>
          <a:ln>
            <a:noFill/>
          </a:ln>
        </p:spPr>
        <p:txBody>
          <a:bodyPr rtlCol="0" anchor="ctr"/>
          <a:lstStyle/>
          <a:p>
            <a:pPr algn="ctr"/>
            <a:endParaRPr/>
          </a:p>
        </p:txBody>
      </p:sp>
      <p:sp>
        <p:nvSpPr>
          <p:cNvPr id="255" name="Rectangle 254"/>
          <p:cNvSpPr/>
          <p:nvPr/>
        </p:nvSpPr>
        <p:spPr>
          <a:xfrm>
            <a:off x="6537960" y="1773936"/>
            <a:ext cx="4956048" cy="2194560"/>
          </a:xfrm>
          <a:custGeom>
            <a:avLst/>
            <a:gdLst/>
            <a:ahLst/>
            <a:cxnLst/>
            <a:rect l="l" t="t" r="r" b="b"/>
            <a:pathLst>
              <a:path w="4956048" h="2194560" extrusionOk="0">
                <a:moveTo>
                  <a:pt x="0" y="152400"/>
                </a:moveTo>
                <a:cubicBezTo>
                  <a:pt x="0" y="68229"/>
                  <a:pt x="68229" y="0"/>
                  <a:pt x="152400" y="0"/>
                </a:cubicBezTo>
                <a:lnTo>
                  <a:pt x="4803648" y="0"/>
                </a:lnTo>
                <a:cubicBezTo>
                  <a:pt x="4887818" y="0"/>
                  <a:pt x="4956048" y="68229"/>
                  <a:pt x="4956048" y="152400"/>
                </a:cubicBezTo>
                <a:cubicBezTo>
                  <a:pt x="4956048" y="103311"/>
                  <a:pt x="4887819" y="63500"/>
                  <a:pt x="480364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256" name="Rounded Rectangle 255"/>
          <p:cNvSpPr/>
          <p:nvPr/>
        </p:nvSpPr>
        <p:spPr>
          <a:xfrm>
            <a:off x="6784848" y="1975104"/>
            <a:ext cx="2057400" cy="274320"/>
          </a:xfrm>
          <a:prstGeom prst="roundRect">
            <a:avLst>
              <a:gd name="adj" fmla="val 50000"/>
            </a:avLst>
          </a:prstGeom>
          <a:solidFill>
            <a:srgbClr val="B39DDB"/>
          </a:solidFill>
          <a:ln>
            <a:noFill/>
          </a:ln>
        </p:spPr>
        <p:txBody>
          <a:bodyPr wrap="square" lIns="36576" tIns="0" rIns="36576" bIns="0" rtlCol="0" anchor="ctr">
            <a:noAutofit/>
          </a:bodyPr>
          <a:lstStyle/>
          <a:p>
            <a:pPr algn="ctr">
              <a:lnSpc>
                <a:spcPct val="100000"/>
              </a:lnSpc>
              <a:spcBef>
                <a:spcPts val="0"/>
              </a:spcBef>
              <a:spcAft>
                <a:spcPts val="0"/>
              </a:spcAft>
            </a:pPr>
            <a:r>
              <a:rPr sz="1100" b="1" i="0">
                <a:solidFill>
                  <a:srgbClr val="1B2A4A"/>
                </a:solidFill>
                <a:latin typeface="DM Sans"/>
              </a:rPr>
              <a:t>NUIT INCOMPLÈTE</a:t>
            </a:r>
          </a:p>
        </p:txBody>
      </p:sp>
      <p:sp>
        <p:nvSpPr>
          <p:cNvPr id="257" name="TextBox 256"/>
          <p:cNvSpPr txBox="1"/>
          <p:nvPr/>
        </p:nvSpPr>
        <p:spPr>
          <a:xfrm>
            <a:off x="6784848" y="2395728"/>
            <a:ext cx="4526280" cy="1554480"/>
          </a:xfrm>
          <a:prstGeom prst="rect">
            <a:avLst/>
          </a:prstGeom>
          <a:noFill/>
        </p:spPr>
        <p:txBody>
          <a:bodyPr wrap="square" lIns="0" tIns="0" rIns="0" bIns="0" anchor="t">
            <a:noAutofit/>
          </a:bodyPr>
          <a:lstStyle/>
          <a:p>
            <a:pPr algn="l">
              <a:lnSpc>
                <a:spcPct val="112000"/>
              </a:lnSpc>
              <a:spcBef>
                <a:spcPts val="0"/>
              </a:spcBef>
              <a:spcAft>
                <a:spcPts val="500"/>
              </a:spcAft>
            </a:pPr>
            <a:r>
              <a:rPr sz="1300" b="1" i="0">
                <a:solidFill>
                  <a:srgbClr val="FFFFFF"/>
                </a:solidFill>
                <a:latin typeface="DM Sans"/>
              </a:rPr>
              <a:t>Objet : Point exploitation – Attention : chaîne nocturne non exécutée</a:t>
            </a:r>
          </a:p>
          <a:p>
            <a:pPr algn="l">
              <a:lnSpc>
                <a:spcPct val="112000"/>
              </a:lnSpc>
              <a:spcBef>
                <a:spcPts val="0"/>
              </a:spcBef>
              <a:spcAft>
                <a:spcPts val="500"/>
              </a:spcAft>
            </a:pPr>
            <a:r>
              <a:rPr sz="1300" b="0" i="0">
                <a:solidFill>
                  <a:srgbClr val="C9D1E8"/>
                </a:solidFill>
                <a:latin typeface="DM Sans"/>
              </a:rPr>
              <a:t>Cause probable : le PC était éteint ou en veille, ou le planificateur était arrêté.</a:t>
            </a:r>
          </a:p>
          <a:p>
            <a:pPr algn="l">
              <a:lnSpc>
                <a:spcPct val="112000"/>
              </a:lnSpc>
              <a:spcBef>
                <a:spcPts val="0"/>
              </a:spcBef>
              <a:spcAft>
                <a:spcPts val="500"/>
              </a:spcAft>
            </a:pPr>
            <a:r>
              <a:rPr sz="1300" b="0" i="0">
                <a:solidFill>
                  <a:srgbClr val="C9D1E8"/>
                </a:solidFill>
                <a:latin typeface="DM Sans"/>
              </a:rPr>
              <a:t>Action : relancer le planificateur, puis exécuter la chaîne manquante.</a:t>
            </a:r>
          </a:p>
        </p:txBody>
      </p:sp>
      <p:sp>
        <p:nvSpPr>
          <p:cNvPr id="258" name="Rounded Rectangle 257"/>
          <p:cNvSpPr/>
          <p:nvPr/>
        </p:nvSpPr>
        <p:spPr>
          <a:xfrm>
            <a:off x="6537960" y="4169664"/>
            <a:ext cx="4956048" cy="1691640"/>
          </a:xfrm>
          <a:prstGeom prst="roundRect">
            <a:avLst>
              <a:gd name="adj" fmla="val 9010"/>
            </a:avLst>
          </a:prstGeom>
          <a:solidFill>
            <a:srgbClr val="24375F"/>
          </a:solidFill>
          <a:ln>
            <a:noFill/>
          </a:ln>
        </p:spPr>
        <p:txBody>
          <a:bodyPr rtlCol="0" anchor="ctr"/>
          <a:lstStyle/>
          <a:p>
            <a:pPr algn="ctr"/>
            <a:endParaRPr/>
          </a:p>
        </p:txBody>
      </p:sp>
      <p:sp>
        <p:nvSpPr>
          <p:cNvPr id="259" name="Rectangle 258"/>
          <p:cNvSpPr/>
          <p:nvPr/>
        </p:nvSpPr>
        <p:spPr>
          <a:xfrm>
            <a:off x="6537960" y="4169664"/>
            <a:ext cx="4956048" cy="1691640"/>
          </a:xfrm>
          <a:custGeom>
            <a:avLst/>
            <a:gdLst/>
            <a:ahLst/>
            <a:cxnLst/>
            <a:rect l="l" t="t" r="r" b="b"/>
            <a:pathLst>
              <a:path w="4956048" h="1691640" extrusionOk="0">
                <a:moveTo>
                  <a:pt x="0" y="152400"/>
                </a:moveTo>
                <a:cubicBezTo>
                  <a:pt x="0" y="68229"/>
                  <a:pt x="68229" y="0"/>
                  <a:pt x="152400" y="0"/>
                </a:cubicBezTo>
                <a:lnTo>
                  <a:pt x="4803648" y="0"/>
                </a:lnTo>
                <a:cubicBezTo>
                  <a:pt x="4887818" y="0"/>
                  <a:pt x="4956048" y="68229"/>
                  <a:pt x="4956048" y="152400"/>
                </a:cubicBezTo>
                <a:cubicBezTo>
                  <a:pt x="4956048" y="103311"/>
                  <a:pt x="4887819" y="63500"/>
                  <a:pt x="480364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260" name="Rounded Rectangle 259"/>
          <p:cNvSpPr/>
          <p:nvPr/>
        </p:nvSpPr>
        <p:spPr>
          <a:xfrm>
            <a:off x="6784848" y="4370832"/>
            <a:ext cx="1828800" cy="274320"/>
          </a:xfrm>
          <a:prstGeom prst="roundRect">
            <a:avLst>
              <a:gd name="adj" fmla="val 50000"/>
            </a:avLst>
          </a:prstGeom>
          <a:solidFill>
            <a:srgbClr val="7ACFC0"/>
          </a:solidFill>
          <a:ln>
            <a:noFill/>
          </a:ln>
        </p:spPr>
        <p:txBody>
          <a:bodyPr wrap="square" lIns="36576" tIns="0" rIns="36576" bIns="0" rtlCol="0" anchor="ctr">
            <a:noAutofit/>
          </a:bodyPr>
          <a:lstStyle/>
          <a:p>
            <a:pPr algn="ctr">
              <a:lnSpc>
                <a:spcPct val="100000"/>
              </a:lnSpc>
              <a:spcBef>
                <a:spcPts val="0"/>
              </a:spcBef>
              <a:spcAft>
                <a:spcPts val="0"/>
              </a:spcAft>
            </a:pPr>
            <a:r>
              <a:rPr sz="1100" b="1" i="0">
                <a:solidFill>
                  <a:srgbClr val="1B2A4A"/>
                </a:solidFill>
                <a:latin typeface="DM Sans"/>
              </a:rPr>
              <a:t>NUIT RÉUSSIE</a:t>
            </a:r>
          </a:p>
        </p:txBody>
      </p:sp>
      <p:sp>
        <p:nvSpPr>
          <p:cNvPr id="261" name="TextBox 260"/>
          <p:cNvSpPr txBox="1"/>
          <p:nvPr/>
        </p:nvSpPr>
        <p:spPr>
          <a:xfrm>
            <a:off x="6784848" y="4791456"/>
            <a:ext cx="4526280" cy="1005840"/>
          </a:xfrm>
          <a:prstGeom prst="rect">
            <a:avLst/>
          </a:prstGeom>
          <a:noFill/>
        </p:spPr>
        <p:txBody>
          <a:bodyPr wrap="square" lIns="0" tIns="0" rIns="0" bIns="0" anchor="t">
            <a:noAutofit/>
          </a:bodyPr>
          <a:lstStyle/>
          <a:p>
            <a:pPr algn="l">
              <a:lnSpc>
                <a:spcPct val="112000"/>
              </a:lnSpc>
              <a:spcBef>
                <a:spcPts val="0"/>
              </a:spcBef>
              <a:spcAft>
                <a:spcPts val="500"/>
              </a:spcAft>
            </a:pPr>
            <a:r>
              <a:rPr sz="1300" b="1" i="0">
                <a:solidFill>
                  <a:srgbClr val="FFFFFF"/>
                </a:solidFill>
                <a:latin typeface="DM Sans"/>
              </a:rPr>
              <a:t>Objet : Point exploitation – Bilan stable</a:t>
            </a:r>
          </a:p>
          <a:p>
            <a:pPr algn="l">
              <a:lnSpc>
                <a:spcPct val="112000"/>
              </a:lnSpc>
              <a:spcBef>
                <a:spcPts val="0"/>
              </a:spcBef>
              <a:spcAft>
                <a:spcPts val="500"/>
              </a:spcAft>
            </a:pPr>
            <a:r>
              <a:rPr sz="1300" b="0" i="0">
                <a:solidFill>
                  <a:srgbClr val="C9D1E8"/>
                </a:solidFill>
                <a:latin typeface="DM Sans"/>
              </a:rPr>
              <a:t>Toutes les automatisations se sont déroulées avec succès ; aucune intervention requise.</a:t>
            </a:r>
          </a:p>
        </p:txBody>
      </p:sp>
      <p:sp>
        <p:nvSpPr>
          <p:cNvPr id="262" name="TextBox 261"/>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exécutions réelles du flux Agentic AI déclenché depuis Fusion.</a:t>
            </a:r>
          </a:p>
        </p:txBody>
      </p:sp>
      <p:pic>
        <p:nvPicPr>
          <p:cNvPr id="2" name="Image 1"/>
          <p:cNvPicPr>
            <a:picLocks noChangeAspect="1"/>
          </p:cNvPicPr>
          <p:nvPr/>
        </p:nvPicPr>
        <p:blipFill>
          <a:blip r:embed="rId3"/>
          <a:stretch>
            <a:fillRect/>
          </a:stretch>
        </p:blipFill>
        <p:spPr>
          <a:xfrm>
            <a:off x="694944" y="2206400"/>
            <a:ext cx="5724284" cy="2438752"/>
          </a:xfrm>
          <a:prstGeom prst="rect">
            <a:avLst/>
          </a:prstGeom>
        </p:spPr>
      </p:pic>
      <p:sp>
        <p:nvSpPr>
          <p:cNvPr id="263" name="Rectangle 262"/>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264" name="Rectangle 263"/>
          <p:cNvSpPr/>
          <p:nvPr/>
        </p:nvSpPr>
        <p:spPr>
          <a:xfrm>
            <a:off x="155448" y="6803136"/>
            <a:ext cx="10769274" cy="54864"/>
          </a:xfrm>
          <a:prstGeom prst="rect">
            <a:avLst/>
          </a:prstGeom>
          <a:solidFill>
            <a:srgbClr val="7ACFC0"/>
          </a:solidFill>
          <a:ln>
            <a:noFill/>
          </a:ln>
        </p:spPr>
        <p:txBody>
          <a:bodyPr rtlCol="0" anchor="ctr"/>
          <a:lstStyle/>
          <a:p>
            <a:pPr algn="ct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Workly se connecte à Odoo par son API externe ; l’import des volumes reste à brancher</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35</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5760720" cy="3657600"/>
          </a:xfrm>
          <a:prstGeom prst="roundRect">
            <a:avLst>
              <a:gd name="adj" fmla="val 4167"/>
            </a:avLst>
          </a:prstGeom>
          <a:solidFill>
            <a:srgbClr val="FFFFFF"/>
          </a:solidFill>
          <a:ln>
            <a:noFill/>
          </a:ln>
        </p:spPr>
        <p:txBody>
          <a:bodyPr rtlCol="0" anchor="ctr"/>
          <a:lstStyle/>
          <a:p>
            <a:pPr algn="ctr"/>
            <a:endParaRPr/>
          </a:p>
        </p:txBody>
      </p:sp>
      <p:sp>
        <p:nvSpPr>
          <p:cNvPr id="114" name="Rectangle 113"/>
          <p:cNvSpPr/>
          <p:nvPr/>
        </p:nvSpPr>
        <p:spPr>
          <a:xfrm>
            <a:off x="694944" y="1773936"/>
            <a:ext cx="5760720" cy="3657600"/>
          </a:xfrm>
          <a:custGeom>
            <a:avLst/>
            <a:gdLst/>
            <a:ahLst/>
            <a:cxnLst/>
            <a:rect l="l" t="t" r="r" b="b"/>
            <a:pathLst>
              <a:path w="5760720" h="3657600" extrusionOk="0">
                <a:moveTo>
                  <a:pt x="0" y="152400"/>
                </a:moveTo>
                <a:cubicBezTo>
                  <a:pt x="0" y="68229"/>
                  <a:pt x="68229" y="0"/>
                  <a:pt x="152400" y="0"/>
                </a:cubicBezTo>
                <a:lnTo>
                  <a:pt x="5608320" y="0"/>
                </a:lnTo>
                <a:cubicBezTo>
                  <a:pt x="5692490" y="0"/>
                  <a:pt x="5760720" y="68229"/>
                  <a:pt x="5760720" y="152400"/>
                </a:cubicBezTo>
                <a:cubicBezTo>
                  <a:pt x="5760720" y="103311"/>
                  <a:pt x="5692491" y="63500"/>
                  <a:pt x="560832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endParaRPr/>
          </a:p>
        </p:txBody>
      </p:sp>
      <p:sp>
        <p:nvSpPr>
          <p:cNvPr id="115" name="TextBox 114"/>
          <p:cNvSpPr txBox="1"/>
          <p:nvPr/>
        </p:nvSpPr>
        <p:spPr>
          <a:xfrm>
            <a:off x="950976" y="2011680"/>
            <a:ext cx="52120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Connexion testée</a:t>
            </a:r>
          </a:p>
        </p:txBody>
      </p:sp>
      <p:sp>
        <p:nvSpPr>
          <p:cNvPr id="116" name="Rounded Rectangle 115"/>
          <p:cNvSpPr/>
          <p:nvPr/>
        </p:nvSpPr>
        <p:spPr>
          <a:xfrm>
            <a:off x="859536" y="2542032"/>
            <a:ext cx="5431536" cy="420624"/>
          </a:xfrm>
          <a:prstGeom prst="roundRect">
            <a:avLst>
              <a:gd name="adj" fmla="val 17391"/>
            </a:avLst>
          </a:prstGeom>
          <a:solidFill>
            <a:srgbClr val="F4F6FB"/>
          </a:solidFill>
          <a:ln>
            <a:noFill/>
          </a:ln>
        </p:spPr>
        <p:txBody>
          <a:bodyPr rtlCol="0" anchor="ctr"/>
          <a:lstStyle/>
          <a:p>
            <a:pPr algn="ctr"/>
            <a:endParaRPr/>
          </a:p>
        </p:txBody>
      </p:sp>
      <p:sp>
        <p:nvSpPr>
          <p:cNvPr id="117" name="TextBox 116"/>
          <p:cNvSpPr txBox="1"/>
          <p:nvPr/>
        </p:nvSpPr>
        <p:spPr>
          <a:xfrm>
            <a:off x="969264" y="25420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Odoo</a:t>
            </a:r>
          </a:p>
        </p:txBody>
      </p:sp>
      <p:sp>
        <p:nvSpPr>
          <p:cNvPr id="118" name="TextBox 117"/>
          <p:cNvSpPr txBox="1"/>
          <p:nvPr/>
        </p:nvSpPr>
        <p:spPr>
          <a:xfrm>
            <a:off x="3438144" y="25420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version 20.0+e</a:t>
            </a:r>
          </a:p>
        </p:txBody>
      </p:sp>
      <p:sp>
        <p:nvSpPr>
          <p:cNvPr id="119" name="TextBox 118"/>
          <p:cNvSpPr txBox="1"/>
          <p:nvPr/>
        </p:nvSpPr>
        <p:spPr>
          <a:xfrm>
            <a:off x="969264" y="29992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Base</a:t>
            </a:r>
          </a:p>
        </p:txBody>
      </p:sp>
      <p:sp>
        <p:nvSpPr>
          <p:cNvPr id="120" name="TextBox 119"/>
          <p:cNvSpPr txBox="1"/>
          <p:nvPr/>
        </p:nvSpPr>
        <p:spPr>
          <a:xfrm>
            <a:off x="3438144" y="29992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workly1</a:t>
            </a:r>
          </a:p>
        </p:txBody>
      </p:sp>
      <p:sp>
        <p:nvSpPr>
          <p:cNvPr id="121" name="Rounded Rectangle 120"/>
          <p:cNvSpPr/>
          <p:nvPr/>
        </p:nvSpPr>
        <p:spPr>
          <a:xfrm>
            <a:off x="859536" y="3456432"/>
            <a:ext cx="5431536" cy="420624"/>
          </a:xfrm>
          <a:prstGeom prst="roundRect">
            <a:avLst>
              <a:gd name="adj" fmla="val 17391"/>
            </a:avLst>
          </a:prstGeom>
          <a:solidFill>
            <a:srgbClr val="F4F6FB"/>
          </a:solidFill>
          <a:ln>
            <a:noFill/>
          </a:ln>
        </p:spPr>
        <p:txBody>
          <a:bodyPr rtlCol="0" anchor="ctr"/>
          <a:lstStyle/>
          <a:p>
            <a:pPr algn="ctr"/>
            <a:endParaRPr/>
          </a:p>
        </p:txBody>
      </p:sp>
      <p:sp>
        <p:nvSpPr>
          <p:cNvPr id="122" name="TextBox 121"/>
          <p:cNvSpPr txBox="1"/>
          <p:nvPr/>
        </p:nvSpPr>
        <p:spPr>
          <a:xfrm>
            <a:off x="969264" y="34564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Interface</a:t>
            </a:r>
          </a:p>
        </p:txBody>
      </p:sp>
      <p:sp>
        <p:nvSpPr>
          <p:cNvPr id="123" name="TextBox 122"/>
          <p:cNvSpPr txBox="1"/>
          <p:nvPr/>
        </p:nvSpPr>
        <p:spPr>
          <a:xfrm>
            <a:off x="3438144" y="34564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API externe</a:t>
            </a:r>
          </a:p>
        </p:txBody>
      </p:sp>
      <p:sp>
        <p:nvSpPr>
          <p:cNvPr id="124" name="TextBox 123"/>
          <p:cNvSpPr txBox="1"/>
          <p:nvPr/>
        </p:nvSpPr>
        <p:spPr>
          <a:xfrm>
            <a:off x="969264" y="39136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Authentification</a:t>
            </a:r>
          </a:p>
        </p:txBody>
      </p:sp>
      <p:sp>
        <p:nvSpPr>
          <p:cNvPr id="125" name="TextBox 124"/>
          <p:cNvSpPr txBox="1"/>
          <p:nvPr/>
        </p:nvSpPr>
        <p:spPr>
          <a:xfrm>
            <a:off x="3438144" y="39136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clé API sécurisée</a:t>
            </a:r>
          </a:p>
        </p:txBody>
      </p:sp>
      <p:sp>
        <p:nvSpPr>
          <p:cNvPr id="126" name="Rounded Rectangle 125"/>
          <p:cNvSpPr/>
          <p:nvPr/>
        </p:nvSpPr>
        <p:spPr>
          <a:xfrm>
            <a:off x="859536" y="4370832"/>
            <a:ext cx="5431536" cy="420624"/>
          </a:xfrm>
          <a:prstGeom prst="roundRect">
            <a:avLst>
              <a:gd name="adj" fmla="val 17391"/>
            </a:avLst>
          </a:prstGeom>
          <a:solidFill>
            <a:srgbClr val="F4F6FB"/>
          </a:solidFill>
          <a:ln>
            <a:noFill/>
          </a:ln>
        </p:spPr>
        <p:txBody>
          <a:bodyPr rtlCol="0" anchor="ctr"/>
          <a:lstStyle/>
          <a:p>
            <a:pPr algn="ctr"/>
            <a:endParaRPr/>
          </a:p>
        </p:txBody>
      </p:sp>
      <p:sp>
        <p:nvSpPr>
          <p:cNvPr id="127" name="TextBox 126"/>
          <p:cNvSpPr txBox="1"/>
          <p:nvPr/>
        </p:nvSpPr>
        <p:spPr>
          <a:xfrm>
            <a:off x="969264" y="43708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Test de connexion</a:t>
            </a:r>
          </a:p>
        </p:txBody>
      </p:sp>
      <p:sp>
        <p:nvSpPr>
          <p:cNvPr id="128" name="TextBox 127"/>
          <p:cNvSpPr txBox="1"/>
          <p:nvPr/>
        </p:nvSpPr>
        <p:spPr>
          <a:xfrm>
            <a:off x="3438144" y="43708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réussi</a:t>
            </a:r>
          </a:p>
        </p:txBody>
      </p:sp>
      <p:sp>
        <p:nvSpPr>
          <p:cNvPr id="129" name="TextBox 128"/>
          <p:cNvSpPr txBox="1"/>
          <p:nvPr/>
        </p:nvSpPr>
        <p:spPr>
          <a:xfrm>
            <a:off x="969264" y="48280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Commandes de vente</a:t>
            </a:r>
          </a:p>
        </p:txBody>
      </p:sp>
      <p:sp>
        <p:nvSpPr>
          <p:cNvPr id="130" name="TextBox 129"/>
          <p:cNvSpPr txBox="1"/>
          <p:nvPr/>
        </p:nvSpPr>
        <p:spPr>
          <a:xfrm>
            <a:off x="3438144" y="48280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0 (base vide)</a:t>
            </a:r>
          </a:p>
        </p:txBody>
      </p:sp>
      <p:sp>
        <p:nvSpPr>
          <p:cNvPr id="131" name="Rounded Rectangle 130"/>
          <p:cNvSpPr/>
          <p:nvPr/>
        </p:nvSpPr>
        <p:spPr>
          <a:xfrm>
            <a:off x="6702552" y="1773936"/>
            <a:ext cx="4791456" cy="3657600"/>
          </a:xfrm>
          <a:prstGeom prst="roundRect">
            <a:avLst>
              <a:gd name="adj" fmla="val 4167"/>
            </a:avLst>
          </a:prstGeom>
          <a:solidFill>
            <a:srgbClr val="FFFFFF"/>
          </a:solidFill>
          <a:ln>
            <a:noFill/>
          </a:ln>
        </p:spPr>
        <p:txBody>
          <a:bodyPr rtlCol="0" anchor="ctr"/>
          <a:lstStyle/>
          <a:p>
            <a:pPr algn="ctr"/>
            <a:endParaRPr/>
          </a:p>
        </p:txBody>
      </p:sp>
      <p:sp>
        <p:nvSpPr>
          <p:cNvPr id="132" name="Rectangle 131"/>
          <p:cNvSpPr/>
          <p:nvPr/>
        </p:nvSpPr>
        <p:spPr>
          <a:xfrm>
            <a:off x="6702552" y="1773936"/>
            <a:ext cx="4791456" cy="3657600"/>
          </a:xfrm>
          <a:custGeom>
            <a:avLst/>
            <a:gdLst/>
            <a:ahLst/>
            <a:cxnLst/>
            <a:rect l="l" t="t" r="r" b="b"/>
            <a:pathLst>
              <a:path w="4791456" h="3657600" extrusionOk="0">
                <a:moveTo>
                  <a:pt x="0" y="152400"/>
                </a:moveTo>
                <a:cubicBezTo>
                  <a:pt x="0" y="68229"/>
                  <a:pt x="68229" y="0"/>
                  <a:pt x="152400" y="0"/>
                </a:cubicBezTo>
                <a:lnTo>
                  <a:pt x="4639056" y="0"/>
                </a:lnTo>
                <a:cubicBezTo>
                  <a:pt x="4723226" y="0"/>
                  <a:pt x="4791456" y="68229"/>
                  <a:pt x="4791456" y="152400"/>
                </a:cubicBezTo>
                <a:cubicBezTo>
                  <a:pt x="4791456" y="103311"/>
                  <a:pt x="4723227" y="63500"/>
                  <a:pt x="4639056"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33" name="Rounded Rectangle 132"/>
          <p:cNvSpPr/>
          <p:nvPr/>
        </p:nvSpPr>
        <p:spPr>
          <a:xfrm>
            <a:off x="6949440" y="2011680"/>
            <a:ext cx="1143000" cy="274320"/>
          </a:xfrm>
          <a:prstGeom prst="roundRect">
            <a:avLst>
              <a:gd name="adj" fmla="val 50000"/>
            </a:avLst>
          </a:prstGeom>
          <a:solidFill>
            <a:srgbClr val="B39DDB"/>
          </a:solidFill>
          <a:ln>
            <a:noFill/>
          </a:ln>
        </p:spPr>
        <p:txBody>
          <a:bodyPr wrap="square" lIns="36576" tIns="0" rIns="36576" bIns="0" rtlCol="0" anchor="ctr">
            <a:noAutofit/>
          </a:bodyPr>
          <a:lstStyle/>
          <a:p>
            <a:pPr algn="ctr">
              <a:lnSpc>
                <a:spcPct val="100000"/>
              </a:lnSpc>
              <a:spcBef>
                <a:spcPts val="0"/>
              </a:spcBef>
              <a:spcAft>
                <a:spcPts val="0"/>
              </a:spcAft>
            </a:pPr>
            <a:r>
              <a:rPr sz="1100" b="1" i="0">
                <a:solidFill>
                  <a:srgbClr val="1B2A4A"/>
                </a:solidFill>
                <a:latin typeface="DM Sans"/>
              </a:rPr>
              <a:t>À RÉALISER</a:t>
            </a:r>
          </a:p>
        </p:txBody>
      </p:sp>
      <p:sp>
        <p:nvSpPr>
          <p:cNvPr id="134" name="TextBox 133"/>
          <p:cNvSpPr txBox="1"/>
          <p:nvPr/>
        </p:nvSpPr>
        <p:spPr>
          <a:xfrm>
            <a:off x="6949440" y="2432304"/>
            <a:ext cx="438912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Étape suivante</a:t>
            </a:r>
          </a:p>
        </p:txBody>
      </p:sp>
      <p:sp>
        <p:nvSpPr>
          <p:cNvPr id="135" name="Rectangle 134"/>
          <p:cNvSpPr/>
          <p:nvPr/>
        </p:nvSpPr>
        <p:spPr>
          <a:xfrm>
            <a:off x="6949440" y="2990088"/>
            <a:ext cx="100584" cy="100584"/>
          </a:xfrm>
          <a:prstGeom prst="rect">
            <a:avLst/>
          </a:prstGeom>
          <a:solidFill>
            <a:srgbClr val="6B3FA0"/>
          </a:solidFill>
          <a:ln>
            <a:noFill/>
          </a:ln>
        </p:spPr>
        <p:txBody>
          <a:bodyPr rtlCol="0" anchor="ctr"/>
          <a:lstStyle/>
          <a:p>
            <a:pPr algn="ctr"/>
            <a:endParaRPr/>
          </a:p>
        </p:txBody>
      </p:sp>
      <p:sp>
        <p:nvSpPr>
          <p:cNvPr id="136" name="TextBox 135"/>
          <p:cNvSpPr txBox="1"/>
          <p:nvPr/>
        </p:nvSpPr>
        <p:spPr>
          <a:xfrm>
            <a:off x="7178040" y="2926080"/>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Lire les commandes de vente d’Odoo comme volumes prévus.</a:t>
            </a:r>
          </a:p>
        </p:txBody>
      </p:sp>
      <p:sp>
        <p:nvSpPr>
          <p:cNvPr id="137" name="Rectangle 136"/>
          <p:cNvSpPr/>
          <p:nvPr/>
        </p:nvSpPr>
        <p:spPr>
          <a:xfrm>
            <a:off x="6949440" y="3690722"/>
            <a:ext cx="100584" cy="100584"/>
          </a:xfrm>
          <a:prstGeom prst="rect">
            <a:avLst/>
          </a:prstGeom>
          <a:solidFill>
            <a:srgbClr val="6B3FA0"/>
          </a:solidFill>
          <a:ln>
            <a:noFill/>
          </a:ln>
        </p:spPr>
        <p:txBody>
          <a:bodyPr rtlCol="0" anchor="ctr"/>
          <a:lstStyle/>
          <a:p>
            <a:pPr algn="ctr"/>
            <a:endParaRPr/>
          </a:p>
        </p:txBody>
      </p:sp>
      <p:sp>
        <p:nvSpPr>
          <p:cNvPr id="138" name="TextBox 137"/>
          <p:cNvSpPr txBox="1"/>
          <p:nvPr/>
        </p:nvSpPr>
        <p:spPr>
          <a:xfrm>
            <a:off x="7178040" y="3626714"/>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Alimenter l’import des prévisions de volume sans fichier déposé à la main.</a:t>
            </a:r>
          </a:p>
        </p:txBody>
      </p:sp>
      <p:sp>
        <p:nvSpPr>
          <p:cNvPr id="139" name="Rectangle 138"/>
          <p:cNvSpPr/>
          <p:nvPr/>
        </p:nvSpPr>
        <p:spPr>
          <a:xfrm>
            <a:off x="6949440" y="4391355"/>
            <a:ext cx="100584" cy="100584"/>
          </a:xfrm>
          <a:prstGeom prst="rect">
            <a:avLst/>
          </a:prstGeom>
          <a:solidFill>
            <a:srgbClr val="6B3FA0"/>
          </a:solidFill>
          <a:ln>
            <a:noFill/>
          </a:ln>
        </p:spPr>
        <p:txBody>
          <a:bodyPr rtlCol="0" anchor="ctr"/>
          <a:lstStyle/>
          <a:p>
            <a:pPr algn="ctr"/>
            <a:endParaRPr/>
          </a:p>
        </p:txBody>
      </p:sp>
      <p:sp>
        <p:nvSpPr>
          <p:cNvPr id="140" name="TextBox 139"/>
          <p:cNvSpPr txBox="1"/>
          <p:nvPr/>
        </p:nvSpPr>
        <p:spPr>
          <a:xfrm>
            <a:off x="7178040" y="4327347"/>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Ajouter une source de données extérieure à l’application dans la chaîne de nuit.</a:t>
            </a:r>
          </a:p>
        </p:txBody>
      </p:sp>
      <p:sp>
        <p:nvSpPr>
          <p:cNvPr id="141" name="Rounded Rectangle 140"/>
          <p:cNvSpPr/>
          <p:nvPr/>
        </p:nvSpPr>
        <p:spPr>
          <a:xfrm>
            <a:off x="694944" y="5623560"/>
            <a:ext cx="10799064" cy="566928"/>
          </a:xfrm>
          <a:prstGeom prst="roundRect">
            <a:avLst>
              <a:gd name="adj" fmla="val 19354"/>
            </a:avLst>
          </a:prstGeom>
          <a:solidFill>
            <a:srgbClr val="1B2A4A"/>
          </a:solidFill>
          <a:ln>
            <a:noFill/>
          </a:ln>
        </p:spPr>
        <p:txBody>
          <a:bodyPr rtlCol="0" anchor="ctr"/>
          <a:lstStyle/>
          <a:p>
            <a:pPr algn="ctr"/>
            <a:endParaRPr/>
          </a:p>
        </p:txBody>
      </p:sp>
      <p:sp>
        <p:nvSpPr>
          <p:cNvPr id="142" name="TextBox 141"/>
          <p:cNvSpPr txBox="1"/>
          <p:nvPr/>
        </p:nvSpPr>
        <p:spPr>
          <a:xfrm>
            <a:off x="987552" y="5623560"/>
            <a:ext cx="10241280" cy="566928"/>
          </a:xfrm>
          <a:prstGeom prst="rect">
            <a:avLst/>
          </a:prstGeom>
          <a:noFill/>
        </p:spPr>
        <p:txBody>
          <a:bodyPr wrap="square" lIns="0" tIns="0" rIns="0" bIns="0" anchor="ctr">
            <a:noAutofit/>
          </a:bodyPr>
          <a:lstStyle/>
          <a:p>
            <a:pPr algn="l">
              <a:lnSpc>
                <a:spcPct val="115000"/>
              </a:lnSpc>
              <a:spcBef>
                <a:spcPts val="0"/>
              </a:spcBef>
              <a:spcAft>
                <a:spcPts val="0"/>
              </a:spcAft>
            </a:pPr>
            <a:r>
              <a:rPr sz="1400" b="1" i="0">
                <a:solidFill>
                  <a:srgbClr val="7ACFC0"/>
                </a:solidFill>
                <a:latin typeface="DM Sans"/>
              </a:rPr>
              <a:t>Sécurité : </a:t>
            </a:r>
            <a:r>
              <a:rPr sz="1400" b="0" i="0">
                <a:solidFill>
                  <a:srgbClr val="FFFFFF"/>
                </a:solidFill>
                <a:latin typeface="DM Sans"/>
              </a:rPr>
              <a:t>la clé API reste dans des variables d’environnement du PC, jamais dans le dépôt ni dans ces diapositives.</a:t>
            </a:r>
          </a:p>
        </p:txBody>
      </p:sp>
      <p:sp>
        <p:nvSpPr>
          <p:cNvPr id="143" name="Rectangle 142"/>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44" name="Rectangle 143"/>
          <p:cNvSpPr/>
          <p:nvPr/>
        </p:nvSpPr>
        <p:spPr>
          <a:xfrm>
            <a:off x="155448" y="6803136"/>
            <a:ext cx="11086017" cy="54864"/>
          </a:xfrm>
          <a:prstGeom prst="rect">
            <a:avLst/>
          </a:prstGeom>
          <a:solidFill>
            <a:srgbClr val="6B3FA0"/>
          </a:solidFill>
          <a:ln>
            <a:noFill/>
          </a:ln>
        </p:spPr>
        <p:txBody>
          <a:bodyPr rtlCol="0" anchor="ctr"/>
          <a:lstStyle/>
          <a:p>
            <a:pPr algn="ct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26937"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BILAN</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Limites et prochaines étapes : signaler une panne, puis fiabiliser l’hébergement</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37</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97101"/>
            <a:ext cx="5303520" cy="4297680"/>
          </a:xfrm>
          <a:prstGeom prst="roundRect">
            <a:avLst>
              <a:gd name="adj" fmla="val 3546"/>
            </a:avLst>
          </a:prstGeom>
          <a:solidFill>
            <a:srgbClr val="24375F"/>
          </a:solidFill>
          <a:ln>
            <a:noFill/>
          </a:ln>
        </p:spPr>
        <p:txBody>
          <a:bodyPr rtlCol="0" anchor="ctr"/>
          <a:lstStyle/>
          <a:p>
            <a:pPr algn="ctr"/>
            <a:endParaRPr/>
          </a:p>
        </p:txBody>
      </p:sp>
      <p:sp>
        <p:nvSpPr>
          <p:cNvPr id="253" name="Rectangle 252"/>
          <p:cNvSpPr/>
          <p:nvPr/>
        </p:nvSpPr>
        <p:spPr>
          <a:xfrm>
            <a:off x="694944" y="1773936"/>
            <a:ext cx="5303520" cy="4297680"/>
          </a:xfrm>
          <a:custGeom>
            <a:avLst/>
            <a:gdLst/>
            <a:ahLst/>
            <a:cxnLst/>
            <a:rect l="l" t="t" r="r" b="b"/>
            <a:pathLst>
              <a:path w="5303520" h="4297680" extrusionOk="0">
                <a:moveTo>
                  <a:pt x="0" y="152400"/>
                </a:moveTo>
                <a:cubicBezTo>
                  <a:pt x="0" y="68229"/>
                  <a:pt x="68229" y="0"/>
                  <a:pt x="152400" y="0"/>
                </a:cubicBezTo>
                <a:lnTo>
                  <a:pt x="5151120" y="0"/>
                </a:lnTo>
                <a:cubicBezTo>
                  <a:pt x="5235290" y="0"/>
                  <a:pt x="5303520" y="68229"/>
                  <a:pt x="5303520" y="152400"/>
                </a:cubicBezTo>
                <a:cubicBezTo>
                  <a:pt x="5303520" y="103311"/>
                  <a:pt x="5235291" y="63500"/>
                  <a:pt x="515112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254" name="TextBox 253"/>
          <p:cNvSpPr txBox="1"/>
          <p:nvPr/>
        </p:nvSpPr>
        <p:spPr>
          <a:xfrm>
            <a:off x="950976" y="1993392"/>
            <a:ext cx="47548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dirty="0" err="1">
                <a:solidFill>
                  <a:srgbClr val="FFFFFF"/>
                </a:solidFill>
                <a:latin typeface="Sora"/>
              </a:rPr>
              <a:t>Limites</a:t>
            </a:r>
            <a:r>
              <a:rPr sz="1700" b="1" i="0" dirty="0">
                <a:solidFill>
                  <a:srgbClr val="FFFFFF"/>
                </a:solidFill>
                <a:latin typeface="Sora"/>
              </a:rPr>
              <a:t> </a:t>
            </a:r>
          </a:p>
        </p:txBody>
      </p:sp>
      <p:sp>
        <p:nvSpPr>
          <p:cNvPr id="255" name="Rectangle 254"/>
          <p:cNvSpPr/>
          <p:nvPr/>
        </p:nvSpPr>
        <p:spPr>
          <a:xfrm>
            <a:off x="950976" y="2615184"/>
            <a:ext cx="100584" cy="100584"/>
          </a:xfrm>
          <a:prstGeom prst="rect">
            <a:avLst/>
          </a:prstGeom>
          <a:solidFill>
            <a:srgbClr val="B39DDB"/>
          </a:solidFill>
          <a:ln>
            <a:noFill/>
          </a:ln>
        </p:spPr>
        <p:txBody>
          <a:bodyPr rtlCol="0" anchor="ctr"/>
          <a:lstStyle/>
          <a:p>
            <a:pPr algn="ctr"/>
            <a:endParaRPr/>
          </a:p>
        </p:txBody>
      </p:sp>
      <p:sp>
        <p:nvSpPr>
          <p:cNvPr id="256" name="TextBox 255"/>
          <p:cNvSpPr txBox="1"/>
          <p:nvPr/>
        </p:nvSpPr>
        <p:spPr>
          <a:xfrm>
            <a:off x="1188720" y="2542032"/>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Le PC doit rester allumé : sinon le bilan est injoignable et aucune alerte ne part.</a:t>
            </a:r>
          </a:p>
        </p:txBody>
      </p:sp>
      <p:sp>
        <p:nvSpPr>
          <p:cNvPr id="257" name="Rectangle 256"/>
          <p:cNvSpPr/>
          <p:nvPr/>
        </p:nvSpPr>
        <p:spPr>
          <a:xfrm>
            <a:off x="950976" y="3269894"/>
            <a:ext cx="100584" cy="100584"/>
          </a:xfrm>
          <a:prstGeom prst="rect">
            <a:avLst/>
          </a:prstGeom>
          <a:solidFill>
            <a:srgbClr val="B39DDB"/>
          </a:solidFill>
          <a:ln>
            <a:noFill/>
          </a:ln>
        </p:spPr>
        <p:txBody>
          <a:bodyPr rtlCol="0" anchor="ctr"/>
          <a:lstStyle/>
          <a:p>
            <a:pPr algn="ctr"/>
            <a:endParaRPr/>
          </a:p>
        </p:txBody>
      </p:sp>
      <p:sp>
        <p:nvSpPr>
          <p:cNvPr id="258" name="TextBox 257"/>
          <p:cNvSpPr txBox="1"/>
          <p:nvPr/>
        </p:nvSpPr>
        <p:spPr>
          <a:xfrm>
            <a:off x="1188720" y="3196742"/>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Alerte par Slack seulement : l’envoi d’e-mail n’a pas pu être branché.</a:t>
            </a:r>
          </a:p>
        </p:txBody>
      </p:sp>
      <p:sp>
        <p:nvSpPr>
          <p:cNvPr id="262" name="TextBox 261"/>
          <p:cNvSpPr txBox="1"/>
          <p:nvPr/>
        </p:nvSpPr>
        <p:spPr>
          <a:xfrm>
            <a:off x="1188720" y="3945941"/>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dirty="0" err="1">
                <a:solidFill>
                  <a:srgbClr val="E4E9F5"/>
                </a:solidFill>
                <a:latin typeface="DM Sans"/>
              </a:rPr>
              <a:t>Adresse</a:t>
            </a:r>
            <a:r>
              <a:rPr sz="1350" b="0" i="0" dirty="0">
                <a:solidFill>
                  <a:srgbClr val="E4E9F5"/>
                </a:solidFill>
                <a:latin typeface="DM Sans"/>
              </a:rPr>
              <a:t> </a:t>
            </a:r>
            <a:r>
              <a:rPr sz="1350" b="0" i="0" dirty="0" err="1">
                <a:solidFill>
                  <a:srgbClr val="E4E9F5"/>
                </a:solidFill>
                <a:latin typeface="DM Sans"/>
              </a:rPr>
              <a:t>publique</a:t>
            </a:r>
            <a:r>
              <a:rPr sz="1350" b="0" i="0" dirty="0">
                <a:solidFill>
                  <a:srgbClr val="E4E9F5"/>
                </a:solidFill>
                <a:latin typeface="DM Sans"/>
              </a:rPr>
              <a:t> </a:t>
            </a:r>
            <a:r>
              <a:rPr sz="1350" b="0" i="0" dirty="0" err="1">
                <a:solidFill>
                  <a:srgbClr val="E4E9F5"/>
                </a:solidFill>
                <a:latin typeface="DM Sans"/>
              </a:rPr>
              <a:t>ngrok</a:t>
            </a:r>
            <a:r>
              <a:rPr sz="1350" b="0" i="0" dirty="0">
                <a:solidFill>
                  <a:srgbClr val="E4E9F5"/>
                </a:solidFill>
                <a:latin typeface="DM Sans"/>
              </a:rPr>
              <a:t> </a:t>
            </a:r>
            <a:r>
              <a:rPr sz="1350" b="0" i="0" dirty="0" err="1">
                <a:solidFill>
                  <a:srgbClr val="E4E9F5"/>
                </a:solidFill>
                <a:latin typeface="DM Sans"/>
              </a:rPr>
              <a:t>gratuite</a:t>
            </a:r>
            <a:r>
              <a:rPr sz="1350" b="0" i="0" dirty="0">
                <a:solidFill>
                  <a:srgbClr val="E4E9F5"/>
                </a:solidFill>
                <a:latin typeface="DM Sans"/>
              </a:rPr>
              <a:t>, </a:t>
            </a:r>
            <a:r>
              <a:rPr sz="1350" b="0" i="0" dirty="0" err="1">
                <a:solidFill>
                  <a:srgbClr val="E4E9F5"/>
                </a:solidFill>
                <a:latin typeface="DM Sans"/>
              </a:rPr>
              <a:t>liée</a:t>
            </a:r>
            <a:r>
              <a:rPr sz="1350" b="0" i="0" dirty="0">
                <a:solidFill>
                  <a:srgbClr val="E4E9F5"/>
                </a:solidFill>
                <a:latin typeface="DM Sans"/>
              </a:rPr>
              <a:t> à un </a:t>
            </a:r>
            <a:r>
              <a:rPr sz="1350" b="0" i="0" dirty="0" err="1">
                <a:solidFill>
                  <a:srgbClr val="E4E9F5"/>
                </a:solidFill>
                <a:latin typeface="DM Sans"/>
              </a:rPr>
              <a:t>compte</a:t>
            </a:r>
            <a:r>
              <a:rPr sz="1350" b="0" i="0" dirty="0">
                <a:solidFill>
                  <a:srgbClr val="E4E9F5"/>
                </a:solidFill>
                <a:latin typeface="DM Sans"/>
              </a:rPr>
              <a:t> personnel.</a:t>
            </a:r>
          </a:p>
        </p:txBody>
      </p:sp>
      <p:sp>
        <p:nvSpPr>
          <p:cNvPr id="264" name="TextBox 263"/>
          <p:cNvSpPr txBox="1"/>
          <p:nvPr/>
        </p:nvSpPr>
        <p:spPr>
          <a:xfrm>
            <a:off x="1188720" y="4584295"/>
            <a:ext cx="4572000" cy="499262"/>
          </a:xfrm>
          <a:prstGeom prst="rect">
            <a:avLst/>
          </a:prstGeom>
          <a:noFill/>
        </p:spPr>
        <p:txBody>
          <a:bodyPr wrap="square" lIns="0" tIns="0" rIns="0" bIns="0" anchor="t">
            <a:noAutofit/>
          </a:bodyPr>
          <a:lstStyle/>
          <a:p>
            <a:pPr algn="l">
              <a:lnSpc>
                <a:spcPct val="112000"/>
              </a:lnSpc>
              <a:spcBef>
                <a:spcPts val="0"/>
              </a:spcBef>
              <a:spcAft>
                <a:spcPts val="0"/>
              </a:spcAft>
            </a:pPr>
            <a:endParaRPr sz="1350" b="0" i="0" dirty="0">
              <a:solidFill>
                <a:srgbClr val="E4E9F5"/>
              </a:solidFill>
              <a:latin typeface="DM Sans"/>
            </a:endParaRPr>
          </a:p>
        </p:txBody>
      </p:sp>
      <p:sp>
        <p:nvSpPr>
          <p:cNvPr id="265" name="Rounded Rectangle 264"/>
          <p:cNvSpPr/>
          <p:nvPr/>
        </p:nvSpPr>
        <p:spPr>
          <a:xfrm>
            <a:off x="6373368" y="1773936"/>
            <a:ext cx="5120640" cy="4297680"/>
          </a:xfrm>
          <a:prstGeom prst="roundRect">
            <a:avLst>
              <a:gd name="adj" fmla="val 3546"/>
            </a:avLst>
          </a:prstGeom>
          <a:solidFill>
            <a:srgbClr val="24375F"/>
          </a:solidFill>
          <a:ln>
            <a:noFill/>
          </a:ln>
        </p:spPr>
        <p:txBody>
          <a:bodyPr rtlCol="0" anchor="ctr"/>
          <a:lstStyle/>
          <a:p>
            <a:pPr algn="ctr"/>
            <a:endParaRPr/>
          </a:p>
        </p:txBody>
      </p:sp>
      <p:sp>
        <p:nvSpPr>
          <p:cNvPr id="266" name="Rectangle 265"/>
          <p:cNvSpPr/>
          <p:nvPr/>
        </p:nvSpPr>
        <p:spPr>
          <a:xfrm>
            <a:off x="6373368" y="1773936"/>
            <a:ext cx="5120640" cy="4297680"/>
          </a:xfrm>
          <a:custGeom>
            <a:avLst/>
            <a:gdLst/>
            <a:ahLst/>
            <a:cxnLst/>
            <a:rect l="l" t="t" r="r" b="b"/>
            <a:pathLst>
              <a:path w="5120640" h="4297680" extrusionOk="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267" name="TextBox 266"/>
          <p:cNvSpPr txBox="1"/>
          <p:nvPr/>
        </p:nvSpPr>
        <p:spPr>
          <a:xfrm>
            <a:off x="6629400" y="1993392"/>
            <a:ext cx="457200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FFFFFF"/>
                </a:solidFill>
                <a:latin typeface="Sora"/>
              </a:rPr>
              <a:t>Prochaines étapes</a:t>
            </a:r>
          </a:p>
        </p:txBody>
      </p:sp>
      <p:sp>
        <p:nvSpPr>
          <p:cNvPr id="268" name="Oval 267"/>
          <p:cNvSpPr/>
          <p:nvPr/>
        </p:nvSpPr>
        <p:spPr>
          <a:xfrm>
            <a:off x="6629400" y="2542032"/>
            <a:ext cx="365760" cy="365760"/>
          </a:xfrm>
          <a:prstGeom prst="ellipse">
            <a:avLst/>
          </a:prstGeom>
          <a:solidFill>
            <a:srgbClr val="7ACFC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1</a:t>
            </a:r>
          </a:p>
        </p:txBody>
      </p:sp>
      <p:sp>
        <p:nvSpPr>
          <p:cNvPr id="269" name="TextBox 268"/>
          <p:cNvSpPr txBox="1"/>
          <p:nvPr/>
        </p:nvSpPr>
        <p:spPr>
          <a:xfrm>
            <a:off x="7178040" y="2578608"/>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Brancher la sortie rouge du nœud HTTP : une alerte Slack quand Workly ne répond pas.</a:t>
            </a:r>
          </a:p>
        </p:txBody>
      </p:sp>
      <p:sp>
        <p:nvSpPr>
          <p:cNvPr id="270" name="Oval 269"/>
          <p:cNvSpPr/>
          <p:nvPr/>
        </p:nvSpPr>
        <p:spPr>
          <a:xfrm>
            <a:off x="6629400" y="3310128"/>
            <a:ext cx="365760" cy="365760"/>
          </a:xfrm>
          <a:prstGeom prst="ellipse">
            <a:avLst/>
          </a:prstGeom>
          <a:solidFill>
            <a:srgbClr val="4A9BE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2</a:t>
            </a:r>
          </a:p>
        </p:txBody>
      </p:sp>
      <p:sp>
        <p:nvSpPr>
          <p:cNvPr id="271" name="TextBox 270"/>
          <p:cNvSpPr txBox="1"/>
          <p:nvPr/>
        </p:nvSpPr>
        <p:spPr>
          <a:xfrm>
            <a:off x="7178040" y="3346704"/>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Héberger Workly sur un serveur permanent, hors du PC personnel.</a:t>
            </a:r>
          </a:p>
        </p:txBody>
      </p:sp>
      <p:sp>
        <p:nvSpPr>
          <p:cNvPr id="272" name="Oval 271"/>
          <p:cNvSpPr/>
          <p:nvPr/>
        </p:nvSpPr>
        <p:spPr>
          <a:xfrm>
            <a:off x="6629400" y="4078224"/>
            <a:ext cx="365760" cy="365760"/>
          </a:xfrm>
          <a:prstGeom prst="ellipse">
            <a:avLst/>
          </a:prstGeom>
          <a:solidFill>
            <a:srgbClr val="B39DDB"/>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3</a:t>
            </a:r>
          </a:p>
        </p:txBody>
      </p:sp>
      <p:sp>
        <p:nvSpPr>
          <p:cNvPr id="273" name="TextBox 272"/>
          <p:cNvSpPr txBox="1"/>
          <p:nvPr/>
        </p:nvSpPr>
        <p:spPr>
          <a:xfrm>
            <a:off x="7178040" y="4114800"/>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Importer les commandes Odoo comme volumes prévus.</a:t>
            </a:r>
          </a:p>
        </p:txBody>
      </p:sp>
      <p:sp>
        <p:nvSpPr>
          <p:cNvPr id="274" name="Oval 273"/>
          <p:cNvSpPr/>
          <p:nvPr/>
        </p:nvSpPr>
        <p:spPr>
          <a:xfrm>
            <a:off x="6629400" y="4846320"/>
            <a:ext cx="365760" cy="365760"/>
          </a:xfrm>
          <a:prstGeom prst="ellipse">
            <a:avLst/>
          </a:prstGeom>
          <a:solidFill>
            <a:srgbClr val="6B3FA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FFFFFF"/>
                </a:solidFill>
                <a:latin typeface="Sora"/>
              </a:rPr>
              <a:t>4</a:t>
            </a:r>
          </a:p>
        </p:txBody>
      </p:sp>
      <p:sp>
        <p:nvSpPr>
          <p:cNvPr id="275" name="TextBox 274"/>
          <p:cNvSpPr txBox="1"/>
          <p:nvPr/>
        </p:nvSpPr>
        <p:spPr>
          <a:xfrm>
            <a:off x="7178040" y="4882896"/>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dirty="0" err="1">
                <a:solidFill>
                  <a:srgbClr val="E4E9F5"/>
                </a:solidFill>
                <a:latin typeface="DM Sans"/>
              </a:rPr>
              <a:t>Mesurer la fiabilité sur plusieurs nuits et enrichir la base de connaissances.</a:t>
            </a:r>
            <a:endParaRPr sz="1350" b="0" i="0" dirty="0">
              <a:solidFill>
                <a:srgbClr val="E4E9F5"/>
              </a:solidFill>
              <a:latin typeface="DM Sans"/>
            </a:endParaRPr>
          </a:p>
        </p:txBody>
      </p:sp>
      <p:sp>
        <p:nvSpPr>
          <p:cNvPr id="276" name="TextBox 275"/>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Ordre de priorité : d’abord signaler une panne, ensuite durcir l’hébergement.</a:t>
            </a:r>
          </a:p>
        </p:txBody>
      </p:sp>
      <p:sp>
        <p:nvSpPr>
          <p:cNvPr id="38" name="Rectangle 37"/>
          <p:cNvSpPr/>
          <p:nvPr/>
        </p:nvSpPr>
        <p:spPr>
          <a:xfrm>
            <a:off x="961136" y="4021734"/>
            <a:ext cx="100584" cy="100584"/>
          </a:xfrm>
          <a:prstGeom prst="rect">
            <a:avLst/>
          </a:prstGeom>
          <a:solidFill>
            <a:srgbClr val="B39DDB"/>
          </a:solidFill>
          <a:ln>
            <a:noFill/>
          </a:ln>
        </p:spPr>
        <p:txBody>
          <a:bodyPr rtlCol="0" anchor="ctr"/>
          <a:lstStyle/>
          <a:p>
            <a:pPr algn="ctr"/>
            <a:r>
              <a:rPr lang="en-US" dirty="0"/>
              <a:t> </a:t>
            </a:r>
            <a:endParaRPr dirty="0"/>
          </a:p>
        </p:txBody>
      </p:sp>
      <p:sp>
        <p:nvSpPr>
          <p:cNvPr id="277" name="Rectangle 37"/>
          <p:cNvSpPr/>
          <p:nvPr/>
        </p:nvSpPr>
        <p:spPr>
          <a:xfrm>
            <a:off x="961136" y="4771542"/>
            <a:ext cx="100584" cy="100584"/>
          </a:xfrm>
          <a:prstGeom prst="rect">
            <a:avLst/>
          </a:prstGeom>
          <a:solidFill>
            <a:srgbClr val="B39DDB"/>
          </a:solidFill>
          <a:ln>
            <a:noFill/>
          </a:ln>
        </p:spPr>
        <p:txBody>
          <a:bodyPr rtlCol="0" anchor="ctr"/>
          <a:lstStyle/>
          <a:p>
            <a:pPr algn="ctr"/>
            <a:r>
              <a:rPr lang="en-US" dirty="0"/>
              <a:t> </a:t>
            </a:r>
            <a:endParaRPr dirty="0"/>
          </a:p>
        </p:txBody>
      </p:sp>
      <p:sp>
        <p:nvSpPr>
          <p:cNvPr id="278" name="TextBox 261"/>
          <p:cNvSpPr txBox="1"/>
          <p:nvPr/>
        </p:nvSpPr>
        <p:spPr>
          <a:xfrm>
            <a:off x="1188720" y="4695749"/>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dirty="0" err="1">
                <a:solidFill>
                  <a:srgbClr val="E4E9F5"/>
                </a:solidFill>
                <a:latin typeface="DM Sans"/>
              </a:rPr>
              <a:t>La base de connaissances ne couvre que les pannes décrites ; sinon l’agent répond « cause inconnue ».</a:t>
            </a:r>
          </a:p>
        </p:txBody>
      </p:sp>
      <p:sp>
        <p:nvSpPr>
          <p:cNvPr id="279" name="Rectangle 278"/>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280" name="Rectangle 279"/>
          <p:cNvSpPr/>
          <p:nvPr/>
        </p:nvSpPr>
        <p:spPr>
          <a:xfrm>
            <a:off x="155448" y="6803136"/>
            <a:ext cx="11719504" cy="54864"/>
          </a:xfrm>
          <a:prstGeom prst="rect">
            <a:avLst/>
          </a:prstGeom>
          <a:solidFill>
            <a:srgbClr val="7ACFC0"/>
          </a:solidFill>
          <a:ln>
            <a:noFill/>
          </a:ln>
        </p:spPr>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CSCMP définit le supply chain management : planifier, coordonner, intégrer l’offre et la demande</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6675120" cy="4315968"/>
          </a:xfrm>
          <a:prstGeom prst="roundRect">
            <a:avLst>
              <a:gd name="adj" fmla="val 2542"/>
            </a:avLst>
          </a:prstGeom>
          <a:solidFill>
            <a:srgbClr val="1B2A4A"/>
          </a:solidFill>
          <a:ln>
            <a:noFill/>
          </a:ln>
        </p:spPr>
        <p:txBody>
          <a:bodyPr rtlCol="0" anchor="ctr"/>
          <a:lstStyle/>
          <a:p>
            <a:pPr algn="ctr"/>
          </a:p>
        </p:txBody>
      </p:sp>
      <p:sp>
        <p:nvSpPr>
          <p:cNvPr id="114" name="TextBox 113"/>
          <p:cNvSpPr txBox="1"/>
          <p:nvPr/>
        </p:nvSpPr>
        <p:spPr>
          <a:xfrm>
            <a:off x="987552" y="1828800"/>
            <a:ext cx="914400" cy="822960"/>
          </a:xfrm>
          <a:prstGeom prst="rect">
            <a:avLst/>
          </a:prstGeom>
          <a:noFill/>
        </p:spPr>
        <p:txBody>
          <a:bodyPr wrap="square" lIns="0" tIns="0" rIns="0" bIns="0" anchor="t">
            <a:noAutofit/>
          </a:bodyPr>
          <a:lstStyle/>
          <a:p>
            <a:pPr algn="l">
              <a:lnSpc>
                <a:spcPct val="115000"/>
              </a:lnSpc>
              <a:spcBef>
                <a:spcPts val="0"/>
              </a:spcBef>
              <a:spcAft>
                <a:spcPts val="0"/>
              </a:spcAft>
            </a:pPr>
            <a:r>
              <a:rPr sz="6000" b="1" i="0">
                <a:solidFill>
                  <a:srgbClr val="7ACFC0"/>
                </a:solidFill>
                <a:latin typeface="Sora"/>
              </a:rPr>
              <a:t>“</a:t>
            </a:r>
          </a:p>
        </p:txBody>
      </p:sp>
      <p:sp>
        <p:nvSpPr>
          <p:cNvPr id="115" name="TextBox 114"/>
          <p:cNvSpPr txBox="1"/>
          <p:nvPr/>
        </p:nvSpPr>
        <p:spPr>
          <a:xfrm>
            <a:off x="987552" y="2606040"/>
            <a:ext cx="6080760" cy="2926080"/>
          </a:xfrm>
          <a:prstGeom prst="rect">
            <a:avLst/>
          </a:prstGeom>
          <a:noFill/>
        </p:spPr>
        <p:txBody>
          <a:bodyPr wrap="square" lIns="0" tIns="0" rIns="0" bIns="0" anchor="t">
            <a:noAutofit/>
          </a:bodyPr>
          <a:lstStyle/>
          <a:p>
            <a:pPr algn="l">
              <a:lnSpc>
                <a:spcPct val="120000"/>
              </a:lnSpc>
              <a:spcBef>
                <a:spcPts val="0"/>
              </a:spcBef>
              <a:spcAft>
                <a:spcPts val="900"/>
              </a:spcAft>
            </a:pPr>
            <a:r>
              <a:rPr sz="1500" b="0" i="0">
                <a:solidFill>
                  <a:srgbClr val="FFFFFF"/>
                </a:solidFill>
                <a:latin typeface="DM Sans"/>
              </a:rPr>
              <a:t>Le supply chain management englobe la planification et la gestion de toutes les activités liées au sourcing et aux achats, à la transformation, ainsi que de toutes les activités de gestion logistique.</a:t>
            </a:r>
          </a:p>
          <a:p>
            <a:pPr algn="l">
              <a:lnSpc>
                <a:spcPct val="120000"/>
              </a:lnSpc>
              <a:spcBef>
                <a:spcPts val="0"/>
              </a:spcBef>
              <a:spcAft>
                <a:spcPts val="900"/>
              </a:spcAft>
            </a:pPr>
            <a:r>
              <a:rPr sz="1500" b="0" i="0">
                <a:solidFill>
                  <a:srgbClr val="FFFFFF"/>
                </a:solidFill>
                <a:latin typeface="DM Sans"/>
              </a:rPr>
              <a:t>Il inclut aussi la coordination et la collaboration avec les partenaires du canal : fournisseurs, intermédiaires, prestataires de services et clients.</a:t>
            </a:r>
          </a:p>
          <a:p>
            <a:pPr algn="l">
              <a:lnSpc>
                <a:spcPct val="120000"/>
              </a:lnSpc>
              <a:spcBef>
                <a:spcPts val="0"/>
              </a:spcBef>
              <a:spcAft>
                <a:spcPts val="900"/>
              </a:spcAft>
            </a:pPr>
            <a:r>
              <a:rPr sz="1500" b="1" i="0">
                <a:solidFill>
                  <a:srgbClr val="7ACFC0"/>
                </a:solidFill>
                <a:latin typeface="DM Sans"/>
              </a:rPr>
              <a:t>En substance, il intègre la gestion de l’offre et de la demande au sein des entreprises et entre elles.</a:t>
            </a:r>
          </a:p>
        </p:txBody>
      </p:sp>
      <p:sp>
        <p:nvSpPr>
          <p:cNvPr id="116" name="TextBox 115"/>
          <p:cNvSpPr txBox="1"/>
          <p:nvPr/>
        </p:nvSpPr>
        <p:spPr>
          <a:xfrm>
            <a:off x="987552" y="5596128"/>
            <a:ext cx="6080760" cy="36576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CSCMP, SCM Definitions and Glossary of Terms. Traduction proposée.</a:t>
            </a:r>
          </a:p>
        </p:txBody>
      </p:sp>
      <p:sp>
        <p:nvSpPr>
          <p:cNvPr id="117" name="Rounded Rectangle 116"/>
          <p:cNvSpPr/>
          <p:nvPr/>
        </p:nvSpPr>
        <p:spPr>
          <a:xfrm>
            <a:off x="7589520" y="1773936"/>
            <a:ext cx="3904488" cy="1298448"/>
          </a:xfrm>
          <a:prstGeom prst="roundRect">
            <a:avLst>
              <a:gd name="adj" fmla="val 11739"/>
            </a:avLst>
          </a:prstGeom>
          <a:solidFill>
            <a:srgbClr val="FFFFFF"/>
          </a:solidFill>
          <a:ln>
            <a:noFill/>
          </a:ln>
        </p:spPr>
        <p:txBody>
          <a:bodyPr rtlCol="0" anchor="ctr"/>
          <a:lstStyle/>
          <a:p>
            <a:pPr algn="ctr"/>
          </a:p>
        </p:txBody>
      </p:sp>
      <p:sp>
        <p:nvSpPr>
          <p:cNvPr id="118" name="Rectangle 117"/>
          <p:cNvSpPr/>
          <p:nvPr/>
        </p:nvSpPr>
        <p:spPr>
          <a:xfrm>
            <a:off x="7589520" y="177393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9" name="TextBox 118"/>
          <p:cNvSpPr txBox="1"/>
          <p:nvPr/>
        </p:nvSpPr>
        <p:spPr>
          <a:xfrm>
            <a:off x="7818120" y="199339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Planifier</a:t>
            </a:r>
          </a:p>
        </p:txBody>
      </p:sp>
      <p:sp>
        <p:nvSpPr>
          <p:cNvPr id="120" name="TextBox 119"/>
          <p:cNvSpPr txBox="1"/>
          <p:nvPr/>
        </p:nvSpPr>
        <p:spPr>
          <a:xfrm>
            <a:off x="7818120" y="243230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Anticiper les besoins avant qu’ils ne se manifestent.</a:t>
            </a:r>
          </a:p>
        </p:txBody>
      </p:sp>
      <p:sp>
        <p:nvSpPr>
          <p:cNvPr id="121" name="Rounded Rectangle 120"/>
          <p:cNvSpPr/>
          <p:nvPr/>
        </p:nvSpPr>
        <p:spPr>
          <a:xfrm>
            <a:off x="7589520" y="3282696"/>
            <a:ext cx="3904488" cy="1298448"/>
          </a:xfrm>
          <a:prstGeom prst="roundRect">
            <a:avLst>
              <a:gd name="adj" fmla="val 11739"/>
            </a:avLst>
          </a:prstGeom>
          <a:solidFill>
            <a:srgbClr val="FFFFFF"/>
          </a:solidFill>
          <a:ln>
            <a:noFill/>
          </a:ln>
        </p:spPr>
        <p:txBody>
          <a:bodyPr rtlCol="0" anchor="ctr"/>
          <a:lstStyle/>
          <a:p>
            <a:pPr algn="ctr"/>
          </a:p>
        </p:txBody>
      </p:sp>
      <p:sp>
        <p:nvSpPr>
          <p:cNvPr id="122" name="Rectangle 121"/>
          <p:cNvSpPr/>
          <p:nvPr/>
        </p:nvSpPr>
        <p:spPr>
          <a:xfrm>
            <a:off x="7589520" y="328269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3" name="TextBox 122"/>
          <p:cNvSpPr txBox="1"/>
          <p:nvPr/>
        </p:nvSpPr>
        <p:spPr>
          <a:xfrm>
            <a:off x="7818120" y="350215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Coordonner</a:t>
            </a:r>
          </a:p>
        </p:txBody>
      </p:sp>
      <p:sp>
        <p:nvSpPr>
          <p:cNvPr id="124" name="TextBox 123"/>
          <p:cNvSpPr txBox="1"/>
          <p:nvPr/>
        </p:nvSpPr>
        <p:spPr>
          <a:xfrm>
            <a:off x="7818120" y="394106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Faire travailler ensemble les partenaires internes et externes.</a:t>
            </a:r>
          </a:p>
        </p:txBody>
      </p:sp>
      <p:sp>
        <p:nvSpPr>
          <p:cNvPr id="125" name="Rounded Rectangle 124"/>
          <p:cNvSpPr/>
          <p:nvPr/>
        </p:nvSpPr>
        <p:spPr>
          <a:xfrm>
            <a:off x="7589520" y="4791456"/>
            <a:ext cx="3904488" cy="1298448"/>
          </a:xfrm>
          <a:prstGeom prst="roundRect">
            <a:avLst>
              <a:gd name="adj" fmla="val 11739"/>
            </a:avLst>
          </a:prstGeom>
          <a:solidFill>
            <a:srgbClr val="FFFFFF"/>
          </a:solidFill>
          <a:ln>
            <a:noFill/>
          </a:ln>
        </p:spPr>
        <p:txBody>
          <a:bodyPr rtlCol="0" anchor="ctr"/>
          <a:lstStyle/>
          <a:p>
            <a:pPr algn="ctr"/>
          </a:p>
        </p:txBody>
      </p:sp>
      <p:sp>
        <p:nvSpPr>
          <p:cNvPr id="126" name="Rectangle 125"/>
          <p:cNvSpPr/>
          <p:nvPr/>
        </p:nvSpPr>
        <p:spPr>
          <a:xfrm>
            <a:off x="7589520" y="4791456"/>
            <a:ext cx="3904488" cy="1298448"/>
          </a:xfrm>
          <a:custGeom>
            <a:rect b="b" l="l" r="r" t="t"/>
            <a:pathLst>
              <a:path extrusionOk="0" h="1298448" w="3904488">
                <a:moveTo>
                  <a:pt x="0" y="152400"/>
                </a:moveTo>
                <a:cubicBezTo>
                  <a:pt x="0" y="68229"/>
                  <a:pt x="68229" y="0"/>
                  <a:pt x="152400" y="0"/>
                </a:cubicBezTo>
                <a:lnTo>
                  <a:pt x="3752088" y="0"/>
                </a:lnTo>
                <a:cubicBezTo>
                  <a:pt x="3836258" y="0"/>
                  <a:pt x="3904488" y="68229"/>
                  <a:pt x="3904488" y="152400"/>
                </a:cubicBezTo>
                <a:cubicBezTo>
                  <a:pt x="3904488" y="103311"/>
                  <a:pt x="3836259" y="63500"/>
                  <a:pt x="375208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7" name="TextBox 126"/>
          <p:cNvSpPr txBox="1"/>
          <p:nvPr/>
        </p:nvSpPr>
        <p:spPr>
          <a:xfrm>
            <a:off x="7818120" y="5010912"/>
            <a:ext cx="34747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Intégrer l’offre et la demande</a:t>
            </a:r>
          </a:p>
        </p:txBody>
      </p:sp>
      <p:sp>
        <p:nvSpPr>
          <p:cNvPr id="128" name="TextBox 127"/>
          <p:cNvSpPr txBox="1"/>
          <p:nvPr/>
        </p:nvSpPr>
        <p:spPr>
          <a:xfrm>
            <a:off x="7818120" y="5449824"/>
            <a:ext cx="347472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Ajuster les ressources disponibles aux volumes attendus.</a:t>
            </a:r>
          </a:p>
        </p:txBody>
      </p:sp>
      <p:sp>
        <p:nvSpPr>
          <p:cNvPr id="129" name="Rectangle 128"/>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0" name="Rectangle 129"/>
          <p:cNvSpPr/>
          <p:nvPr/>
        </p:nvSpPr>
        <p:spPr>
          <a:xfrm>
            <a:off x="155448" y="6803136"/>
            <a:ext cx="950230" cy="54864"/>
          </a:xfrm>
          <a:prstGeom prst="rect">
            <a:avLst/>
          </a:prstGeom>
          <a:solidFill>
            <a:srgbClr val="6B3FA0"/>
          </a:solidFill>
          <a:ln>
            <a:noFill/>
          </a:ln>
        </p:spPr>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La gestion logistique est la partie du supply chain management qui planifie, met en œuvre et contrôle les flux</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4</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10799064" cy="1627632"/>
          </a:xfrm>
          <a:prstGeom prst="roundRect">
            <a:avLst>
              <a:gd name="adj" fmla="val 9365"/>
            </a:avLst>
          </a:prstGeom>
          <a:solidFill>
            <a:srgbClr val="FFFFFF"/>
          </a:solidFill>
          <a:ln>
            <a:noFill/>
          </a:ln>
        </p:spPr>
        <p:txBody>
          <a:bodyPr rtlCol="0" anchor="ctr"/>
          <a:lstStyle/>
          <a:p>
            <a:pPr algn="ctr"/>
          </a:p>
        </p:txBody>
      </p:sp>
      <p:sp>
        <p:nvSpPr>
          <p:cNvPr id="114" name="Rectangle 113"/>
          <p:cNvSpPr/>
          <p:nvPr/>
        </p:nvSpPr>
        <p:spPr>
          <a:xfrm>
            <a:off x="694944" y="1773936"/>
            <a:ext cx="10799064" cy="1627632"/>
          </a:xfrm>
          <a:custGeom>
            <a:rect b="b" l="l" r="r" t="t"/>
            <a:pathLst>
              <a:path extrusionOk="0" h="1627632" w="10799064">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15" name="TextBox 114"/>
          <p:cNvSpPr txBox="1"/>
          <p:nvPr/>
        </p:nvSpPr>
        <p:spPr>
          <a:xfrm>
            <a:off x="969264" y="1956816"/>
            <a:ext cx="1005840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3FA0"/>
                </a:solidFill>
                <a:latin typeface="Sora"/>
              </a:rPr>
              <a:t>EN COMPLÉMENT · LA GESTION LOGISTIQUE SELON LE CSCMP</a:t>
            </a:r>
          </a:p>
        </p:txBody>
      </p:sp>
      <p:sp>
        <p:nvSpPr>
          <p:cNvPr id="116" name="TextBox 115"/>
          <p:cNvSpPr txBox="1"/>
          <p:nvPr/>
        </p:nvSpPr>
        <p:spPr>
          <a:xfrm>
            <a:off x="969264" y="2286000"/>
            <a:ext cx="10241280" cy="1051560"/>
          </a:xfrm>
          <a:prstGeom prst="rect">
            <a:avLst/>
          </a:prstGeom>
          <a:noFill/>
        </p:spPr>
        <p:txBody>
          <a:bodyPr wrap="square" lIns="0" tIns="0" rIns="0" bIns="0" anchor="t">
            <a:noAutofit/>
          </a:bodyPr>
          <a:lstStyle/>
          <a:p>
            <a:pPr algn="l">
              <a:lnSpc>
                <a:spcPct val="115000"/>
              </a:lnSpc>
              <a:spcBef>
                <a:spcPts val="0"/>
              </a:spcBef>
              <a:spcAft>
                <a:spcPts val="0"/>
              </a:spcAft>
            </a:pPr>
            <a:r>
              <a:rPr sz="1450" b="0" i="0">
                <a:solidFill>
                  <a:srgbClr val="2B3350"/>
                </a:solidFill>
                <a:latin typeface="DM Sans"/>
              </a:rPr>
              <a:t>« la partie du supply chain management qui planifie, met en œuvre et contrôle l’écoulement et le stockage efficaces, dans le sens aller comme dans le sens retour, des biens, des services et des informations associées, du point d’origine au point de consommation, afin de répondre aux exigences des clients. »</a:t>
            </a:r>
          </a:p>
        </p:txBody>
      </p:sp>
      <p:sp>
        <p:nvSpPr>
          <p:cNvPr id="117" name="Rounded Rectangle 116"/>
          <p:cNvSpPr/>
          <p:nvPr/>
        </p:nvSpPr>
        <p:spPr>
          <a:xfrm>
            <a:off x="694944" y="3977640"/>
            <a:ext cx="2194560" cy="1737360"/>
          </a:xfrm>
          <a:prstGeom prst="roundRect">
            <a:avLst>
              <a:gd name="adj" fmla="val 7368"/>
            </a:avLst>
          </a:prstGeom>
          <a:solidFill>
            <a:srgbClr val="1B2A4A"/>
          </a:solidFill>
          <a:ln>
            <a:noFill/>
          </a:ln>
        </p:spPr>
        <p:txBody>
          <a:bodyPr rtlCol="0" anchor="ctr"/>
          <a:lstStyle/>
          <a:p>
            <a:pPr algn="ctr"/>
          </a:p>
        </p:txBody>
      </p:sp>
      <p:sp>
        <p:nvSpPr>
          <p:cNvPr id="118" name="TextBox 117"/>
          <p:cNvSpPr txBox="1"/>
          <p:nvPr/>
        </p:nvSpPr>
        <p:spPr>
          <a:xfrm>
            <a:off x="822960" y="3977640"/>
            <a:ext cx="1938528" cy="1737360"/>
          </a:xfrm>
          <a:prstGeom prst="rect">
            <a:avLst/>
          </a:prstGeom>
          <a:noFill/>
        </p:spPr>
        <p:txBody>
          <a:bodyPr wrap="square" lIns="0" tIns="0" rIns="0" bIns="0" anchor="ctr">
            <a:noAutofit/>
          </a:bodyPr>
          <a:lstStyle/>
          <a:p>
            <a:pPr algn="ctr">
              <a:lnSpc>
                <a:spcPct val="115000"/>
              </a:lnSpc>
              <a:spcBef>
                <a:spcPts val="0"/>
              </a:spcBef>
              <a:spcAft>
                <a:spcPts val="0"/>
              </a:spcAft>
            </a:pPr>
            <a:r>
              <a:rPr sz="1700" b="1" i="0">
                <a:solidFill>
                  <a:srgbClr val="FFFFFF"/>
                </a:solidFill>
                <a:latin typeface="Sora"/>
              </a:rPr>
              <a:t>Point d’origine</a:t>
            </a:r>
          </a:p>
        </p:txBody>
      </p:sp>
      <p:sp>
        <p:nvSpPr>
          <p:cNvPr id="119" name="Rounded Rectangle 118"/>
          <p:cNvSpPr/>
          <p:nvPr/>
        </p:nvSpPr>
        <p:spPr>
          <a:xfrm>
            <a:off x="9299448" y="3977640"/>
            <a:ext cx="2194560" cy="1737360"/>
          </a:xfrm>
          <a:prstGeom prst="roundRect">
            <a:avLst>
              <a:gd name="adj" fmla="val 7368"/>
            </a:avLst>
          </a:prstGeom>
          <a:solidFill>
            <a:srgbClr val="1B2A4A"/>
          </a:solidFill>
          <a:ln>
            <a:noFill/>
          </a:ln>
        </p:spPr>
        <p:txBody>
          <a:bodyPr rtlCol="0" anchor="ctr"/>
          <a:lstStyle/>
          <a:p>
            <a:pPr algn="ctr"/>
          </a:p>
        </p:txBody>
      </p:sp>
      <p:sp>
        <p:nvSpPr>
          <p:cNvPr id="120" name="TextBox 119"/>
          <p:cNvSpPr txBox="1"/>
          <p:nvPr/>
        </p:nvSpPr>
        <p:spPr>
          <a:xfrm>
            <a:off x="9427464" y="3977640"/>
            <a:ext cx="1938528" cy="1737360"/>
          </a:xfrm>
          <a:prstGeom prst="rect">
            <a:avLst/>
          </a:prstGeom>
          <a:noFill/>
        </p:spPr>
        <p:txBody>
          <a:bodyPr wrap="square" lIns="0" tIns="0" rIns="0" bIns="0" anchor="ctr">
            <a:noAutofit/>
          </a:bodyPr>
          <a:lstStyle/>
          <a:p>
            <a:pPr algn="ctr">
              <a:lnSpc>
                <a:spcPct val="115000"/>
              </a:lnSpc>
              <a:spcBef>
                <a:spcPts val="0"/>
              </a:spcBef>
              <a:spcAft>
                <a:spcPts val="0"/>
              </a:spcAft>
            </a:pPr>
            <a:r>
              <a:rPr sz="1700" b="1" i="0">
                <a:solidFill>
                  <a:srgbClr val="FFFFFF"/>
                </a:solidFill>
                <a:latin typeface="Sora"/>
              </a:rPr>
              <a:t>Point de consommation</a:t>
            </a:r>
          </a:p>
        </p:txBody>
      </p:sp>
      <p:sp>
        <p:nvSpPr>
          <p:cNvPr id="121" name="Rounded Rectangle 120"/>
          <p:cNvSpPr/>
          <p:nvPr/>
        </p:nvSpPr>
        <p:spPr>
          <a:xfrm>
            <a:off x="3703320" y="4050792"/>
            <a:ext cx="1600200" cy="310896"/>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Planifier</a:t>
            </a:r>
          </a:p>
        </p:txBody>
      </p:sp>
      <p:sp>
        <p:nvSpPr>
          <p:cNvPr id="122" name="Rounded Rectangle 121"/>
          <p:cNvSpPr/>
          <p:nvPr/>
        </p:nvSpPr>
        <p:spPr>
          <a:xfrm>
            <a:off x="5486400" y="4050792"/>
            <a:ext cx="1600200" cy="310896"/>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Mettre en œuvre</a:t>
            </a:r>
          </a:p>
        </p:txBody>
      </p:sp>
      <p:sp>
        <p:nvSpPr>
          <p:cNvPr id="123" name="Rounded Rectangle 122"/>
          <p:cNvSpPr/>
          <p:nvPr/>
        </p:nvSpPr>
        <p:spPr>
          <a:xfrm>
            <a:off x="7269480" y="4050792"/>
            <a:ext cx="1600200" cy="310896"/>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Contrôler</a:t>
            </a:r>
          </a:p>
        </p:txBody>
      </p:sp>
      <p:cxnSp>
        <p:nvCxnSpPr>
          <p:cNvPr id="124" name="Connector 123"/>
          <p:cNvCxnSpPr/>
          <p:nvPr/>
        </p:nvCxnSpPr>
        <p:spPr>
          <a:xfrm>
            <a:off x="3017520" y="4709160"/>
            <a:ext cx="6153912" cy="0"/>
          </a:xfrm>
          <a:prstGeom prst="line">
            <a:avLst/>
          </a:prstGeom>
          <a:ln w="38100">
            <a:solidFill>
              <a:srgbClr val="7ACFC0"/>
            </a:solidFill>
            <a:tailEnd type="triangle" w="med" len="med"/>
          </a:ln>
        </p:spPr>
      </p:cxnSp>
      <p:sp>
        <p:nvSpPr>
          <p:cNvPr id="125" name="TextBox 124"/>
          <p:cNvSpPr txBox="1"/>
          <p:nvPr/>
        </p:nvSpPr>
        <p:spPr>
          <a:xfrm>
            <a:off x="3108960" y="4434840"/>
            <a:ext cx="1280160" cy="256032"/>
          </a:xfrm>
          <a:prstGeom prst="rect">
            <a:avLst/>
          </a:prstGeom>
          <a:noFill/>
        </p:spPr>
        <p:txBody>
          <a:bodyPr wrap="square" lIns="0" tIns="0" rIns="0" bIns="0" anchor="t">
            <a:noAutofit/>
          </a:bodyPr>
          <a:lstStyle/>
          <a:p>
            <a:pPr algn="l">
              <a:lnSpc>
                <a:spcPct val="115000"/>
              </a:lnSpc>
              <a:spcBef>
                <a:spcPts val="0"/>
              </a:spcBef>
              <a:spcAft>
                <a:spcPts val="0"/>
              </a:spcAft>
            </a:pPr>
            <a:r>
              <a:rPr sz="1250" b="1" i="0">
                <a:solidFill>
                  <a:srgbClr val="6B3FA0"/>
                </a:solidFill>
                <a:latin typeface="Sora"/>
              </a:rPr>
              <a:t>Sens aller</a:t>
            </a:r>
          </a:p>
        </p:txBody>
      </p:sp>
      <p:sp>
        <p:nvSpPr>
          <p:cNvPr id="126" name="TextBox 125"/>
          <p:cNvSpPr txBox="1"/>
          <p:nvPr/>
        </p:nvSpPr>
        <p:spPr>
          <a:xfrm>
            <a:off x="3017520" y="4800600"/>
            <a:ext cx="6153912" cy="365760"/>
          </a:xfrm>
          <a:prstGeom prst="rect">
            <a:avLst/>
          </a:prstGeom>
          <a:noFill/>
        </p:spPr>
        <p:txBody>
          <a:bodyPr wrap="square" lIns="0" tIns="0" rIns="0" bIns="0" anchor="t">
            <a:noAutofit/>
          </a:bodyPr>
          <a:lstStyle/>
          <a:p>
            <a:pPr algn="ctr">
              <a:lnSpc>
                <a:spcPct val="115000"/>
              </a:lnSpc>
              <a:spcBef>
                <a:spcPts val="0"/>
              </a:spcBef>
              <a:spcAft>
                <a:spcPts val="0"/>
              </a:spcAft>
            </a:pPr>
            <a:r>
              <a:rPr sz="1400" b="0" i="0">
                <a:solidFill>
                  <a:srgbClr val="2B3350"/>
                </a:solidFill>
                <a:latin typeface="DM Sans"/>
              </a:rPr>
              <a:t>Biens · services · informations associées</a:t>
            </a:r>
          </a:p>
        </p:txBody>
      </p:sp>
      <p:cxnSp>
        <p:nvCxnSpPr>
          <p:cNvPr id="127" name="Connector 126"/>
          <p:cNvCxnSpPr/>
          <p:nvPr/>
        </p:nvCxnSpPr>
        <p:spPr>
          <a:xfrm flipH="1">
            <a:off x="3017520" y="5349240"/>
            <a:ext cx="6153912" cy="0"/>
          </a:xfrm>
          <a:prstGeom prst="line">
            <a:avLst/>
          </a:prstGeom>
          <a:ln w="38100">
            <a:solidFill>
              <a:srgbClr val="B39DDB"/>
            </a:solidFill>
            <a:tailEnd type="triangle" w="med" len="med"/>
          </a:ln>
        </p:spPr>
      </p:cxnSp>
      <p:sp>
        <p:nvSpPr>
          <p:cNvPr id="128" name="TextBox 127"/>
          <p:cNvSpPr txBox="1"/>
          <p:nvPr/>
        </p:nvSpPr>
        <p:spPr>
          <a:xfrm>
            <a:off x="7772400" y="5404104"/>
            <a:ext cx="1371600" cy="256032"/>
          </a:xfrm>
          <a:prstGeom prst="rect">
            <a:avLst/>
          </a:prstGeom>
          <a:noFill/>
        </p:spPr>
        <p:txBody>
          <a:bodyPr wrap="square" lIns="0" tIns="0" rIns="0" bIns="0" anchor="t">
            <a:noAutofit/>
          </a:bodyPr>
          <a:lstStyle/>
          <a:p>
            <a:pPr algn="r">
              <a:lnSpc>
                <a:spcPct val="115000"/>
              </a:lnSpc>
              <a:spcBef>
                <a:spcPts val="0"/>
              </a:spcBef>
              <a:spcAft>
                <a:spcPts val="0"/>
              </a:spcAft>
            </a:pPr>
            <a:r>
              <a:rPr sz="1250" b="1" i="0">
                <a:solidFill>
                  <a:srgbClr val="6B3FA0"/>
                </a:solidFill>
                <a:latin typeface="Sora"/>
              </a:rPr>
              <a:t>Sens retour</a:t>
            </a:r>
          </a:p>
        </p:txBody>
      </p:sp>
      <p:sp>
        <p:nvSpPr>
          <p:cNvPr id="129" name="TextBox 128"/>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CSCMP, SCM Definitions and Glossary of Terms. Traduction proposée.</a:t>
            </a:r>
          </a:p>
        </p:txBody>
      </p:sp>
      <p:sp>
        <p:nvSpPr>
          <p:cNvPr id="130" name="Rectangle 129"/>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1" name="Rectangle 130"/>
          <p:cNvSpPr/>
          <p:nvPr/>
        </p:nvSpPr>
        <p:spPr>
          <a:xfrm>
            <a:off x="155448" y="6803136"/>
            <a:ext cx="1266973" cy="54864"/>
          </a:xfrm>
          <a:prstGeom prst="rect">
            <a:avLst/>
          </a:prstGeom>
          <a:solidFill>
            <a:srgbClr val="6B3FA0"/>
          </a:solidFill>
          <a:ln>
            <a:noFill/>
          </a:ln>
        </p:spPr>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Un processus transforme des entrées en résultat ; un sous-processus en est une partie précise</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6</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5312664" cy="2011680"/>
          </a:xfrm>
          <a:prstGeom prst="roundRect">
            <a:avLst>
              <a:gd name="adj" fmla="val 7577"/>
            </a:avLst>
          </a:prstGeom>
          <a:solidFill>
            <a:srgbClr val="FFFFFF"/>
          </a:solidFill>
          <a:ln>
            <a:noFill/>
          </a:ln>
        </p:spPr>
        <p:txBody>
          <a:bodyPr rtlCol="0" anchor="ctr"/>
          <a:lstStyle/>
          <a:p>
            <a:pPr algn="ctr"/>
          </a:p>
        </p:txBody>
      </p:sp>
      <p:sp>
        <p:nvSpPr>
          <p:cNvPr id="114" name="Rectangle 113"/>
          <p:cNvSpPr/>
          <p:nvPr/>
        </p:nvSpPr>
        <p:spPr>
          <a:xfrm>
            <a:off x="694944" y="1773936"/>
            <a:ext cx="5312664" cy="2011680"/>
          </a:xfrm>
          <a:custGeom>
            <a:rect b="b" l="l" r="r" t="t"/>
            <a:pathLst>
              <a:path extrusionOk="0" h="201168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5" name="TextBox 114"/>
          <p:cNvSpPr txBox="1"/>
          <p:nvPr/>
        </p:nvSpPr>
        <p:spPr>
          <a:xfrm>
            <a:off x="950976" y="1975104"/>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800" b="1" i="0">
                <a:solidFill>
                  <a:srgbClr val="1B2A4A"/>
                </a:solidFill>
                <a:latin typeface="Sora"/>
              </a:rPr>
              <a:t>Processus</a:t>
            </a:r>
          </a:p>
        </p:txBody>
      </p:sp>
      <p:sp>
        <p:nvSpPr>
          <p:cNvPr id="116" name="TextBox 115"/>
          <p:cNvSpPr txBox="1"/>
          <p:nvPr/>
        </p:nvSpPr>
        <p:spPr>
          <a:xfrm>
            <a:off x="950976" y="2432304"/>
            <a:ext cx="4846320" cy="822960"/>
          </a:xfrm>
          <a:prstGeom prst="rect">
            <a:avLst/>
          </a:prstGeom>
          <a:noFill/>
        </p:spPr>
        <p:txBody>
          <a:bodyPr wrap="square" lIns="0" tIns="0" rIns="0" bIns="0" anchor="t">
            <a:noAutofit/>
          </a:bodyPr>
          <a:lstStyle/>
          <a:p>
            <a:pPr algn="l">
              <a:lnSpc>
                <a:spcPct val="115000"/>
              </a:lnSpc>
              <a:spcBef>
                <a:spcPts val="0"/>
              </a:spcBef>
              <a:spcAft>
                <a:spcPts val="0"/>
              </a:spcAft>
            </a:pPr>
            <a:r>
              <a:rPr sz="1400" b="0" i="0">
                <a:solidFill>
                  <a:srgbClr val="2B3350"/>
                </a:solidFill>
                <a:latin typeface="DM Sans"/>
              </a:rPr>
              <a:t>Ensemble d’activités liées qui transforment des éléments d’entrée en un résultat attendu.</a:t>
            </a:r>
          </a:p>
        </p:txBody>
      </p:sp>
      <p:sp>
        <p:nvSpPr>
          <p:cNvPr id="117" name="Rounded Rectangle 116"/>
          <p:cNvSpPr/>
          <p:nvPr/>
        </p:nvSpPr>
        <p:spPr>
          <a:xfrm>
            <a:off x="950976" y="3310128"/>
            <a:ext cx="4800600" cy="310896"/>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Exemple : 2. Prévision et planification</a:t>
            </a:r>
          </a:p>
        </p:txBody>
      </p:sp>
      <p:sp>
        <p:nvSpPr>
          <p:cNvPr id="118" name="Rounded Rectangle 117"/>
          <p:cNvSpPr/>
          <p:nvPr/>
        </p:nvSpPr>
        <p:spPr>
          <a:xfrm>
            <a:off x="6181344" y="1773936"/>
            <a:ext cx="5312664" cy="2011680"/>
          </a:xfrm>
          <a:prstGeom prst="roundRect">
            <a:avLst>
              <a:gd name="adj" fmla="val 7577"/>
            </a:avLst>
          </a:prstGeom>
          <a:solidFill>
            <a:srgbClr val="FFFFFF"/>
          </a:solidFill>
          <a:ln>
            <a:noFill/>
          </a:ln>
        </p:spPr>
        <p:txBody>
          <a:bodyPr rtlCol="0" anchor="ctr"/>
          <a:lstStyle/>
          <a:p>
            <a:pPr algn="ctr"/>
          </a:p>
        </p:txBody>
      </p:sp>
      <p:sp>
        <p:nvSpPr>
          <p:cNvPr id="119" name="Rectangle 118"/>
          <p:cNvSpPr/>
          <p:nvPr/>
        </p:nvSpPr>
        <p:spPr>
          <a:xfrm>
            <a:off x="6181344" y="1773936"/>
            <a:ext cx="5312664" cy="2011680"/>
          </a:xfrm>
          <a:custGeom>
            <a:rect b="b" l="l" r="r" t="t"/>
            <a:pathLst>
              <a:path extrusionOk="0" h="201168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0" name="TextBox 119"/>
          <p:cNvSpPr txBox="1"/>
          <p:nvPr/>
        </p:nvSpPr>
        <p:spPr>
          <a:xfrm>
            <a:off x="6437376" y="1975104"/>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800" b="1" i="0">
                <a:solidFill>
                  <a:srgbClr val="1B2A4A"/>
                </a:solidFill>
                <a:latin typeface="Sora"/>
              </a:rPr>
              <a:t>Sous-processus</a:t>
            </a:r>
          </a:p>
        </p:txBody>
      </p:sp>
      <p:sp>
        <p:nvSpPr>
          <p:cNvPr id="121" name="TextBox 120"/>
          <p:cNvSpPr txBox="1"/>
          <p:nvPr/>
        </p:nvSpPr>
        <p:spPr>
          <a:xfrm>
            <a:off x="6437376" y="2432304"/>
            <a:ext cx="4846320" cy="822960"/>
          </a:xfrm>
          <a:prstGeom prst="rect">
            <a:avLst/>
          </a:prstGeom>
          <a:noFill/>
        </p:spPr>
        <p:txBody>
          <a:bodyPr wrap="square" lIns="0" tIns="0" rIns="0" bIns="0" anchor="t">
            <a:noAutofit/>
          </a:bodyPr>
          <a:lstStyle/>
          <a:p>
            <a:pPr algn="l">
              <a:lnSpc>
                <a:spcPct val="115000"/>
              </a:lnSpc>
              <a:spcBef>
                <a:spcPts val="0"/>
              </a:spcBef>
              <a:spcAft>
                <a:spcPts val="0"/>
              </a:spcAft>
            </a:pPr>
            <a:r>
              <a:rPr sz="1400" b="0" i="0">
                <a:solidFill>
                  <a:srgbClr val="2B3350"/>
                </a:solidFill>
                <a:latin typeface="DM Sans"/>
              </a:rPr>
              <a:t>Partie d’un processus : un groupe d’activités plus fin, avec ses propres entrées et son propre résultat.</a:t>
            </a:r>
          </a:p>
        </p:txBody>
      </p:sp>
      <p:sp>
        <p:nvSpPr>
          <p:cNvPr id="122" name="Rounded Rectangle 121"/>
          <p:cNvSpPr/>
          <p:nvPr/>
        </p:nvSpPr>
        <p:spPr>
          <a:xfrm>
            <a:off x="6437376" y="3310128"/>
            <a:ext cx="4800600" cy="310896"/>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Exemple : 2.3.3 Ressources humaines et équipements</a:t>
            </a:r>
          </a:p>
        </p:txBody>
      </p:sp>
      <p:sp>
        <p:nvSpPr>
          <p:cNvPr id="123" name="TextBox 122"/>
          <p:cNvSpPr txBox="1"/>
          <p:nvPr/>
        </p:nvSpPr>
        <p:spPr>
          <a:xfrm>
            <a:off x="694944" y="4023360"/>
            <a:ext cx="1078992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6B3FA0"/>
                </a:solidFill>
                <a:latin typeface="Sora"/>
              </a:rPr>
              <a:t>DANS LA CARTOGRAPHIE CSCMP : TROIS NIVEAUX EMBOÎTÉS</a:t>
            </a:r>
          </a:p>
        </p:txBody>
      </p:sp>
      <p:sp>
        <p:nvSpPr>
          <p:cNvPr id="124" name="Rounded Rectangle 123"/>
          <p:cNvSpPr/>
          <p:nvPr/>
        </p:nvSpPr>
        <p:spPr>
          <a:xfrm>
            <a:off x="694944" y="4434840"/>
            <a:ext cx="3246120" cy="1188720"/>
          </a:xfrm>
          <a:prstGeom prst="roundRect">
            <a:avLst>
              <a:gd name="adj" fmla="val 7692"/>
            </a:avLst>
          </a:prstGeom>
          <a:solidFill>
            <a:srgbClr val="2D7C31"/>
          </a:solidFill>
          <a:ln>
            <a:noFill/>
          </a:ln>
        </p:spPr>
        <p:txBody>
          <a:bodyPr rtlCol="0" anchor="ctr"/>
          <a:lstStyle/>
          <a:p>
            <a:pPr algn="ctr"/>
          </a:p>
        </p:txBody>
      </p:sp>
      <p:sp>
        <p:nvSpPr>
          <p:cNvPr id="125" name="TextBox 124"/>
          <p:cNvSpPr txBox="1"/>
          <p:nvPr/>
        </p:nvSpPr>
        <p:spPr>
          <a:xfrm>
            <a:off x="896112"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Métier · grand processus</a:t>
            </a:r>
          </a:p>
        </p:txBody>
      </p:sp>
      <p:sp>
        <p:nvSpPr>
          <p:cNvPr id="126" name="TextBox 125"/>
          <p:cNvSpPr txBox="1"/>
          <p:nvPr/>
        </p:nvSpPr>
        <p:spPr>
          <a:xfrm>
            <a:off x="896112"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FFFFFF"/>
                </a:solidFill>
                <a:latin typeface="Sora"/>
              </a:rPr>
              <a:t>2. Prévision et planification</a:t>
            </a:r>
          </a:p>
        </p:txBody>
      </p:sp>
      <p:sp>
        <p:nvSpPr>
          <p:cNvPr id="127" name="TextBox 126"/>
          <p:cNvSpPr txBox="1"/>
          <p:nvPr/>
        </p:nvSpPr>
        <p:spPr>
          <a:xfrm>
            <a:off x="694944"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9</a:t>
            </a:r>
            <a:r>
              <a:rPr sz="1200" b="0" i="0">
                <a:solidFill>
                  <a:srgbClr val="6B7390"/>
                </a:solidFill>
                <a:latin typeface="DM Sans"/>
              </a:rPr>
              <a:t> dans la cartographie</a:t>
            </a:r>
          </a:p>
        </p:txBody>
      </p:sp>
      <p:cxnSp>
        <p:nvCxnSpPr>
          <p:cNvPr id="128" name="Connector 127"/>
          <p:cNvCxnSpPr/>
          <p:nvPr/>
        </p:nvCxnSpPr>
        <p:spPr>
          <a:xfrm>
            <a:off x="3995928" y="5029200"/>
            <a:ext cx="420624" cy="0"/>
          </a:xfrm>
          <a:prstGeom prst="line">
            <a:avLst/>
          </a:prstGeom>
          <a:ln w="28575">
            <a:solidFill>
              <a:srgbClr val="1B2A4A"/>
            </a:solidFill>
            <a:tailEnd type="triangle" w="med" len="med"/>
          </a:ln>
        </p:spPr>
      </p:cxnSp>
      <p:sp>
        <p:nvSpPr>
          <p:cNvPr id="129" name="Rounded Rectangle 128"/>
          <p:cNvSpPr/>
          <p:nvPr/>
        </p:nvSpPr>
        <p:spPr>
          <a:xfrm>
            <a:off x="4471416" y="4434840"/>
            <a:ext cx="3246120" cy="1188720"/>
          </a:xfrm>
          <a:prstGeom prst="roundRect">
            <a:avLst>
              <a:gd name="adj" fmla="val 7692"/>
            </a:avLst>
          </a:prstGeom>
          <a:solidFill>
            <a:srgbClr val="6BA86F"/>
          </a:solidFill>
          <a:ln>
            <a:noFill/>
          </a:ln>
        </p:spPr>
        <p:txBody>
          <a:bodyPr rtlCol="0" anchor="ctr"/>
          <a:lstStyle/>
          <a:p>
            <a:pPr algn="ctr"/>
          </a:p>
        </p:txBody>
      </p:sp>
      <p:sp>
        <p:nvSpPr>
          <p:cNvPr id="130" name="TextBox 129"/>
          <p:cNvSpPr txBox="1"/>
          <p:nvPr/>
        </p:nvSpPr>
        <p:spPr>
          <a:xfrm>
            <a:off x="4672584"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Sous-métier · précision</a:t>
            </a:r>
          </a:p>
        </p:txBody>
      </p:sp>
      <p:sp>
        <p:nvSpPr>
          <p:cNvPr id="131" name="TextBox 130"/>
          <p:cNvSpPr txBox="1"/>
          <p:nvPr/>
        </p:nvSpPr>
        <p:spPr>
          <a:xfrm>
            <a:off x="4672584"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FFFFFF"/>
                </a:solidFill>
                <a:latin typeface="Sora"/>
              </a:rPr>
              <a:t>2.3 Planification des capacités</a:t>
            </a:r>
          </a:p>
        </p:txBody>
      </p:sp>
      <p:sp>
        <p:nvSpPr>
          <p:cNvPr id="132" name="TextBox 131"/>
          <p:cNvSpPr txBox="1"/>
          <p:nvPr/>
        </p:nvSpPr>
        <p:spPr>
          <a:xfrm>
            <a:off x="4471416"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37</a:t>
            </a:r>
            <a:r>
              <a:rPr sz="1200" b="0" i="0">
                <a:solidFill>
                  <a:srgbClr val="6B7390"/>
                </a:solidFill>
                <a:latin typeface="DM Sans"/>
              </a:rPr>
              <a:t> dans la cartographie</a:t>
            </a:r>
          </a:p>
        </p:txBody>
      </p:sp>
      <p:cxnSp>
        <p:nvCxnSpPr>
          <p:cNvPr id="133" name="Connector 132"/>
          <p:cNvCxnSpPr/>
          <p:nvPr/>
        </p:nvCxnSpPr>
        <p:spPr>
          <a:xfrm>
            <a:off x="7772400" y="5029200"/>
            <a:ext cx="420624" cy="0"/>
          </a:xfrm>
          <a:prstGeom prst="line">
            <a:avLst/>
          </a:prstGeom>
          <a:ln w="28575">
            <a:solidFill>
              <a:srgbClr val="1B2A4A"/>
            </a:solidFill>
            <a:tailEnd type="triangle" w="med" len="med"/>
          </a:ln>
        </p:spPr>
      </p:cxnSp>
      <p:sp>
        <p:nvSpPr>
          <p:cNvPr id="134" name="Rounded Rectangle 133"/>
          <p:cNvSpPr/>
          <p:nvPr/>
        </p:nvSpPr>
        <p:spPr>
          <a:xfrm>
            <a:off x="8247888" y="4434840"/>
            <a:ext cx="3246120" cy="1188720"/>
          </a:xfrm>
          <a:prstGeom prst="roundRect">
            <a:avLst>
              <a:gd name="adj" fmla="val 7692"/>
            </a:avLst>
          </a:prstGeom>
          <a:solidFill>
            <a:srgbClr val="FFB300"/>
          </a:solidFill>
          <a:ln>
            <a:noFill/>
          </a:ln>
        </p:spPr>
        <p:txBody>
          <a:bodyPr rtlCol="0" anchor="ctr"/>
          <a:lstStyle/>
          <a:p>
            <a:pPr algn="ctr"/>
          </a:p>
        </p:txBody>
      </p:sp>
      <p:sp>
        <p:nvSpPr>
          <p:cNvPr id="135" name="TextBox 134"/>
          <p:cNvSpPr txBox="1"/>
          <p:nvPr/>
        </p:nvSpPr>
        <p:spPr>
          <a:xfrm>
            <a:off x="8449056" y="4526280"/>
            <a:ext cx="2843784"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1B2A4A"/>
                </a:solidFill>
                <a:latin typeface="Sora"/>
              </a:rPr>
              <a:t>Sous-processus · activité</a:t>
            </a:r>
          </a:p>
        </p:txBody>
      </p:sp>
      <p:sp>
        <p:nvSpPr>
          <p:cNvPr id="136" name="TextBox 135"/>
          <p:cNvSpPr txBox="1"/>
          <p:nvPr/>
        </p:nvSpPr>
        <p:spPr>
          <a:xfrm>
            <a:off x="8449056" y="4864608"/>
            <a:ext cx="2843784" cy="685800"/>
          </a:xfrm>
          <a:prstGeom prst="rect">
            <a:avLst/>
          </a:prstGeom>
          <a:noFill/>
        </p:spPr>
        <p:txBody>
          <a:bodyPr wrap="square" lIns="0" tIns="0" rIns="0" bIns="0" anchor="t">
            <a:noAutofit/>
          </a:bodyPr>
          <a:lstStyle/>
          <a:p>
            <a:pPr algn="l">
              <a:lnSpc>
                <a:spcPct val="110000"/>
              </a:lnSpc>
              <a:spcBef>
                <a:spcPts val="0"/>
              </a:spcBef>
              <a:spcAft>
                <a:spcPts val="0"/>
              </a:spcAft>
            </a:pPr>
            <a:r>
              <a:rPr sz="1500" b="1" i="0">
                <a:solidFill>
                  <a:srgbClr val="1B2A4A"/>
                </a:solidFill>
                <a:latin typeface="Sora"/>
              </a:rPr>
              <a:t>2.3.3 Ressources humaines et équipements</a:t>
            </a:r>
          </a:p>
        </p:txBody>
      </p:sp>
      <p:sp>
        <p:nvSpPr>
          <p:cNvPr id="137" name="TextBox 136"/>
          <p:cNvSpPr txBox="1"/>
          <p:nvPr/>
        </p:nvSpPr>
        <p:spPr>
          <a:xfrm>
            <a:off x="8247888" y="5715000"/>
            <a:ext cx="3246120" cy="365760"/>
          </a:xfrm>
          <a:prstGeom prst="rect">
            <a:avLst/>
          </a:prstGeom>
          <a:noFill/>
        </p:spPr>
        <p:txBody>
          <a:bodyPr wrap="square" lIns="0" tIns="0" rIns="0" bIns="0" anchor="t">
            <a:noAutofit/>
          </a:bodyPr>
          <a:lstStyle/>
          <a:p>
            <a:pPr algn="ctr">
              <a:lnSpc>
                <a:spcPct val="115000"/>
              </a:lnSpc>
              <a:spcBef>
                <a:spcPts val="0"/>
              </a:spcBef>
              <a:spcAft>
                <a:spcPts val="0"/>
              </a:spcAft>
            </a:pPr>
            <a:r>
              <a:rPr sz="1800" b="1" i="0">
                <a:solidFill>
                  <a:srgbClr val="6B3FA0"/>
                </a:solidFill>
                <a:latin typeface="Sora"/>
              </a:rPr>
              <a:t>55</a:t>
            </a:r>
            <a:r>
              <a:rPr sz="1200" b="0" i="0">
                <a:solidFill>
                  <a:srgbClr val="6B7390"/>
                </a:solidFill>
                <a:latin typeface="DM Sans"/>
              </a:rPr>
              <a:t> dans la cartographie</a:t>
            </a:r>
          </a:p>
        </p:txBody>
      </p:sp>
      <p:sp>
        <p:nvSpPr>
          <p:cNvPr id="138" name="TextBox 13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Définition du processus d’après ISO 9000 (reformulée) ; niveaux : cartographie CSCMP de l’équipe 15.</a:t>
            </a:r>
          </a:p>
        </p:txBody>
      </p:sp>
      <p:sp>
        <p:nvSpPr>
          <p:cNvPr id="139" name="Rectangle 138"/>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40" name="Rectangle 139"/>
          <p:cNvSpPr/>
          <p:nvPr/>
        </p:nvSpPr>
        <p:spPr>
          <a:xfrm>
            <a:off x="155448" y="6803136"/>
            <a:ext cx="1900460" cy="54864"/>
          </a:xfrm>
          <a:prstGeom prst="rect">
            <a:avLst/>
          </a:prstGeom>
          <a:solidFill>
            <a:srgbClr val="6B3FA0"/>
          </a:solidFill>
          <a:ln>
            <a:noFill/>
          </a:ln>
        </p:spPr>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Notre application porte sur le sous-processus 2.3.3 : ressources humaines et équipements</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7</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pic>
        <p:nvPicPr>
          <p:cNvPr id="113" name="Picture 112" descr="carto_pptx.png"/>
          <p:cNvPicPr>
            <a:picLocks noChangeAspect="1"/>
          </p:cNvPicPr>
          <p:nvPr/>
        </p:nvPicPr>
        <p:blipFill>
          <a:blip r:embed="rId3"/>
          <a:stretch>
            <a:fillRect/>
          </a:stretch>
        </p:blipFill>
        <p:spPr>
          <a:xfrm>
            <a:off x="694944" y="1764792"/>
            <a:ext cx="6091622" cy="4315968"/>
          </a:xfrm>
          <a:prstGeom prst="rect">
            <a:avLst/>
          </a:prstGeom>
          <a:ln w="9525">
            <a:solidFill>
              <a:srgbClr val="D5DAE8"/>
            </a:solidFill>
          </a:ln>
        </p:spPr>
      </p:pic>
      <p:sp>
        <p:nvSpPr>
          <p:cNvPr id="114" name="Rectangle 113"/>
          <p:cNvSpPr/>
          <p:nvPr/>
        </p:nvSpPr>
        <p:spPr>
          <a:xfrm>
            <a:off x="694944" y="1764792"/>
            <a:ext cx="6091622" cy="374632"/>
          </a:xfrm>
          <a:prstGeom prst="rect">
            <a:avLst/>
          </a:prstGeom>
          <a:solidFill>
            <a:srgbClr val="1B2A4A">
              <a:alpha val="48000"/>
            </a:srgbClr>
          </a:solidFill>
          <a:ln>
            <a:noFill/>
          </a:ln>
        </p:spPr>
        <p:txBody>
          <a:bodyPr rtlCol="0" anchor="ctr"/>
          <a:lstStyle/>
          <a:p>
            <a:pPr algn="ctr"/>
          </a:p>
        </p:txBody>
      </p:sp>
      <p:sp>
        <p:nvSpPr>
          <p:cNvPr id="115" name="Rectangle 114"/>
          <p:cNvSpPr/>
          <p:nvPr/>
        </p:nvSpPr>
        <p:spPr>
          <a:xfrm>
            <a:off x="694944" y="2549980"/>
            <a:ext cx="6091622" cy="3530780"/>
          </a:xfrm>
          <a:prstGeom prst="rect">
            <a:avLst/>
          </a:prstGeom>
          <a:solidFill>
            <a:srgbClr val="1B2A4A">
              <a:alpha val="48000"/>
            </a:srgbClr>
          </a:solidFill>
          <a:ln>
            <a:noFill/>
          </a:ln>
        </p:spPr>
        <p:txBody>
          <a:bodyPr rtlCol="0" anchor="ctr"/>
          <a:lstStyle/>
          <a:p>
            <a:pPr algn="ctr"/>
          </a:p>
        </p:txBody>
      </p:sp>
      <p:sp>
        <p:nvSpPr>
          <p:cNvPr id="116" name="Rectangle 115"/>
          <p:cNvSpPr/>
          <p:nvPr/>
        </p:nvSpPr>
        <p:spPr>
          <a:xfrm>
            <a:off x="694944" y="2139424"/>
            <a:ext cx="359236" cy="410556"/>
          </a:xfrm>
          <a:prstGeom prst="rect">
            <a:avLst/>
          </a:prstGeom>
          <a:solidFill>
            <a:srgbClr val="1B2A4A">
              <a:alpha val="48000"/>
            </a:srgbClr>
          </a:solidFill>
          <a:ln>
            <a:noFill/>
          </a:ln>
        </p:spPr>
        <p:txBody>
          <a:bodyPr rtlCol="0" anchor="ctr"/>
          <a:lstStyle/>
          <a:p>
            <a:pPr algn="ctr"/>
          </a:p>
        </p:txBody>
      </p:sp>
      <p:sp>
        <p:nvSpPr>
          <p:cNvPr id="117" name="Rectangle 116"/>
          <p:cNvSpPr/>
          <p:nvPr/>
        </p:nvSpPr>
        <p:spPr>
          <a:xfrm>
            <a:off x="1649486" y="2139424"/>
            <a:ext cx="2396620" cy="410556"/>
          </a:xfrm>
          <a:prstGeom prst="rect">
            <a:avLst/>
          </a:prstGeom>
          <a:solidFill>
            <a:srgbClr val="1B2A4A">
              <a:alpha val="48000"/>
            </a:srgbClr>
          </a:solidFill>
          <a:ln>
            <a:noFill/>
          </a:ln>
        </p:spPr>
        <p:txBody>
          <a:bodyPr rtlCol="0" anchor="ctr"/>
          <a:lstStyle/>
          <a:p>
            <a:pPr algn="ctr"/>
          </a:p>
        </p:txBody>
      </p:sp>
      <p:sp>
        <p:nvSpPr>
          <p:cNvPr id="118" name="Rectangle 117"/>
          <p:cNvSpPr/>
          <p:nvPr/>
        </p:nvSpPr>
        <p:spPr>
          <a:xfrm>
            <a:off x="5226454" y="2139424"/>
            <a:ext cx="1560112" cy="410556"/>
          </a:xfrm>
          <a:prstGeom prst="rect">
            <a:avLst/>
          </a:prstGeom>
          <a:solidFill>
            <a:srgbClr val="1B2A4A">
              <a:alpha val="48000"/>
            </a:srgbClr>
          </a:solidFill>
          <a:ln>
            <a:noFill/>
          </a:ln>
        </p:spPr>
        <p:txBody>
          <a:bodyPr rtlCol="0" anchor="ctr"/>
          <a:lstStyle/>
          <a:p>
            <a:pPr algn="ctr"/>
          </a:p>
        </p:txBody>
      </p:sp>
      <p:sp>
        <p:nvSpPr>
          <p:cNvPr id="119" name="Rectangle 118"/>
          <p:cNvSpPr/>
          <p:nvPr/>
        </p:nvSpPr>
        <p:spPr>
          <a:xfrm>
            <a:off x="4046106" y="2503792"/>
            <a:ext cx="1180348" cy="46188"/>
          </a:xfrm>
          <a:prstGeom prst="rect">
            <a:avLst/>
          </a:prstGeom>
          <a:solidFill>
            <a:srgbClr val="1B2A4A">
              <a:alpha val="48000"/>
            </a:srgbClr>
          </a:solidFill>
          <a:ln>
            <a:noFill/>
          </a:ln>
        </p:spPr>
        <p:txBody>
          <a:bodyPr rtlCol="0" anchor="ctr"/>
          <a:lstStyle/>
          <a:p>
            <a:pPr algn="ctr"/>
          </a:p>
        </p:txBody>
      </p:sp>
      <p:sp>
        <p:nvSpPr>
          <p:cNvPr id="120" name="Rectangle 119"/>
          <p:cNvSpPr/>
          <p:nvPr/>
        </p:nvSpPr>
        <p:spPr>
          <a:xfrm>
            <a:off x="1054180" y="2144556"/>
            <a:ext cx="595306" cy="405424"/>
          </a:xfrm>
          <a:prstGeom prst="rect">
            <a:avLst/>
          </a:prstGeom>
          <a:noFill/>
          <a:ln w="25400">
            <a:solidFill>
              <a:srgbClr val="2D7C31"/>
            </a:solidFill>
          </a:ln>
        </p:spPr>
        <p:txBody>
          <a:bodyPr rtlCol="0" anchor="ctr"/>
          <a:lstStyle/>
          <a:p>
            <a:pPr algn="ctr"/>
          </a:p>
        </p:txBody>
      </p:sp>
      <p:sp>
        <p:nvSpPr>
          <p:cNvPr id="121" name="Rectangle 120"/>
          <p:cNvSpPr/>
          <p:nvPr/>
        </p:nvSpPr>
        <p:spPr>
          <a:xfrm>
            <a:off x="4046106" y="2139424"/>
            <a:ext cx="1180348" cy="364368"/>
          </a:xfrm>
          <a:prstGeom prst="rect">
            <a:avLst/>
          </a:prstGeom>
          <a:noFill/>
          <a:ln w="25400">
            <a:solidFill>
              <a:srgbClr val="2D7C31"/>
            </a:solidFill>
          </a:ln>
        </p:spPr>
        <p:txBody>
          <a:bodyPr rtlCol="0" anchor="ctr"/>
          <a:lstStyle/>
          <a:p>
            <a:pPr algn="ctr"/>
          </a:p>
        </p:txBody>
      </p:sp>
      <p:sp>
        <p:nvSpPr>
          <p:cNvPr id="122" name="Rectangle 121"/>
          <p:cNvSpPr/>
          <p:nvPr/>
        </p:nvSpPr>
        <p:spPr>
          <a:xfrm>
            <a:off x="4082029" y="2406285"/>
            <a:ext cx="728737" cy="102639"/>
          </a:xfrm>
          <a:prstGeom prst="rect">
            <a:avLst/>
          </a:prstGeom>
          <a:solidFill>
            <a:srgbClr val="FFB300">
              <a:alpha val="45000"/>
            </a:srgbClr>
          </a:solidFill>
          <a:ln w="31750">
            <a:solidFill>
              <a:srgbClr val="FFB300"/>
            </a:solidFill>
          </a:ln>
        </p:spPr>
        <p:txBody>
          <a:bodyPr rtlCol="0" anchor="ctr"/>
          <a:lstStyle/>
          <a:p>
            <a:pPr algn="ctr"/>
          </a:p>
        </p:txBody>
      </p:sp>
      <p:sp>
        <p:nvSpPr>
          <p:cNvPr id="123" name="TextBox 122"/>
          <p:cNvSpPr txBox="1"/>
          <p:nvPr/>
        </p:nvSpPr>
        <p:spPr>
          <a:xfrm>
            <a:off x="7060886" y="1810512"/>
            <a:ext cx="4433122" cy="256032"/>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6B3FA0"/>
                </a:solidFill>
                <a:latin typeface="Sora"/>
              </a:rPr>
              <a:t>NOTRE SOUS-PROCESSUS</a:t>
            </a:r>
          </a:p>
        </p:txBody>
      </p:sp>
      <p:sp>
        <p:nvSpPr>
          <p:cNvPr id="124" name="Rounded Rectangle 123"/>
          <p:cNvSpPr/>
          <p:nvPr/>
        </p:nvSpPr>
        <p:spPr>
          <a:xfrm>
            <a:off x="7060886" y="2176272"/>
            <a:ext cx="4433122" cy="868680"/>
          </a:xfrm>
          <a:prstGeom prst="roundRect">
            <a:avLst>
              <a:gd name="adj" fmla="val 10526"/>
            </a:avLst>
          </a:prstGeom>
          <a:solidFill>
            <a:srgbClr val="2D7C31"/>
          </a:solidFill>
          <a:ln>
            <a:noFill/>
          </a:ln>
        </p:spPr>
        <p:txBody>
          <a:bodyPr rtlCol="0" anchor="ctr"/>
          <a:lstStyle/>
          <a:p>
            <a:pPr algn="ctr"/>
          </a:p>
        </p:txBody>
      </p:sp>
      <p:sp>
        <p:nvSpPr>
          <p:cNvPr id="125" name="TextBox 124"/>
          <p:cNvSpPr txBox="1"/>
          <p:nvPr/>
        </p:nvSpPr>
        <p:spPr>
          <a:xfrm>
            <a:off x="7243766" y="228600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Métier 2</a:t>
            </a:r>
          </a:p>
        </p:txBody>
      </p:sp>
      <p:sp>
        <p:nvSpPr>
          <p:cNvPr id="126" name="TextBox 125"/>
          <p:cNvSpPr txBox="1"/>
          <p:nvPr/>
        </p:nvSpPr>
        <p:spPr>
          <a:xfrm>
            <a:off x="7243766" y="257860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FFFFFF"/>
                </a:solidFill>
                <a:latin typeface="Sora"/>
              </a:rPr>
              <a:t>Prévision et planification</a:t>
            </a:r>
          </a:p>
        </p:txBody>
      </p:sp>
      <p:cxnSp>
        <p:nvCxnSpPr>
          <p:cNvPr id="127" name="Connector 126"/>
          <p:cNvCxnSpPr/>
          <p:nvPr/>
        </p:nvCxnSpPr>
        <p:spPr>
          <a:xfrm>
            <a:off x="9277447" y="3063240"/>
            <a:ext cx="0" cy="182880"/>
          </a:xfrm>
          <a:prstGeom prst="line">
            <a:avLst/>
          </a:prstGeom>
          <a:ln w="25400">
            <a:solidFill>
              <a:srgbClr val="1B2A4A"/>
            </a:solidFill>
            <a:tailEnd type="triangle" w="med" len="med"/>
          </a:ln>
        </p:spPr>
      </p:cxnSp>
      <p:sp>
        <p:nvSpPr>
          <p:cNvPr id="128" name="Rounded Rectangle 127"/>
          <p:cNvSpPr/>
          <p:nvPr/>
        </p:nvSpPr>
        <p:spPr>
          <a:xfrm>
            <a:off x="7060886" y="3273552"/>
            <a:ext cx="4433122" cy="868680"/>
          </a:xfrm>
          <a:prstGeom prst="roundRect">
            <a:avLst>
              <a:gd name="adj" fmla="val 10526"/>
            </a:avLst>
          </a:prstGeom>
          <a:solidFill>
            <a:srgbClr val="6BA86F"/>
          </a:solidFill>
          <a:ln>
            <a:noFill/>
          </a:ln>
        </p:spPr>
        <p:txBody>
          <a:bodyPr rtlCol="0" anchor="ctr"/>
          <a:lstStyle/>
          <a:p>
            <a:pPr algn="ctr"/>
          </a:p>
        </p:txBody>
      </p:sp>
      <p:sp>
        <p:nvSpPr>
          <p:cNvPr id="129" name="TextBox 128"/>
          <p:cNvSpPr txBox="1"/>
          <p:nvPr/>
        </p:nvSpPr>
        <p:spPr>
          <a:xfrm>
            <a:off x="7243766" y="338328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FFFFFF"/>
                </a:solidFill>
                <a:latin typeface="Sora"/>
              </a:rPr>
              <a:t>Sous-métier 2.3</a:t>
            </a:r>
          </a:p>
        </p:txBody>
      </p:sp>
      <p:sp>
        <p:nvSpPr>
          <p:cNvPr id="130" name="TextBox 129"/>
          <p:cNvSpPr txBox="1"/>
          <p:nvPr/>
        </p:nvSpPr>
        <p:spPr>
          <a:xfrm>
            <a:off x="7243766" y="367588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FFFFFF"/>
                </a:solidFill>
                <a:latin typeface="Sora"/>
              </a:rPr>
              <a:t>Planification des capacités</a:t>
            </a:r>
          </a:p>
        </p:txBody>
      </p:sp>
      <p:cxnSp>
        <p:nvCxnSpPr>
          <p:cNvPr id="131" name="Connector 130"/>
          <p:cNvCxnSpPr/>
          <p:nvPr/>
        </p:nvCxnSpPr>
        <p:spPr>
          <a:xfrm>
            <a:off x="9277447" y="4160520"/>
            <a:ext cx="0" cy="182880"/>
          </a:xfrm>
          <a:prstGeom prst="line">
            <a:avLst/>
          </a:prstGeom>
          <a:ln w="25400">
            <a:solidFill>
              <a:srgbClr val="1B2A4A"/>
            </a:solidFill>
            <a:tailEnd type="triangle" w="med" len="med"/>
          </a:ln>
        </p:spPr>
      </p:cxnSp>
      <p:sp>
        <p:nvSpPr>
          <p:cNvPr id="132" name="Rounded Rectangle 131"/>
          <p:cNvSpPr/>
          <p:nvPr/>
        </p:nvSpPr>
        <p:spPr>
          <a:xfrm>
            <a:off x="7060886" y="4370832"/>
            <a:ext cx="4433122" cy="868680"/>
          </a:xfrm>
          <a:prstGeom prst="roundRect">
            <a:avLst>
              <a:gd name="adj" fmla="val 10526"/>
            </a:avLst>
          </a:prstGeom>
          <a:solidFill>
            <a:srgbClr val="FFB300"/>
          </a:solidFill>
          <a:ln>
            <a:noFill/>
          </a:ln>
        </p:spPr>
        <p:txBody>
          <a:bodyPr rtlCol="0" anchor="ctr"/>
          <a:lstStyle/>
          <a:p>
            <a:pPr algn="ctr"/>
          </a:p>
        </p:txBody>
      </p:sp>
      <p:sp>
        <p:nvSpPr>
          <p:cNvPr id="133" name="TextBox 132"/>
          <p:cNvSpPr txBox="1"/>
          <p:nvPr/>
        </p:nvSpPr>
        <p:spPr>
          <a:xfrm>
            <a:off x="7243766" y="4480560"/>
            <a:ext cx="4067362"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1B2A4A"/>
                </a:solidFill>
                <a:latin typeface="Sora"/>
              </a:rPr>
              <a:t>Sous-processus 2.3.3</a:t>
            </a:r>
          </a:p>
        </p:txBody>
      </p:sp>
      <p:sp>
        <p:nvSpPr>
          <p:cNvPr id="134" name="TextBox 133"/>
          <p:cNvSpPr txBox="1"/>
          <p:nvPr/>
        </p:nvSpPr>
        <p:spPr>
          <a:xfrm>
            <a:off x="7243766" y="4773168"/>
            <a:ext cx="4067362" cy="457200"/>
          </a:xfrm>
          <a:prstGeom prst="rect">
            <a:avLst/>
          </a:prstGeom>
          <a:noFill/>
        </p:spPr>
        <p:txBody>
          <a:bodyPr wrap="square" lIns="0" tIns="0" rIns="0" bIns="0" anchor="t">
            <a:noAutofit/>
          </a:bodyPr>
          <a:lstStyle/>
          <a:p>
            <a:pPr algn="l">
              <a:lnSpc>
                <a:spcPct val="105000"/>
              </a:lnSpc>
              <a:spcBef>
                <a:spcPts val="0"/>
              </a:spcBef>
              <a:spcAft>
                <a:spcPts val="0"/>
              </a:spcAft>
            </a:pPr>
            <a:r>
              <a:rPr sz="1400" b="1" i="0">
                <a:solidFill>
                  <a:srgbClr val="1B2A4A"/>
                </a:solidFill>
                <a:latin typeface="Sora"/>
              </a:rPr>
              <a:t>Ressources humaines et équipements</a:t>
            </a:r>
          </a:p>
        </p:txBody>
      </p:sp>
      <p:sp>
        <p:nvSpPr>
          <p:cNvPr id="135" name="TextBox 134"/>
          <p:cNvSpPr txBox="1"/>
          <p:nvPr/>
        </p:nvSpPr>
        <p:spPr>
          <a:xfrm>
            <a:off x="7060886" y="5513832"/>
            <a:ext cx="4433122" cy="91440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2B3350"/>
                </a:solidFill>
                <a:latin typeface="DM Sans"/>
              </a:rPr>
              <a:t>Il transforme la prévision de volume en heures de main-d’œuvre, en effectif et en équipements, par zone et par jour.</a:t>
            </a:r>
          </a:p>
        </p:txBody>
      </p:sp>
      <p:cxnSp>
        <p:nvCxnSpPr>
          <p:cNvPr id="136" name="Connector 135"/>
          <p:cNvCxnSpPr/>
          <p:nvPr/>
        </p:nvCxnSpPr>
        <p:spPr>
          <a:xfrm flipH="1" flipV="1">
            <a:off x="4838198" y="2457605"/>
            <a:ext cx="2195256" cy="2347567"/>
          </a:xfrm>
          <a:prstGeom prst="line">
            <a:avLst/>
          </a:prstGeom>
          <a:ln w="28575">
            <a:solidFill>
              <a:srgbClr val="FFB300"/>
            </a:solidFill>
            <a:tailEnd type="triangle" w="med" len="med"/>
          </a:ln>
        </p:spPr>
      </p:cxnSp>
      <p:sp>
        <p:nvSpPr>
          <p:cNvPr id="137" name="TextBox 136"/>
          <p:cNvSpPr txBox="1"/>
          <p:nvPr/>
        </p:nvSpPr>
        <p:spPr>
          <a:xfrm>
            <a:off x="694944" y="6345936"/>
            <a:ext cx="822960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cartographie des processus logistiques, approche CSCMP (rapport de l’équipe 15).</a:t>
            </a:r>
          </a:p>
        </p:txBody>
      </p:sp>
      <p:sp>
        <p:nvSpPr>
          <p:cNvPr id="138" name="Rectangle 137"/>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9" name="Rectangle 138"/>
          <p:cNvSpPr/>
          <p:nvPr/>
        </p:nvSpPr>
        <p:spPr>
          <a:xfrm>
            <a:off x="155448" y="6803136"/>
            <a:ext cx="2217203" cy="54864"/>
          </a:xfrm>
          <a:prstGeom prst="rect">
            <a:avLst/>
          </a:prstGeom>
          <a:solidFill>
            <a:srgbClr val="6B3FA0"/>
          </a:solidFill>
          <a:ln>
            <a:noFill/>
          </a:ln>
        </p:spPr>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2.3.3 dimensionne les personnes et les machines, quand ses voisins dimensionnent l’espace et les véhicules</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8</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TextBox 112"/>
          <p:cNvSpPr txBox="1"/>
          <p:nvPr/>
        </p:nvSpPr>
        <p:spPr>
          <a:xfrm>
            <a:off x="694944" y="1773936"/>
            <a:ext cx="1078992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DM Sans"/>
              </a:rPr>
              <a:t>Métier 2 · Prévision et planification</a:t>
            </a:r>
            <a:r>
              <a:rPr sz="1350" b="0" i="0">
                <a:solidFill>
                  <a:srgbClr val="6B7390"/>
                </a:solidFill>
                <a:latin typeface="DM Sans"/>
              </a:rPr>
              <a:t>   ›   </a:t>
            </a:r>
            <a:r>
              <a:rPr sz="1350" b="1" i="0">
                <a:solidFill>
                  <a:srgbClr val="1B2A4A"/>
                </a:solidFill>
                <a:latin typeface="DM Sans"/>
              </a:rPr>
              <a:t>2.3 Planification des capacités</a:t>
            </a:r>
          </a:p>
        </p:txBody>
      </p:sp>
      <p:sp>
        <p:nvSpPr>
          <p:cNvPr id="114" name="Rounded Rectangle 113"/>
          <p:cNvSpPr/>
          <p:nvPr/>
        </p:nvSpPr>
        <p:spPr>
          <a:xfrm>
            <a:off x="694944" y="2194560"/>
            <a:ext cx="3502152" cy="1371600"/>
          </a:xfrm>
          <a:prstGeom prst="roundRect">
            <a:avLst>
              <a:gd name="adj" fmla="val 11113"/>
            </a:avLst>
          </a:prstGeom>
          <a:solidFill>
            <a:srgbClr val="FFFFFF"/>
          </a:solidFill>
          <a:ln>
            <a:noFill/>
          </a:ln>
        </p:spPr>
        <p:txBody>
          <a:bodyPr rtlCol="0" anchor="ctr"/>
          <a:lstStyle/>
          <a:p>
            <a:pPr algn="ctr"/>
          </a:p>
        </p:txBody>
      </p:sp>
      <p:sp>
        <p:nvSpPr>
          <p:cNvPr id="115" name="Rectangle 114"/>
          <p:cNvSpPr/>
          <p:nvPr/>
        </p:nvSpPr>
        <p:spPr>
          <a:xfrm>
            <a:off x="694944" y="2194560"/>
            <a:ext cx="3502152" cy="1371600"/>
          </a:xfrm>
          <a:custGeom>
            <a:rect b="b" l="l" r="r" t="t"/>
            <a:pathLst>
              <a:path extrusionOk="0" h="1371600" w="3502152">
                <a:moveTo>
                  <a:pt x="0" y="152400"/>
                </a:moveTo>
                <a:cubicBezTo>
                  <a:pt x="0" y="68229"/>
                  <a:pt x="68229" y="0"/>
                  <a:pt x="152400" y="0"/>
                </a:cubicBezTo>
                <a:lnTo>
                  <a:pt x="3349752" y="0"/>
                </a:lnTo>
                <a:cubicBezTo>
                  <a:pt x="3433922" y="0"/>
                  <a:pt x="3502152" y="68229"/>
                  <a:pt x="3502152" y="152400"/>
                </a:cubicBezTo>
                <a:cubicBezTo>
                  <a:pt x="3502152" y="103311"/>
                  <a:pt x="3433923" y="63500"/>
                  <a:pt x="3349752" y="63500"/>
                </a:cubicBezTo>
                <a:lnTo>
                  <a:pt x="152400" y="63500"/>
                </a:lnTo>
                <a:cubicBezTo>
                  <a:pt x="68229" y="63500"/>
                  <a:pt x="0" y="103311"/>
                  <a:pt x="0" y="152400"/>
                </a:cubicBezTo>
                <a:close/>
              </a:path>
            </a:pathLst>
          </a:custGeom>
          <a:solidFill>
            <a:srgbClr val="D5DAE8"/>
          </a:solidFill>
          <a:ln>
            <a:noFill/>
          </a:ln>
        </p:spPr>
        <p:txBody>
          <a:bodyPr rtlCol="0" anchor="ctr"/>
          <a:lstStyle/>
          <a:p>
            <a:pPr algn="ctr"/>
          </a:p>
        </p:txBody>
      </p:sp>
      <p:sp>
        <p:nvSpPr>
          <p:cNvPr id="116" name="TextBox 115"/>
          <p:cNvSpPr txBox="1"/>
          <p:nvPr/>
        </p:nvSpPr>
        <p:spPr>
          <a:xfrm>
            <a:off x="923544" y="2395728"/>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6B3FA0"/>
                </a:solidFill>
                <a:latin typeface="Sora"/>
              </a:rPr>
              <a:t>2.3.1</a:t>
            </a:r>
          </a:p>
        </p:txBody>
      </p:sp>
      <p:sp>
        <p:nvSpPr>
          <p:cNvPr id="117" name="TextBox 116"/>
          <p:cNvSpPr txBox="1"/>
          <p:nvPr/>
        </p:nvSpPr>
        <p:spPr>
          <a:xfrm>
            <a:off x="923544" y="2670048"/>
            <a:ext cx="3108960" cy="548640"/>
          </a:xfrm>
          <a:prstGeom prst="rect">
            <a:avLst/>
          </a:prstGeom>
          <a:noFill/>
        </p:spPr>
        <p:txBody>
          <a:bodyPr wrap="square" lIns="0" tIns="0" rIns="0" bIns="0" anchor="t">
            <a:noAutofit/>
          </a:bodyPr>
          <a:lstStyle/>
          <a:p>
            <a:pPr algn="l">
              <a:lnSpc>
                <a:spcPct val="105000"/>
              </a:lnSpc>
              <a:spcBef>
                <a:spcPts val="0"/>
              </a:spcBef>
              <a:spcAft>
                <a:spcPts val="0"/>
              </a:spcAft>
            </a:pPr>
            <a:r>
              <a:rPr sz="1500" b="1" i="0">
                <a:solidFill>
                  <a:srgbClr val="1B2A4A"/>
                </a:solidFill>
                <a:latin typeface="Sora"/>
              </a:rPr>
              <a:t>Capacités d’entreposage</a:t>
            </a:r>
          </a:p>
        </p:txBody>
      </p:sp>
      <p:sp>
        <p:nvSpPr>
          <p:cNvPr id="118" name="TextBox 117"/>
          <p:cNvSpPr txBox="1"/>
          <p:nvPr/>
        </p:nvSpPr>
        <p:spPr>
          <a:xfrm>
            <a:off x="923544" y="3163824"/>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250" b="0" i="0">
                <a:solidFill>
                  <a:srgbClr val="6B7390"/>
                </a:solidFill>
                <a:latin typeface="DM Sans"/>
              </a:rPr>
              <a:t>dimensionne l’espace</a:t>
            </a:r>
          </a:p>
        </p:txBody>
      </p:sp>
      <p:sp>
        <p:nvSpPr>
          <p:cNvPr id="119" name="Rounded Rectangle 118"/>
          <p:cNvSpPr/>
          <p:nvPr/>
        </p:nvSpPr>
        <p:spPr>
          <a:xfrm>
            <a:off x="4343400" y="2194560"/>
            <a:ext cx="3502152" cy="1371600"/>
          </a:xfrm>
          <a:prstGeom prst="roundRect">
            <a:avLst>
              <a:gd name="adj" fmla="val 11113"/>
            </a:avLst>
          </a:prstGeom>
          <a:solidFill>
            <a:srgbClr val="FFFFFF"/>
          </a:solidFill>
          <a:ln>
            <a:noFill/>
          </a:ln>
        </p:spPr>
        <p:txBody>
          <a:bodyPr rtlCol="0" anchor="ctr"/>
          <a:lstStyle/>
          <a:p>
            <a:pPr algn="ctr"/>
          </a:p>
        </p:txBody>
      </p:sp>
      <p:sp>
        <p:nvSpPr>
          <p:cNvPr id="120" name="Rectangle 119"/>
          <p:cNvSpPr/>
          <p:nvPr/>
        </p:nvSpPr>
        <p:spPr>
          <a:xfrm>
            <a:off x="4343400" y="2194560"/>
            <a:ext cx="3502152" cy="1371600"/>
          </a:xfrm>
          <a:custGeom>
            <a:rect b="b" l="l" r="r" t="t"/>
            <a:pathLst>
              <a:path extrusionOk="0" h="1371600" w="3502152">
                <a:moveTo>
                  <a:pt x="0" y="152400"/>
                </a:moveTo>
                <a:cubicBezTo>
                  <a:pt x="0" y="68229"/>
                  <a:pt x="68229" y="0"/>
                  <a:pt x="152400" y="0"/>
                </a:cubicBezTo>
                <a:lnTo>
                  <a:pt x="3349752" y="0"/>
                </a:lnTo>
                <a:cubicBezTo>
                  <a:pt x="3433922" y="0"/>
                  <a:pt x="3502152" y="68229"/>
                  <a:pt x="3502152" y="152400"/>
                </a:cubicBezTo>
                <a:cubicBezTo>
                  <a:pt x="3502152" y="103311"/>
                  <a:pt x="3433923" y="63500"/>
                  <a:pt x="3349752" y="63500"/>
                </a:cubicBezTo>
                <a:lnTo>
                  <a:pt x="152400" y="63500"/>
                </a:lnTo>
                <a:cubicBezTo>
                  <a:pt x="68229" y="63500"/>
                  <a:pt x="0" y="103311"/>
                  <a:pt x="0" y="152400"/>
                </a:cubicBezTo>
                <a:close/>
              </a:path>
            </a:pathLst>
          </a:custGeom>
          <a:solidFill>
            <a:srgbClr val="D5DAE8"/>
          </a:solidFill>
          <a:ln>
            <a:noFill/>
          </a:ln>
        </p:spPr>
        <p:txBody>
          <a:bodyPr rtlCol="0" anchor="ctr"/>
          <a:lstStyle/>
          <a:p>
            <a:pPr algn="ctr"/>
          </a:p>
        </p:txBody>
      </p:sp>
      <p:sp>
        <p:nvSpPr>
          <p:cNvPr id="121" name="TextBox 120"/>
          <p:cNvSpPr txBox="1"/>
          <p:nvPr/>
        </p:nvSpPr>
        <p:spPr>
          <a:xfrm>
            <a:off x="4572000" y="2395728"/>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6B3FA0"/>
                </a:solidFill>
                <a:latin typeface="Sora"/>
              </a:rPr>
              <a:t>2.3.2</a:t>
            </a:r>
          </a:p>
        </p:txBody>
      </p:sp>
      <p:sp>
        <p:nvSpPr>
          <p:cNvPr id="122" name="TextBox 121"/>
          <p:cNvSpPr txBox="1"/>
          <p:nvPr/>
        </p:nvSpPr>
        <p:spPr>
          <a:xfrm>
            <a:off x="4572000" y="2670048"/>
            <a:ext cx="3108960" cy="548640"/>
          </a:xfrm>
          <a:prstGeom prst="rect">
            <a:avLst/>
          </a:prstGeom>
          <a:noFill/>
        </p:spPr>
        <p:txBody>
          <a:bodyPr wrap="square" lIns="0" tIns="0" rIns="0" bIns="0" anchor="t">
            <a:noAutofit/>
          </a:bodyPr>
          <a:lstStyle/>
          <a:p>
            <a:pPr algn="l">
              <a:lnSpc>
                <a:spcPct val="105000"/>
              </a:lnSpc>
              <a:spcBef>
                <a:spcPts val="0"/>
              </a:spcBef>
              <a:spcAft>
                <a:spcPts val="0"/>
              </a:spcAft>
            </a:pPr>
            <a:r>
              <a:rPr sz="1500" b="1" i="0">
                <a:solidFill>
                  <a:srgbClr val="1B2A4A"/>
                </a:solidFill>
                <a:latin typeface="Sora"/>
              </a:rPr>
              <a:t>Capacités de transport</a:t>
            </a:r>
          </a:p>
        </p:txBody>
      </p:sp>
      <p:sp>
        <p:nvSpPr>
          <p:cNvPr id="123" name="TextBox 122"/>
          <p:cNvSpPr txBox="1"/>
          <p:nvPr/>
        </p:nvSpPr>
        <p:spPr>
          <a:xfrm>
            <a:off x="4572000" y="3163824"/>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250" b="0" i="0">
                <a:solidFill>
                  <a:srgbClr val="6B7390"/>
                </a:solidFill>
                <a:latin typeface="DM Sans"/>
              </a:rPr>
              <a:t>dimensionne les véhicules</a:t>
            </a:r>
          </a:p>
        </p:txBody>
      </p:sp>
      <p:sp>
        <p:nvSpPr>
          <p:cNvPr id="124" name="Rounded Rectangle 123"/>
          <p:cNvSpPr/>
          <p:nvPr/>
        </p:nvSpPr>
        <p:spPr>
          <a:xfrm>
            <a:off x="7991856" y="2194560"/>
            <a:ext cx="3502152" cy="1371600"/>
          </a:xfrm>
          <a:prstGeom prst="roundRect">
            <a:avLst>
              <a:gd name="adj" fmla="val 8000"/>
            </a:avLst>
          </a:prstGeom>
          <a:solidFill>
            <a:srgbClr val="1B2A4A"/>
          </a:solidFill>
          <a:ln>
            <a:noFill/>
          </a:ln>
        </p:spPr>
        <p:txBody>
          <a:bodyPr rtlCol="0" anchor="ctr"/>
          <a:lstStyle/>
          <a:p>
            <a:pPr algn="ctr"/>
          </a:p>
        </p:txBody>
      </p:sp>
      <p:sp>
        <p:nvSpPr>
          <p:cNvPr id="125" name="Rectangle 124"/>
          <p:cNvSpPr/>
          <p:nvPr/>
        </p:nvSpPr>
        <p:spPr>
          <a:xfrm>
            <a:off x="7991856" y="2194560"/>
            <a:ext cx="3502152" cy="1371600"/>
          </a:xfrm>
          <a:custGeom>
            <a:rect b="b" l="l" r="r" t="t"/>
            <a:pathLst>
              <a:path extrusionOk="0" h="1371600" w="3502152">
                <a:moveTo>
                  <a:pt x="0" y="152400"/>
                </a:moveTo>
                <a:cubicBezTo>
                  <a:pt x="0" y="68229"/>
                  <a:pt x="68229" y="0"/>
                  <a:pt x="152400" y="0"/>
                </a:cubicBezTo>
                <a:lnTo>
                  <a:pt x="3349752" y="0"/>
                </a:lnTo>
                <a:cubicBezTo>
                  <a:pt x="3433922" y="0"/>
                  <a:pt x="3502152" y="68229"/>
                  <a:pt x="3502152" y="152400"/>
                </a:cubicBezTo>
                <a:cubicBezTo>
                  <a:pt x="3502152" y="103311"/>
                  <a:pt x="3433923" y="63500"/>
                  <a:pt x="3349752" y="63500"/>
                </a:cubicBezTo>
                <a:lnTo>
                  <a:pt x="152400" y="63500"/>
                </a:lnTo>
                <a:cubicBezTo>
                  <a:pt x="68229" y="63500"/>
                  <a:pt x="0" y="103311"/>
                  <a:pt x="0" y="152400"/>
                </a:cubicBezTo>
                <a:close/>
              </a:path>
            </a:pathLst>
          </a:custGeom>
          <a:solidFill>
            <a:srgbClr val="FFB300"/>
          </a:solidFill>
          <a:ln>
            <a:noFill/>
          </a:ln>
        </p:spPr>
        <p:txBody>
          <a:bodyPr rtlCol="0" anchor="ctr"/>
          <a:lstStyle/>
          <a:p>
            <a:pPr algn="ctr"/>
          </a:p>
        </p:txBody>
      </p:sp>
      <p:sp>
        <p:nvSpPr>
          <p:cNvPr id="126" name="Rounded Rectangle 125"/>
          <p:cNvSpPr/>
          <p:nvPr/>
        </p:nvSpPr>
        <p:spPr>
          <a:xfrm>
            <a:off x="8220456" y="2359152"/>
            <a:ext cx="2103120" cy="256032"/>
          </a:xfrm>
          <a:prstGeom prst="roundRect">
            <a:avLst>
              <a:gd name="adj" fmla="val 50000"/>
            </a:avLst>
          </a:prstGeom>
          <a:solidFill>
            <a:srgbClr val="FFB300"/>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NOTRE SOUS-PROCESSUS</a:t>
            </a:r>
          </a:p>
        </p:txBody>
      </p:sp>
      <p:sp>
        <p:nvSpPr>
          <p:cNvPr id="127" name="TextBox 126"/>
          <p:cNvSpPr txBox="1"/>
          <p:nvPr/>
        </p:nvSpPr>
        <p:spPr>
          <a:xfrm>
            <a:off x="8220456" y="2724912"/>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1" i="0">
                <a:solidFill>
                  <a:srgbClr val="7ACFC0"/>
                </a:solidFill>
                <a:latin typeface="Sora"/>
              </a:rPr>
              <a:t>2.3.3</a:t>
            </a:r>
          </a:p>
        </p:txBody>
      </p:sp>
      <p:sp>
        <p:nvSpPr>
          <p:cNvPr id="128" name="TextBox 127"/>
          <p:cNvSpPr txBox="1"/>
          <p:nvPr/>
        </p:nvSpPr>
        <p:spPr>
          <a:xfrm>
            <a:off x="8220456" y="2980944"/>
            <a:ext cx="3108960" cy="548640"/>
          </a:xfrm>
          <a:prstGeom prst="rect">
            <a:avLst/>
          </a:prstGeom>
          <a:noFill/>
        </p:spPr>
        <p:txBody>
          <a:bodyPr wrap="square" lIns="0" tIns="0" rIns="0" bIns="0" anchor="t">
            <a:noAutofit/>
          </a:bodyPr>
          <a:lstStyle/>
          <a:p>
            <a:pPr algn="l">
              <a:lnSpc>
                <a:spcPct val="105000"/>
              </a:lnSpc>
              <a:spcBef>
                <a:spcPts val="0"/>
              </a:spcBef>
              <a:spcAft>
                <a:spcPts val="0"/>
              </a:spcAft>
            </a:pPr>
            <a:r>
              <a:rPr sz="1500" b="1" i="0">
                <a:solidFill>
                  <a:srgbClr val="FFFFFF"/>
                </a:solidFill>
                <a:latin typeface="Sora"/>
              </a:rPr>
              <a:t>Ressources humaines et équipements</a:t>
            </a:r>
          </a:p>
        </p:txBody>
      </p:sp>
      <p:sp>
        <p:nvSpPr>
          <p:cNvPr id="129" name="Rounded Rectangle 128"/>
          <p:cNvSpPr/>
          <p:nvPr/>
        </p:nvSpPr>
        <p:spPr>
          <a:xfrm>
            <a:off x="694944" y="3794760"/>
            <a:ext cx="10799064" cy="1170432"/>
          </a:xfrm>
          <a:prstGeom prst="roundRect">
            <a:avLst>
              <a:gd name="adj" fmla="val 13023"/>
            </a:avLst>
          </a:prstGeom>
          <a:solidFill>
            <a:srgbClr val="FFFFFF"/>
          </a:solidFill>
          <a:ln>
            <a:noFill/>
          </a:ln>
        </p:spPr>
        <p:txBody>
          <a:bodyPr rtlCol="0" anchor="ctr"/>
          <a:lstStyle/>
          <a:p>
            <a:pPr algn="ctr"/>
          </a:p>
        </p:txBody>
      </p:sp>
      <p:sp>
        <p:nvSpPr>
          <p:cNvPr id="130" name="Rectangle 129"/>
          <p:cNvSpPr/>
          <p:nvPr/>
        </p:nvSpPr>
        <p:spPr>
          <a:xfrm>
            <a:off x="694944" y="3794760"/>
            <a:ext cx="10799064" cy="1170432"/>
          </a:xfrm>
          <a:custGeom>
            <a:rect b="b" l="l" r="r" t="t"/>
            <a:pathLst>
              <a:path extrusionOk="0" h="1170432" w="10799064">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31" name="TextBox 130"/>
          <p:cNvSpPr txBox="1"/>
          <p:nvPr/>
        </p:nvSpPr>
        <p:spPr>
          <a:xfrm>
            <a:off x="969264" y="3794760"/>
            <a:ext cx="10241280" cy="1170432"/>
          </a:xfrm>
          <a:prstGeom prst="rect">
            <a:avLst/>
          </a:prstGeom>
          <a:noFill/>
        </p:spPr>
        <p:txBody>
          <a:bodyPr wrap="square" lIns="0" tIns="0" rIns="0" bIns="0" anchor="ctr">
            <a:noAutofit/>
          </a:bodyPr>
          <a:lstStyle/>
          <a:p>
            <a:pPr algn="l">
              <a:lnSpc>
                <a:spcPct val="118000"/>
              </a:lnSpc>
              <a:spcBef>
                <a:spcPts val="0"/>
              </a:spcBef>
              <a:spcAft>
                <a:spcPts val="0"/>
              </a:spcAft>
            </a:pPr>
            <a:r>
              <a:rPr sz="1600" b="1" i="0">
                <a:solidFill>
                  <a:srgbClr val="1B2A4A"/>
                </a:solidFill>
                <a:latin typeface="DM Sans"/>
              </a:rPr>
              <a:t>Il dimensionne les personnes et les machines qui font tourner le flux. </a:t>
            </a:r>
            <a:r>
              <a:rPr sz="1600" b="0" i="0">
                <a:solidFill>
                  <a:srgbClr val="2B3350"/>
                </a:solidFill>
                <a:latin typeface="DM Sans"/>
              </a:rPr>
              <a:t>Il transforme une prévision de volume en heures de main-d’œuvre, en effectif et en équipements, par zone et par jour.</a:t>
            </a:r>
          </a:p>
        </p:txBody>
      </p:sp>
      <p:sp>
        <p:nvSpPr>
          <p:cNvPr id="132" name="Rounded Rectangle 131"/>
          <p:cNvSpPr/>
          <p:nvPr/>
        </p:nvSpPr>
        <p:spPr>
          <a:xfrm>
            <a:off x="694944" y="5166360"/>
            <a:ext cx="10799064" cy="960120"/>
          </a:xfrm>
          <a:prstGeom prst="roundRect">
            <a:avLst>
              <a:gd name="adj" fmla="val 11428"/>
            </a:avLst>
          </a:prstGeom>
          <a:solidFill>
            <a:srgbClr val="1B2A4A"/>
          </a:solidFill>
          <a:ln>
            <a:noFill/>
          </a:ln>
        </p:spPr>
        <p:txBody>
          <a:bodyPr rtlCol="0" anchor="ctr"/>
          <a:lstStyle/>
          <a:p>
            <a:pPr algn="ctr"/>
          </a:p>
        </p:txBody>
      </p:sp>
      <p:sp>
        <p:nvSpPr>
          <p:cNvPr id="133" name="TextBox 132"/>
          <p:cNvSpPr txBox="1"/>
          <p:nvPr/>
        </p:nvSpPr>
        <p:spPr>
          <a:xfrm>
            <a:off x="987552" y="5248656"/>
            <a:ext cx="3291840" cy="256032"/>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LA QUESTION À LAQUELLE IL RÉPOND</a:t>
            </a:r>
          </a:p>
        </p:txBody>
      </p:sp>
      <p:sp>
        <p:nvSpPr>
          <p:cNvPr id="134" name="TextBox 133"/>
          <p:cNvSpPr txBox="1"/>
          <p:nvPr/>
        </p:nvSpPr>
        <p:spPr>
          <a:xfrm>
            <a:off x="987552" y="5504688"/>
            <a:ext cx="10241280" cy="548640"/>
          </a:xfrm>
          <a:prstGeom prst="rect">
            <a:avLst/>
          </a:prstGeom>
          <a:noFill/>
        </p:spPr>
        <p:txBody>
          <a:bodyPr wrap="square" lIns="0" tIns="0" rIns="0" bIns="0" anchor="ctr">
            <a:noAutofit/>
          </a:bodyPr>
          <a:lstStyle/>
          <a:p>
            <a:pPr algn="l">
              <a:lnSpc>
                <a:spcPct val="115000"/>
              </a:lnSpc>
              <a:spcBef>
                <a:spcPts val="0"/>
              </a:spcBef>
              <a:spcAft>
                <a:spcPts val="0"/>
              </a:spcAft>
            </a:pPr>
            <a:r>
              <a:rPr sz="2100" b="1" i="0">
                <a:solidFill>
                  <a:srgbClr val="FFFFFF"/>
                </a:solidFill>
                <a:latin typeface="Sora"/>
              </a:rPr>
              <a:t>« Pour le volume prévu, de quoi aurai-je besoin, et quand ? »</a:t>
            </a:r>
          </a:p>
        </p:txBody>
      </p:sp>
      <p:sp>
        <p:nvSpPr>
          <p:cNvPr id="135" name="Rectangle 134"/>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6" name="Rectangle 135"/>
          <p:cNvSpPr/>
          <p:nvPr/>
        </p:nvSpPr>
        <p:spPr>
          <a:xfrm>
            <a:off x="155448" y="6803136"/>
            <a:ext cx="2533947" cy="54864"/>
          </a:xfrm>
          <a:prstGeom prst="rect">
            <a:avLst/>
          </a:prstGeom>
          <a:solidFill>
            <a:srgbClr val="6B3FA0"/>
          </a:solidFill>
          <a:ln>
            <a:noFill/>
          </a:ln>
        </p:spPr>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2.3.3 reçoit une prévision de volume, la transforme en ressources et alimente la planification et l’exécution</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9</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3566160" cy="4315968"/>
          </a:xfrm>
          <a:prstGeom prst="roundRect">
            <a:avLst>
              <a:gd name="adj" fmla="val 4274"/>
            </a:avLst>
          </a:prstGeom>
          <a:solidFill>
            <a:srgbClr val="FFFFFF"/>
          </a:solidFill>
          <a:ln>
            <a:noFill/>
          </a:ln>
        </p:spPr>
        <p:txBody>
          <a:bodyPr rtlCol="0" anchor="ctr"/>
          <a:lstStyle/>
          <a:p>
            <a:pPr algn="ctr"/>
          </a:p>
        </p:txBody>
      </p:sp>
      <p:sp>
        <p:nvSpPr>
          <p:cNvPr id="114" name="Rectangle 113"/>
          <p:cNvSpPr/>
          <p:nvPr/>
        </p:nvSpPr>
        <p:spPr>
          <a:xfrm>
            <a:off x="694944" y="1773936"/>
            <a:ext cx="3566160" cy="4315968"/>
          </a:xfrm>
          <a:custGeom>
            <a:rect b="b" l="l" r="r" t="t"/>
            <a:pathLst>
              <a:path extrusionOk="0" h="4315968" w="3566160">
                <a:moveTo>
                  <a:pt x="0" y="152400"/>
                </a:moveTo>
                <a:cubicBezTo>
                  <a:pt x="0" y="68229"/>
                  <a:pt x="68229" y="0"/>
                  <a:pt x="152400" y="0"/>
                </a:cubicBezTo>
                <a:lnTo>
                  <a:pt x="3413760" y="0"/>
                </a:lnTo>
                <a:cubicBezTo>
                  <a:pt x="3497930" y="0"/>
                  <a:pt x="3566160" y="68229"/>
                  <a:pt x="3566160" y="152400"/>
                </a:cubicBezTo>
                <a:cubicBezTo>
                  <a:pt x="3566160" y="103311"/>
                  <a:pt x="3497931" y="63500"/>
                  <a:pt x="341376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5" name="TextBox 114"/>
          <p:cNvSpPr txBox="1"/>
          <p:nvPr/>
        </p:nvSpPr>
        <p:spPr>
          <a:xfrm>
            <a:off x="950976" y="1956816"/>
            <a:ext cx="3017520" cy="237744"/>
          </a:xfrm>
          <a:prstGeom prst="rect">
            <a:avLst/>
          </a:prstGeom>
          <a:noFill/>
        </p:spPr>
        <p:txBody>
          <a:bodyPr wrap="square" lIns="0" tIns="0" rIns="0" bIns="0" anchor="t">
            <a:noAutofit/>
          </a:bodyPr>
          <a:lstStyle/>
          <a:p>
            <a:pPr algn="l">
              <a:lnSpc>
                <a:spcPct val="100000"/>
              </a:lnSpc>
              <a:spcBef>
                <a:spcPts val="0"/>
              </a:spcBef>
              <a:spcAft>
                <a:spcPts val="0"/>
              </a:spcAft>
            </a:pPr>
            <a:r>
              <a:rPr sz="1200" b="1" i="0">
                <a:solidFill>
                  <a:srgbClr val="6B3FA0"/>
                </a:solidFill>
                <a:latin typeface="Sora"/>
              </a:rPr>
              <a:t>ENTRÉE</a:t>
            </a:r>
          </a:p>
        </p:txBody>
      </p:sp>
      <p:sp>
        <p:nvSpPr>
          <p:cNvPr id="116" name="TextBox 115"/>
          <p:cNvSpPr txBox="1"/>
          <p:nvPr/>
        </p:nvSpPr>
        <p:spPr>
          <a:xfrm>
            <a:off x="950976" y="2395728"/>
            <a:ext cx="30632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La prévision de volume</a:t>
            </a:r>
          </a:p>
        </p:txBody>
      </p:sp>
      <p:sp>
        <p:nvSpPr>
          <p:cNvPr id="117" name="TextBox 116"/>
          <p:cNvSpPr txBox="1"/>
          <p:nvPr/>
        </p:nvSpPr>
        <p:spPr>
          <a:xfrm>
            <a:off x="950976" y="2724912"/>
            <a:ext cx="30632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6B7390"/>
                </a:solidFill>
                <a:latin typeface="DM Sans"/>
              </a:rPr>
              <a:t>2.1.1 Prévision de la demande</a:t>
            </a:r>
          </a:p>
        </p:txBody>
      </p:sp>
      <p:sp>
        <p:nvSpPr>
          <p:cNvPr id="118" name="TextBox 117"/>
          <p:cNvSpPr txBox="1"/>
          <p:nvPr/>
        </p:nvSpPr>
        <p:spPr>
          <a:xfrm>
            <a:off x="950976" y="3303524"/>
            <a:ext cx="30632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L’historique d’activité</a:t>
            </a:r>
          </a:p>
        </p:txBody>
      </p:sp>
      <p:sp>
        <p:nvSpPr>
          <p:cNvPr id="119" name="TextBox 118"/>
          <p:cNvSpPr txBox="1"/>
          <p:nvPr/>
        </p:nvSpPr>
        <p:spPr>
          <a:xfrm>
            <a:off x="950976" y="3632708"/>
            <a:ext cx="3063240" cy="4622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6B7390"/>
                </a:solidFill>
                <a:latin typeface="DM Sans"/>
              </a:rPr>
              <a:t>volumes traités, heures travaillées, équipements mobilisés</a:t>
            </a:r>
          </a:p>
        </p:txBody>
      </p:sp>
      <p:sp>
        <p:nvSpPr>
          <p:cNvPr id="120" name="TextBox 119"/>
          <p:cNvSpPr txBox="1"/>
          <p:nvPr/>
        </p:nvSpPr>
        <p:spPr>
          <a:xfrm>
            <a:off x="950976" y="4442460"/>
            <a:ext cx="30632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Le calendrier</a:t>
            </a:r>
          </a:p>
        </p:txBody>
      </p:sp>
      <p:sp>
        <p:nvSpPr>
          <p:cNvPr id="121" name="TextBox 120"/>
          <p:cNvSpPr txBox="1"/>
          <p:nvPr/>
        </p:nvSpPr>
        <p:spPr>
          <a:xfrm>
            <a:off x="950976" y="4771644"/>
            <a:ext cx="3063240" cy="2311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6B7390"/>
                </a:solidFill>
                <a:latin typeface="DM Sans"/>
              </a:rPr>
              <a:t>jour de semaine, périodes de pic</a:t>
            </a:r>
          </a:p>
        </p:txBody>
      </p:sp>
      <p:cxnSp>
        <p:nvCxnSpPr>
          <p:cNvPr id="122" name="Connector 121"/>
          <p:cNvCxnSpPr/>
          <p:nvPr/>
        </p:nvCxnSpPr>
        <p:spPr>
          <a:xfrm>
            <a:off x="4315968" y="3931920"/>
            <a:ext cx="329184" cy="0"/>
          </a:xfrm>
          <a:prstGeom prst="line">
            <a:avLst/>
          </a:prstGeom>
          <a:ln w="31750">
            <a:solidFill>
              <a:srgbClr val="1B2A4A"/>
            </a:solidFill>
            <a:tailEnd type="triangle" w="med" len="med"/>
          </a:ln>
        </p:spPr>
      </p:cxnSp>
      <p:sp>
        <p:nvSpPr>
          <p:cNvPr id="123" name="Rounded Rectangle 122"/>
          <p:cNvSpPr/>
          <p:nvPr/>
        </p:nvSpPr>
        <p:spPr>
          <a:xfrm>
            <a:off x="4700016" y="1773936"/>
            <a:ext cx="2651760" cy="4315968"/>
          </a:xfrm>
          <a:prstGeom prst="roundRect">
            <a:avLst>
              <a:gd name="adj" fmla="val 4137"/>
            </a:avLst>
          </a:prstGeom>
          <a:solidFill>
            <a:srgbClr val="1B2A4A"/>
          </a:solidFill>
          <a:ln>
            <a:noFill/>
          </a:ln>
        </p:spPr>
        <p:txBody>
          <a:bodyPr rtlCol="0" anchor="ctr"/>
          <a:lstStyle/>
          <a:p>
            <a:pPr algn="ctr"/>
          </a:p>
        </p:txBody>
      </p:sp>
      <p:sp>
        <p:nvSpPr>
          <p:cNvPr id="124" name="Rectangle 123"/>
          <p:cNvSpPr/>
          <p:nvPr/>
        </p:nvSpPr>
        <p:spPr>
          <a:xfrm>
            <a:off x="4700016" y="1773936"/>
            <a:ext cx="2651760" cy="4315968"/>
          </a:xfrm>
          <a:custGeom>
            <a:rect b="b" l="l" r="r" t="t"/>
            <a:pathLst>
              <a:path extrusionOk="0" h="4315968" w="2651760">
                <a:moveTo>
                  <a:pt x="0" y="152400"/>
                </a:moveTo>
                <a:cubicBezTo>
                  <a:pt x="0" y="68229"/>
                  <a:pt x="68229" y="0"/>
                  <a:pt x="152400" y="0"/>
                </a:cubicBezTo>
                <a:lnTo>
                  <a:pt x="2499360" y="0"/>
                </a:lnTo>
                <a:cubicBezTo>
                  <a:pt x="2583530" y="0"/>
                  <a:pt x="2651760" y="68229"/>
                  <a:pt x="2651760" y="152400"/>
                </a:cubicBezTo>
                <a:cubicBezTo>
                  <a:pt x="2651760" y="103311"/>
                  <a:pt x="2583531" y="63500"/>
                  <a:pt x="249936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5" name="TextBox 124"/>
          <p:cNvSpPr txBox="1"/>
          <p:nvPr/>
        </p:nvSpPr>
        <p:spPr>
          <a:xfrm>
            <a:off x="4956048" y="1956816"/>
            <a:ext cx="2194560" cy="237744"/>
          </a:xfrm>
          <a:prstGeom prst="rect">
            <a:avLst/>
          </a:prstGeom>
          <a:noFill/>
        </p:spPr>
        <p:txBody>
          <a:bodyPr wrap="square" lIns="0" tIns="0" rIns="0" bIns="0" anchor="t">
            <a:noAutofit/>
          </a:bodyPr>
          <a:lstStyle/>
          <a:p>
            <a:pPr algn="l">
              <a:lnSpc>
                <a:spcPct val="100000"/>
              </a:lnSpc>
              <a:spcBef>
                <a:spcPts val="0"/>
              </a:spcBef>
              <a:spcAft>
                <a:spcPts val="0"/>
              </a:spcAft>
            </a:pPr>
            <a:r>
              <a:rPr sz="1200" b="1" i="0">
                <a:solidFill>
                  <a:srgbClr val="7ACFC0"/>
                </a:solidFill>
                <a:latin typeface="Sora"/>
              </a:rPr>
              <a:t>TRAITEMENT</a:t>
            </a:r>
          </a:p>
        </p:txBody>
      </p:sp>
      <p:sp>
        <p:nvSpPr>
          <p:cNvPr id="126" name="TextBox 125"/>
          <p:cNvSpPr txBox="1"/>
          <p:nvPr/>
        </p:nvSpPr>
        <p:spPr>
          <a:xfrm>
            <a:off x="4956048" y="2514600"/>
            <a:ext cx="2194560" cy="2011680"/>
          </a:xfrm>
          <a:prstGeom prst="rect">
            <a:avLst/>
          </a:prstGeom>
          <a:noFill/>
        </p:spPr>
        <p:txBody>
          <a:bodyPr wrap="square" lIns="0" tIns="0" rIns="0" bIns="0" anchor="t">
            <a:noAutofit/>
          </a:bodyPr>
          <a:lstStyle/>
          <a:p>
            <a:pPr algn="l">
              <a:lnSpc>
                <a:spcPct val="120000"/>
              </a:lnSpc>
              <a:spcBef>
                <a:spcPts val="0"/>
              </a:spcBef>
              <a:spcAft>
                <a:spcPts val="0"/>
              </a:spcAft>
            </a:pPr>
            <a:r>
              <a:rPr sz="1800" b="1" i="0">
                <a:solidFill>
                  <a:srgbClr val="FFFFFF"/>
                </a:solidFill>
                <a:latin typeface="Sora"/>
              </a:rPr>
              <a:t>Le calcul des heures, de l’effectif et des équipements nécessaires.</a:t>
            </a:r>
          </a:p>
        </p:txBody>
      </p:sp>
      <p:sp>
        <p:nvSpPr>
          <p:cNvPr id="127" name="Rounded Rectangle 126"/>
          <p:cNvSpPr/>
          <p:nvPr/>
        </p:nvSpPr>
        <p:spPr>
          <a:xfrm>
            <a:off x="4956048" y="5257800"/>
            <a:ext cx="2139696" cy="310896"/>
          </a:xfrm>
          <a:prstGeom prst="roundRect">
            <a:avLst>
              <a:gd name="adj" fmla="val 50000"/>
            </a:avLst>
          </a:prstGeom>
          <a:solidFill>
            <a:srgbClr val="7ACFC0"/>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Cœur de notre application</a:t>
            </a:r>
          </a:p>
        </p:txBody>
      </p:sp>
      <p:cxnSp>
        <p:nvCxnSpPr>
          <p:cNvPr id="128" name="Connector 127"/>
          <p:cNvCxnSpPr/>
          <p:nvPr/>
        </p:nvCxnSpPr>
        <p:spPr>
          <a:xfrm>
            <a:off x="7406640" y="3931920"/>
            <a:ext cx="329184" cy="0"/>
          </a:xfrm>
          <a:prstGeom prst="line">
            <a:avLst/>
          </a:prstGeom>
          <a:ln w="31750">
            <a:solidFill>
              <a:srgbClr val="1B2A4A"/>
            </a:solidFill>
            <a:tailEnd type="triangle" w="med" len="med"/>
          </a:ln>
        </p:spPr>
      </p:cxnSp>
      <p:sp>
        <p:nvSpPr>
          <p:cNvPr id="129" name="Rounded Rectangle 128"/>
          <p:cNvSpPr/>
          <p:nvPr/>
        </p:nvSpPr>
        <p:spPr>
          <a:xfrm>
            <a:off x="7790688" y="1773936"/>
            <a:ext cx="3703320" cy="4315968"/>
          </a:xfrm>
          <a:prstGeom prst="roundRect">
            <a:avLst>
              <a:gd name="adj" fmla="val 4116"/>
            </a:avLst>
          </a:prstGeom>
          <a:solidFill>
            <a:srgbClr val="FFFFFF"/>
          </a:solidFill>
          <a:ln>
            <a:noFill/>
          </a:ln>
        </p:spPr>
        <p:txBody>
          <a:bodyPr rtlCol="0" anchor="ctr"/>
          <a:lstStyle/>
          <a:p>
            <a:pPr algn="ctr"/>
          </a:p>
        </p:txBody>
      </p:sp>
      <p:sp>
        <p:nvSpPr>
          <p:cNvPr id="130" name="Rectangle 129"/>
          <p:cNvSpPr/>
          <p:nvPr/>
        </p:nvSpPr>
        <p:spPr>
          <a:xfrm>
            <a:off x="7790688" y="1773936"/>
            <a:ext cx="3703320" cy="4315968"/>
          </a:xfrm>
          <a:custGeom>
            <a:rect b="b" l="l" r="r" t="t"/>
            <a:pathLst>
              <a:path extrusionOk="0" h="4315968" w="3703320">
                <a:moveTo>
                  <a:pt x="0" y="152400"/>
                </a:moveTo>
                <a:cubicBezTo>
                  <a:pt x="0" y="68229"/>
                  <a:pt x="68229" y="0"/>
                  <a:pt x="152400" y="0"/>
                </a:cubicBezTo>
                <a:lnTo>
                  <a:pt x="3550920" y="0"/>
                </a:lnTo>
                <a:cubicBezTo>
                  <a:pt x="3635090" y="0"/>
                  <a:pt x="3703320" y="68229"/>
                  <a:pt x="3703320" y="152400"/>
                </a:cubicBezTo>
                <a:cubicBezTo>
                  <a:pt x="3703320" y="103311"/>
                  <a:pt x="3635091" y="63500"/>
                  <a:pt x="355092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31" name="TextBox 130"/>
          <p:cNvSpPr txBox="1"/>
          <p:nvPr/>
        </p:nvSpPr>
        <p:spPr>
          <a:xfrm>
            <a:off x="8046720" y="1956816"/>
            <a:ext cx="3017520" cy="237744"/>
          </a:xfrm>
          <a:prstGeom prst="rect">
            <a:avLst/>
          </a:prstGeom>
          <a:noFill/>
        </p:spPr>
        <p:txBody>
          <a:bodyPr wrap="square" lIns="0" tIns="0" rIns="0" bIns="0" anchor="t">
            <a:noAutofit/>
          </a:bodyPr>
          <a:lstStyle/>
          <a:p>
            <a:pPr algn="l">
              <a:lnSpc>
                <a:spcPct val="100000"/>
              </a:lnSpc>
              <a:spcBef>
                <a:spcPts val="0"/>
              </a:spcBef>
              <a:spcAft>
                <a:spcPts val="0"/>
              </a:spcAft>
            </a:pPr>
            <a:r>
              <a:rPr sz="1200" b="1" i="0">
                <a:solidFill>
                  <a:srgbClr val="6B3FA0"/>
                </a:solidFill>
                <a:latin typeface="Sora"/>
              </a:rPr>
              <a:t>SORTIE</a:t>
            </a:r>
          </a:p>
        </p:txBody>
      </p:sp>
      <p:sp>
        <p:nvSpPr>
          <p:cNvPr id="132" name="TextBox 131"/>
          <p:cNvSpPr txBox="1"/>
          <p:nvPr/>
        </p:nvSpPr>
        <p:spPr>
          <a:xfrm>
            <a:off x="8046720" y="2377440"/>
            <a:ext cx="3246120" cy="548640"/>
          </a:xfrm>
          <a:prstGeom prst="rect">
            <a:avLst/>
          </a:prstGeom>
          <a:noFill/>
        </p:spPr>
        <p:txBody>
          <a:bodyPr wrap="square" lIns="0" tIns="0" rIns="0" bIns="0" anchor="t">
            <a:noAutofit/>
          </a:bodyPr>
          <a:lstStyle/>
          <a:p>
            <a:pPr algn="l">
              <a:lnSpc>
                <a:spcPct val="110000"/>
              </a:lnSpc>
              <a:spcBef>
                <a:spcPts val="0"/>
              </a:spcBef>
              <a:spcAft>
                <a:spcPts val="0"/>
              </a:spcAft>
            </a:pPr>
            <a:r>
              <a:rPr sz="1350" b="1" i="0">
                <a:solidFill>
                  <a:srgbClr val="1B2A4A"/>
                </a:solidFill>
                <a:latin typeface="Sora"/>
              </a:rPr>
              <a:t>Un plan de ressources anticipé, qui alimente :</a:t>
            </a:r>
          </a:p>
        </p:txBody>
      </p:sp>
      <p:sp>
        <p:nvSpPr>
          <p:cNvPr id="133" name="Rectangle 132"/>
          <p:cNvSpPr/>
          <p:nvPr/>
        </p:nvSpPr>
        <p:spPr>
          <a:xfrm>
            <a:off x="8046720" y="2990088"/>
            <a:ext cx="64008" cy="462280"/>
          </a:xfrm>
          <a:prstGeom prst="rect">
            <a:avLst/>
          </a:prstGeom>
          <a:solidFill>
            <a:srgbClr val="2D7C31"/>
          </a:solidFill>
          <a:ln>
            <a:noFill/>
          </a:ln>
        </p:spPr>
        <p:txBody>
          <a:bodyPr rtlCol="0" anchor="ctr"/>
          <a:lstStyle/>
          <a:p>
            <a:pPr algn="ctr"/>
          </a:p>
        </p:txBody>
      </p:sp>
      <p:sp>
        <p:nvSpPr>
          <p:cNvPr id="134" name="TextBox 133"/>
          <p:cNvSpPr txBox="1"/>
          <p:nvPr/>
        </p:nvSpPr>
        <p:spPr>
          <a:xfrm>
            <a:off x="8229600" y="2971800"/>
            <a:ext cx="3017520" cy="462280"/>
          </a:xfrm>
          <a:prstGeom prst="rect">
            <a:avLst/>
          </a:prstGeom>
          <a:noFill/>
        </p:spPr>
        <p:txBody>
          <a:bodyPr wrap="square" lIns="0" tIns="0" rIns="0" bIns="0" anchor="t">
            <a:noAutofit/>
          </a:bodyPr>
          <a:lstStyle/>
          <a:p>
            <a:pPr algn="l">
              <a:lnSpc>
                <a:spcPct val="110000"/>
              </a:lnSpc>
              <a:spcBef>
                <a:spcPts val="0"/>
              </a:spcBef>
              <a:spcAft>
                <a:spcPts val="0"/>
              </a:spcAft>
            </a:pPr>
            <a:r>
              <a:rPr sz="1250" b="0" i="0">
                <a:solidFill>
                  <a:srgbClr val="2B3350"/>
                </a:solidFill>
                <a:latin typeface="DM Sans"/>
              </a:rPr>
              <a:t>2.2 Planification commerciale et opérationnelle (S&amp;OP)</a:t>
            </a:r>
          </a:p>
        </p:txBody>
      </p:sp>
      <p:sp>
        <p:nvSpPr>
          <p:cNvPr id="135" name="TextBox 134"/>
          <p:cNvSpPr txBox="1"/>
          <p:nvPr/>
        </p:nvSpPr>
        <p:spPr>
          <a:xfrm>
            <a:off x="8046720" y="3616960"/>
            <a:ext cx="3200400" cy="274320"/>
          </a:xfrm>
          <a:prstGeom prst="rect">
            <a:avLst/>
          </a:prstGeom>
          <a:noFill/>
        </p:spPr>
        <p:txBody>
          <a:bodyPr wrap="square" lIns="0" tIns="0" rIns="0" bIns="0" anchor="t">
            <a:noAutofit/>
          </a:bodyPr>
          <a:lstStyle/>
          <a:p>
            <a:pPr algn="l">
              <a:lnSpc>
                <a:spcPct val="115000"/>
              </a:lnSpc>
              <a:spcBef>
                <a:spcPts val="0"/>
              </a:spcBef>
              <a:spcAft>
                <a:spcPts val="0"/>
              </a:spcAft>
            </a:pPr>
            <a:r>
              <a:rPr sz="1250" b="0" i="0">
                <a:solidFill>
                  <a:srgbClr val="6B7390"/>
                </a:solidFill>
                <a:latin typeface="DM Sans"/>
              </a:rPr>
              <a:t>et les métiers d’exécution :</a:t>
            </a:r>
          </a:p>
        </p:txBody>
      </p:sp>
      <p:sp>
        <p:nvSpPr>
          <p:cNvPr id="136" name="Rectangle 135"/>
          <p:cNvSpPr/>
          <p:nvPr/>
        </p:nvSpPr>
        <p:spPr>
          <a:xfrm>
            <a:off x="8046720" y="4001008"/>
            <a:ext cx="64008" cy="274320"/>
          </a:xfrm>
          <a:prstGeom prst="rect">
            <a:avLst/>
          </a:prstGeom>
          <a:solidFill>
            <a:srgbClr val="C1410C"/>
          </a:solidFill>
          <a:ln>
            <a:noFill/>
          </a:ln>
        </p:spPr>
        <p:txBody>
          <a:bodyPr rtlCol="0" anchor="ctr"/>
          <a:lstStyle/>
          <a:p>
            <a:pPr algn="ctr"/>
          </a:p>
        </p:txBody>
      </p:sp>
      <p:sp>
        <p:nvSpPr>
          <p:cNvPr id="137" name="TextBox 136"/>
          <p:cNvSpPr txBox="1"/>
          <p:nvPr/>
        </p:nvSpPr>
        <p:spPr>
          <a:xfrm>
            <a:off x="8229600" y="3982720"/>
            <a:ext cx="3017520" cy="274320"/>
          </a:xfrm>
          <a:prstGeom prst="rect">
            <a:avLst/>
          </a:prstGeom>
          <a:noFill/>
        </p:spPr>
        <p:txBody>
          <a:bodyPr wrap="square" lIns="0" tIns="0" rIns="0" bIns="0" anchor="t">
            <a:noAutofit/>
          </a:bodyPr>
          <a:lstStyle/>
          <a:p>
            <a:pPr algn="l">
              <a:lnSpc>
                <a:spcPct val="110000"/>
              </a:lnSpc>
              <a:spcBef>
                <a:spcPts val="0"/>
              </a:spcBef>
              <a:spcAft>
                <a:spcPts val="0"/>
              </a:spcAft>
            </a:pPr>
            <a:r>
              <a:rPr sz="1250" b="0" i="0">
                <a:solidFill>
                  <a:srgbClr val="2B3350"/>
                </a:solidFill>
                <a:latin typeface="DM Sans"/>
              </a:rPr>
              <a:t>4.2 Réception et mise en stock</a:t>
            </a:r>
          </a:p>
        </p:txBody>
      </p:sp>
      <p:sp>
        <p:nvSpPr>
          <p:cNvPr id="138" name="Rectangle 137"/>
          <p:cNvSpPr/>
          <p:nvPr/>
        </p:nvSpPr>
        <p:spPr>
          <a:xfrm>
            <a:off x="8046720" y="4458208"/>
            <a:ext cx="64008" cy="274320"/>
          </a:xfrm>
          <a:prstGeom prst="rect">
            <a:avLst/>
          </a:prstGeom>
          <a:solidFill>
            <a:srgbClr val="C1410C"/>
          </a:solidFill>
          <a:ln>
            <a:noFill/>
          </a:ln>
        </p:spPr>
        <p:txBody>
          <a:bodyPr rtlCol="0" anchor="ctr"/>
          <a:lstStyle/>
          <a:p>
            <a:pPr algn="ctr"/>
          </a:p>
        </p:txBody>
      </p:sp>
      <p:sp>
        <p:nvSpPr>
          <p:cNvPr id="139" name="TextBox 138"/>
          <p:cNvSpPr txBox="1"/>
          <p:nvPr/>
        </p:nvSpPr>
        <p:spPr>
          <a:xfrm>
            <a:off x="8229600" y="4439920"/>
            <a:ext cx="3017520" cy="274320"/>
          </a:xfrm>
          <a:prstGeom prst="rect">
            <a:avLst/>
          </a:prstGeom>
          <a:noFill/>
        </p:spPr>
        <p:txBody>
          <a:bodyPr wrap="square" lIns="0" tIns="0" rIns="0" bIns="0" anchor="t">
            <a:noAutofit/>
          </a:bodyPr>
          <a:lstStyle/>
          <a:p>
            <a:pPr algn="l">
              <a:lnSpc>
                <a:spcPct val="110000"/>
              </a:lnSpc>
              <a:spcBef>
                <a:spcPts val="0"/>
              </a:spcBef>
              <a:spcAft>
                <a:spcPts val="0"/>
              </a:spcAft>
            </a:pPr>
            <a:r>
              <a:rPr sz="1250" b="0" i="0">
                <a:solidFill>
                  <a:srgbClr val="2B3350"/>
                </a:solidFill>
                <a:latin typeface="DM Sans"/>
              </a:rPr>
              <a:t>4.3 Stockage</a:t>
            </a:r>
          </a:p>
        </p:txBody>
      </p:sp>
      <p:sp>
        <p:nvSpPr>
          <p:cNvPr id="140" name="Rectangle 139"/>
          <p:cNvSpPr/>
          <p:nvPr/>
        </p:nvSpPr>
        <p:spPr>
          <a:xfrm>
            <a:off x="8046720" y="4915408"/>
            <a:ext cx="64008" cy="462280"/>
          </a:xfrm>
          <a:prstGeom prst="rect">
            <a:avLst/>
          </a:prstGeom>
          <a:solidFill>
            <a:srgbClr val="C1410C"/>
          </a:solidFill>
          <a:ln>
            <a:noFill/>
          </a:ln>
        </p:spPr>
        <p:txBody>
          <a:bodyPr rtlCol="0" anchor="ctr"/>
          <a:lstStyle/>
          <a:p>
            <a:pPr algn="ctr"/>
          </a:p>
        </p:txBody>
      </p:sp>
      <p:sp>
        <p:nvSpPr>
          <p:cNvPr id="141" name="TextBox 140"/>
          <p:cNvSpPr txBox="1"/>
          <p:nvPr/>
        </p:nvSpPr>
        <p:spPr>
          <a:xfrm>
            <a:off x="8229600" y="4897120"/>
            <a:ext cx="3017520" cy="462280"/>
          </a:xfrm>
          <a:prstGeom prst="rect">
            <a:avLst/>
          </a:prstGeom>
          <a:noFill/>
        </p:spPr>
        <p:txBody>
          <a:bodyPr wrap="square" lIns="0" tIns="0" rIns="0" bIns="0" anchor="t">
            <a:noAutofit/>
          </a:bodyPr>
          <a:lstStyle/>
          <a:p>
            <a:pPr algn="l">
              <a:lnSpc>
                <a:spcPct val="110000"/>
              </a:lnSpc>
              <a:spcBef>
                <a:spcPts val="0"/>
              </a:spcBef>
              <a:spcAft>
                <a:spcPts val="0"/>
              </a:spcAft>
            </a:pPr>
            <a:r>
              <a:rPr sz="1250" b="0" i="0">
                <a:solidFill>
                  <a:srgbClr val="2B3350"/>
                </a:solidFill>
                <a:latin typeface="DM Sans"/>
              </a:rPr>
              <a:t>4.4 Préparation et expédition des commandes</a:t>
            </a:r>
          </a:p>
        </p:txBody>
      </p:sp>
      <p:sp>
        <p:nvSpPr>
          <p:cNvPr id="142" name="Rectangle 141"/>
          <p:cNvSpPr/>
          <p:nvPr/>
        </p:nvSpPr>
        <p:spPr>
          <a:xfrm>
            <a:off x="8046720" y="5560568"/>
            <a:ext cx="64008" cy="274320"/>
          </a:xfrm>
          <a:prstGeom prst="rect">
            <a:avLst/>
          </a:prstGeom>
          <a:solidFill>
            <a:srgbClr val="694B93"/>
          </a:solidFill>
          <a:ln>
            <a:noFill/>
          </a:ln>
        </p:spPr>
        <p:txBody>
          <a:bodyPr rtlCol="0" anchor="ctr"/>
          <a:lstStyle/>
          <a:p>
            <a:pPr algn="ctr"/>
          </a:p>
        </p:txBody>
      </p:sp>
      <p:sp>
        <p:nvSpPr>
          <p:cNvPr id="143" name="TextBox 142"/>
          <p:cNvSpPr txBox="1"/>
          <p:nvPr/>
        </p:nvSpPr>
        <p:spPr>
          <a:xfrm>
            <a:off x="8229600" y="5542280"/>
            <a:ext cx="3017520" cy="274320"/>
          </a:xfrm>
          <a:prstGeom prst="rect">
            <a:avLst/>
          </a:prstGeom>
          <a:noFill/>
        </p:spPr>
        <p:txBody>
          <a:bodyPr wrap="square" lIns="0" tIns="0" rIns="0" bIns="0" anchor="t">
            <a:noAutofit/>
          </a:bodyPr>
          <a:lstStyle/>
          <a:p>
            <a:pPr algn="l">
              <a:lnSpc>
                <a:spcPct val="110000"/>
              </a:lnSpc>
              <a:spcBef>
                <a:spcPts val="0"/>
              </a:spcBef>
              <a:spcAft>
                <a:spcPts val="0"/>
              </a:spcAft>
            </a:pPr>
            <a:r>
              <a:rPr sz="1250" b="0" i="0">
                <a:solidFill>
                  <a:srgbClr val="2B3350"/>
                </a:solidFill>
                <a:latin typeface="DM Sans"/>
              </a:rPr>
              <a:t>3.1 Services logistiques à valeur ajoutée</a:t>
            </a:r>
          </a:p>
        </p:txBody>
      </p:sp>
      <p:sp>
        <p:nvSpPr>
          <p:cNvPr id="144" name="Rectangle 143"/>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45" name="Rectangle 144"/>
          <p:cNvSpPr/>
          <p:nvPr/>
        </p:nvSpPr>
        <p:spPr>
          <a:xfrm>
            <a:off x="155448" y="6803136"/>
            <a:ext cx="2850690" cy="54864"/>
          </a:xfrm>
          <a:prstGeom prst="rect">
            <a:avLst/>
          </a:prstGeom>
          <a:solidFill>
            <a:srgbClr val="6B3FA0"/>
          </a:solidFill>
          <a:ln>
            <a:noFill/>
          </a:ln>
        </p:spPr>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88887"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CONTEXTE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maillon qui manque : traduire automatiquement la prévision de volume en ressources</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10</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3383280" cy="868680"/>
          </a:xfrm>
          <a:prstGeom prst="roundRect">
            <a:avLst>
              <a:gd name="adj" fmla="val 12631"/>
            </a:avLst>
          </a:prstGeom>
          <a:solidFill>
            <a:srgbClr val="CDEEE8"/>
          </a:solidFill>
          <a:ln>
            <a:noFill/>
          </a:ln>
        </p:spPr>
        <p:txBody>
          <a:bodyPr rtlCol="0" anchor="ctr"/>
          <a:lstStyle/>
          <a:p>
            <a:pPr algn="ctr"/>
          </a:p>
        </p:txBody>
      </p:sp>
      <p:sp>
        <p:nvSpPr>
          <p:cNvPr id="114" name="TextBox 113"/>
          <p:cNvSpPr txBox="1"/>
          <p:nvPr/>
        </p:nvSpPr>
        <p:spPr>
          <a:xfrm>
            <a:off x="822960" y="1773936"/>
            <a:ext cx="3127248" cy="868680"/>
          </a:xfrm>
          <a:prstGeom prst="rect">
            <a:avLst/>
          </a:prstGeom>
          <a:noFill/>
        </p:spPr>
        <p:txBody>
          <a:bodyPr wrap="square" lIns="0" tIns="0" rIns="0" bIns="0" anchor="ctr">
            <a:noAutofit/>
          </a:bodyPr>
          <a:lstStyle/>
          <a:p>
            <a:pPr algn="ctr">
              <a:lnSpc>
                <a:spcPct val="115000"/>
              </a:lnSpc>
              <a:spcBef>
                <a:spcPts val="0"/>
              </a:spcBef>
              <a:spcAft>
                <a:spcPts val="0"/>
              </a:spcAft>
            </a:pPr>
            <a:r>
              <a:rPr sz="1500" b="1" i="0">
                <a:solidFill>
                  <a:srgbClr val="1B2A4A"/>
                </a:solidFill>
                <a:latin typeface="Sora"/>
              </a:rPr>
              <a:t>Prévision de volume (2.1.1)</a:t>
            </a:r>
          </a:p>
        </p:txBody>
      </p:sp>
      <p:cxnSp>
        <p:nvCxnSpPr>
          <p:cNvPr id="115" name="Connector 114"/>
          <p:cNvCxnSpPr/>
          <p:nvPr/>
        </p:nvCxnSpPr>
        <p:spPr>
          <a:xfrm>
            <a:off x="4133088" y="2203704"/>
            <a:ext cx="347472" cy="0"/>
          </a:xfrm>
          <a:prstGeom prst="line">
            <a:avLst/>
          </a:prstGeom>
          <a:ln w="31750">
            <a:solidFill>
              <a:srgbClr val="1B2A4A"/>
            </a:solidFill>
            <a:tailEnd type="triangle" w="med" len="med"/>
          </a:ln>
        </p:spPr>
      </p:cxnSp>
      <p:sp>
        <p:nvSpPr>
          <p:cNvPr id="116" name="Rounded Rectangle 115"/>
          <p:cNvSpPr/>
          <p:nvPr/>
        </p:nvSpPr>
        <p:spPr>
          <a:xfrm>
            <a:off x="4535424" y="1773936"/>
            <a:ext cx="3566160" cy="868680"/>
          </a:xfrm>
          <a:prstGeom prst="roundRect">
            <a:avLst>
              <a:gd name="adj" fmla="val 12631"/>
            </a:avLst>
          </a:prstGeom>
          <a:solidFill>
            <a:srgbClr val="FBE3E0"/>
          </a:solidFill>
          <a:ln w="25400">
            <a:solidFill>
              <a:srgbClr val="E5736A"/>
            </a:solidFill>
            <a:prstDash val="dash"/>
          </a:ln>
        </p:spPr>
        <p:txBody>
          <a:bodyPr rtlCol="0" anchor="ctr"/>
          <a:lstStyle/>
          <a:p>
            <a:pPr algn="ctr"/>
          </a:p>
        </p:txBody>
      </p:sp>
      <p:sp>
        <p:nvSpPr>
          <p:cNvPr id="117" name="TextBox 116"/>
          <p:cNvSpPr txBox="1"/>
          <p:nvPr/>
        </p:nvSpPr>
        <p:spPr>
          <a:xfrm>
            <a:off x="4663440" y="1773936"/>
            <a:ext cx="3310128" cy="868680"/>
          </a:xfrm>
          <a:prstGeom prst="rect">
            <a:avLst/>
          </a:prstGeom>
          <a:noFill/>
        </p:spPr>
        <p:txBody>
          <a:bodyPr wrap="square" lIns="0" tIns="0" rIns="0" bIns="0" anchor="ctr">
            <a:noAutofit/>
          </a:bodyPr>
          <a:lstStyle/>
          <a:p>
            <a:pPr algn="ctr">
              <a:lnSpc>
                <a:spcPct val="115000"/>
              </a:lnSpc>
              <a:spcBef>
                <a:spcPts val="0"/>
              </a:spcBef>
              <a:spcAft>
                <a:spcPts val="0"/>
              </a:spcAft>
            </a:pPr>
            <a:r>
              <a:rPr sz="1500" b="1" i="0">
                <a:solidFill>
                  <a:srgbClr val="E5736A"/>
                </a:solidFill>
                <a:latin typeface="Sora"/>
              </a:rPr>
              <a:t>Traduction en ressources ?</a:t>
            </a:r>
          </a:p>
        </p:txBody>
      </p:sp>
      <p:cxnSp>
        <p:nvCxnSpPr>
          <p:cNvPr id="118" name="Connector 117"/>
          <p:cNvCxnSpPr/>
          <p:nvPr/>
        </p:nvCxnSpPr>
        <p:spPr>
          <a:xfrm>
            <a:off x="8156448" y="2203704"/>
            <a:ext cx="347472" cy="0"/>
          </a:xfrm>
          <a:prstGeom prst="line">
            <a:avLst/>
          </a:prstGeom>
          <a:ln w="31750">
            <a:solidFill>
              <a:srgbClr val="1B2A4A"/>
            </a:solidFill>
            <a:tailEnd type="triangle" w="med" len="med"/>
          </a:ln>
        </p:spPr>
      </p:cxnSp>
      <p:sp>
        <p:nvSpPr>
          <p:cNvPr id="119" name="Rounded Rectangle 118"/>
          <p:cNvSpPr/>
          <p:nvPr/>
        </p:nvSpPr>
        <p:spPr>
          <a:xfrm>
            <a:off x="8558784" y="1773936"/>
            <a:ext cx="2935224" cy="868680"/>
          </a:xfrm>
          <a:prstGeom prst="roundRect">
            <a:avLst>
              <a:gd name="adj" fmla="val 12631"/>
            </a:avLst>
          </a:prstGeom>
          <a:solidFill>
            <a:srgbClr val="E8EBF3"/>
          </a:solidFill>
          <a:ln>
            <a:noFill/>
          </a:ln>
        </p:spPr>
        <p:txBody>
          <a:bodyPr rtlCol="0" anchor="ctr"/>
          <a:lstStyle/>
          <a:p>
            <a:pPr algn="ctr"/>
          </a:p>
        </p:txBody>
      </p:sp>
      <p:sp>
        <p:nvSpPr>
          <p:cNvPr id="120" name="TextBox 119"/>
          <p:cNvSpPr txBox="1"/>
          <p:nvPr/>
        </p:nvSpPr>
        <p:spPr>
          <a:xfrm>
            <a:off x="8668512" y="1773936"/>
            <a:ext cx="2715768" cy="868680"/>
          </a:xfrm>
          <a:prstGeom prst="rect">
            <a:avLst/>
          </a:prstGeom>
          <a:noFill/>
        </p:spPr>
        <p:txBody>
          <a:bodyPr wrap="square" lIns="0" tIns="0" rIns="0" bIns="0" anchor="ctr">
            <a:noAutofit/>
          </a:bodyPr>
          <a:lstStyle/>
          <a:p>
            <a:pPr algn="ctr">
              <a:lnSpc>
                <a:spcPct val="115000"/>
              </a:lnSpc>
              <a:spcBef>
                <a:spcPts val="0"/>
              </a:spcBef>
              <a:spcAft>
                <a:spcPts val="0"/>
              </a:spcAft>
            </a:pPr>
            <a:r>
              <a:rPr sz="1400" b="1" i="0">
                <a:solidFill>
                  <a:srgbClr val="6B7390"/>
                </a:solidFill>
                <a:latin typeface="Sora"/>
              </a:rPr>
              <a:t>Heures, préparateurs, chariots</a:t>
            </a:r>
          </a:p>
        </p:txBody>
      </p:sp>
      <p:sp>
        <p:nvSpPr>
          <p:cNvPr id="121" name="Rounded Rectangle 120"/>
          <p:cNvSpPr/>
          <p:nvPr/>
        </p:nvSpPr>
        <p:spPr>
          <a:xfrm>
            <a:off x="694944" y="2880360"/>
            <a:ext cx="10799064" cy="1600200"/>
          </a:xfrm>
          <a:prstGeom prst="roundRect">
            <a:avLst>
              <a:gd name="adj" fmla="val 9525"/>
            </a:avLst>
          </a:prstGeom>
          <a:solidFill>
            <a:srgbClr val="FFFFFF"/>
          </a:solidFill>
          <a:ln>
            <a:noFill/>
          </a:ln>
        </p:spPr>
        <p:txBody>
          <a:bodyPr rtlCol="0" anchor="ctr"/>
          <a:lstStyle/>
          <a:p>
            <a:pPr algn="ctr"/>
          </a:p>
        </p:txBody>
      </p:sp>
      <p:sp>
        <p:nvSpPr>
          <p:cNvPr id="122" name="Rectangle 121"/>
          <p:cNvSpPr/>
          <p:nvPr/>
        </p:nvSpPr>
        <p:spPr>
          <a:xfrm>
            <a:off x="694944" y="2880360"/>
            <a:ext cx="10799064" cy="1600200"/>
          </a:xfrm>
          <a:custGeom>
            <a:rect b="b" l="l" r="r" t="t"/>
            <a:pathLst>
              <a:path extrusionOk="0" h="1600200" w="10799064">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3" name="TextBox 122"/>
          <p:cNvSpPr txBox="1"/>
          <p:nvPr/>
        </p:nvSpPr>
        <p:spPr>
          <a:xfrm>
            <a:off x="987552" y="3017520"/>
            <a:ext cx="10241280" cy="1371600"/>
          </a:xfrm>
          <a:prstGeom prst="rect">
            <a:avLst/>
          </a:prstGeom>
          <a:noFill/>
        </p:spPr>
        <p:txBody>
          <a:bodyPr wrap="square" lIns="0" tIns="0" rIns="0" bIns="0" anchor="ctr">
            <a:noAutofit/>
          </a:bodyPr>
          <a:lstStyle/>
          <a:p>
            <a:pPr algn="l">
              <a:lnSpc>
                <a:spcPct val="115000"/>
              </a:lnSpc>
              <a:spcBef>
                <a:spcPts val="0"/>
              </a:spcBef>
              <a:spcAft>
                <a:spcPts val="600"/>
              </a:spcAft>
            </a:pPr>
            <a:r>
              <a:rPr sz="1550" b="0" i="0">
                <a:solidFill>
                  <a:srgbClr val="2B3350"/>
                </a:solidFill>
                <a:latin typeface="DM Sans"/>
              </a:rPr>
              <a:t>Ce n’est pas un problème de prévision de la demande : le pic était annoncé.</a:t>
            </a:r>
          </a:p>
          <a:p>
            <a:pPr algn="l">
              <a:lnSpc>
                <a:spcPct val="115000"/>
              </a:lnSpc>
              <a:spcBef>
                <a:spcPts val="0"/>
              </a:spcBef>
              <a:spcAft>
                <a:spcPts val="600"/>
              </a:spcAft>
            </a:pPr>
            <a:r>
              <a:rPr sz="1550" b="1" i="0">
                <a:solidFill>
                  <a:srgbClr val="1B2A4A"/>
                </a:solidFill>
                <a:latin typeface="DM Sans"/>
              </a:rPr>
              <a:t>Le maillon qui manque, c’est la traduction de cette prévision en ressources.</a:t>
            </a:r>
          </a:p>
          <a:p>
            <a:pPr algn="l">
              <a:lnSpc>
                <a:spcPct val="115000"/>
              </a:lnSpc>
              <a:spcBef>
                <a:spcPts val="0"/>
              </a:spcBef>
              <a:spcAft>
                <a:spcPts val="600"/>
              </a:spcAft>
            </a:pPr>
            <a:r>
              <a:rPr sz="1550" b="0" i="0">
                <a:solidFill>
                  <a:srgbClr val="2B3350"/>
                </a:solidFill>
                <a:latin typeface="DM Sans"/>
              </a:rPr>
              <a:t>Combien d’heures de main-d’œuvre, combien de préparateurs, combien de chariots, par zone et par jour ?</a:t>
            </a:r>
          </a:p>
        </p:txBody>
      </p:sp>
      <p:sp>
        <p:nvSpPr>
          <p:cNvPr id="124" name="Rounded Rectangle 123"/>
          <p:cNvSpPr/>
          <p:nvPr/>
        </p:nvSpPr>
        <p:spPr>
          <a:xfrm>
            <a:off x="694944" y="4681728"/>
            <a:ext cx="10799064" cy="1444752"/>
          </a:xfrm>
          <a:prstGeom prst="roundRect">
            <a:avLst>
              <a:gd name="adj" fmla="val 7594"/>
            </a:avLst>
          </a:prstGeom>
          <a:solidFill>
            <a:srgbClr val="1B2A4A"/>
          </a:solidFill>
          <a:ln>
            <a:noFill/>
          </a:ln>
        </p:spPr>
        <p:txBody>
          <a:bodyPr rtlCol="0" anchor="ctr"/>
          <a:lstStyle/>
          <a:p>
            <a:pPr algn="ctr"/>
          </a:p>
        </p:txBody>
      </p:sp>
      <p:sp>
        <p:nvSpPr>
          <p:cNvPr id="125" name="Rounded Rectangle 124"/>
          <p:cNvSpPr/>
          <p:nvPr/>
        </p:nvSpPr>
        <p:spPr>
          <a:xfrm>
            <a:off x="987552" y="4846320"/>
            <a:ext cx="2011680" cy="274320"/>
          </a:xfrm>
          <a:prstGeom prst="roundRect">
            <a:avLst>
              <a:gd name="adj" fmla="val 50000"/>
            </a:avLst>
          </a:prstGeom>
          <a:solidFill>
            <a:srgbClr val="FFB300"/>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AXE D’AMÉLIORATION</a:t>
            </a:r>
          </a:p>
        </p:txBody>
      </p:sp>
      <p:sp>
        <p:nvSpPr>
          <p:cNvPr id="126" name="TextBox 125"/>
          <p:cNvSpPr txBox="1"/>
          <p:nvPr/>
        </p:nvSpPr>
        <p:spPr>
          <a:xfrm>
            <a:off x="987552" y="5230368"/>
            <a:ext cx="10241280" cy="822960"/>
          </a:xfrm>
          <a:prstGeom prst="rect">
            <a:avLst/>
          </a:prstGeom>
          <a:noFill/>
        </p:spPr>
        <p:txBody>
          <a:bodyPr wrap="square" lIns="0" tIns="0" rIns="0" bIns="0" anchor="t">
            <a:noAutofit/>
          </a:bodyPr>
          <a:lstStyle/>
          <a:p>
            <a:pPr algn="l">
              <a:lnSpc>
                <a:spcPct val="120000"/>
              </a:lnSpc>
              <a:spcBef>
                <a:spcPts val="0"/>
              </a:spcBef>
              <a:spcAft>
                <a:spcPts val="0"/>
              </a:spcAft>
            </a:pPr>
            <a:r>
              <a:rPr sz="1700" b="1" i="0">
                <a:solidFill>
                  <a:srgbClr val="FFFFFF"/>
                </a:solidFill>
                <a:latin typeface="Sora"/>
              </a:rPr>
              <a:t>« Comment traduire automatiquement une prévision de volume en besoins fiables de main-d’œuvre et d’équipements, par zone et par jour, et mesurer cette fiabilité ? »</a:t>
            </a:r>
          </a:p>
        </p:txBody>
      </p:sp>
      <p:sp>
        <p:nvSpPr>
          <p:cNvPr id="127" name="Rectangle 126"/>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28" name="Rectangle 127"/>
          <p:cNvSpPr/>
          <p:nvPr/>
        </p:nvSpPr>
        <p:spPr>
          <a:xfrm>
            <a:off x="155448" y="6803136"/>
            <a:ext cx="3167433" cy="54864"/>
          </a:xfrm>
          <a:prstGeom prst="rect">
            <a:avLst/>
          </a:prstGeom>
          <a:solidFill>
            <a:srgbClr val="6B3FA0"/>
          </a:solidFill>
          <a:ln>
            <a:noFill/>
          </a:ln>
        </p:spPr>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19267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OBJECTIFS</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Un objectif est un résultat à atteindre : notre application en poursuit quatre</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11</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10799064" cy="749808"/>
          </a:xfrm>
          <a:prstGeom prst="roundRect">
            <a:avLst>
              <a:gd name="adj" fmla="val 14634"/>
            </a:avLst>
          </a:prstGeom>
          <a:solidFill>
            <a:srgbClr val="1B2A4A"/>
          </a:solidFill>
          <a:ln>
            <a:noFill/>
          </a:ln>
        </p:spPr>
        <p:txBody>
          <a:bodyPr rtlCol="0" anchor="ctr"/>
          <a:lstStyle/>
          <a:p>
            <a:pPr algn="ctr"/>
          </a:p>
        </p:txBody>
      </p:sp>
      <p:sp>
        <p:nvSpPr>
          <p:cNvPr id="114" name="TextBox 113"/>
          <p:cNvSpPr txBox="1"/>
          <p:nvPr/>
        </p:nvSpPr>
        <p:spPr>
          <a:xfrm>
            <a:off x="987552" y="1773936"/>
            <a:ext cx="10241280" cy="749808"/>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7ACFC0"/>
                </a:solidFill>
                <a:latin typeface="DM Sans"/>
              </a:rPr>
              <a:t>Objectif : </a:t>
            </a:r>
            <a:r>
              <a:rPr sz="1700" b="0" i="0">
                <a:solidFill>
                  <a:srgbClr val="FFFFFF"/>
                </a:solidFill>
                <a:latin typeface="DM Sans"/>
              </a:rPr>
              <a:t>résultat à atteindre, formulé de façon précise et mesurable.</a:t>
            </a:r>
          </a:p>
        </p:txBody>
      </p:sp>
      <p:sp>
        <p:nvSpPr>
          <p:cNvPr id="115" name="Rounded Rectangle 114"/>
          <p:cNvSpPr/>
          <p:nvPr/>
        </p:nvSpPr>
        <p:spPr>
          <a:xfrm>
            <a:off x="694944" y="2743200"/>
            <a:ext cx="2578608" cy="3310128"/>
          </a:xfrm>
          <a:prstGeom prst="roundRect">
            <a:avLst>
              <a:gd name="adj" fmla="val 5911"/>
            </a:avLst>
          </a:prstGeom>
          <a:solidFill>
            <a:srgbClr val="FFFFFF"/>
          </a:solidFill>
          <a:ln>
            <a:noFill/>
          </a:ln>
        </p:spPr>
        <p:txBody>
          <a:bodyPr rtlCol="0" anchor="ctr"/>
          <a:lstStyle/>
          <a:p>
            <a:pPr algn="ctr"/>
          </a:p>
        </p:txBody>
      </p:sp>
      <p:sp>
        <p:nvSpPr>
          <p:cNvPr id="116" name="Rectangle 115"/>
          <p:cNvSpPr/>
          <p:nvPr/>
        </p:nvSpPr>
        <p:spPr>
          <a:xfrm>
            <a:off x="694944"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7" name="Oval 116"/>
          <p:cNvSpPr/>
          <p:nvPr/>
        </p:nvSpPr>
        <p:spPr>
          <a:xfrm>
            <a:off x="923544" y="2999232"/>
            <a:ext cx="475488" cy="475488"/>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1</a:t>
            </a:r>
          </a:p>
        </p:txBody>
      </p:sp>
      <p:sp>
        <p:nvSpPr>
          <p:cNvPr id="118" name="TextBox 117"/>
          <p:cNvSpPr txBox="1"/>
          <p:nvPr/>
        </p:nvSpPr>
        <p:spPr>
          <a:xfrm>
            <a:off x="923544"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Prévoir et planifier</a:t>
            </a:r>
          </a:p>
        </p:txBody>
      </p:sp>
      <p:sp>
        <p:nvSpPr>
          <p:cNvPr id="119" name="TextBox 118"/>
          <p:cNvSpPr txBox="1"/>
          <p:nvPr/>
        </p:nvSpPr>
        <p:spPr>
          <a:xfrm>
            <a:off x="923544" y="4279392"/>
            <a:ext cx="2121408" cy="17373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Les besoins en main-d’œuvre et en équipements, par site, zone et jour, avec des alertes à l’avance en cas de sous-effectif ou de sureffectif.</a:t>
            </a:r>
          </a:p>
        </p:txBody>
      </p:sp>
      <p:sp>
        <p:nvSpPr>
          <p:cNvPr id="120" name="Rounded Rectangle 119"/>
          <p:cNvSpPr/>
          <p:nvPr/>
        </p:nvSpPr>
        <p:spPr>
          <a:xfrm>
            <a:off x="3435401" y="2743200"/>
            <a:ext cx="2578608" cy="3310128"/>
          </a:xfrm>
          <a:prstGeom prst="roundRect">
            <a:avLst>
              <a:gd name="adj" fmla="val 5911"/>
            </a:avLst>
          </a:prstGeom>
          <a:solidFill>
            <a:srgbClr val="FFFFFF"/>
          </a:solidFill>
          <a:ln>
            <a:noFill/>
          </a:ln>
        </p:spPr>
        <p:txBody>
          <a:bodyPr rtlCol="0" anchor="ctr"/>
          <a:lstStyle/>
          <a:p>
            <a:pPr algn="ctr"/>
          </a:p>
        </p:txBody>
      </p:sp>
      <p:sp>
        <p:nvSpPr>
          <p:cNvPr id="121" name="Rectangle 120"/>
          <p:cNvSpPr/>
          <p:nvPr/>
        </p:nvSpPr>
        <p:spPr>
          <a:xfrm>
            <a:off x="3435401"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2" name="Oval 121"/>
          <p:cNvSpPr/>
          <p:nvPr/>
        </p:nvSpPr>
        <p:spPr>
          <a:xfrm>
            <a:off x="3664001" y="2999232"/>
            <a:ext cx="475488" cy="475488"/>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2</a:t>
            </a:r>
          </a:p>
        </p:txBody>
      </p:sp>
      <p:sp>
        <p:nvSpPr>
          <p:cNvPr id="123" name="TextBox 122"/>
          <p:cNvSpPr txBox="1"/>
          <p:nvPr/>
        </p:nvSpPr>
        <p:spPr>
          <a:xfrm>
            <a:off x="3664001"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Suivre la performance</a:t>
            </a:r>
          </a:p>
        </p:txBody>
      </p:sp>
      <p:sp>
        <p:nvSpPr>
          <p:cNvPr id="124" name="TextBox 123"/>
          <p:cNvSpPr txBox="1"/>
          <p:nvPr/>
        </p:nvSpPr>
        <p:spPr>
          <a:xfrm>
            <a:off x="3664001" y="4279392"/>
            <a:ext cx="2121408" cy="17373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Calculer les KPI (précision, productivité, effectif, heures sup., intérim, coûts, équipements, expéditions à temps), les comparer à des cibles et signaler les écarts en vert, orange ou rouge.</a:t>
            </a:r>
          </a:p>
        </p:txBody>
      </p:sp>
      <p:sp>
        <p:nvSpPr>
          <p:cNvPr id="125" name="Rounded Rectangle 124"/>
          <p:cNvSpPr/>
          <p:nvPr/>
        </p:nvSpPr>
        <p:spPr>
          <a:xfrm>
            <a:off x="6175858" y="2743200"/>
            <a:ext cx="2578608" cy="3310128"/>
          </a:xfrm>
          <a:prstGeom prst="roundRect">
            <a:avLst>
              <a:gd name="adj" fmla="val 5911"/>
            </a:avLst>
          </a:prstGeom>
          <a:solidFill>
            <a:srgbClr val="FFFFFF"/>
          </a:solidFill>
          <a:ln>
            <a:noFill/>
          </a:ln>
        </p:spPr>
        <p:txBody>
          <a:bodyPr rtlCol="0" anchor="ctr"/>
          <a:lstStyle/>
          <a:p>
            <a:pPr algn="ctr"/>
          </a:p>
        </p:txBody>
      </p:sp>
      <p:sp>
        <p:nvSpPr>
          <p:cNvPr id="126" name="Rectangle 125"/>
          <p:cNvSpPr/>
          <p:nvPr/>
        </p:nvSpPr>
        <p:spPr>
          <a:xfrm>
            <a:off x="6175858"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7" name="Oval 126"/>
          <p:cNvSpPr/>
          <p:nvPr/>
        </p:nvSpPr>
        <p:spPr>
          <a:xfrm>
            <a:off x="6404458" y="2999232"/>
            <a:ext cx="475488" cy="475488"/>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3</a:t>
            </a:r>
          </a:p>
        </p:txBody>
      </p:sp>
      <p:sp>
        <p:nvSpPr>
          <p:cNvPr id="128" name="TextBox 127"/>
          <p:cNvSpPr txBox="1"/>
          <p:nvPr/>
        </p:nvSpPr>
        <p:spPr>
          <a:xfrm>
            <a:off x="6404458"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Comparer les modèles</a:t>
            </a:r>
          </a:p>
        </p:txBody>
      </p:sp>
      <p:sp>
        <p:nvSpPr>
          <p:cNvPr id="129" name="TextBox 128"/>
          <p:cNvSpPr txBox="1"/>
          <p:nvPr/>
        </p:nvSpPr>
        <p:spPr>
          <a:xfrm>
            <a:off x="6404458" y="4279392"/>
            <a:ext cx="2121408" cy="17373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Confronter le réel aux prévisions de trois modèles pour savoir lequel est le plus fiable : MAE, RMSE, MAPE, biais.</a:t>
            </a:r>
          </a:p>
        </p:txBody>
      </p:sp>
      <p:sp>
        <p:nvSpPr>
          <p:cNvPr id="130" name="Rounded Rectangle 129"/>
          <p:cNvSpPr/>
          <p:nvPr/>
        </p:nvSpPr>
        <p:spPr>
          <a:xfrm>
            <a:off x="8916314" y="2743200"/>
            <a:ext cx="2578608" cy="3310128"/>
          </a:xfrm>
          <a:prstGeom prst="roundRect">
            <a:avLst>
              <a:gd name="adj" fmla="val 5911"/>
            </a:avLst>
          </a:prstGeom>
          <a:solidFill>
            <a:srgbClr val="FFFFFF"/>
          </a:solidFill>
          <a:ln>
            <a:noFill/>
          </a:ln>
        </p:spPr>
        <p:txBody>
          <a:bodyPr rtlCol="0" anchor="ctr"/>
          <a:lstStyle/>
          <a:p>
            <a:pPr algn="ctr"/>
          </a:p>
        </p:txBody>
      </p:sp>
      <p:sp>
        <p:nvSpPr>
          <p:cNvPr id="131" name="Rectangle 130"/>
          <p:cNvSpPr/>
          <p:nvPr/>
        </p:nvSpPr>
        <p:spPr>
          <a:xfrm>
            <a:off x="8916314" y="2743200"/>
            <a:ext cx="2578608" cy="3310128"/>
          </a:xfrm>
          <a:custGeom>
            <a:rect b="b" l="l" r="r" t="t"/>
            <a:pathLst>
              <a:path extrusionOk="0" h="3310128"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32" name="Oval 131"/>
          <p:cNvSpPr/>
          <p:nvPr/>
        </p:nvSpPr>
        <p:spPr>
          <a:xfrm>
            <a:off x="9144914" y="2999232"/>
            <a:ext cx="475488" cy="475488"/>
          </a:xfrm>
          <a:prstGeom prst="ellipse">
            <a:avLst/>
          </a:prstGeom>
          <a:solidFill>
            <a:srgbClr val="6B3FA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FFFFFF"/>
                </a:solidFill>
                <a:latin typeface="Sora"/>
              </a:rPr>
              <a:t>4</a:t>
            </a:r>
          </a:p>
        </p:txBody>
      </p:sp>
      <p:sp>
        <p:nvSpPr>
          <p:cNvPr id="133" name="TextBox 132"/>
          <p:cNvSpPr txBox="1"/>
          <p:nvPr/>
        </p:nvSpPr>
        <p:spPr>
          <a:xfrm>
            <a:off x="9144914" y="3639312"/>
            <a:ext cx="2121408" cy="64008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1B2A4A"/>
                </a:solidFill>
                <a:latin typeface="Sora"/>
              </a:rPr>
              <a:t>Restituer</a:t>
            </a:r>
          </a:p>
        </p:txBody>
      </p:sp>
      <p:sp>
        <p:nvSpPr>
          <p:cNvPr id="134" name="TextBox 133"/>
          <p:cNvSpPr txBox="1"/>
          <p:nvPr/>
        </p:nvSpPr>
        <p:spPr>
          <a:xfrm>
            <a:off x="9144914" y="4279392"/>
            <a:ext cx="2121408" cy="17373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Des tableaux de bord et des rapports automatiques par jour, semaine, mois et année.</a:t>
            </a:r>
          </a:p>
        </p:txBody>
      </p:sp>
      <p:sp>
        <p:nvSpPr>
          <p:cNvPr id="135" name="TextBox 134"/>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Objectif au sens d’ISO 9000 : « résultat à atteindre ». Application de bureau en Python, base PostgreSQL, interface en français.</a:t>
            </a:r>
          </a:p>
        </p:txBody>
      </p:sp>
      <p:sp>
        <p:nvSpPr>
          <p:cNvPr id="136" name="Rectangle 135"/>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7" name="Rectangle 136"/>
          <p:cNvSpPr/>
          <p:nvPr/>
        </p:nvSpPr>
        <p:spPr>
          <a:xfrm>
            <a:off x="155448" y="6803136"/>
            <a:ext cx="3484177" cy="54864"/>
          </a:xfrm>
          <a:prstGeom prst="rect">
            <a:avLst/>
          </a:prstGeom>
          <a:solidFill>
            <a:srgbClr val="6B3FA0"/>
          </a:solidFill>
          <a:ln>
            <a:noFill/>
          </a:ln>
        </p:spPr>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79320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CAS D’UTILISATION</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24 cas d’utilisation, 7 paquets et 6 acteurs décrivent les fonctionnalités de l’application</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12</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pic>
        <p:nvPicPr>
          <p:cNvPr id="113" name="Picture 112" descr="uc-000.png"/>
          <p:cNvPicPr>
            <a:picLocks noChangeAspect="1"/>
          </p:cNvPicPr>
          <p:nvPr/>
        </p:nvPicPr>
        <p:blipFill>
          <a:blip r:embed="rId3"/>
          <a:stretch>
            <a:fillRect/>
          </a:stretch>
        </p:blipFill>
        <p:spPr>
          <a:xfrm>
            <a:off x="694944" y="1764792"/>
            <a:ext cx="7499377" cy="4315968"/>
          </a:xfrm>
          <a:prstGeom prst="rect">
            <a:avLst/>
          </a:prstGeom>
          <a:ln w="9525">
            <a:solidFill>
              <a:srgbClr val="D5DAE8"/>
            </a:solidFill>
          </a:ln>
        </p:spPr>
      </p:pic>
      <p:sp>
        <p:nvSpPr>
          <p:cNvPr id="114" name="Rounded Rectangle 113"/>
          <p:cNvSpPr/>
          <p:nvPr/>
        </p:nvSpPr>
        <p:spPr>
          <a:xfrm>
            <a:off x="8422921" y="1764792"/>
            <a:ext cx="3071087" cy="4315968"/>
          </a:xfrm>
          <a:prstGeom prst="roundRect">
            <a:avLst>
              <a:gd name="adj" fmla="val 4963"/>
            </a:avLst>
          </a:prstGeom>
          <a:solidFill>
            <a:srgbClr val="FFFFFF"/>
          </a:solidFill>
          <a:ln>
            <a:noFill/>
          </a:ln>
        </p:spPr>
        <p:txBody>
          <a:bodyPr rtlCol="0" anchor="ctr"/>
          <a:lstStyle/>
          <a:p>
            <a:pPr algn="ctr"/>
          </a:p>
        </p:txBody>
      </p:sp>
      <p:sp>
        <p:nvSpPr>
          <p:cNvPr id="115" name="Rectangle 114"/>
          <p:cNvSpPr/>
          <p:nvPr/>
        </p:nvSpPr>
        <p:spPr>
          <a:xfrm>
            <a:off x="8422921" y="1764792"/>
            <a:ext cx="3071087" cy="4315968"/>
          </a:xfrm>
          <a:custGeom>
            <a:rect b="b" l="l" r="r" t="t"/>
            <a:pathLst>
              <a:path extrusionOk="0" h="4315968" w="3071087">
                <a:moveTo>
                  <a:pt x="0" y="152400"/>
                </a:moveTo>
                <a:cubicBezTo>
                  <a:pt x="0" y="68229"/>
                  <a:pt x="68229" y="0"/>
                  <a:pt x="152400" y="0"/>
                </a:cubicBezTo>
                <a:lnTo>
                  <a:pt x="2918687" y="0"/>
                </a:lnTo>
                <a:cubicBezTo>
                  <a:pt x="3002857" y="0"/>
                  <a:pt x="3071087" y="68229"/>
                  <a:pt x="3071087" y="152400"/>
                </a:cubicBezTo>
                <a:cubicBezTo>
                  <a:pt x="3071087" y="103311"/>
                  <a:pt x="3002858" y="63500"/>
                  <a:pt x="2918687"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16" name="TextBox 115"/>
          <p:cNvSpPr txBox="1"/>
          <p:nvPr/>
        </p:nvSpPr>
        <p:spPr>
          <a:xfrm>
            <a:off x="8624089" y="1965960"/>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6 ACTEURS</a:t>
            </a:r>
          </a:p>
        </p:txBody>
      </p:sp>
      <p:sp>
        <p:nvSpPr>
          <p:cNvPr id="117" name="TextBox 116"/>
          <p:cNvSpPr txBox="1"/>
          <p:nvPr/>
        </p:nvSpPr>
        <p:spPr>
          <a:xfrm>
            <a:off x="8624089" y="2276856"/>
            <a:ext cx="2705327" cy="914400"/>
          </a:xfrm>
          <a:prstGeom prst="rect">
            <a:avLst/>
          </a:prstGeom>
          <a:noFill/>
        </p:spPr>
        <p:txBody>
          <a:bodyPr wrap="square" lIns="0" tIns="0" rIns="0" bIns="0" anchor="t">
            <a:noAutofit/>
          </a:bodyPr>
          <a:lstStyle/>
          <a:p>
            <a:pPr algn="l">
              <a:lnSpc>
                <a:spcPct val="110000"/>
              </a:lnSpc>
              <a:spcBef>
                <a:spcPts val="0"/>
              </a:spcBef>
              <a:spcAft>
                <a:spcPts val="400"/>
              </a:spcAft>
            </a:pPr>
            <a:r>
              <a:rPr sz="1150" b="1" i="0">
                <a:solidFill>
                  <a:srgbClr val="1B2A4A"/>
                </a:solidFill>
                <a:latin typeface="DM Sans"/>
              </a:rPr>
              <a:t>4 humains : </a:t>
            </a:r>
            <a:r>
              <a:rPr sz="1150" b="0" i="0">
                <a:solidFill>
                  <a:srgbClr val="2B3350"/>
                </a:solidFill>
                <a:latin typeface="DM Sans"/>
              </a:rPr>
              <a:t>planificateur, responsable d’exploitation, direction, administrateur</a:t>
            </a:r>
          </a:p>
          <a:p>
            <a:pPr algn="l">
              <a:lnSpc>
                <a:spcPct val="110000"/>
              </a:lnSpc>
              <a:spcBef>
                <a:spcPts val="0"/>
              </a:spcBef>
              <a:spcAft>
                <a:spcPts val="400"/>
              </a:spcAft>
            </a:pPr>
            <a:r>
              <a:rPr sz="1150" b="1" i="0">
                <a:solidFill>
                  <a:srgbClr val="1B2A4A"/>
                </a:solidFill>
                <a:latin typeface="DM Sans"/>
              </a:rPr>
              <a:t>2 systèmes : </a:t>
            </a:r>
            <a:r>
              <a:rPr sz="1150" b="0" i="0">
                <a:solidFill>
                  <a:srgbClr val="2B3350"/>
                </a:solidFill>
                <a:latin typeface="DM Sans"/>
              </a:rPr>
              <a:t>système source (WMS / SIRH), planificateur de tâches</a:t>
            </a:r>
          </a:p>
        </p:txBody>
      </p:sp>
      <p:sp>
        <p:nvSpPr>
          <p:cNvPr id="118" name="TextBox 117"/>
          <p:cNvSpPr txBox="1"/>
          <p:nvPr/>
        </p:nvSpPr>
        <p:spPr>
          <a:xfrm>
            <a:off x="8624089" y="3392424"/>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7 PAQUETS</a:t>
            </a:r>
          </a:p>
        </p:txBody>
      </p:sp>
      <p:sp>
        <p:nvSpPr>
          <p:cNvPr id="119" name="TextBox 118"/>
          <p:cNvSpPr txBox="1"/>
          <p:nvPr/>
        </p:nvSpPr>
        <p:spPr>
          <a:xfrm>
            <a:off x="8624089" y="3685032"/>
            <a:ext cx="2705327" cy="1463040"/>
          </a:xfrm>
          <a:prstGeom prst="rect">
            <a:avLst/>
          </a:prstGeom>
          <a:noFill/>
        </p:spPr>
        <p:txBody>
          <a:bodyPr wrap="square" lIns="0" tIns="0" rIns="0" bIns="0" anchor="t">
            <a:noAutofit/>
          </a:bodyPr>
          <a:lstStyle/>
          <a:p>
            <a:pPr algn="l">
              <a:lnSpc>
                <a:spcPct val="105000"/>
              </a:lnSpc>
              <a:spcBef>
                <a:spcPts val="0"/>
              </a:spcBef>
              <a:spcAft>
                <a:spcPts val="100"/>
              </a:spcAft>
            </a:pPr>
            <a:r>
              <a:rPr sz="1100" b="0" i="0">
                <a:solidFill>
                  <a:srgbClr val="2B3350"/>
                </a:solidFill>
                <a:latin typeface="DM Sans"/>
              </a:rPr>
              <a:t>P1 Accès et administration</a:t>
            </a:r>
          </a:p>
          <a:p>
            <a:pPr algn="l">
              <a:lnSpc>
                <a:spcPct val="105000"/>
              </a:lnSpc>
              <a:spcBef>
                <a:spcPts val="0"/>
              </a:spcBef>
              <a:spcAft>
                <a:spcPts val="100"/>
              </a:spcAft>
            </a:pPr>
            <a:r>
              <a:rPr sz="1100" b="0" i="0">
                <a:solidFill>
                  <a:srgbClr val="2B3350"/>
                </a:solidFill>
                <a:latin typeface="DM Sans"/>
              </a:rPr>
              <a:t>P2 Données</a:t>
            </a:r>
          </a:p>
          <a:p>
            <a:pPr algn="l">
              <a:lnSpc>
                <a:spcPct val="105000"/>
              </a:lnSpc>
              <a:spcBef>
                <a:spcPts val="0"/>
              </a:spcBef>
              <a:spcAft>
                <a:spcPts val="100"/>
              </a:spcAft>
            </a:pPr>
            <a:r>
              <a:rPr sz="1100" b="0" i="0">
                <a:solidFill>
                  <a:srgbClr val="2B3350"/>
                </a:solidFill>
                <a:latin typeface="DM Sans"/>
              </a:rPr>
              <a:t>P3 Modèles de prévision</a:t>
            </a:r>
          </a:p>
          <a:p>
            <a:pPr algn="l">
              <a:lnSpc>
                <a:spcPct val="105000"/>
              </a:lnSpc>
              <a:spcBef>
                <a:spcPts val="0"/>
              </a:spcBef>
              <a:spcAft>
                <a:spcPts val="100"/>
              </a:spcAft>
            </a:pPr>
            <a:r>
              <a:rPr sz="1100" b="0" i="0">
                <a:solidFill>
                  <a:srgbClr val="2B3350"/>
                </a:solidFill>
                <a:latin typeface="DM Sans"/>
              </a:rPr>
              <a:t>P4 Prévision et planification</a:t>
            </a:r>
          </a:p>
          <a:p>
            <a:pPr algn="l">
              <a:lnSpc>
                <a:spcPct val="105000"/>
              </a:lnSpc>
              <a:spcBef>
                <a:spcPts val="0"/>
              </a:spcBef>
              <a:spcAft>
                <a:spcPts val="100"/>
              </a:spcAft>
            </a:pPr>
            <a:r>
              <a:rPr sz="1100" b="0" i="0">
                <a:solidFill>
                  <a:srgbClr val="2B3350"/>
                </a:solidFill>
                <a:latin typeface="DM Sans"/>
              </a:rPr>
              <a:t>P5 Cibles, KPI et alertes</a:t>
            </a:r>
          </a:p>
          <a:p>
            <a:pPr algn="l">
              <a:lnSpc>
                <a:spcPct val="105000"/>
              </a:lnSpc>
              <a:spcBef>
                <a:spcPts val="0"/>
              </a:spcBef>
              <a:spcAft>
                <a:spcPts val="100"/>
              </a:spcAft>
            </a:pPr>
            <a:r>
              <a:rPr sz="1100" b="0" i="0">
                <a:solidFill>
                  <a:srgbClr val="2B3350"/>
                </a:solidFill>
                <a:latin typeface="DM Sans"/>
              </a:rPr>
              <a:t>P6 Comparaison réel / prévu</a:t>
            </a:r>
          </a:p>
          <a:p>
            <a:pPr algn="l">
              <a:lnSpc>
                <a:spcPct val="105000"/>
              </a:lnSpc>
              <a:spcBef>
                <a:spcPts val="0"/>
              </a:spcBef>
              <a:spcAft>
                <a:spcPts val="100"/>
              </a:spcAft>
            </a:pPr>
            <a:r>
              <a:rPr sz="1100" b="0" i="0">
                <a:solidFill>
                  <a:srgbClr val="2B3350"/>
                </a:solidFill>
                <a:latin typeface="DM Sans"/>
              </a:rPr>
              <a:t>P7 Tableaux de bord et rapports</a:t>
            </a:r>
          </a:p>
        </p:txBody>
      </p:sp>
      <p:sp>
        <p:nvSpPr>
          <p:cNvPr id="120" name="TextBox 119"/>
          <p:cNvSpPr txBox="1"/>
          <p:nvPr/>
        </p:nvSpPr>
        <p:spPr>
          <a:xfrm>
            <a:off x="8624089" y="5166360"/>
            <a:ext cx="2705327" cy="256032"/>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6B3FA0"/>
                </a:solidFill>
                <a:latin typeface="Sora"/>
              </a:rPr>
              <a:t>RELATIONS</a:t>
            </a:r>
          </a:p>
        </p:txBody>
      </p:sp>
      <p:sp>
        <p:nvSpPr>
          <p:cNvPr id="121" name="TextBox 120"/>
          <p:cNvSpPr txBox="1"/>
          <p:nvPr/>
        </p:nvSpPr>
        <p:spPr>
          <a:xfrm>
            <a:off x="8624089" y="5440680"/>
            <a:ext cx="2705327" cy="640080"/>
          </a:xfrm>
          <a:prstGeom prst="rect">
            <a:avLst/>
          </a:prstGeom>
          <a:noFill/>
        </p:spPr>
        <p:txBody>
          <a:bodyPr wrap="square" lIns="0" tIns="0" rIns="0" bIns="0" anchor="t">
            <a:noAutofit/>
          </a:bodyPr>
          <a:lstStyle/>
          <a:p>
            <a:pPr algn="l">
              <a:lnSpc>
                <a:spcPct val="105000"/>
              </a:lnSpc>
              <a:spcBef>
                <a:spcPts val="0"/>
              </a:spcBef>
              <a:spcAft>
                <a:spcPts val="200"/>
              </a:spcAft>
            </a:pPr>
            <a:r>
              <a:rPr sz="1100" b="1" i="0">
                <a:solidFill>
                  <a:srgbClr val="1B2A4A"/>
                </a:solidFill>
                <a:latin typeface="DM Sans"/>
              </a:rPr>
              <a:t>« include » </a:t>
            </a:r>
            <a:r>
              <a:rPr sz="1100" b="0" i="0">
                <a:solidFill>
                  <a:srgbClr val="2B3350"/>
                </a:solidFill>
                <a:latin typeface="DM Sans"/>
              </a:rPr>
              <a:t>étape toujours exécutée</a:t>
            </a:r>
          </a:p>
          <a:p>
            <a:pPr algn="l">
              <a:lnSpc>
                <a:spcPct val="105000"/>
              </a:lnSpc>
              <a:spcBef>
                <a:spcPts val="0"/>
              </a:spcBef>
              <a:spcAft>
                <a:spcPts val="200"/>
              </a:spcAft>
            </a:pPr>
            <a:r>
              <a:rPr sz="1100" b="1" i="0">
                <a:solidFill>
                  <a:srgbClr val="1B2A4A"/>
                </a:solidFill>
                <a:latin typeface="DM Sans"/>
              </a:rPr>
              <a:t>« extend » </a:t>
            </a:r>
            <a:r>
              <a:rPr sz="1100" b="0" i="0">
                <a:solidFill>
                  <a:srgbClr val="2B3350"/>
                </a:solidFill>
                <a:latin typeface="DM Sans"/>
              </a:rPr>
              <a:t>étape sous condition</a:t>
            </a:r>
          </a:p>
        </p:txBody>
      </p:sp>
      <p:sp>
        <p:nvSpPr>
          <p:cNvPr id="122" name="TextBox 121"/>
          <p:cNvSpPr txBox="1"/>
          <p:nvPr/>
        </p:nvSpPr>
        <p:spPr>
          <a:xfrm>
            <a:off x="694944" y="6345936"/>
            <a:ext cx="768096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diagramme de cas d’utilisation de l’application 2.3.3 (rapport de l’équipe 15).</a:t>
            </a:r>
          </a:p>
        </p:txBody>
      </p:sp>
      <p:sp>
        <p:nvSpPr>
          <p:cNvPr id="123" name="Rectangle 122"/>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24" name="Rectangle 123"/>
          <p:cNvSpPr/>
          <p:nvPr/>
        </p:nvSpPr>
        <p:spPr>
          <a:xfrm>
            <a:off x="155448" y="6803136"/>
            <a:ext cx="3800920" cy="54864"/>
          </a:xfrm>
          <a:prstGeom prst="rect">
            <a:avLst/>
          </a:prstGeom>
          <a:solidFill>
            <a:srgbClr val="6B3FA0"/>
          </a:solidFill>
          <a:ln>
            <a:noFill/>
          </a:ln>
        </p:spPr>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1810393"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1 · MODÈLES</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Le Gradient Boosting est retenu car il répond à la congestion non linéaire sans modifier l’architecture</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14</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73936"/>
            <a:ext cx="6583680" cy="950976"/>
          </a:xfrm>
          <a:prstGeom prst="roundRect">
            <a:avLst>
              <a:gd name="adj" fmla="val 16028"/>
            </a:avLst>
          </a:prstGeom>
          <a:solidFill>
            <a:srgbClr val="24375F"/>
          </a:solidFill>
          <a:ln>
            <a:noFill/>
          </a:ln>
        </p:spPr>
        <p:txBody>
          <a:bodyPr rtlCol="0" anchor="ctr"/>
          <a:lstStyle/>
          <a:p>
            <a:pPr algn="ctr"/>
          </a:p>
        </p:txBody>
      </p:sp>
      <p:sp>
        <p:nvSpPr>
          <p:cNvPr id="253" name="Oval 252"/>
          <p:cNvSpPr/>
          <p:nvPr/>
        </p:nvSpPr>
        <p:spPr>
          <a:xfrm>
            <a:off x="932688" y="2020824"/>
            <a:ext cx="457200" cy="45720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1</a:t>
            </a:r>
          </a:p>
        </p:txBody>
      </p:sp>
      <p:sp>
        <p:nvSpPr>
          <p:cNvPr id="254" name="TextBox 253"/>
          <p:cNvSpPr txBox="1"/>
          <p:nvPr/>
        </p:nvSpPr>
        <p:spPr>
          <a:xfrm>
            <a:off x="1645920" y="1773936"/>
            <a:ext cx="5440680" cy="950976"/>
          </a:xfrm>
          <a:prstGeom prst="rect">
            <a:avLst/>
          </a:prstGeom>
          <a:noFill/>
        </p:spPr>
        <p:txBody>
          <a:bodyPr wrap="square" lIns="0" tIns="0" rIns="0" bIns="0" anchor="ctr">
            <a:noAutofit/>
          </a:bodyPr>
          <a:lstStyle/>
          <a:p>
            <a:pPr algn="l">
              <a:lnSpc>
                <a:spcPct val="112000"/>
              </a:lnSpc>
              <a:spcBef>
                <a:spcPts val="0"/>
              </a:spcBef>
              <a:spcAft>
                <a:spcPts val="0"/>
              </a:spcAft>
            </a:pPr>
            <a:r>
              <a:rPr sz="1600" b="0" i="0">
                <a:solidFill>
                  <a:srgbClr val="FFFFFF"/>
                </a:solidFill>
                <a:latin typeface="DM Sans"/>
              </a:rPr>
              <a:t>Il capte la congestion non linéaire du jeu de démonstration.</a:t>
            </a:r>
          </a:p>
        </p:txBody>
      </p:sp>
      <p:sp>
        <p:nvSpPr>
          <p:cNvPr id="255" name="Rounded Rectangle 254"/>
          <p:cNvSpPr/>
          <p:nvPr/>
        </p:nvSpPr>
        <p:spPr>
          <a:xfrm>
            <a:off x="694944" y="2871216"/>
            <a:ext cx="6583680" cy="950976"/>
          </a:xfrm>
          <a:prstGeom prst="roundRect">
            <a:avLst>
              <a:gd name="adj" fmla="val 16028"/>
            </a:avLst>
          </a:prstGeom>
          <a:solidFill>
            <a:srgbClr val="24375F"/>
          </a:solidFill>
          <a:ln>
            <a:noFill/>
          </a:ln>
        </p:spPr>
        <p:txBody>
          <a:bodyPr rtlCol="0" anchor="ctr"/>
          <a:lstStyle/>
          <a:p>
            <a:pPr algn="ctr"/>
          </a:p>
        </p:txBody>
      </p:sp>
      <p:sp>
        <p:nvSpPr>
          <p:cNvPr id="256" name="Oval 255"/>
          <p:cNvSpPr/>
          <p:nvPr/>
        </p:nvSpPr>
        <p:spPr>
          <a:xfrm>
            <a:off x="932688" y="3118104"/>
            <a:ext cx="457200" cy="45720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2</a:t>
            </a:r>
          </a:p>
        </p:txBody>
      </p:sp>
      <p:sp>
        <p:nvSpPr>
          <p:cNvPr id="257" name="TextBox 256"/>
          <p:cNvSpPr txBox="1"/>
          <p:nvPr/>
        </p:nvSpPr>
        <p:spPr>
          <a:xfrm>
            <a:off x="1645920" y="2871216"/>
            <a:ext cx="5440680" cy="950976"/>
          </a:xfrm>
          <a:prstGeom prst="rect">
            <a:avLst/>
          </a:prstGeom>
          <a:noFill/>
        </p:spPr>
        <p:txBody>
          <a:bodyPr wrap="square" lIns="0" tIns="0" rIns="0" bIns="0" anchor="ctr">
            <a:noAutofit/>
          </a:bodyPr>
          <a:lstStyle/>
          <a:p>
            <a:pPr algn="l">
              <a:lnSpc>
                <a:spcPct val="112000"/>
              </a:lnSpc>
              <a:spcBef>
                <a:spcPts val="0"/>
              </a:spcBef>
              <a:spcAft>
                <a:spcPts val="0"/>
              </a:spcAft>
            </a:pPr>
            <a:r>
              <a:rPr sz="1600" b="0" i="0">
                <a:solidFill>
                  <a:srgbClr val="FFFFFF"/>
                </a:solidFill>
                <a:latin typeface="DM Sans"/>
              </a:rPr>
              <a:t>Il s’intègre à l’architecture existante, sans la modifier.</a:t>
            </a:r>
          </a:p>
        </p:txBody>
      </p:sp>
      <p:sp>
        <p:nvSpPr>
          <p:cNvPr id="258" name="Rounded Rectangle 257"/>
          <p:cNvSpPr/>
          <p:nvPr/>
        </p:nvSpPr>
        <p:spPr>
          <a:xfrm>
            <a:off x="694944" y="3968496"/>
            <a:ext cx="6583680" cy="950976"/>
          </a:xfrm>
          <a:prstGeom prst="roundRect">
            <a:avLst>
              <a:gd name="adj" fmla="val 16028"/>
            </a:avLst>
          </a:prstGeom>
          <a:solidFill>
            <a:srgbClr val="24375F"/>
          </a:solidFill>
          <a:ln>
            <a:noFill/>
          </a:ln>
        </p:spPr>
        <p:txBody>
          <a:bodyPr rtlCol="0" anchor="ctr"/>
          <a:lstStyle/>
          <a:p>
            <a:pPr algn="ctr"/>
          </a:p>
        </p:txBody>
      </p:sp>
      <p:sp>
        <p:nvSpPr>
          <p:cNvPr id="259" name="Oval 258"/>
          <p:cNvSpPr/>
          <p:nvPr/>
        </p:nvSpPr>
        <p:spPr>
          <a:xfrm>
            <a:off x="932688" y="4215384"/>
            <a:ext cx="457200" cy="45720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3</a:t>
            </a:r>
          </a:p>
        </p:txBody>
      </p:sp>
      <p:sp>
        <p:nvSpPr>
          <p:cNvPr id="260" name="TextBox 259"/>
          <p:cNvSpPr txBox="1"/>
          <p:nvPr/>
        </p:nvSpPr>
        <p:spPr>
          <a:xfrm>
            <a:off x="1645920" y="3968496"/>
            <a:ext cx="5440680" cy="950976"/>
          </a:xfrm>
          <a:prstGeom prst="rect">
            <a:avLst/>
          </a:prstGeom>
          <a:noFill/>
        </p:spPr>
        <p:txBody>
          <a:bodyPr wrap="square" lIns="0" tIns="0" rIns="0" bIns="0" anchor="ctr">
            <a:noAutofit/>
          </a:bodyPr>
          <a:lstStyle/>
          <a:p>
            <a:pPr algn="l">
              <a:lnSpc>
                <a:spcPct val="112000"/>
              </a:lnSpc>
              <a:spcBef>
                <a:spcPts val="0"/>
              </a:spcBef>
              <a:spcAft>
                <a:spcPts val="0"/>
              </a:spcAft>
            </a:pPr>
            <a:r>
              <a:rPr sz="1600" b="0" i="0">
                <a:solidFill>
                  <a:srgbClr val="FFFFFF"/>
                </a:solidFill>
                <a:latin typeface="DM Sans"/>
              </a:rPr>
              <a:t>Il compare trois approches : mêmes métriques, même taux de victoire.</a:t>
            </a:r>
          </a:p>
        </p:txBody>
      </p:sp>
      <p:sp>
        <p:nvSpPr>
          <p:cNvPr id="261" name="Rounded Rectangle 260"/>
          <p:cNvSpPr/>
          <p:nvPr/>
        </p:nvSpPr>
        <p:spPr>
          <a:xfrm>
            <a:off x="7498080" y="1773936"/>
            <a:ext cx="3995928" cy="3145536"/>
          </a:xfrm>
          <a:prstGeom prst="roundRect">
            <a:avLst>
              <a:gd name="adj" fmla="val 4845"/>
            </a:avLst>
          </a:prstGeom>
          <a:solidFill>
            <a:srgbClr val="24375F"/>
          </a:solidFill>
          <a:ln>
            <a:noFill/>
          </a:ln>
        </p:spPr>
        <p:txBody>
          <a:bodyPr rtlCol="0" anchor="ctr"/>
          <a:lstStyle/>
          <a:p>
            <a:pPr algn="ctr"/>
          </a:p>
        </p:txBody>
      </p:sp>
      <p:sp>
        <p:nvSpPr>
          <p:cNvPr id="262" name="Rectangle 261"/>
          <p:cNvSpPr/>
          <p:nvPr/>
        </p:nvSpPr>
        <p:spPr>
          <a:xfrm>
            <a:off x="7498080" y="1773936"/>
            <a:ext cx="3995928" cy="3145536"/>
          </a:xfrm>
          <a:custGeom>
            <a:rect b="b" l="l" r="r" t="t"/>
            <a:pathLst>
              <a:path extrusionOk="0" h="3145536" w="3995928">
                <a:moveTo>
                  <a:pt x="0" y="152400"/>
                </a:moveTo>
                <a:cubicBezTo>
                  <a:pt x="0" y="68229"/>
                  <a:pt x="68229" y="0"/>
                  <a:pt x="152400" y="0"/>
                </a:cubicBezTo>
                <a:lnTo>
                  <a:pt x="3843528" y="0"/>
                </a:lnTo>
                <a:cubicBezTo>
                  <a:pt x="3927698" y="0"/>
                  <a:pt x="3995928" y="68229"/>
                  <a:pt x="3995928" y="152400"/>
                </a:cubicBezTo>
                <a:cubicBezTo>
                  <a:pt x="3995928" y="103311"/>
                  <a:pt x="3927699" y="63500"/>
                  <a:pt x="384352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63" name="TextBox 262"/>
          <p:cNvSpPr txBox="1"/>
          <p:nvPr/>
        </p:nvSpPr>
        <p:spPr>
          <a:xfrm>
            <a:off x="7754112" y="1956816"/>
            <a:ext cx="3566160" cy="237744"/>
          </a:xfrm>
          <a:prstGeom prst="rect">
            <a:avLst/>
          </a:prstGeom>
          <a:noFill/>
        </p:spPr>
        <p:txBody>
          <a:bodyPr wrap="square" lIns="0" tIns="0" rIns="0" bIns="0" anchor="t">
            <a:noAutofit/>
          </a:bodyPr>
          <a:lstStyle/>
          <a:p>
            <a:pPr algn="l">
              <a:lnSpc>
                <a:spcPct val="100000"/>
              </a:lnSpc>
              <a:spcBef>
                <a:spcPts val="0"/>
              </a:spcBef>
              <a:spcAft>
                <a:spcPts val="0"/>
              </a:spcAft>
            </a:pPr>
            <a:r>
              <a:rPr sz="1100" b="1" i="0">
                <a:solidFill>
                  <a:srgbClr val="7ACFC0"/>
                </a:solidFill>
                <a:latin typeface="Sora"/>
              </a:rPr>
              <a:t>ALTERNATIVES ÉTUDIÉES, NON RETENUES</a:t>
            </a:r>
          </a:p>
        </p:txBody>
      </p:sp>
      <p:sp>
        <p:nvSpPr>
          <p:cNvPr id="264" name="TextBox 263"/>
          <p:cNvSpPr txBox="1"/>
          <p:nvPr/>
        </p:nvSpPr>
        <p:spPr>
          <a:xfrm>
            <a:off x="7754112" y="2395728"/>
            <a:ext cx="356616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FFFFFF"/>
                </a:solidFill>
                <a:latin typeface="Sora"/>
              </a:rPr>
              <a:t>Forêt aléatoire</a:t>
            </a:r>
          </a:p>
        </p:txBody>
      </p:sp>
      <p:sp>
        <p:nvSpPr>
          <p:cNvPr id="265" name="TextBox 264"/>
          <p:cNvSpPr txBox="1"/>
          <p:nvPr/>
        </p:nvSpPr>
        <p:spPr>
          <a:xfrm>
            <a:off x="7754112" y="2706624"/>
            <a:ext cx="3520440" cy="240386"/>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C9D1E8"/>
                </a:solidFill>
                <a:latin typeface="DM Sans"/>
              </a:rPr>
              <a:t>Même limite d’extrapolation</a:t>
            </a:r>
          </a:p>
        </p:txBody>
      </p:sp>
      <p:sp>
        <p:nvSpPr>
          <p:cNvPr id="266" name="TextBox 265"/>
          <p:cNvSpPr txBox="1"/>
          <p:nvPr/>
        </p:nvSpPr>
        <p:spPr>
          <a:xfrm>
            <a:off x="7754112" y="3184754"/>
            <a:ext cx="356616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FFFFFF"/>
                </a:solidFill>
                <a:latin typeface="Sora"/>
              </a:rPr>
              <a:t>GAM</a:t>
            </a:r>
          </a:p>
        </p:txBody>
      </p:sp>
      <p:sp>
        <p:nvSpPr>
          <p:cNvPr id="267" name="TextBox 266"/>
          <p:cNvSpPr txBox="1"/>
          <p:nvPr/>
        </p:nvSpPr>
        <p:spPr>
          <a:xfrm>
            <a:off x="7754112" y="3495650"/>
            <a:ext cx="3520440" cy="480771"/>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C9D1E8"/>
                </a:solidFill>
                <a:latin typeface="DM Sans"/>
              </a:rPr>
              <a:t>Dépendance externe (pygam), paramétrage plus complexe</a:t>
            </a:r>
          </a:p>
        </p:txBody>
      </p:sp>
      <p:sp>
        <p:nvSpPr>
          <p:cNvPr id="268" name="TextBox 267"/>
          <p:cNvSpPr txBox="1"/>
          <p:nvPr/>
        </p:nvSpPr>
        <p:spPr>
          <a:xfrm>
            <a:off x="7754112" y="4214165"/>
            <a:ext cx="356616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FFFFFF"/>
                </a:solidFill>
                <a:latin typeface="Sora"/>
              </a:rPr>
              <a:t>Processus gaussien</a:t>
            </a:r>
          </a:p>
        </p:txBody>
      </p:sp>
      <p:sp>
        <p:nvSpPr>
          <p:cNvPr id="269" name="TextBox 268"/>
          <p:cNvSpPr txBox="1"/>
          <p:nvPr/>
        </p:nvSpPr>
        <p:spPr>
          <a:xfrm>
            <a:off x="7754112" y="4525061"/>
            <a:ext cx="3520440" cy="240386"/>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C9D1E8"/>
                </a:solidFill>
                <a:latin typeface="DM Sans"/>
              </a:rPr>
              <a:t>Coût O(n³), inadapté à la production</a:t>
            </a:r>
          </a:p>
        </p:txBody>
      </p:sp>
      <p:sp>
        <p:nvSpPr>
          <p:cNvPr id="270" name="Rounded Rectangle 269"/>
          <p:cNvSpPr/>
          <p:nvPr/>
        </p:nvSpPr>
        <p:spPr>
          <a:xfrm>
            <a:off x="694944" y="5120640"/>
            <a:ext cx="6583680" cy="987552"/>
          </a:xfrm>
          <a:prstGeom prst="roundRect">
            <a:avLst>
              <a:gd name="adj" fmla="val 11111"/>
            </a:avLst>
          </a:prstGeom>
          <a:solidFill>
            <a:srgbClr val="B39DDB"/>
          </a:solidFill>
          <a:ln>
            <a:noFill/>
          </a:ln>
        </p:spPr>
        <p:txBody>
          <a:bodyPr rtlCol="0" anchor="ctr"/>
          <a:lstStyle/>
          <a:p>
            <a:pPr algn="ctr"/>
          </a:p>
        </p:txBody>
      </p:sp>
      <p:sp>
        <p:nvSpPr>
          <p:cNvPr id="271" name="TextBox 270"/>
          <p:cNvSpPr txBox="1"/>
          <p:nvPr/>
        </p:nvSpPr>
        <p:spPr>
          <a:xfrm>
            <a:off x="969264" y="5120640"/>
            <a:ext cx="6126480" cy="987552"/>
          </a:xfrm>
          <a:prstGeom prst="rect">
            <a:avLst/>
          </a:prstGeom>
          <a:noFill/>
        </p:spPr>
        <p:txBody>
          <a:bodyPr wrap="square" lIns="0" tIns="0" rIns="0" bIns="0" anchor="ctr">
            <a:noAutofit/>
          </a:bodyPr>
          <a:lstStyle/>
          <a:p>
            <a:pPr algn="l">
              <a:lnSpc>
                <a:spcPct val="112000"/>
              </a:lnSpc>
              <a:spcBef>
                <a:spcPts val="0"/>
              </a:spcBef>
              <a:spcAft>
                <a:spcPts val="0"/>
              </a:spcAft>
            </a:pPr>
            <a:r>
              <a:rPr sz="1500" b="1" i="0">
                <a:solidFill>
                  <a:srgbClr val="1B2A4A"/>
                </a:solidFill>
                <a:latin typeface="DM Sans"/>
              </a:rPr>
              <a:t>Limite assumée : </a:t>
            </a:r>
            <a:r>
              <a:rPr sz="1500" b="0" i="0">
                <a:solidFill>
                  <a:srgbClr val="1B2A4A"/>
                </a:solidFill>
                <a:latin typeface="DM Sans"/>
              </a:rPr>
              <a:t>pas d’extrapolation ; la régression linéaire reste le filet de sécurité.</a:t>
            </a:r>
          </a:p>
        </p:txBody>
      </p:sp>
      <p:sp>
        <p:nvSpPr>
          <p:cNvPr id="272" name="Rounded Rectangle 271"/>
          <p:cNvSpPr/>
          <p:nvPr/>
        </p:nvSpPr>
        <p:spPr>
          <a:xfrm>
            <a:off x="7498080" y="5120640"/>
            <a:ext cx="3995928" cy="987552"/>
          </a:xfrm>
          <a:prstGeom prst="roundRect">
            <a:avLst>
              <a:gd name="adj" fmla="val 15435"/>
            </a:avLst>
          </a:prstGeom>
          <a:solidFill>
            <a:srgbClr val="24375F"/>
          </a:solidFill>
          <a:ln>
            <a:noFill/>
          </a:ln>
        </p:spPr>
        <p:txBody>
          <a:bodyPr rtlCol="0" anchor="ctr"/>
          <a:lstStyle/>
          <a:p>
            <a:pPr algn="ctr"/>
          </a:p>
        </p:txBody>
      </p:sp>
      <p:sp>
        <p:nvSpPr>
          <p:cNvPr id="273" name="Rectangle 272"/>
          <p:cNvSpPr/>
          <p:nvPr/>
        </p:nvSpPr>
        <p:spPr>
          <a:xfrm>
            <a:off x="7498080" y="5120640"/>
            <a:ext cx="3995928" cy="987552"/>
          </a:xfrm>
          <a:custGeom>
            <a:rect b="b" l="l" r="r" t="t"/>
            <a:pathLst>
              <a:path extrusionOk="0" h="987552" w="3995928">
                <a:moveTo>
                  <a:pt x="0" y="152400"/>
                </a:moveTo>
                <a:cubicBezTo>
                  <a:pt x="0" y="68229"/>
                  <a:pt x="68229" y="0"/>
                  <a:pt x="152400" y="0"/>
                </a:cubicBezTo>
                <a:lnTo>
                  <a:pt x="3843528" y="0"/>
                </a:lnTo>
                <a:cubicBezTo>
                  <a:pt x="3927698" y="0"/>
                  <a:pt x="3995928" y="68229"/>
                  <a:pt x="3995928" y="152400"/>
                </a:cubicBezTo>
                <a:cubicBezTo>
                  <a:pt x="3995928" y="103311"/>
                  <a:pt x="3927699" y="63500"/>
                  <a:pt x="38435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74" name="TextBox 273"/>
          <p:cNvSpPr txBox="1"/>
          <p:nvPr/>
        </p:nvSpPr>
        <p:spPr>
          <a:xfrm>
            <a:off x="7754112" y="5248656"/>
            <a:ext cx="3566160" cy="237744"/>
          </a:xfrm>
          <a:prstGeom prst="rect">
            <a:avLst/>
          </a:prstGeom>
          <a:noFill/>
        </p:spPr>
        <p:txBody>
          <a:bodyPr wrap="square" lIns="0" tIns="0" rIns="0" bIns="0" anchor="t">
            <a:noAutofit/>
          </a:bodyPr>
          <a:lstStyle/>
          <a:p>
            <a:pPr algn="l">
              <a:lnSpc>
                <a:spcPct val="100000"/>
              </a:lnSpc>
              <a:spcBef>
                <a:spcPts val="0"/>
              </a:spcBef>
              <a:spcAft>
                <a:spcPts val="0"/>
              </a:spcAft>
            </a:pPr>
            <a:r>
              <a:rPr sz="1100" b="1" i="0">
                <a:solidFill>
                  <a:srgbClr val="4A9BE0"/>
                </a:solidFill>
                <a:latin typeface="Sora"/>
              </a:rPr>
              <a:t>INTÉGRÉ À L’APPLICATION</a:t>
            </a:r>
          </a:p>
        </p:txBody>
      </p:sp>
      <p:sp>
        <p:nvSpPr>
          <p:cNvPr id="275" name="Rounded Rectangle 274"/>
          <p:cNvSpPr/>
          <p:nvPr/>
        </p:nvSpPr>
        <p:spPr>
          <a:xfrm>
            <a:off x="7754112" y="5596128"/>
            <a:ext cx="868680" cy="292608"/>
          </a:xfrm>
          <a:prstGeom prst="roundRect">
            <a:avLst>
              <a:gd name="adj" fmla="val 50000"/>
            </a:avLst>
          </a:prstGeom>
          <a:solidFill>
            <a:srgbClr val="142040"/>
          </a:solidFill>
          <a:ln>
            <a:noFill/>
          </a:ln>
        </p:spPr>
        <p:txBody>
          <a:bodyPr rtlCol="0" anchor="ctr" wrap="square" lIns="36576" tIns="0" rIns="36576" bIns="0">
            <a:noAutofit/>
          </a:bodyPr>
          <a:lstStyle/>
          <a:p>
            <a:pPr algn="ctr">
              <a:lnSpc>
                <a:spcPct val="100000"/>
              </a:lnSpc>
              <a:spcBef>
                <a:spcPts val="0"/>
              </a:spcBef>
              <a:spcAft>
                <a:spcPts val="0"/>
              </a:spcAft>
            </a:pPr>
            <a:r>
              <a:rPr sz="1000" b="0" i="0">
                <a:solidFill>
                  <a:srgbClr val="E4E9F5"/>
                </a:solidFill>
                <a:latin typeface="DM Sans"/>
              </a:rPr>
              <a:t>Entraînement</a:t>
            </a:r>
          </a:p>
        </p:txBody>
      </p:sp>
      <p:sp>
        <p:nvSpPr>
          <p:cNvPr id="276" name="Rounded Rectangle 275"/>
          <p:cNvSpPr/>
          <p:nvPr/>
        </p:nvSpPr>
        <p:spPr>
          <a:xfrm>
            <a:off x="8659368" y="5596128"/>
            <a:ext cx="868680" cy="292608"/>
          </a:xfrm>
          <a:prstGeom prst="roundRect">
            <a:avLst>
              <a:gd name="adj" fmla="val 50000"/>
            </a:avLst>
          </a:prstGeom>
          <a:solidFill>
            <a:srgbClr val="142040"/>
          </a:solidFill>
          <a:ln>
            <a:noFill/>
          </a:ln>
        </p:spPr>
        <p:txBody>
          <a:bodyPr rtlCol="0" anchor="ctr" wrap="square" lIns="36576" tIns="0" rIns="36576" bIns="0">
            <a:noAutofit/>
          </a:bodyPr>
          <a:lstStyle/>
          <a:p>
            <a:pPr algn="ctr">
              <a:lnSpc>
                <a:spcPct val="100000"/>
              </a:lnSpc>
              <a:spcBef>
                <a:spcPts val="0"/>
              </a:spcBef>
              <a:spcAft>
                <a:spcPts val="0"/>
              </a:spcAft>
            </a:pPr>
            <a:r>
              <a:rPr sz="1000" b="0" i="0">
                <a:solidFill>
                  <a:srgbClr val="E4E9F5"/>
                </a:solidFill>
                <a:latin typeface="DM Sans"/>
              </a:rPr>
              <a:t>Prévision</a:t>
            </a:r>
          </a:p>
        </p:txBody>
      </p:sp>
      <p:sp>
        <p:nvSpPr>
          <p:cNvPr id="277" name="Rounded Rectangle 276"/>
          <p:cNvSpPr/>
          <p:nvPr/>
        </p:nvSpPr>
        <p:spPr>
          <a:xfrm>
            <a:off x="9564624" y="5596128"/>
            <a:ext cx="868680" cy="292608"/>
          </a:xfrm>
          <a:prstGeom prst="roundRect">
            <a:avLst>
              <a:gd name="adj" fmla="val 50000"/>
            </a:avLst>
          </a:prstGeom>
          <a:solidFill>
            <a:srgbClr val="142040"/>
          </a:solidFill>
          <a:ln>
            <a:noFill/>
          </a:ln>
        </p:spPr>
        <p:txBody>
          <a:bodyPr rtlCol="0" anchor="ctr" wrap="square" lIns="36576" tIns="0" rIns="36576" bIns="0">
            <a:noAutofit/>
          </a:bodyPr>
          <a:lstStyle/>
          <a:p>
            <a:pPr algn="ctr">
              <a:lnSpc>
                <a:spcPct val="100000"/>
              </a:lnSpc>
              <a:spcBef>
                <a:spcPts val="0"/>
              </a:spcBef>
              <a:spcAft>
                <a:spcPts val="0"/>
              </a:spcAft>
            </a:pPr>
            <a:r>
              <a:rPr sz="1000" b="0" i="0">
                <a:solidFill>
                  <a:srgbClr val="E4E9F5"/>
                </a:solidFill>
                <a:latin typeface="DM Sans"/>
              </a:rPr>
              <a:t>Comparaison</a:t>
            </a:r>
          </a:p>
        </p:txBody>
      </p:sp>
      <p:sp>
        <p:nvSpPr>
          <p:cNvPr id="278" name="Rounded Rectangle 277"/>
          <p:cNvSpPr/>
          <p:nvPr/>
        </p:nvSpPr>
        <p:spPr>
          <a:xfrm>
            <a:off x="10469880" y="5596128"/>
            <a:ext cx="868680" cy="292608"/>
          </a:xfrm>
          <a:prstGeom prst="roundRect">
            <a:avLst>
              <a:gd name="adj" fmla="val 50000"/>
            </a:avLst>
          </a:prstGeom>
          <a:solidFill>
            <a:srgbClr val="142040"/>
          </a:solidFill>
          <a:ln>
            <a:noFill/>
          </a:ln>
        </p:spPr>
        <p:txBody>
          <a:bodyPr rtlCol="0" anchor="ctr" wrap="square" lIns="36576" tIns="0" rIns="36576" bIns="0">
            <a:noAutofit/>
          </a:bodyPr>
          <a:lstStyle/>
          <a:p>
            <a:pPr algn="ctr">
              <a:lnSpc>
                <a:spcPct val="100000"/>
              </a:lnSpc>
              <a:spcBef>
                <a:spcPts val="0"/>
              </a:spcBef>
              <a:spcAft>
                <a:spcPts val="0"/>
              </a:spcAft>
            </a:pPr>
            <a:r>
              <a:rPr sz="1000" b="0" i="0">
                <a:solidFill>
                  <a:srgbClr val="E4E9F5"/>
                </a:solidFill>
                <a:latin typeface="DM Sans"/>
              </a:rPr>
              <a:t>Rapports</a:t>
            </a:r>
          </a:p>
        </p:txBody>
      </p:sp>
      <p:sp>
        <p:nvSpPr>
          <p:cNvPr id="279" name="Rectangle 278"/>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280" name="Rectangle 279"/>
          <p:cNvSpPr/>
          <p:nvPr/>
        </p:nvSpPr>
        <p:spPr>
          <a:xfrm>
            <a:off x="155448" y="6803136"/>
            <a:ext cx="4434407" cy="54864"/>
          </a:xfrm>
          <a:prstGeom prst="rect">
            <a:avLst/>
          </a:prstGeom>
          <a:solidFill>
            <a:srgbClr val="7ACFC0"/>
          </a:solidFill>
          <a:ln>
            <a:noFill/>
          </a:ln>
        </p:spPr>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2456783"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2 · AUTOMATISATION</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Douze tâches planifiées automatisent les calculs ; les décisions engageantes restent humaines</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15</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73936"/>
            <a:ext cx="2578608" cy="1627632"/>
          </a:xfrm>
          <a:prstGeom prst="roundRect">
            <a:avLst>
              <a:gd name="adj" fmla="val 9365"/>
            </a:avLst>
          </a:prstGeom>
          <a:solidFill>
            <a:srgbClr val="24375F"/>
          </a:solidFill>
          <a:ln>
            <a:noFill/>
          </a:ln>
        </p:spPr>
        <p:txBody>
          <a:bodyPr rtlCol="0" anchor="ctr"/>
          <a:lstStyle/>
          <a:p>
            <a:pPr algn="ctr"/>
          </a:p>
        </p:txBody>
      </p:sp>
      <p:sp>
        <p:nvSpPr>
          <p:cNvPr id="253" name="Rectangle 252"/>
          <p:cNvSpPr/>
          <p:nvPr/>
        </p:nvSpPr>
        <p:spPr>
          <a:xfrm>
            <a:off x="694944" y="1773936"/>
            <a:ext cx="2578608" cy="1627632"/>
          </a:xfrm>
          <a:custGeom>
            <a:rect b="b" l="l" r="r" t="t"/>
            <a:pathLst>
              <a:path extrusionOk="0" h="1627632"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FFFFFF"/>
          </a:solidFill>
          <a:ln>
            <a:noFill/>
          </a:ln>
        </p:spPr>
        <p:txBody>
          <a:bodyPr rtlCol="0" anchor="ctr"/>
          <a:lstStyle/>
          <a:p>
            <a:pPr algn="ctr"/>
          </a:p>
        </p:txBody>
      </p:sp>
      <p:sp>
        <p:nvSpPr>
          <p:cNvPr id="254" name="TextBox 253"/>
          <p:cNvSpPr txBox="1"/>
          <p:nvPr/>
        </p:nvSpPr>
        <p:spPr>
          <a:xfrm>
            <a:off x="923544" y="1920240"/>
            <a:ext cx="2194560" cy="731520"/>
          </a:xfrm>
          <a:prstGeom prst="rect">
            <a:avLst/>
          </a:prstGeom>
          <a:noFill/>
        </p:spPr>
        <p:txBody>
          <a:bodyPr wrap="square" lIns="0" tIns="0" rIns="0" bIns="0" anchor="t">
            <a:noAutofit/>
          </a:bodyPr>
          <a:lstStyle/>
          <a:p>
            <a:pPr algn="l">
              <a:lnSpc>
                <a:spcPct val="115000"/>
              </a:lnSpc>
              <a:spcBef>
                <a:spcPts val="0"/>
              </a:spcBef>
              <a:spcAft>
                <a:spcPts val="0"/>
              </a:spcAft>
            </a:pPr>
            <a:r>
              <a:rPr sz="4400" b="1" i="0">
                <a:solidFill>
                  <a:srgbClr val="FFFFFF"/>
                </a:solidFill>
                <a:latin typeface="Sora"/>
              </a:rPr>
              <a:t>12</a:t>
            </a:r>
          </a:p>
        </p:txBody>
      </p:sp>
      <p:sp>
        <p:nvSpPr>
          <p:cNvPr id="255" name="TextBox 254"/>
          <p:cNvSpPr txBox="1"/>
          <p:nvPr/>
        </p:nvSpPr>
        <p:spPr>
          <a:xfrm>
            <a:off x="923544" y="2688336"/>
            <a:ext cx="2194560" cy="6400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tâches planifiées : 8 chaque nuit et 4 périodiques</a:t>
            </a:r>
          </a:p>
        </p:txBody>
      </p:sp>
      <p:sp>
        <p:nvSpPr>
          <p:cNvPr id="256" name="Rounded Rectangle 255"/>
          <p:cNvSpPr/>
          <p:nvPr/>
        </p:nvSpPr>
        <p:spPr>
          <a:xfrm>
            <a:off x="3435401" y="1773936"/>
            <a:ext cx="2578608" cy="1627632"/>
          </a:xfrm>
          <a:prstGeom prst="roundRect">
            <a:avLst>
              <a:gd name="adj" fmla="val 9365"/>
            </a:avLst>
          </a:prstGeom>
          <a:solidFill>
            <a:srgbClr val="24375F"/>
          </a:solidFill>
          <a:ln>
            <a:noFill/>
          </a:ln>
        </p:spPr>
        <p:txBody>
          <a:bodyPr rtlCol="0" anchor="ctr"/>
          <a:lstStyle/>
          <a:p>
            <a:pPr algn="ctr"/>
          </a:p>
        </p:txBody>
      </p:sp>
      <p:sp>
        <p:nvSpPr>
          <p:cNvPr id="257" name="Rectangle 256"/>
          <p:cNvSpPr/>
          <p:nvPr/>
        </p:nvSpPr>
        <p:spPr>
          <a:xfrm>
            <a:off x="3435401" y="1773936"/>
            <a:ext cx="2578608" cy="1627632"/>
          </a:xfrm>
          <a:custGeom>
            <a:rect b="b" l="l" r="r" t="t"/>
            <a:pathLst>
              <a:path extrusionOk="0" h="1627632"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58" name="TextBox 257"/>
          <p:cNvSpPr txBox="1"/>
          <p:nvPr/>
        </p:nvSpPr>
        <p:spPr>
          <a:xfrm>
            <a:off x="3664001" y="1920240"/>
            <a:ext cx="2194560" cy="731520"/>
          </a:xfrm>
          <a:prstGeom prst="rect">
            <a:avLst/>
          </a:prstGeom>
          <a:noFill/>
        </p:spPr>
        <p:txBody>
          <a:bodyPr wrap="square" lIns="0" tIns="0" rIns="0" bIns="0" anchor="t">
            <a:noAutofit/>
          </a:bodyPr>
          <a:lstStyle/>
          <a:p>
            <a:pPr algn="l">
              <a:lnSpc>
                <a:spcPct val="115000"/>
              </a:lnSpc>
              <a:spcBef>
                <a:spcPts val="0"/>
              </a:spcBef>
              <a:spcAft>
                <a:spcPts val="0"/>
              </a:spcAft>
            </a:pPr>
            <a:r>
              <a:rPr sz="4400" b="1" i="0">
                <a:solidFill>
                  <a:srgbClr val="7ACFC0"/>
                </a:solidFill>
                <a:latin typeface="Sora"/>
              </a:rPr>
              <a:t>11</a:t>
            </a:r>
          </a:p>
        </p:txBody>
      </p:sp>
      <p:sp>
        <p:nvSpPr>
          <p:cNvPr id="259" name="TextBox 258"/>
          <p:cNvSpPr txBox="1"/>
          <p:nvPr/>
        </p:nvSpPr>
        <p:spPr>
          <a:xfrm>
            <a:off x="3664001" y="2688336"/>
            <a:ext cx="2194560" cy="6400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cas d’usage entièrement automatiques</a:t>
            </a:r>
          </a:p>
        </p:txBody>
      </p:sp>
      <p:sp>
        <p:nvSpPr>
          <p:cNvPr id="260" name="Rounded Rectangle 259"/>
          <p:cNvSpPr/>
          <p:nvPr/>
        </p:nvSpPr>
        <p:spPr>
          <a:xfrm>
            <a:off x="6175858" y="1773936"/>
            <a:ext cx="2578608" cy="1627632"/>
          </a:xfrm>
          <a:prstGeom prst="roundRect">
            <a:avLst>
              <a:gd name="adj" fmla="val 9365"/>
            </a:avLst>
          </a:prstGeom>
          <a:solidFill>
            <a:srgbClr val="24375F"/>
          </a:solidFill>
          <a:ln>
            <a:noFill/>
          </a:ln>
        </p:spPr>
        <p:txBody>
          <a:bodyPr rtlCol="0" anchor="ctr"/>
          <a:lstStyle/>
          <a:p>
            <a:pPr algn="ctr"/>
          </a:p>
        </p:txBody>
      </p:sp>
      <p:sp>
        <p:nvSpPr>
          <p:cNvPr id="261" name="Rectangle 260"/>
          <p:cNvSpPr/>
          <p:nvPr/>
        </p:nvSpPr>
        <p:spPr>
          <a:xfrm>
            <a:off x="6175858" y="1773936"/>
            <a:ext cx="2578608" cy="1627632"/>
          </a:xfrm>
          <a:custGeom>
            <a:rect b="b" l="l" r="r" t="t"/>
            <a:pathLst>
              <a:path extrusionOk="0" h="1627632"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62" name="TextBox 261"/>
          <p:cNvSpPr txBox="1"/>
          <p:nvPr/>
        </p:nvSpPr>
        <p:spPr>
          <a:xfrm>
            <a:off x="6404458" y="1920240"/>
            <a:ext cx="2194560" cy="731520"/>
          </a:xfrm>
          <a:prstGeom prst="rect">
            <a:avLst/>
          </a:prstGeom>
          <a:noFill/>
        </p:spPr>
        <p:txBody>
          <a:bodyPr wrap="square" lIns="0" tIns="0" rIns="0" bIns="0" anchor="t">
            <a:noAutofit/>
          </a:bodyPr>
          <a:lstStyle/>
          <a:p>
            <a:pPr algn="l">
              <a:lnSpc>
                <a:spcPct val="115000"/>
              </a:lnSpc>
              <a:spcBef>
                <a:spcPts val="0"/>
              </a:spcBef>
              <a:spcAft>
                <a:spcPts val="0"/>
              </a:spcAft>
            </a:pPr>
            <a:r>
              <a:rPr sz="4400" b="1" i="0">
                <a:solidFill>
                  <a:srgbClr val="B39DDB"/>
                </a:solidFill>
                <a:latin typeface="Sora"/>
              </a:rPr>
              <a:t>12</a:t>
            </a:r>
          </a:p>
        </p:txBody>
      </p:sp>
      <p:sp>
        <p:nvSpPr>
          <p:cNvPr id="263" name="TextBox 262"/>
          <p:cNvSpPr txBox="1"/>
          <p:nvPr/>
        </p:nvSpPr>
        <p:spPr>
          <a:xfrm>
            <a:off x="6404458" y="2688336"/>
            <a:ext cx="2194560" cy="6400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cas d’usage à décision humaine obligatoire (dont UC01)</a:t>
            </a:r>
          </a:p>
        </p:txBody>
      </p:sp>
      <p:sp>
        <p:nvSpPr>
          <p:cNvPr id="264" name="Rounded Rectangle 263"/>
          <p:cNvSpPr/>
          <p:nvPr/>
        </p:nvSpPr>
        <p:spPr>
          <a:xfrm>
            <a:off x="8916314" y="1773936"/>
            <a:ext cx="2578608" cy="1627632"/>
          </a:xfrm>
          <a:prstGeom prst="roundRect">
            <a:avLst>
              <a:gd name="adj" fmla="val 9365"/>
            </a:avLst>
          </a:prstGeom>
          <a:solidFill>
            <a:srgbClr val="24375F"/>
          </a:solidFill>
          <a:ln>
            <a:noFill/>
          </a:ln>
        </p:spPr>
        <p:txBody>
          <a:bodyPr rtlCol="0" anchor="ctr"/>
          <a:lstStyle/>
          <a:p>
            <a:pPr algn="ctr"/>
          </a:p>
        </p:txBody>
      </p:sp>
      <p:sp>
        <p:nvSpPr>
          <p:cNvPr id="265" name="Rectangle 264"/>
          <p:cNvSpPr/>
          <p:nvPr/>
        </p:nvSpPr>
        <p:spPr>
          <a:xfrm>
            <a:off x="8916314" y="1773936"/>
            <a:ext cx="2578608" cy="1627632"/>
          </a:xfrm>
          <a:custGeom>
            <a:rect b="b" l="l" r="r" t="t"/>
            <a:pathLst>
              <a:path extrusionOk="0" h="1627632" w="2578608">
                <a:moveTo>
                  <a:pt x="0" y="152400"/>
                </a:moveTo>
                <a:cubicBezTo>
                  <a:pt x="0" y="68229"/>
                  <a:pt x="68229" y="0"/>
                  <a:pt x="152400" y="0"/>
                </a:cubicBezTo>
                <a:lnTo>
                  <a:pt x="2426208" y="0"/>
                </a:lnTo>
                <a:cubicBezTo>
                  <a:pt x="2510378" y="0"/>
                  <a:pt x="2578608" y="68229"/>
                  <a:pt x="2578608" y="152400"/>
                </a:cubicBezTo>
                <a:cubicBezTo>
                  <a:pt x="2578608" y="103311"/>
                  <a:pt x="2510379" y="63500"/>
                  <a:pt x="242620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66" name="TextBox 265"/>
          <p:cNvSpPr txBox="1"/>
          <p:nvPr/>
        </p:nvSpPr>
        <p:spPr>
          <a:xfrm>
            <a:off x="9144914" y="1920240"/>
            <a:ext cx="2194560" cy="731520"/>
          </a:xfrm>
          <a:prstGeom prst="rect">
            <a:avLst/>
          </a:prstGeom>
          <a:noFill/>
        </p:spPr>
        <p:txBody>
          <a:bodyPr wrap="square" lIns="0" tIns="0" rIns="0" bIns="0" anchor="t">
            <a:noAutofit/>
          </a:bodyPr>
          <a:lstStyle/>
          <a:p>
            <a:pPr algn="l">
              <a:lnSpc>
                <a:spcPct val="115000"/>
              </a:lnSpc>
              <a:spcBef>
                <a:spcPts val="0"/>
              </a:spcBef>
              <a:spcAft>
                <a:spcPts val="0"/>
              </a:spcAft>
            </a:pPr>
            <a:r>
              <a:rPr sz="4400" b="1" i="0">
                <a:solidFill>
                  <a:srgbClr val="4A9BE0"/>
                </a:solidFill>
                <a:latin typeface="Sora"/>
              </a:rPr>
              <a:t>1</a:t>
            </a:r>
          </a:p>
        </p:txBody>
      </p:sp>
      <p:sp>
        <p:nvSpPr>
          <p:cNvPr id="267" name="TextBox 266"/>
          <p:cNvSpPr txBox="1"/>
          <p:nvPr/>
        </p:nvSpPr>
        <p:spPr>
          <a:xfrm>
            <a:off x="9144914" y="2688336"/>
            <a:ext cx="2194560" cy="64008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cas mixte (UC22, consultation)</a:t>
            </a:r>
          </a:p>
        </p:txBody>
      </p:sp>
      <p:sp>
        <p:nvSpPr>
          <p:cNvPr id="268" name="TextBox 267"/>
          <p:cNvSpPr txBox="1"/>
          <p:nvPr/>
        </p:nvSpPr>
        <p:spPr>
          <a:xfrm>
            <a:off x="694944" y="3611880"/>
            <a:ext cx="7315200" cy="237744"/>
          </a:xfrm>
          <a:prstGeom prst="rect">
            <a:avLst/>
          </a:prstGeom>
          <a:noFill/>
        </p:spPr>
        <p:txBody>
          <a:bodyPr wrap="square" lIns="0" tIns="0" rIns="0" bIns="0" anchor="t">
            <a:noAutofit/>
          </a:bodyPr>
          <a:lstStyle/>
          <a:p>
            <a:pPr algn="l">
              <a:lnSpc>
                <a:spcPct val="100000"/>
              </a:lnSpc>
              <a:spcBef>
                <a:spcPts val="0"/>
              </a:spcBef>
              <a:spcAft>
                <a:spcPts val="0"/>
              </a:spcAft>
            </a:pPr>
            <a:r>
              <a:rPr sz="1100" b="1" i="0">
                <a:solidFill>
                  <a:srgbClr val="7ACFC0"/>
                </a:solidFill>
                <a:latin typeface="Sora"/>
              </a:rPr>
              <a:t>QUAND S’EXÉCUTENT-ELLES ?</a:t>
            </a:r>
          </a:p>
        </p:txBody>
      </p:sp>
      <p:cxnSp>
        <p:nvCxnSpPr>
          <p:cNvPr id="269" name="Connector 268"/>
          <p:cNvCxnSpPr/>
          <p:nvPr/>
        </p:nvCxnSpPr>
        <p:spPr>
          <a:xfrm>
            <a:off x="822960" y="4279392"/>
            <a:ext cx="10543032" cy="0"/>
          </a:xfrm>
          <a:prstGeom prst="line">
            <a:avLst/>
          </a:prstGeom>
          <a:ln w="15875">
            <a:solidFill>
              <a:srgbClr val="A9B4D0"/>
            </a:solidFill>
          </a:ln>
        </p:spPr>
      </p:cxnSp>
      <p:sp>
        <p:nvSpPr>
          <p:cNvPr id="270" name="Oval 269"/>
          <p:cNvSpPr/>
          <p:nvPr/>
        </p:nvSpPr>
        <p:spPr>
          <a:xfrm>
            <a:off x="1691640" y="4197096"/>
            <a:ext cx="164592" cy="164592"/>
          </a:xfrm>
          <a:prstGeom prst="ellipse">
            <a:avLst/>
          </a:prstGeom>
          <a:solidFill>
            <a:srgbClr val="7ACFC0"/>
          </a:solidFill>
          <a:ln>
            <a:noFill/>
          </a:ln>
        </p:spPr>
        <p:txBody>
          <a:bodyPr rtlCol="0" anchor="ctr"/>
          <a:lstStyle/>
          <a:p>
            <a:pPr algn="ctr"/>
          </a:p>
        </p:txBody>
      </p:sp>
      <p:sp>
        <p:nvSpPr>
          <p:cNvPr id="271" name="TextBox 270"/>
          <p:cNvSpPr txBox="1"/>
          <p:nvPr/>
        </p:nvSpPr>
        <p:spPr>
          <a:xfrm>
            <a:off x="722376" y="3886200"/>
            <a:ext cx="210312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1" i="0">
                <a:solidFill>
                  <a:srgbClr val="FFFFFF"/>
                </a:solidFill>
                <a:latin typeface="Sora"/>
              </a:rPr>
              <a:t>Chaque nuit · 00:30 UTC</a:t>
            </a:r>
          </a:p>
        </p:txBody>
      </p:sp>
      <p:sp>
        <p:nvSpPr>
          <p:cNvPr id="272" name="TextBox 271"/>
          <p:cNvSpPr txBox="1"/>
          <p:nvPr/>
        </p:nvSpPr>
        <p:spPr>
          <a:xfrm>
            <a:off x="768096" y="4462272"/>
            <a:ext cx="2011680" cy="868680"/>
          </a:xfrm>
          <a:prstGeom prst="rect">
            <a:avLst/>
          </a:prstGeom>
          <a:noFill/>
        </p:spPr>
        <p:txBody>
          <a:bodyPr wrap="square" lIns="0" tIns="0" rIns="0" bIns="0" anchor="t">
            <a:noAutofit/>
          </a:bodyPr>
          <a:lstStyle/>
          <a:p>
            <a:pPr algn="ctr">
              <a:lnSpc>
                <a:spcPct val="112000"/>
              </a:lnSpc>
              <a:spcBef>
                <a:spcPts val="0"/>
              </a:spcBef>
              <a:spcAft>
                <a:spcPts val="0"/>
              </a:spcAft>
            </a:pPr>
            <a:r>
              <a:rPr sz="1150" b="0" i="0">
                <a:solidFill>
                  <a:srgbClr val="C9D1E8"/>
                </a:solidFill>
                <a:latin typeface="DM Sans"/>
              </a:rPr>
              <a:t>8 étapes : sauvegarde, imports, comparaison, KPI, alertes, prévisions, rapport</a:t>
            </a:r>
          </a:p>
        </p:txBody>
      </p:sp>
      <p:sp>
        <p:nvSpPr>
          <p:cNvPr id="273" name="Oval 272"/>
          <p:cNvSpPr/>
          <p:nvPr/>
        </p:nvSpPr>
        <p:spPr>
          <a:xfrm>
            <a:off x="3849624" y="4197096"/>
            <a:ext cx="164592" cy="164592"/>
          </a:xfrm>
          <a:prstGeom prst="ellipse">
            <a:avLst/>
          </a:prstGeom>
          <a:solidFill>
            <a:srgbClr val="B39DDB"/>
          </a:solidFill>
          <a:ln>
            <a:noFill/>
          </a:ln>
        </p:spPr>
        <p:txBody>
          <a:bodyPr rtlCol="0" anchor="ctr"/>
          <a:lstStyle/>
          <a:p>
            <a:pPr algn="ctr"/>
          </a:p>
        </p:txBody>
      </p:sp>
      <p:sp>
        <p:nvSpPr>
          <p:cNvPr id="274" name="TextBox 273"/>
          <p:cNvSpPr txBox="1"/>
          <p:nvPr/>
        </p:nvSpPr>
        <p:spPr>
          <a:xfrm>
            <a:off x="2880360" y="3886200"/>
            <a:ext cx="210312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1" i="0">
                <a:solidFill>
                  <a:srgbClr val="FFFFFF"/>
                </a:solidFill>
                <a:latin typeface="Sora"/>
              </a:rPr>
              <a:t>Dimanche · 04:30</a:t>
            </a:r>
          </a:p>
        </p:txBody>
      </p:sp>
      <p:sp>
        <p:nvSpPr>
          <p:cNvPr id="275" name="TextBox 274"/>
          <p:cNvSpPr txBox="1"/>
          <p:nvPr/>
        </p:nvSpPr>
        <p:spPr>
          <a:xfrm>
            <a:off x="2926080" y="4462272"/>
            <a:ext cx="2011680" cy="868680"/>
          </a:xfrm>
          <a:prstGeom prst="rect">
            <a:avLst/>
          </a:prstGeom>
          <a:noFill/>
        </p:spPr>
        <p:txBody>
          <a:bodyPr wrap="square" lIns="0" tIns="0" rIns="0" bIns="0" anchor="t">
            <a:noAutofit/>
          </a:bodyPr>
          <a:lstStyle/>
          <a:p>
            <a:pPr algn="ctr">
              <a:lnSpc>
                <a:spcPct val="112000"/>
              </a:lnSpc>
              <a:spcBef>
                <a:spcPts val="0"/>
              </a:spcBef>
              <a:spcAft>
                <a:spcPts val="0"/>
              </a:spcAft>
            </a:pPr>
            <a:r>
              <a:rPr sz="1150" b="0" i="0">
                <a:solidFill>
                  <a:srgbClr val="C9D1E8"/>
                </a:solidFill>
                <a:latin typeface="DM Sans"/>
              </a:rPr>
              <a:t>Capacités : reconduction du personnel vers la semaine suivante</a:t>
            </a:r>
          </a:p>
        </p:txBody>
      </p:sp>
      <p:sp>
        <p:nvSpPr>
          <p:cNvPr id="276" name="Oval 275"/>
          <p:cNvSpPr/>
          <p:nvPr/>
        </p:nvSpPr>
        <p:spPr>
          <a:xfrm>
            <a:off x="6007608" y="4197096"/>
            <a:ext cx="164592" cy="164592"/>
          </a:xfrm>
          <a:prstGeom prst="ellipse">
            <a:avLst/>
          </a:prstGeom>
          <a:solidFill>
            <a:srgbClr val="B39DDB"/>
          </a:solidFill>
          <a:ln>
            <a:noFill/>
          </a:ln>
        </p:spPr>
        <p:txBody>
          <a:bodyPr rtlCol="0" anchor="ctr"/>
          <a:lstStyle/>
          <a:p>
            <a:pPr algn="ctr"/>
          </a:p>
        </p:txBody>
      </p:sp>
      <p:sp>
        <p:nvSpPr>
          <p:cNvPr id="277" name="TextBox 276"/>
          <p:cNvSpPr txBox="1"/>
          <p:nvPr/>
        </p:nvSpPr>
        <p:spPr>
          <a:xfrm>
            <a:off x="5038344" y="3886200"/>
            <a:ext cx="210312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1" i="0">
                <a:solidFill>
                  <a:srgbClr val="FFFFFF"/>
                </a:solidFill>
                <a:latin typeface="Sora"/>
              </a:rPr>
              <a:t>Lundi · 03:00</a:t>
            </a:r>
          </a:p>
        </p:txBody>
      </p:sp>
      <p:sp>
        <p:nvSpPr>
          <p:cNvPr id="278" name="TextBox 277"/>
          <p:cNvSpPr txBox="1"/>
          <p:nvPr/>
        </p:nvSpPr>
        <p:spPr>
          <a:xfrm>
            <a:off x="5084064" y="4462272"/>
            <a:ext cx="2011680" cy="868680"/>
          </a:xfrm>
          <a:prstGeom prst="rect">
            <a:avLst/>
          </a:prstGeom>
          <a:noFill/>
        </p:spPr>
        <p:txBody>
          <a:bodyPr wrap="square" lIns="0" tIns="0" rIns="0" bIns="0" anchor="t">
            <a:noAutofit/>
          </a:bodyPr>
          <a:lstStyle/>
          <a:p>
            <a:pPr algn="ctr">
              <a:lnSpc>
                <a:spcPct val="112000"/>
              </a:lnSpc>
              <a:spcBef>
                <a:spcPts val="0"/>
              </a:spcBef>
              <a:spcAft>
                <a:spcPts val="0"/>
              </a:spcAft>
            </a:pPr>
            <a:r>
              <a:rPr sz="1150" b="0" i="0">
                <a:solidFill>
                  <a:srgbClr val="C9D1E8"/>
                </a:solidFill>
                <a:latin typeface="DM Sans"/>
              </a:rPr>
              <a:t>Hebdomadaire : réentraînement des modèles, KPI et rapport de la semaine</a:t>
            </a:r>
          </a:p>
        </p:txBody>
      </p:sp>
      <p:sp>
        <p:nvSpPr>
          <p:cNvPr id="279" name="Oval 278"/>
          <p:cNvSpPr/>
          <p:nvPr/>
        </p:nvSpPr>
        <p:spPr>
          <a:xfrm>
            <a:off x="8165592" y="4197096"/>
            <a:ext cx="164592" cy="164592"/>
          </a:xfrm>
          <a:prstGeom prst="ellipse">
            <a:avLst/>
          </a:prstGeom>
          <a:solidFill>
            <a:srgbClr val="B39DDB"/>
          </a:solidFill>
          <a:ln>
            <a:noFill/>
          </a:ln>
        </p:spPr>
        <p:txBody>
          <a:bodyPr rtlCol="0" anchor="ctr"/>
          <a:lstStyle/>
          <a:p>
            <a:pPr algn="ctr"/>
          </a:p>
        </p:txBody>
      </p:sp>
      <p:sp>
        <p:nvSpPr>
          <p:cNvPr id="280" name="TextBox 279"/>
          <p:cNvSpPr txBox="1"/>
          <p:nvPr/>
        </p:nvSpPr>
        <p:spPr>
          <a:xfrm>
            <a:off x="7196328" y="3886200"/>
            <a:ext cx="210312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1" i="0">
                <a:solidFill>
                  <a:srgbClr val="FFFFFF"/>
                </a:solidFill>
                <a:latin typeface="Sora"/>
              </a:rPr>
              <a:t>Le 1er du mois · 04:00</a:t>
            </a:r>
          </a:p>
        </p:txBody>
      </p:sp>
      <p:sp>
        <p:nvSpPr>
          <p:cNvPr id="281" name="TextBox 280"/>
          <p:cNvSpPr txBox="1"/>
          <p:nvPr/>
        </p:nvSpPr>
        <p:spPr>
          <a:xfrm>
            <a:off x="7242048" y="4462272"/>
            <a:ext cx="2011680" cy="868680"/>
          </a:xfrm>
          <a:prstGeom prst="rect">
            <a:avLst/>
          </a:prstGeom>
          <a:noFill/>
        </p:spPr>
        <p:txBody>
          <a:bodyPr wrap="square" lIns="0" tIns="0" rIns="0" bIns="0" anchor="t">
            <a:noAutofit/>
          </a:bodyPr>
          <a:lstStyle/>
          <a:p>
            <a:pPr algn="ctr">
              <a:lnSpc>
                <a:spcPct val="112000"/>
              </a:lnSpc>
              <a:spcBef>
                <a:spcPts val="0"/>
              </a:spcBef>
              <a:spcAft>
                <a:spcPts val="0"/>
              </a:spcAft>
            </a:pPr>
            <a:r>
              <a:rPr sz="1150" b="0" i="0">
                <a:solidFill>
                  <a:srgbClr val="C9D1E8"/>
                </a:solidFill>
                <a:latin typeface="DM Sans"/>
              </a:rPr>
              <a:t>Mensuel : KPI et rapport du mois</a:t>
            </a:r>
          </a:p>
        </p:txBody>
      </p:sp>
      <p:sp>
        <p:nvSpPr>
          <p:cNvPr id="282" name="Oval 281"/>
          <p:cNvSpPr/>
          <p:nvPr/>
        </p:nvSpPr>
        <p:spPr>
          <a:xfrm>
            <a:off x="10323576" y="4197096"/>
            <a:ext cx="164592" cy="164592"/>
          </a:xfrm>
          <a:prstGeom prst="ellipse">
            <a:avLst/>
          </a:prstGeom>
          <a:solidFill>
            <a:srgbClr val="B39DDB"/>
          </a:solidFill>
          <a:ln>
            <a:noFill/>
          </a:ln>
        </p:spPr>
        <p:txBody>
          <a:bodyPr rtlCol="0" anchor="ctr"/>
          <a:lstStyle/>
          <a:p>
            <a:pPr algn="ctr"/>
          </a:p>
        </p:txBody>
      </p:sp>
      <p:sp>
        <p:nvSpPr>
          <p:cNvPr id="283" name="TextBox 282"/>
          <p:cNvSpPr txBox="1"/>
          <p:nvPr/>
        </p:nvSpPr>
        <p:spPr>
          <a:xfrm>
            <a:off x="9354312" y="3886200"/>
            <a:ext cx="210312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1" i="0">
                <a:solidFill>
                  <a:srgbClr val="FFFFFF"/>
                </a:solidFill>
                <a:latin typeface="Sora"/>
              </a:rPr>
              <a:t>Le 1er janvier · 05:00</a:t>
            </a:r>
          </a:p>
        </p:txBody>
      </p:sp>
      <p:sp>
        <p:nvSpPr>
          <p:cNvPr id="284" name="TextBox 283"/>
          <p:cNvSpPr txBox="1"/>
          <p:nvPr/>
        </p:nvSpPr>
        <p:spPr>
          <a:xfrm>
            <a:off x="9400032" y="4462272"/>
            <a:ext cx="2011680" cy="868680"/>
          </a:xfrm>
          <a:prstGeom prst="rect">
            <a:avLst/>
          </a:prstGeom>
          <a:noFill/>
        </p:spPr>
        <p:txBody>
          <a:bodyPr wrap="square" lIns="0" tIns="0" rIns="0" bIns="0" anchor="t">
            <a:noAutofit/>
          </a:bodyPr>
          <a:lstStyle/>
          <a:p>
            <a:pPr algn="ctr">
              <a:lnSpc>
                <a:spcPct val="112000"/>
              </a:lnSpc>
              <a:spcBef>
                <a:spcPts val="0"/>
              </a:spcBef>
              <a:spcAft>
                <a:spcPts val="0"/>
              </a:spcAft>
            </a:pPr>
            <a:r>
              <a:rPr sz="1150" b="0" i="0">
                <a:solidFill>
                  <a:srgbClr val="C9D1E8"/>
                </a:solidFill>
                <a:latin typeface="DM Sans"/>
              </a:rPr>
              <a:t>Annuel : KPI et rapport de l’année</a:t>
            </a:r>
          </a:p>
        </p:txBody>
      </p:sp>
      <p:sp>
        <p:nvSpPr>
          <p:cNvPr id="285" name="Rounded Rectangle 284"/>
          <p:cNvSpPr/>
          <p:nvPr/>
        </p:nvSpPr>
        <p:spPr>
          <a:xfrm>
            <a:off x="694944" y="5468112"/>
            <a:ext cx="10799064" cy="658368"/>
          </a:xfrm>
          <a:prstGeom prst="roundRect">
            <a:avLst>
              <a:gd name="adj" fmla="val 16666"/>
            </a:avLst>
          </a:prstGeom>
          <a:solidFill>
            <a:srgbClr val="B39DDB"/>
          </a:solidFill>
          <a:ln>
            <a:noFill/>
          </a:ln>
        </p:spPr>
        <p:txBody>
          <a:bodyPr rtlCol="0" anchor="ctr"/>
          <a:lstStyle/>
          <a:p>
            <a:pPr algn="ctr"/>
          </a:p>
        </p:txBody>
      </p:sp>
      <p:sp>
        <p:nvSpPr>
          <p:cNvPr id="286" name="TextBox 285"/>
          <p:cNvSpPr txBox="1"/>
          <p:nvPr/>
        </p:nvSpPr>
        <p:spPr>
          <a:xfrm>
            <a:off x="987552" y="5468112"/>
            <a:ext cx="10241280" cy="658368"/>
          </a:xfrm>
          <a:prstGeom prst="rect">
            <a:avLst/>
          </a:prstGeom>
          <a:noFill/>
        </p:spPr>
        <p:txBody>
          <a:bodyPr wrap="square" lIns="0" tIns="0" rIns="0" bIns="0" anchor="ctr">
            <a:noAutofit/>
          </a:bodyPr>
          <a:lstStyle/>
          <a:p>
            <a:pPr algn="l">
              <a:lnSpc>
                <a:spcPct val="115000"/>
              </a:lnSpc>
              <a:spcBef>
                <a:spcPts val="0"/>
              </a:spcBef>
              <a:spcAft>
                <a:spcPts val="0"/>
              </a:spcAft>
            </a:pPr>
            <a:r>
              <a:rPr sz="1450" b="1" i="0">
                <a:solidFill>
                  <a:srgbClr val="1B2A4A"/>
                </a:solidFill>
                <a:latin typeface="DM Sans"/>
              </a:rPr>
              <a:t>À retenir : </a:t>
            </a:r>
            <a:r>
              <a:rPr sz="1450" b="0" i="0">
                <a:solidFill>
                  <a:srgbClr val="1B2A4A"/>
                </a:solidFill>
                <a:latin typeface="DM Sans"/>
              </a:rPr>
              <a:t>ce qui reste manuel engage une responsabilité (budget, cible, clôture d’incident) ; ce n’est pas un manque d’outillage.</a:t>
            </a:r>
          </a:p>
        </p:txBody>
      </p:sp>
      <p:sp>
        <p:nvSpPr>
          <p:cNvPr id="287" name="Rectangle 286"/>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288" name="Rectangle 287"/>
          <p:cNvSpPr/>
          <p:nvPr/>
        </p:nvSpPr>
        <p:spPr>
          <a:xfrm>
            <a:off x="155448" y="6803136"/>
            <a:ext cx="4751150" cy="54864"/>
          </a:xfrm>
          <a:prstGeom prst="rect">
            <a:avLst/>
          </a:prstGeom>
          <a:solidFill>
            <a:srgbClr val="7ACFC0"/>
          </a:solidFill>
          <a:ln>
            <a:noFill/>
          </a:ln>
        </p:spPr>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213822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3 · BOTTOM LINE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Workly supprime 98 % des retards ; l’expédition et le stockage portent 84 % du gain</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21</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5486400" cy="4352544"/>
          </a:xfrm>
          <a:prstGeom prst="roundRect">
            <a:avLst>
              <a:gd name="adj" fmla="val 3502"/>
            </a:avLst>
          </a:prstGeom>
          <a:solidFill>
            <a:srgbClr val="FFFFFF"/>
          </a:solidFill>
          <a:ln>
            <a:noFill/>
          </a:ln>
        </p:spPr>
        <p:txBody>
          <a:bodyPr rtlCol="0" anchor="ctr"/>
          <a:lstStyle/>
          <a:p>
            <a:pPr algn="ctr"/>
          </a:p>
        </p:txBody>
      </p:sp>
      <p:sp>
        <p:nvSpPr>
          <p:cNvPr id="114" name="Rectangle 113"/>
          <p:cNvSpPr/>
          <p:nvPr/>
        </p:nvSpPr>
        <p:spPr>
          <a:xfrm>
            <a:off x="694944" y="1773936"/>
            <a:ext cx="5486400" cy="4352544"/>
          </a:xfrm>
          <a:custGeom>
            <a:rect b="b" l="l" r="r" t="t"/>
            <a:pathLst>
              <a:path extrusionOk="0" h="4352544" w="5486400">
                <a:moveTo>
                  <a:pt x="0" y="152400"/>
                </a:moveTo>
                <a:cubicBezTo>
                  <a:pt x="0" y="68229"/>
                  <a:pt x="68229" y="0"/>
                  <a:pt x="152400" y="0"/>
                </a:cubicBezTo>
                <a:lnTo>
                  <a:pt x="5334000" y="0"/>
                </a:lnTo>
                <a:cubicBezTo>
                  <a:pt x="5418170" y="0"/>
                  <a:pt x="5486400" y="68229"/>
                  <a:pt x="5486400" y="152400"/>
                </a:cubicBezTo>
                <a:cubicBezTo>
                  <a:pt x="5486400" y="103311"/>
                  <a:pt x="5418171" y="63500"/>
                  <a:pt x="533400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15" name="TextBox 114"/>
          <p:cNvSpPr txBox="1"/>
          <p:nvPr/>
        </p:nvSpPr>
        <p:spPr>
          <a:xfrm>
            <a:off x="950976" y="1938528"/>
            <a:ext cx="5029200" cy="237744"/>
          </a:xfrm>
          <a:prstGeom prst="rect">
            <a:avLst/>
          </a:prstGeom>
          <a:noFill/>
        </p:spPr>
        <p:txBody>
          <a:bodyPr wrap="square" lIns="0" tIns="0" rIns="0" bIns="0" anchor="t">
            <a:noAutofit/>
          </a:bodyPr>
          <a:lstStyle/>
          <a:p>
            <a:pPr algn="l">
              <a:lnSpc>
                <a:spcPct val="100000"/>
              </a:lnSpc>
              <a:spcBef>
                <a:spcPts val="0"/>
              </a:spcBef>
              <a:spcAft>
                <a:spcPts val="0"/>
              </a:spcAft>
            </a:pPr>
            <a:r>
              <a:rPr sz="1050" b="1" i="0">
                <a:solidFill>
                  <a:srgbClr val="6B3FA0"/>
                </a:solidFill>
                <a:latin typeface="Sora"/>
              </a:rPr>
              <a:t>COÛTS ET SERVICE · INDICE 100 = PLANNING RECONDUIT</a:t>
            </a:r>
          </a:p>
        </p:txBody>
      </p:sp>
      <p:graphicFrame>
        <p:nvGraphicFramePr>
          <p:cNvPr id="116" name="Chart 115"/>
          <p:cNvGraphicFramePr>
            <a:graphicFrameLocks noGrp="1"/>
          </p:cNvGraphicFramePr>
          <p:nvPr/>
        </p:nvGraphicFramePr>
        <p:xfrm>
          <a:off x="822960" y="2240280"/>
          <a:ext cx="5230368" cy="2788920"/>
        </p:xfrm>
        <a:graphic>
          <a:graphicData uri="http://schemas.openxmlformats.org/drawingml/2006/chart">
            <c:chart xmlns:c="http://schemas.openxmlformats.org/drawingml/2006/chart" r:id="rId3"/>
          </a:graphicData>
        </a:graphic>
      </p:graphicFrame>
      <p:sp>
        <p:nvSpPr>
          <p:cNvPr id="117" name="Rounded Rectangle 116"/>
          <p:cNvSpPr/>
          <p:nvPr/>
        </p:nvSpPr>
        <p:spPr>
          <a:xfrm>
            <a:off x="950976" y="5138928"/>
            <a:ext cx="2377440" cy="822960"/>
          </a:xfrm>
          <a:prstGeom prst="roundRect">
            <a:avLst>
              <a:gd name="adj" fmla="val 11111"/>
            </a:avLst>
          </a:prstGeom>
          <a:solidFill>
            <a:srgbClr val="F4F6FB"/>
          </a:solidFill>
          <a:ln>
            <a:noFill/>
          </a:ln>
        </p:spPr>
        <p:txBody>
          <a:bodyPr rtlCol="0" anchor="ctr"/>
          <a:lstStyle/>
          <a:p>
            <a:pPr algn="ctr"/>
          </a:p>
        </p:txBody>
      </p:sp>
      <p:sp>
        <p:nvSpPr>
          <p:cNvPr id="118" name="TextBox 117"/>
          <p:cNvSpPr txBox="1"/>
          <p:nvPr/>
        </p:nvSpPr>
        <p:spPr>
          <a:xfrm>
            <a:off x="1088136" y="5193792"/>
            <a:ext cx="2103120" cy="365760"/>
          </a:xfrm>
          <a:prstGeom prst="rect">
            <a:avLst/>
          </a:prstGeom>
          <a:noFill/>
        </p:spPr>
        <p:txBody>
          <a:bodyPr wrap="square" lIns="0" tIns="0" rIns="0" bIns="0" anchor="t">
            <a:noAutofit/>
          </a:bodyPr>
          <a:lstStyle/>
          <a:p>
            <a:pPr algn="l">
              <a:lnSpc>
                <a:spcPct val="115000"/>
              </a:lnSpc>
              <a:spcBef>
                <a:spcPts val="0"/>
              </a:spcBef>
              <a:spcAft>
                <a:spcPts val="0"/>
              </a:spcAft>
            </a:pPr>
            <a:r>
              <a:rPr sz="1650" b="1" i="0">
                <a:solidFill>
                  <a:srgbClr val="6B3FA0"/>
                </a:solidFill>
                <a:latin typeface="Sora"/>
              </a:rPr>
              <a:t>94,6 % → 99,9 %</a:t>
            </a:r>
          </a:p>
        </p:txBody>
      </p:sp>
      <p:sp>
        <p:nvSpPr>
          <p:cNvPr id="119" name="TextBox 118"/>
          <p:cNvSpPr txBox="1"/>
          <p:nvPr/>
        </p:nvSpPr>
        <p:spPr>
          <a:xfrm>
            <a:off x="1088136" y="5577840"/>
            <a:ext cx="210312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taux de service</a:t>
            </a:r>
          </a:p>
        </p:txBody>
      </p:sp>
      <p:sp>
        <p:nvSpPr>
          <p:cNvPr id="120" name="Rounded Rectangle 119"/>
          <p:cNvSpPr/>
          <p:nvPr/>
        </p:nvSpPr>
        <p:spPr>
          <a:xfrm>
            <a:off x="3465576" y="5138928"/>
            <a:ext cx="2377440" cy="822960"/>
          </a:xfrm>
          <a:prstGeom prst="roundRect">
            <a:avLst>
              <a:gd name="adj" fmla="val 11111"/>
            </a:avLst>
          </a:prstGeom>
          <a:solidFill>
            <a:srgbClr val="F4F6FB"/>
          </a:solidFill>
          <a:ln>
            <a:noFill/>
          </a:ln>
        </p:spPr>
        <p:txBody>
          <a:bodyPr rtlCol="0" anchor="ctr"/>
          <a:lstStyle/>
          <a:p>
            <a:pPr algn="ctr"/>
          </a:p>
        </p:txBody>
      </p:sp>
      <p:sp>
        <p:nvSpPr>
          <p:cNvPr id="121" name="TextBox 120"/>
          <p:cNvSpPr txBox="1"/>
          <p:nvPr/>
        </p:nvSpPr>
        <p:spPr>
          <a:xfrm>
            <a:off x="3602736" y="5193792"/>
            <a:ext cx="2103120" cy="365760"/>
          </a:xfrm>
          <a:prstGeom prst="rect">
            <a:avLst/>
          </a:prstGeom>
          <a:noFill/>
        </p:spPr>
        <p:txBody>
          <a:bodyPr wrap="square" lIns="0" tIns="0" rIns="0" bIns="0" anchor="t">
            <a:noAutofit/>
          </a:bodyPr>
          <a:lstStyle/>
          <a:p>
            <a:pPr algn="l">
              <a:lnSpc>
                <a:spcPct val="115000"/>
              </a:lnSpc>
              <a:spcBef>
                <a:spcPts val="0"/>
              </a:spcBef>
              <a:spcAft>
                <a:spcPts val="0"/>
              </a:spcAft>
            </a:pPr>
            <a:r>
              <a:rPr sz="1650" b="1" i="0">
                <a:solidFill>
                  <a:srgbClr val="1B2A4A"/>
                </a:solidFill>
                <a:latin typeface="Sora"/>
              </a:rPr>
              <a:t>183 874 MAD</a:t>
            </a:r>
          </a:p>
        </p:txBody>
      </p:sp>
      <p:sp>
        <p:nvSpPr>
          <p:cNvPr id="122" name="TextBox 121"/>
          <p:cNvSpPr txBox="1"/>
          <p:nvPr/>
        </p:nvSpPr>
        <p:spPr>
          <a:xfrm>
            <a:off x="3602736" y="5577840"/>
            <a:ext cx="210312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gain annualisé</a:t>
            </a:r>
          </a:p>
        </p:txBody>
      </p:sp>
      <p:sp>
        <p:nvSpPr>
          <p:cNvPr id="123" name="Rounded Rectangle 122"/>
          <p:cNvSpPr/>
          <p:nvPr/>
        </p:nvSpPr>
        <p:spPr>
          <a:xfrm>
            <a:off x="6400800" y="1773936"/>
            <a:ext cx="5093208" cy="2103120"/>
          </a:xfrm>
          <a:prstGeom prst="roundRect">
            <a:avLst>
              <a:gd name="adj" fmla="val 7247"/>
            </a:avLst>
          </a:prstGeom>
          <a:solidFill>
            <a:srgbClr val="FFFFFF"/>
          </a:solidFill>
          <a:ln>
            <a:noFill/>
          </a:ln>
        </p:spPr>
        <p:txBody>
          <a:bodyPr rtlCol="0" anchor="ctr"/>
          <a:lstStyle/>
          <a:p>
            <a:pPr algn="ctr"/>
          </a:p>
        </p:txBody>
      </p:sp>
      <p:sp>
        <p:nvSpPr>
          <p:cNvPr id="124" name="Rectangle 123"/>
          <p:cNvSpPr/>
          <p:nvPr/>
        </p:nvSpPr>
        <p:spPr>
          <a:xfrm>
            <a:off x="6400800" y="1773936"/>
            <a:ext cx="5093208" cy="2103120"/>
          </a:xfrm>
          <a:custGeom>
            <a:rect b="b" l="l" r="r" t="t"/>
            <a:pathLst>
              <a:path extrusionOk="0" h="2103120" w="5093208">
                <a:moveTo>
                  <a:pt x="0" y="152400"/>
                </a:moveTo>
                <a:cubicBezTo>
                  <a:pt x="0" y="68229"/>
                  <a:pt x="68229" y="0"/>
                  <a:pt x="152400" y="0"/>
                </a:cubicBezTo>
                <a:lnTo>
                  <a:pt x="4940808" y="0"/>
                </a:lnTo>
                <a:cubicBezTo>
                  <a:pt x="5024978" y="0"/>
                  <a:pt x="5093208" y="68229"/>
                  <a:pt x="5093208" y="152400"/>
                </a:cubicBezTo>
                <a:cubicBezTo>
                  <a:pt x="5093208" y="103311"/>
                  <a:pt x="5024979" y="63500"/>
                  <a:pt x="494080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5" name="TextBox 124"/>
          <p:cNvSpPr txBox="1"/>
          <p:nvPr/>
        </p:nvSpPr>
        <p:spPr>
          <a:xfrm>
            <a:off x="6656832" y="1920240"/>
            <a:ext cx="4572000" cy="237744"/>
          </a:xfrm>
          <a:prstGeom prst="rect">
            <a:avLst/>
          </a:prstGeom>
          <a:noFill/>
        </p:spPr>
        <p:txBody>
          <a:bodyPr wrap="square" lIns="0" tIns="0" rIns="0" bIns="0" anchor="t">
            <a:noAutofit/>
          </a:bodyPr>
          <a:lstStyle/>
          <a:p>
            <a:pPr algn="l">
              <a:lnSpc>
                <a:spcPct val="100000"/>
              </a:lnSpc>
              <a:spcBef>
                <a:spcPts val="0"/>
              </a:spcBef>
              <a:spcAft>
                <a:spcPts val="0"/>
              </a:spcAft>
            </a:pPr>
            <a:r>
              <a:rPr sz="1050" b="1" i="0">
                <a:solidFill>
                  <a:srgbClr val="6B3FA0"/>
                </a:solidFill>
                <a:latin typeface="Sora"/>
              </a:rPr>
              <a:t>D’OÙ VIENT LE GAIN NET · 15 113 MAD</a:t>
            </a:r>
          </a:p>
        </p:txBody>
      </p:sp>
      <p:graphicFrame>
        <p:nvGraphicFramePr>
          <p:cNvPr id="126" name="Chart 125"/>
          <p:cNvGraphicFramePr>
            <a:graphicFrameLocks noGrp="1"/>
          </p:cNvGraphicFramePr>
          <p:nvPr/>
        </p:nvGraphicFramePr>
        <p:xfrm>
          <a:off x="6492240" y="2194560"/>
          <a:ext cx="4892040" cy="1645920"/>
        </p:xfrm>
        <a:graphic>
          <a:graphicData uri="http://schemas.openxmlformats.org/drawingml/2006/chart">
            <c:chart xmlns:c="http://schemas.openxmlformats.org/drawingml/2006/chart" r:id="rId4"/>
          </a:graphicData>
        </a:graphic>
      </p:graphicFrame>
      <p:sp>
        <p:nvSpPr>
          <p:cNvPr id="127" name="Rounded Rectangle 126"/>
          <p:cNvSpPr/>
          <p:nvPr/>
        </p:nvSpPr>
        <p:spPr>
          <a:xfrm>
            <a:off x="6400800" y="4023360"/>
            <a:ext cx="5093208" cy="2103120"/>
          </a:xfrm>
          <a:prstGeom prst="roundRect">
            <a:avLst>
              <a:gd name="adj" fmla="val 7247"/>
            </a:avLst>
          </a:prstGeom>
          <a:solidFill>
            <a:srgbClr val="FFFFFF"/>
          </a:solidFill>
          <a:ln>
            <a:noFill/>
          </a:ln>
        </p:spPr>
        <p:txBody>
          <a:bodyPr rtlCol="0" anchor="ctr"/>
          <a:lstStyle/>
          <a:p>
            <a:pPr algn="ctr"/>
          </a:p>
        </p:txBody>
      </p:sp>
      <p:sp>
        <p:nvSpPr>
          <p:cNvPr id="128" name="Rectangle 127"/>
          <p:cNvSpPr/>
          <p:nvPr/>
        </p:nvSpPr>
        <p:spPr>
          <a:xfrm>
            <a:off x="6400800" y="4023360"/>
            <a:ext cx="5093208" cy="2103120"/>
          </a:xfrm>
          <a:custGeom>
            <a:rect b="b" l="l" r="r" t="t"/>
            <a:pathLst>
              <a:path extrusionOk="0" h="2103120" w="5093208">
                <a:moveTo>
                  <a:pt x="0" y="152400"/>
                </a:moveTo>
                <a:cubicBezTo>
                  <a:pt x="0" y="68229"/>
                  <a:pt x="68229" y="0"/>
                  <a:pt x="152400" y="0"/>
                </a:cubicBezTo>
                <a:lnTo>
                  <a:pt x="4940808" y="0"/>
                </a:lnTo>
                <a:cubicBezTo>
                  <a:pt x="5024978" y="0"/>
                  <a:pt x="5093208" y="68229"/>
                  <a:pt x="5093208" y="152400"/>
                </a:cubicBezTo>
                <a:cubicBezTo>
                  <a:pt x="5093208" y="103311"/>
                  <a:pt x="5024979" y="63500"/>
                  <a:pt x="494080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9" name="TextBox 128"/>
          <p:cNvSpPr txBox="1"/>
          <p:nvPr/>
        </p:nvSpPr>
        <p:spPr>
          <a:xfrm>
            <a:off x="6656832" y="4169664"/>
            <a:ext cx="4572000" cy="237744"/>
          </a:xfrm>
          <a:prstGeom prst="rect">
            <a:avLst/>
          </a:prstGeom>
          <a:noFill/>
        </p:spPr>
        <p:txBody>
          <a:bodyPr wrap="square" lIns="0" tIns="0" rIns="0" bIns="0" anchor="t">
            <a:noAutofit/>
          </a:bodyPr>
          <a:lstStyle/>
          <a:p>
            <a:pPr algn="l">
              <a:lnSpc>
                <a:spcPct val="100000"/>
              </a:lnSpc>
              <a:spcBef>
                <a:spcPts val="0"/>
              </a:spcBef>
              <a:spcAft>
                <a:spcPts val="0"/>
              </a:spcAft>
            </a:pPr>
            <a:r>
              <a:rPr sz="1050" b="1" i="0">
                <a:solidFill>
                  <a:srgbClr val="6B3FA0"/>
                </a:solidFill>
                <a:latin typeface="Sora"/>
              </a:rPr>
              <a:t>GAIN DE PLANIFICATION PAR ZONE · 13 613 MAD</a:t>
            </a:r>
          </a:p>
        </p:txBody>
      </p:sp>
      <p:graphicFrame>
        <p:nvGraphicFramePr>
          <p:cNvPr id="130" name="Chart 129"/>
          <p:cNvGraphicFramePr>
            <a:graphicFrameLocks noGrp="1"/>
          </p:cNvGraphicFramePr>
          <p:nvPr/>
        </p:nvGraphicFramePr>
        <p:xfrm>
          <a:off x="6492240" y="4443984"/>
          <a:ext cx="4892040" cy="1664208"/>
        </p:xfrm>
        <a:graphic>
          <a:graphicData uri="http://schemas.openxmlformats.org/drawingml/2006/chart">
            <c:chart xmlns:c="http://schemas.openxmlformats.org/drawingml/2006/chart" r:id="rId5"/>
          </a:graphicData>
        </a:graphic>
      </p:graphicFrame>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onglet Bottom line de l’application Workly ; simulation sur le jeu de données de démonstration.</a:t>
            </a:r>
          </a:p>
        </p:txBody>
      </p:sp>
      <p:sp>
        <p:nvSpPr>
          <p:cNvPr id="132" name="Rectangle 131"/>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3" name="Rectangle 132"/>
          <p:cNvSpPr/>
          <p:nvPr/>
        </p:nvSpPr>
        <p:spPr>
          <a:xfrm>
            <a:off x="155448" y="6803136"/>
            <a:ext cx="6651610" cy="54864"/>
          </a:xfrm>
          <a:prstGeom prst="rect">
            <a:avLst/>
          </a:prstGeom>
          <a:solidFill>
            <a:srgbClr val="6B3FA0"/>
          </a:solidFill>
          <a:ln>
            <a:noFill/>
          </a:ln>
        </p:spPr>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RAG donne aux agents une base de connaissances pour expliquer les pannes</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30</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3483864" cy="2697480"/>
          </a:xfrm>
          <a:prstGeom prst="roundRect">
            <a:avLst>
              <a:gd name="adj" fmla="val 5650"/>
            </a:avLst>
          </a:prstGeom>
          <a:solidFill>
            <a:srgbClr val="FFFFFF"/>
          </a:solidFill>
          <a:ln>
            <a:noFill/>
          </a:ln>
        </p:spPr>
        <p:txBody>
          <a:bodyPr rtlCol="0" anchor="ctr"/>
          <a:lstStyle/>
          <a:p>
            <a:pPr algn="ctr"/>
          </a:p>
        </p:txBody>
      </p:sp>
      <p:sp>
        <p:nvSpPr>
          <p:cNvPr id="114" name="Rectangle 113"/>
          <p:cNvSpPr/>
          <p:nvPr/>
        </p:nvSpPr>
        <p:spPr>
          <a:xfrm>
            <a:off x="6949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5" name="Oval 114"/>
          <p:cNvSpPr/>
          <p:nvPr/>
        </p:nvSpPr>
        <p:spPr>
          <a:xfrm>
            <a:off x="923544" y="2029968"/>
            <a:ext cx="457200" cy="45720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1</a:t>
            </a:r>
          </a:p>
        </p:txBody>
      </p:sp>
      <p:sp>
        <p:nvSpPr>
          <p:cNvPr id="116" name="TextBox 115"/>
          <p:cNvSpPr txBox="1"/>
          <p:nvPr/>
        </p:nvSpPr>
        <p:spPr>
          <a:xfrm>
            <a:off x="1517904" y="2011680"/>
            <a:ext cx="24688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Recherche</a:t>
            </a:r>
          </a:p>
        </p:txBody>
      </p:sp>
      <p:sp>
        <p:nvSpPr>
          <p:cNvPr id="117" name="TextBox 116"/>
          <p:cNvSpPr txBox="1"/>
          <p:nvPr/>
        </p:nvSpPr>
        <p:spPr>
          <a:xfrm>
            <a:off x="1517904" y="2340864"/>
            <a:ext cx="2468880" cy="237744"/>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Retrieval</a:t>
            </a:r>
          </a:p>
        </p:txBody>
      </p:sp>
      <p:sp>
        <p:nvSpPr>
          <p:cNvPr id="118" name="TextBox 117"/>
          <p:cNvSpPr txBox="1"/>
          <p:nvPr/>
        </p:nvSpPr>
        <p:spPr>
          <a:xfrm>
            <a:off x="923544" y="2788920"/>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À partir du bilan, Workly formule la question (statut, étapes manquantes, échecs) et retrouve les passages les plus proches dans la base.</a:t>
            </a:r>
          </a:p>
        </p:txBody>
      </p:sp>
      <p:cxnSp>
        <p:nvCxnSpPr>
          <p:cNvPr id="119" name="Connector 118"/>
          <p:cNvCxnSpPr/>
          <p:nvPr/>
        </p:nvCxnSpPr>
        <p:spPr>
          <a:xfrm>
            <a:off x="4206240" y="3108960"/>
            <a:ext cx="137160" cy="0"/>
          </a:xfrm>
          <a:prstGeom prst="line">
            <a:avLst/>
          </a:prstGeom>
          <a:ln w="22225">
            <a:solidFill>
              <a:srgbClr val="1B2A4A"/>
            </a:solidFill>
            <a:tailEnd type="triangle" w="med" len="med"/>
          </a:ln>
        </p:spPr>
      </p:cxnSp>
      <p:sp>
        <p:nvSpPr>
          <p:cNvPr id="120" name="Rounded Rectangle 119"/>
          <p:cNvSpPr/>
          <p:nvPr/>
        </p:nvSpPr>
        <p:spPr>
          <a:xfrm>
            <a:off x="4352544" y="1773936"/>
            <a:ext cx="3483864" cy="2697480"/>
          </a:xfrm>
          <a:prstGeom prst="roundRect">
            <a:avLst>
              <a:gd name="adj" fmla="val 5650"/>
            </a:avLst>
          </a:prstGeom>
          <a:solidFill>
            <a:srgbClr val="FFFFFF"/>
          </a:solidFill>
          <a:ln>
            <a:noFill/>
          </a:ln>
        </p:spPr>
        <p:txBody>
          <a:bodyPr rtlCol="0" anchor="ctr"/>
          <a:lstStyle/>
          <a:p>
            <a:pPr algn="ctr"/>
          </a:p>
        </p:txBody>
      </p:sp>
      <p:sp>
        <p:nvSpPr>
          <p:cNvPr id="121" name="Rectangle 120"/>
          <p:cNvSpPr/>
          <p:nvPr/>
        </p:nvSpPr>
        <p:spPr>
          <a:xfrm>
            <a:off x="43525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2" name="Oval 121"/>
          <p:cNvSpPr/>
          <p:nvPr/>
        </p:nvSpPr>
        <p:spPr>
          <a:xfrm>
            <a:off x="4581144" y="2029968"/>
            <a:ext cx="457200" cy="45720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2</a:t>
            </a:r>
          </a:p>
        </p:txBody>
      </p:sp>
      <p:sp>
        <p:nvSpPr>
          <p:cNvPr id="123" name="TextBox 122"/>
          <p:cNvSpPr txBox="1"/>
          <p:nvPr/>
        </p:nvSpPr>
        <p:spPr>
          <a:xfrm>
            <a:off x="5175504" y="2011680"/>
            <a:ext cx="24688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Augmentation</a:t>
            </a:r>
          </a:p>
        </p:txBody>
      </p:sp>
      <p:sp>
        <p:nvSpPr>
          <p:cNvPr id="124" name="TextBox 123"/>
          <p:cNvSpPr txBox="1"/>
          <p:nvPr/>
        </p:nvSpPr>
        <p:spPr>
          <a:xfrm>
            <a:off x="5175504" y="2340864"/>
            <a:ext cx="2468880" cy="237744"/>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Augmentation</a:t>
            </a:r>
          </a:p>
        </p:txBody>
      </p:sp>
      <p:sp>
        <p:nvSpPr>
          <p:cNvPr id="125" name="TextBox 124"/>
          <p:cNvSpPr txBox="1"/>
          <p:nvPr/>
        </p:nvSpPr>
        <p:spPr>
          <a:xfrm>
            <a:off x="4581144" y="2788920"/>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Ces passages sont ajoutés au bilan, puis donnés à l’agent Analyste avec sa consigne.</a:t>
            </a:r>
          </a:p>
        </p:txBody>
      </p:sp>
      <p:cxnSp>
        <p:nvCxnSpPr>
          <p:cNvPr id="126" name="Connector 125"/>
          <p:cNvCxnSpPr/>
          <p:nvPr/>
        </p:nvCxnSpPr>
        <p:spPr>
          <a:xfrm>
            <a:off x="7863840" y="3108960"/>
            <a:ext cx="137160" cy="0"/>
          </a:xfrm>
          <a:prstGeom prst="line">
            <a:avLst/>
          </a:prstGeom>
          <a:ln w="22225">
            <a:solidFill>
              <a:srgbClr val="1B2A4A"/>
            </a:solidFill>
            <a:tailEnd type="triangle" w="med" len="med"/>
          </a:ln>
        </p:spPr>
      </p:cxnSp>
      <p:sp>
        <p:nvSpPr>
          <p:cNvPr id="127" name="Rounded Rectangle 126"/>
          <p:cNvSpPr/>
          <p:nvPr/>
        </p:nvSpPr>
        <p:spPr>
          <a:xfrm>
            <a:off x="8010144" y="1773936"/>
            <a:ext cx="3483864" cy="2697480"/>
          </a:xfrm>
          <a:prstGeom prst="roundRect">
            <a:avLst>
              <a:gd name="adj" fmla="val 5650"/>
            </a:avLst>
          </a:prstGeom>
          <a:solidFill>
            <a:srgbClr val="FFFFFF"/>
          </a:solidFill>
          <a:ln>
            <a:noFill/>
          </a:ln>
        </p:spPr>
        <p:txBody>
          <a:bodyPr rtlCol="0" anchor="ctr"/>
          <a:lstStyle/>
          <a:p>
            <a:pPr algn="ctr"/>
          </a:p>
        </p:txBody>
      </p:sp>
      <p:sp>
        <p:nvSpPr>
          <p:cNvPr id="128" name="Rectangle 127"/>
          <p:cNvSpPr/>
          <p:nvPr/>
        </p:nvSpPr>
        <p:spPr>
          <a:xfrm>
            <a:off x="80101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9" name="Oval 128"/>
          <p:cNvSpPr/>
          <p:nvPr/>
        </p:nvSpPr>
        <p:spPr>
          <a:xfrm>
            <a:off x="8238744" y="2029968"/>
            <a:ext cx="457200" cy="45720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3</a:t>
            </a:r>
          </a:p>
        </p:txBody>
      </p:sp>
      <p:sp>
        <p:nvSpPr>
          <p:cNvPr id="130" name="TextBox 129"/>
          <p:cNvSpPr txBox="1"/>
          <p:nvPr/>
        </p:nvSpPr>
        <p:spPr>
          <a:xfrm>
            <a:off x="8833104" y="2011680"/>
            <a:ext cx="24688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Génération</a:t>
            </a:r>
          </a:p>
        </p:txBody>
      </p:sp>
      <p:sp>
        <p:nvSpPr>
          <p:cNvPr id="131" name="TextBox 130"/>
          <p:cNvSpPr txBox="1"/>
          <p:nvPr/>
        </p:nvSpPr>
        <p:spPr>
          <a:xfrm>
            <a:off x="8833104" y="2340864"/>
            <a:ext cx="2468880" cy="237744"/>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Generation</a:t>
            </a:r>
          </a:p>
        </p:txBody>
      </p:sp>
      <p:sp>
        <p:nvSpPr>
          <p:cNvPr id="132" name="TextBox 131"/>
          <p:cNvSpPr txBox="1"/>
          <p:nvPr/>
        </p:nvSpPr>
        <p:spPr>
          <a:xfrm>
            <a:off x="8238744" y="2788920"/>
            <a:ext cx="3063240" cy="16459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L’Analyste explique la panne à partir de ces passages et cite sa source ; le Rédacteur écrit le message du matin.</a:t>
            </a:r>
          </a:p>
        </p:txBody>
      </p:sp>
      <p:sp>
        <p:nvSpPr>
          <p:cNvPr id="133" name="Rounded Rectangle 132"/>
          <p:cNvSpPr/>
          <p:nvPr/>
        </p:nvSpPr>
        <p:spPr>
          <a:xfrm>
            <a:off x="694944" y="4681728"/>
            <a:ext cx="10799064" cy="1417320"/>
          </a:xfrm>
          <a:prstGeom prst="roundRect">
            <a:avLst>
              <a:gd name="adj" fmla="val 7741"/>
            </a:avLst>
          </a:prstGeom>
          <a:solidFill>
            <a:srgbClr val="1B2A4A"/>
          </a:solidFill>
          <a:ln>
            <a:noFill/>
          </a:ln>
        </p:spPr>
        <p:txBody>
          <a:bodyPr rtlCol="0" anchor="ctr"/>
          <a:lstStyle/>
          <a:p>
            <a:pPr algn="ctr"/>
          </a:p>
        </p:txBody>
      </p:sp>
      <p:sp>
        <p:nvSpPr>
          <p:cNvPr id="134" name="TextBox 133"/>
          <p:cNvSpPr txBox="1"/>
          <p:nvPr/>
        </p:nvSpPr>
        <p:spPr>
          <a:xfrm>
            <a:off x="987552" y="4828032"/>
            <a:ext cx="1024128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BASE DE CONNAISSANCES D’EXPLOITATION</a:t>
            </a:r>
          </a:p>
        </p:txBody>
      </p:sp>
      <p:sp>
        <p:nvSpPr>
          <p:cNvPr id="135" name="TextBox 134"/>
          <p:cNvSpPr txBox="1"/>
          <p:nvPr/>
        </p:nvSpPr>
        <p:spPr>
          <a:xfrm>
            <a:off x="987552" y="5157216"/>
            <a:ext cx="10241280" cy="86868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FFFFFF"/>
                </a:solidFill>
                <a:latin typeface="DM Sans"/>
              </a:rPr>
              <a:t>27 sections</a:t>
            </a:r>
            <a:r>
              <a:rPr sz="1350" b="0" i="0">
                <a:solidFill>
                  <a:srgbClr val="E4E9F5"/>
                </a:solidFill>
                <a:latin typeface="DM Sans"/>
              </a:rPr>
              <a:t> rédigées à partir du fonctionnement réel de Workly : statuts du bilan, douze tâches et leurs pannes connues, erreurs courantes, flux, Odoo. Un simple fichier texte, facile à relire et à compléter. Si aucune section ne correspond, l’agent répond « cause inconnue dans la base » au lieu d’inventer.</a:t>
            </a:r>
          </a:p>
        </p:txBody>
      </p:sp>
      <p:sp>
        <p:nvSpPr>
          <p:cNvPr id="136" name="TextBox 135"/>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Outil développé dans Workly : la recherche s’exécute dans l’application, sans service externe.</a:t>
            </a:r>
          </a:p>
        </p:txBody>
      </p:sp>
      <p:sp>
        <p:nvSpPr>
          <p:cNvPr id="137" name="Rectangle 136"/>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8" name="Rectangle 137"/>
          <p:cNvSpPr/>
          <p:nvPr/>
        </p:nvSpPr>
        <p:spPr>
          <a:xfrm>
            <a:off x="155448" y="6803136"/>
            <a:ext cx="9502300" cy="54864"/>
          </a:xfrm>
          <a:prstGeom prst="rect">
            <a:avLst/>
          </a:prstGeom>
          <a:solidFill>
            <a:srgbClr val="6B3FA0"/>
          </a:solidFill>
          <a:ln>
            <a:noFill/>
          </a:ln>
        </p:spPr>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1987653"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Le RAG s’insère dans le flux : le bilan arrive déjà accompagné des passages utiles</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31</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73936"/>
            <a:ext cx="10799064" cy="2011680"/>
          </a:xfrm>
          <a:prstGeom prst="roundRect">
            <a:avLst>
              <a:gd name="adj" fmla="val 7577"/>
            </a:avLst>
          </a:prstGeom>
          <a:solidFill>
            <a:srgbClr val="24375F"/>
          </a:solidFill>
          <a:ln>
            <a:noFill/>
          </a:ln>
        </p:spPr>
        <p:txBody>
          <a:bodyPr rtlCol="0" anchor="ctr"/>
          <a:lstStyle/>
          <a:p>
            <a:pPr algn="ctr"/>
          </a:p>
        </p:txBody>
      </p:sp>
      <p:sp>
        <p:nvSpPr>
          <p:cNvPr id="253" name="Rectangle 252"/>
          <p:cNvSpPr/>
          <p:nvPr/>
        </p:nvSpPr>
        <p:spPr>
          <a:xfrm>
            <a:off x="694944" y="1773936"/>
            <a:ext cx="10799064" cy="2011680"/>
          </a:xfrm>
          <a:custGeom>
            <a:rect b="b" l="l" r="r" t="t"/>
            <a:pathLst>
              <a:path extrusionOk="0" h="2011680" w="10799064">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254" name="TextBox 253"/>
          <p:cNvSpPr txBox="1"/>
          <p:nvPr/>
        </p:nvSpPr>
        <p:spPr>
          <a:xfrm>
            <a:off x="950976" y="1920240"/>
            <a:ext cx="5486400" cy="237744"/>
          </a:xfrm>
          <a:prstGeom prst="rect">
            <a:avLst/>
          </a:prstGeom>
          <a:noFill/>
        </p:spPr>
        <p:txBody>
          <a:bodyPr wrap="square" lIns="0" tIns="0" rIns="0" bIns="0" anchor="t">
            <a:noAutofit/>
          </a:bodyPr>
          <a:lstStyle/>
          <a:p>
            <a:pPr algn="l">
              <a:lnSpc>
                <a:spcPct val="100000"/>
              </a:lnSpc>
              <a:spcBef>
                <a:spcPts val="0"/>
              </a:spcBef>
              <a:spcAft>
                <a:spcPts val="0"/>
              </a:spcAft>
            </a:pPr>
            <a:r>
              <a:rPr sz="1100" b="1" i="0">
                <a:solidFill>
                  <a:srgbClr val="B39DDB"/>
                </a:solidFill>
                <a:latin typeface="Sora"/>
              </a:rPr>
              <a:t>DANS WORKLY · RECHERCHE ET AUGMENTATION</a:t>
            </a:r>
          </a:p>
        </p:txBody>
      </p:sp>
      <p:sp>
        <p:nvSpPr>
          <p:cNvPr id="255" name="Rounded Rectangle 254"/>
          <p:cNvSpPr/>
          <p:nvPr/>
        </p:nvSpPr>
        <p:spPr>
          <a:xfrm>
            <a:off x="914400" y="2331720"/>
            <a:ext cx="1481328" cy="1234440"/>
          </a:xfrm>
          <a:prstGeom prst="roundRect">
            <a:avLst>
              <a:gd name="adj" fmla="val 7407"/>
            </a:avLst>
          </a:prstGeom>
          <a:solidFill>
            <a:srgbClr val="142040"/>
          </a:solidFill>
          <a:ln>
            <a:noFill/>
          </a:ln>
        </p:spPr>
        <p:txBody>
          <a:bodyPr rtlCol="0" anchor="ctr"/>
          <a:lstStyle/>
          <a:p>
            <a:pPr algn="ctr"/>
          </a:p>
        </p:txBody>
      </p:sp>
      <p:sp>
        <p:nvSpPr>
          <p:cNvPr id="256" name="TextBox 255"/>
          <p:cNvSpPr txBox="1"/>
          <p:nvPr/>
        </p:nvSpPr>
        <p:spPr>
          <a:xfrm>
            <a:off x="1005840" y="2432304"/>
            <a:ext cx="1298448" cy="457200"/>
          </a:xfrm>
          <a:prstGeom prst="rect">
            <a:avLst/>
          </a:prstGeom>
          <a:noFill/>
        </p:spPr>
        <p:txBody>
          <a:bodyPr wrap="square" lIns="0" tIns="0" rIns="0" bIns="0" anchor="t">
            <a:noAutofit/>
          </a:bodyPr>
          <a:lstStyle/>
          <a:p>
            <a:pPr algn="l">
              <a:lnSpc>
                <a:spcPct val="105000"/>
              </a:lnSpc>
              <a:spcBef>
                <a:spcPts val="0"/>
              </a:spcBef>
              <a:spcAft>
                <a:spcPts val="0"/>
              </a:spcAft>
            </a:pPr>
            <a:r>
              <a:rPr sz="1250" b="1" i="0">
                <a:solidFill>
                  <a:srgbClr val="FFFFFF"/>
                </a:solidFill>
                <a:latin typeface="Sora"/>
              </a:rPr>
              <a:t>Journal des tâches</a:t>
            </a:r>
          </a:p>
        </p:txBody>
      </p:sp>
      <p:sp>
        <p:nvSpPr>
          <p:cNvPr id="257" name="TextBox 256"/>
          <p:cNvSpPr txBox="1"/>
          <p:nvPr/>
        </p:nvSpPr>
        <p:spPr>
          <a:xfrm>
            <a:off x="1005840" y="2926080"/>
            <a:ext cx="1298448" cy="594360"/>
          </a:xfrm>
          <a:prstGeom prst="rect">
            <a:avLst/>
          </a:prstGeom>
          <a:noFill/>
        </p:spPr>
        <p:txBody>
          <a:bodyPr wrap="square" lIns="0" tIns="0" rIns="0" bIns="0" anchor="t">
            <a:noAutofit/>
          </a:bodyPr>
          <a:lstStyle/>
          <a:p>
            <a:pPr algn="l">
              <a:lnSpc>
                <a:spcPct val="110000"/>
              </a:lnSpc>
              <a:spcBef>
                <a:spcPts val="0"/>
              </a:spcBef>
              <a:spcAft>
                <a:spcPts val="0"/>
              </a:spcAft>
            </a:pPr>
            <a:r>
              <a:rPr sz="1050" b="0" i="0">
                <a:solidFill>
                  <a:srgbClr val="C9D1E8"/>
                </a:solidFill>
                <a:latin typeface="DM Sans"/>
              </a:rPr>
              <a:t>ce qui s’est passé cette nuit</a:t>
            </a:r>
          </a:p>
        </p:txBody>
      </p:sp>
      <p:cxnSp>
        <p:nvCxnSpPr>
          <p:cNvPr id="258" name="Connector 257"/>
          <p:cNvCxnSpPr/>
          <p:nvPr/>
        </p:nvCxnSpPr>
        <p:spPr>
          <a:xfrm>
            <a:off x="2414016" y="2944368"/>
            <a:ext cx="256032" cy="0"/>
          </a:xfrm>
          <a:prstGeom prst="line">
            <a:avLst/>
          </a:prstGeom>
          <a:ln w="22225">
            <a:solidFill>
              <a:srgbClr val="7ACFC0"/>
            </a:solidFill>
            <a:tailEnd type="triangle" w="med" len="med"/>
          </a:ln>
        </p:spPr>
      </p:cxnSp>
      <p:sp>
        <p:nvSpPr>
          <p:cNvPr id="259" name="Rounded Rectangle 258"/>
          <p:cNvSpPr/>
          <p:nvPr/>
        </p:nvSpPr>
        <p:spPr>
          <a:xfrm>
            <a:off x="2688336" y="2331720"/>
            <a:ext cx="1481328" cy="1234440"/>
          </a:xfrm>
          <a:prstGeom prst="roundRect">
            <a:avLst>
              <a:gd name="adj" fmla="val 7407"/>
            </a:avLst>
          </a:prstGeom>
          <a:solidFill>
            <a:srgbClr val="142040"/>
          </a:solidFill>
          <a:ln>
            <a:noFill/>
          </a:ln>
        </p:spPr>
        <p:txBody>
          <a:bodyPr rtlCol="0" anchor="ctr"/>
          <a:lstStyle/>
          <a:p>
            <a:pPr algn="ctr"/>
          </a:p>
        </p:txBody>
      </p:sp>
      <p:sp>
        <p:nvSpPr>
          <p:cNvPr id="260" name="TextBox 259"/>
          <p:cNvSpPr txBox="1"/>
          <p:nvPr/>
        </p:nvSpPr>
        <p:spPr>
          <a:xfrm>
            <a:off x="2779776" y="2432304"/>
            <a:ext cx="1298448" cy="457200"/>
          </a:xfrm>
          <a:prstGeom prst="rect">
            <a:avLst/>
          </a:prstGeom>
          <a:noFill/>
        </p:spPr>
        <p:txBody>
          <a:bodyPr wrap="square" lIns="0" tIns="0" rIns="0" bIns="0" anchor="t">
            <a:noAutofit/>
          </a:bodyPr>
          <a:lstStyle/>
          <a:p>
            <a:pPr algn="l">
              <a:lnSpc>
                <a:spcPct val="105000"/>
              </a:lnSpc>
              <a:spcBef>
                <a:spcPts val="0"/>
              </a:spcBef>
              <a:spcAft>
                <a:spcPts val="0"/>
              </a:spcAft>
            </a:pPr>
            <a:r>
              <a:rPr sz="1250" b="1" i="0">
                <a:solidFill>
                  <a:srgbClr val="FFFFFF"/>
                </a:solidFill>
                <a:latin typeface="Sora"/>
              </a:rPr>
              <a:t>Bilan</a:t>
            </a:r>
          </a:p>
        </p:txBody>
      </p:sp>
      <p:sp>
        <p:nvSpPr>
          <p:cNvPr id="261" name="TextBox 260"/>
          <p:cNvSpPr txBox="1"/>
          <p:nvPr/>
        </p:nvSpPr>
        <p:spPr>
          <a:xfrm>
            <a:off x="2779776" y="2926080"/>
            <a:ext cx="1298448" cy="594360"/>
          </a:xfrm>
          <a:prstGeom prst="rect">
            <a:avLst/>
          </a:prstGeom>
          <a:noFill/>
        </p:spPr>
        <p:txBody>
          <a:bodyPr wrap="square" lIns="0" tIns="0" rIns="0" bIns="0" anchor="t">
            <a:noAutofit/>
          </a:bodyPr>
          <a:lstStyle/>
          <a:p>
            <a:pPr algn="l">
              <a:lnSpc>
                <a:spcPct val="110000"/>
              </a:lnSpc>
              <a:spcBef>
                <a:spcPts val="0"/>
              </a:spcBef>
              <a:spcAft>
                <a:spcPts val="0"/>
              </a:spcAft>
            </a:pPr>
            <a:r>
              <a:rPr sz="1050" b="0" i="0">
                <a:solidFill>
                  <a:srgbClr val="C9D1E8"/>
                </a:solidFill>
                <a:latin typeface="DM Sans"/>
              </a:rPr>
              <a:t>statut, étapes manquantes, échecs</a:t>
            </a:r>
          </a:p>
        </p:txBody>
      </p:sp>
      <p:cxnSp>
        <p:nvCxnSpPr>
          <p:cNvPr id="262" name="Connector 261"/>
          <p:cNvCxnSpPr/>
          <p:nvPr/>
        </p:nvCxnSpPr>
        <p:spPr>
          <a:xfrm>
            <a:off x="4187952" y="2944368"/>
            <a:ext cx="256032" cy="0"/>
          </a:xfrm>
          <a:prstGeom prst="line">
            <a:avLst/>
          </a:prstGeom>
          <a:ln w="22225">
            <a:solidFill>
              <a:srgbClr val="7ACFC0"/>
            </a:solidFill>
            <a:tailEnd type="triangle" w="med" len="med"/>
          </a:ln>
        </p:spPr>
      </p:cxnSp>
      <p:sp>
        <p:nvSpPr>
          <p:cNvPr id="263" name="Rounded Rectangle 262"/>
          <p:cNvSpPr/>
          <p:nvPr/>
        </p:nvSpPr>
        <p:spPr>
          <a:xfrm>
            <a:off x="4462272" y="2331720"/>
            <a:ext cx="1481328" cy="1234440"/>
          </a:xfrm>
          <a:prstGeom prst="roundRect">
            <a:avLst>
              <a:gd name="adj" fmla="val 7407"/>
            </a:avLst>
          </a:prstGeom>
          <a:solidFill>
            <a:srgbClr val="142040"/>
          </a:solidFill>
          <a:ln>
            <a:noFill/>
          </a:ln>
        </p:spPr>
        <p:txBody>
          <a:bodyPr rtlCol="0" anchor="ctr"/>
          <a:lstStyle/>
          <a:p>
            <a:pPr algn="ctr"/>
          </a:p>
        </p:txBody>
      </p:sp>
      <p:sp>
        <p:nvSpPr>
          <p:cNvPr id="264" name="TextBox 263"/>
          <p:cNvSpPr txBox="1"/>
          <p:nvPr/>
        </p:nvSpPr>
        <p:spPr>
          <a:xfrm>
            <a:off x="4553712" y="2432304"/>
            <a:ext cx="1298448" cy="457200"/>
          </a:xfrm>
          <a:prstGeom prst="rect">
            <a:avLst/>
          </a:prstGeom>
          <a:noFill/>
        </p:spPr>
        <p:txBody>
          <a:bodyPr wrap="square" lIns="0" tIns="0" rIns="0" bIns="0" anchor="t">
            <a:noAutofit/>
          </a:bodyPr>
          <a:lstStyle/>
          <a:p>
            <a:pPr algn="l">
              <a:lnSpc>
                <a:spcPct val="105000"/>
              </a:lnSpc>
              <a:spcBef>
                <a:spcPts val="0"/>
              </a:spcBef>
              <a:spcAft>
                <a:spcPts val="0"/>
              </a:spcAft>
            </a:pPr>
            <a:r>
              <a:rPr sz="1250" b="1" i="0">
                <a:solidFill>
                  <a:srgbClr val="FFFFFF"/>
                </a:solidFill>
                <a:latin typeface="Sora"/>
              </a:rPr>
              <a:t>Question</a:t>
            </a:r>
          </a:p>
        </p:txBody>
      </p:sp>
      <p:sp>
        <p:nvSpPr>
          <p:cNvPr id="265" name="TextBox 264"/>
          <p:cNvSpPr txBox="1"/>
          <p:nvPr/>
        </p:nvSpPr>
        <p:spPr>
          <a:xfrm>
            <a:off x="4553712" y="2926080"/>
            <a:ext cx="1298448" cy="594360"/>
          </a:xfrm>
          <a:prstGeom prst="rect">
            <a:avLst/>
          </a:prstGeom>
          <a:noFill/>
        </p:spPr>
        <p:txBody>
          <a:bodyPr wrap="square" lIns="0" tIns="0" rIns="0" bIns="0" anchor="t">
            <a:noAutofit/>
          </a:bodyPr>
          <a:lstStyle/>
          <a:p>
            <a:pPr algn="l">
              <a:lnSpc>
                <a:spcPct val="110000"/>
              </a:lnSpc>
              <a:spcBef>
                <a:spcPts val="0"/>
              </a:spcBef>
              <a:spcAft>
                <a:spcPts val="0"/>
              </a:spcAft>
            </a:pPr>
            <a:r>
              <a:rPr sz="1050" b="0" i="0">
                <a:solidFill>
                  <a:srgbClr val="C9D1E8"/>
                </a:solidFill>
                <a:latin typeface="DM Sans"/>
              </a:rPr>
              <a:t>construite à partir des pannes</a:t>
            </a:r>
          </a:p>
        </p:txBody>
      </p:sp>
      <p:cxnSp>
        <p:nvCxnSpPr>
          <p:cNvPr id="266" name="Connector 265"/>
          <p:cNvCxnSpPr/>
          <p:nvPr/>
        </p:nvCxnSpPr>
        <p:spPr>
          <a:xfrm>
            <a:off x="5961888" y="2944368"/>
            <a:ext cx="256032" cy="0"/>
          </a:xfrm>
          <a:prstGeom prst="line">
            <a:avLst/>
          </a:prstGeom>
          <a:ln w="22225">
            <a:solidFill>
              <a:srgbClr val="7ACFC0"/>
            </a:solidFill>
            <a:tailEnd type="triangle" w="med" len="med"/>
          </a:ln>
        </p:spPr>
      </p:cxnSp>
      <p:sp>
        <p:nvSpPr>
          <p:cNvPr id="267" name="Rounded Rectangle 266"/>
          <p:cNvSpPr/>
          <p:nvPr/>
        </p:nvSpPr>
        <p:spPr>
          <a:xfrm>
            <a:off x="6236208" y="2331720"/>
            <a:ext cx="1481328" cy="1234440"/>
          </a:xfrm>
          <a:prstGeom prst="roundRect">
            <a:avLst>
              <a:gd name="adj" fmla="val 7407"/>
            </a:avLst>
          </a:prstGeom>
          <a:solidFill>
            <a:srgbClr val="142040"/>
          </a:solidFill>
          <a:ln>
            <a:noFill/>
          </a:ln>
        </p:spPr>
        <p:txBody>
          <a:bodyPr rtlCol="0" anchor="ctr"/>
          <a:lstStyle/>
          <a:p>
            <a:pPr algn="ctr"/>
          </a:p>
        </p:txBody>
      </p:sp>
      <p:sp>
        <p:nvSpPr>
          <p:cNvPr id="268" name="TextBox 267"/>
          <p:cNvSpPr txBox="1"/>
          <p:nvPr/>
        </p:nvSpPr>
        <p:spPr>
          <a:xfrm>
            <a:off x="6327648" y="2432304"/>
            <a:ext cx="1298448" cy="457200"/>
          </a:xfrm>
          <a:prstGeom prst="rect">
            <a:avLst/>
          </a:prstGeom>
          <a:noFill/>
        </p:spPr>
        <p:txBody>
          <a:bodyPr wrap="square" lIns="0" tIns="0" rIns="0" bIns="0" anchor="t">
            <a:noAutofit/>
          </a:bodyPr>
          <a:lstStyle/>
          <a:p>
            <a:pPr algn="l">
              <a:lnSpc>
                <a:spcPct val="105000"/>
              </a:lnSpc>
              <a:spcBef>
                <a:spcPts val="0"/>
              </a:spcBef>
              <a:spcAft>
                <a:spcPts val="0"/>
              </a:spcAft>
            </a:pPr>
            <a:r>
              <a:rPr sz="1250" b="1" i="0">
                <a:solidFill>
                  <a:srgbClr val="FFFFFF"/>
                </a:solidFill>
                <a:latin typeface="Sora"/>
              </a:rPr>
              <a:t>Base de connaissances</a:t>
            </a:r>
          </a:p>
        </p:txBody>
      </p:sp>
      <p:sp>
        <p:nvSpPr>
          <p:cNvPr id="269" name="TextBox 268"/>
          <p:cNvSpPr txBox="1"/>
          <p:nvPr/>
        </p:nvSpPr>
        <p:spPr>
          <a:xfrm>
            <a:off x="6327648" y="2926080"/>
            <a:ext cx="1298448" cy="594360"/>
          </a:xfrm>
          <a:prstGeom prst="rect">
            <a:avLst/>
          </a:prstGeom>
          <a:noFill/>
        </p:spPr>
        <p:txBody>
          <a:bodyPr wrap="square" lIns="0" tIns="0" rIns="0" bIns="0" anchor="t">
            <a:noAutofit/>
          </a:bodyPr>
          <a:lstStyle/>
          <a:p>
            <a:pPr algn="l">
              <a:lnSpc>
                <a:spcPct val="110000"/>
              </a:lnSpc>
              <a:spcBef>
                <a:spcPts val="0"/>
              </a:spcBef>
              <a:spcAft>
                <a:spcPts val="0"/>
              </a:spcAft>
            </a:pPr>
            <a:r>
              <a:rPr sz="1050" b="0" i="0">
                <a:solidFill>
                  <a:srgbClr val="C9D1E8"/>
                </a:solidFill>
                <a:latin typeface="DM Sans"/>
              </a:rPr>
              <a:t>27 sections, recherche des plus proches</a:t>
            </a:r>
          </a:p>
        </p:txBody>
      </p:sp>
      <p:cxnSp>
        <p:nvCxnSpPr>
          <p:cNvPr id="270" name="Connector 269"/>
          <p:cNvCxnSpPr/>
          <p:nvPr/>
        </p:nvCxnSpPr>
        <p:spPr>
          <a:xfrm>
            <a:off x="7735824" y="2944368"/>
            <a:ext cx="256032" cy="0"/>
          </a:xfrm>
          <a:prstGeom prst="line">
            <a:avLst/>
          </a:prstGeom>
          <a:ln w="22225">
            <a:solidFill>
              <a:srgbClr val="7ACFC0"/>
            </a:solidFill>
            <a:tailEnd type="triangle" w="med" len="med"/>
          </a:ln>
        </p:spPr>
      </p:cxnSp>
      <p:sp>
        <p:nvSpPr>
          <p:cNvPr id="271" name="Rounded Rectangle 270"/>
          <p:cNvSpPr/>
          <p:nvPr/>
        </p:nvSpPr>
        <p:spPr>
          <a:xfrm>
            <a:off x="8010144" y="2331720"/>
            <a:ext cx="1481328" cy="1234440"/>
          </a:xfrm>
          <a:prstGeom prst="roundRect">
            <a:avLst>
              <a:gd name="adj" fmla="val 7407"/>
            </a:avLst>
          </a:prstGeom>
          <a:solidFill>
            <a:srgbClr val="142040"/>
          </a:solidFill>
          <a:ln>
            <a:noFill/>
          </a:ln>
        </p:spPr>
        <p:txBody>
          <a:bodyPr rtlCol="0" anchor="ctr"/>
          <a:lstStyle/>
          <a:p>
            <a:pPr algn="ctr"/>
          </a:p>
        </p:txBody>
      </p:sp>
      <p:sp>
        <p:nvSpPr>
          <p:cNvPr id="272" name="TextBox 271"/>
          <p:cNvSpPr txBox="1"/>
          <p:nvPr/>
        </p:nvSpPr>
        <p:spPr>
          <a:xfrm>
            <a:off x="8101584" y="2432304"/>
            <a:ext cx="1298448" cy="457200"/>
          </a:xfrm>
          <a:prstGeom prst="rect">
            <a:avLst/>
          </a:prstGeom>
          <a:noFill/>
        </p:spPr>
        <p:txBody>
          <a:bodyPr wrap="square" lIns="0" tIns="0" rIns="0" bIns="0" anchor="t">
            <a:noAutofit/>
          </a:bodyPr>
          <a:lstStyle/>
          <a:p>
            <a:pPr algn="l">
              <a:lnSpc>
                <a:spcPct val="105000"/>
              </a:lnSpc>
              <a:spcBef>
                <a:spcPts val="0"/>
              </a:spcBef>
              <a:spcAft>
                <a:spcPts val="0"/>
              </a:spcAft>
            </a:pPr>
            <a:r>
              <a:rPr sz="1250" b="1" i="0">
                <a:solidFill>
                  <a:srgbClr val="FFFFFF"/>
                </a:solidFill>
                <a:latin typeface="Sora"/>
              </a:rPr>
              <a:t>3 passages</a:t>
            </a:r>
          </a:p>
        </p:txBody>
      </p:sp>
      <p:sp>
        <p:nvSpPr>
          <p:cNvPr id="273" name="TextBox 272"/>
          <p:cNvSpPr txBox="1"/>
          <p:nvPr/>
        </p:nvSpPr>
        <p:spPr>
          <a:xfrm>
            <a:off x="8101584" y="2926080"/>
            <a:ext cx="1298448" cy="594360"/>
          </a:xfrm>
          <a:prstGeom prst="rect">
            <a:avLst/>
          </a:prstGeom>
          <a:noFill/>
        </p:spPr>
        <p:txBody>
          <a:bodyPr wrap="square" lIns="0" tIns="0" rIns="0" bIns="0" anchor="t">
            <a:noAutofit/>
          </a:bodyPr>
          <a:lstStyle/>
          <a:p>
            <a:pPr algn="l">
              <a:lnSpc>
                <a:spcPct val="110000"/>
              </a:lnSpc>
              <a:spcBef>
                <a:spcPts val="0"/>
              </a:spcBef>
              <a:spcAft>
                <a:spcPts val="0"/>
              </a:spcAft>
            </a:pPr>
            <a:r>
              <a:rPr sz="1050" b="0" i="0">
                <a:solidFill>
                  <a:srgbClr val="C9D1E8"/>
                </a:solidFill>
                <a:latin typeface="DM Sans"/>
              </a:rPr>
              <a:t>les plus utiles à la panne</a:t>
            </a:r>
          </a:p>
        </p:txBody>
      </p:sp>
      <p:cxnSp>
        <p:nvCxnSpPr>
          <p:cNvPr id="274" name="Connector 273"/>
          <p:cNvCxnSpPr/>
          <p:nvPr/>
        </p:nvCxnSpPr>
        <p:spPr>
          <a:xfrm>
            <a:off x="9509760" y="2944368"/>
            <a:ext cx="256032" cy="0"/>
          </a:xfrm>
          <a:prstGeom prst="line">
            <a:avLst/>
          </a:prstGeom>
          <a:ln w="22225">
            <a:solidFill>
              <a:srgbClr val="7ACFC0"/>
            </a:solidFill>
            <a:tailEnd type="triangle" w="med" len="med"/>
          </a:ln>
        </p:spPr>
      </p:cxnSp>
      <p:sp>
        <p:nvSpPr>
          <p:cNvPr id="275" name="Rounded Rectangle 274"/>
          <p:cNvSpPr/>
          <p:nvPr/>
        </p:nvSpPr>
        <p:spPr>
          <a:xfrm>
            <a:off x="9784080" y="2331720"/>
            <a:ext cx="1481328" cy="1234440"/>
          </a:xfrm>
          <a:prstGeom prst="roundRect">
            <a:avLst>
              <a:gd name="adj" fmla="val 7407"/>
            </a:avLst>
          </a:prstGeom>
          <a:solidFill>
            <a:srgbClr val="142040"/>
          </a:solidFill>
          <a:ln w="22225">
            <a:solidFill>
              <a:srgbClr val="7ACFC0"/>
            </a:solidFill>
          </a:ln>
        </p:spPr>
        <p:txBody>
          <a:bodyPr rtlCol="0" anchor="ctr"/>
          <a:lstStyle/>
          <a:p>
            <a:pPr algn="ctr"/>
          </a:p>
        </p:txBody>
      </p:sp>
      <p:sp>
        <p:nvSpPr>
          <p:cNvPr id="276" name="TextBox 275"/>
          <p:cNvSpPr txBox="1"/>
          <p:nvPr/>
        </p:nvSpPr>
        <p:spPr>
          <a:xfrm>
            <a:off x="9875520" y="2432304"/>
            <a:ext cx="1298448" cy="457200"/>
          </a:xfrm>
          <a:prstGeom prst="rect">
            <a:avLst/>
          </a:prstGeom>
          <a:noFill/>
        </p:spPr>
        <p:txBody>
          <a:bodyPr wrap="square" lIns="0" tIns="0" rIns="0" bIns="0" anchor="t">
            <a:noAutofit/>
          </a:bodyPr>
          <a:lstStyle/>
          <a:p>
            <a:pPr algn="l">
              <a:lnSpc>
                <a:spcPct val="105000"/>
              </a:lnSpc>
              <a:spcBef>
                <a:spcPts val="0"/>
              </a:spcBef>
              <a:spcAft>
                <a:spcPts val="0"/>
              </a:spcAft>
            </a:pPr>
            <a:r>
              <a:rPr sz="1250" b="1" i="0">
                <a:solidFill>
                  <a:srgbClr val="7ACFC0"/>
                </a:solidFill>
                <a:latin typeface="Sora"/>
              </a:rPr>
              <a:t>Bilan enrichi</a:t>
            </a:r>
          </a:p>
        </p:txBody>
      </p:sp>
      <p:sp>
        <p:nvSpPr>
          <p:cNvPr id="277" name="TextBox 276"/>
          <p:cNvSpPr txBox="1"/>
          <p:nvPr/>
        </p:nvSpPr>
        <p:spPr>
          <a:xfrm>
            <a:off x="9875520" y="2926080"/>
            <a:ext cx="1298448" cy="594360"/>
          </a:xfrm>
          <a:prstGeom prst="rect">
            <a:avLst/>
          </a:prstGeom>
          <a:noFill/>
        </p:spPr>
        <p:txBody>
          <a:bodyPr wrap="square" lIns="0" tIns="0" rIns="0" bIns="0" anchor="t">
            <a:noAutofit/>
          </a:bodyPr>
          <a:lstStyle/>
          <a:p>
            <a:pPr algn="l">
              <a:lnSpc>
                <a:spcPct val="110000"/>
              </a:lnSpc>
              <a:spcBef>
                <a:spcPts val="0"/>
              </a:spcBef>
              <a:spcAft>
                <a:spcPts val="0"/>
              </a:spcAft>
            </a:pPr>
            <a:r>
              <a:rPr sz="1050" b="0" i="0">
                <a:solidFill>
                  <a:srgbClr val="C9D1E8"/>
                </a:solidFill>
                <a:latin typeface="DM Sans"/>
              </a:rPr>
              <a:t>bilan + passages</a:t>
            </a:r>
          </a:p>
        </p:txBody>
      </p:sp>
      <p:cxnSp>
        <p:nvCxnSpPr>
          <p:cNvPr id="278" name="Connector 277"/>
          <p:cNvCxnSpPr/>
          <p:nvPr/>
        </p:nvCxnSpPr>
        <p:spPr>
          <a:xfrm>
            <a:off x="10524744" y="3602736"/>
            <a:ext cx="0" cy="621792"/>
          </a:xfrm>
          <a:prstGeom prst="line">
            <a:avLst/>
          </a:prstGeom>
          <a:ln w="28575">
            <a:solidFill>
              <a:srgbClr val="7ACFC0"/>
            </a:solidFill>
            <a:tailEnd type="triangle" w="med" len="med"/>
          </a:ln>
        </p:spPr>
      </p:cxnSp>
      <p:sp>
        <p:nvSpPr>
          <p:cNvPr id="279" name="TextBox 278"/>
          <p:cNvSpPr txBox="1"/>
          <p:nvPr/>
        </p:nvSpPr>
        <p:spPr>
          <a:xfrm>
            <a:off x="7232904" y="3840480"/>
            <a:ext cx="3108960" cy="274320"/>
          </a:xfrm>
          <a:prstGeom prst="rect">
            <a:avLst/>
          </a:prstGeom>
          <a:noFill/>
        </p:spPr>
        <p:txBody>
          <a:bodyPr wrap="square" lIns="0" tIns="0" rIns="0" bIns="0" anchor="t">
            <a:noAutofit/>
          </a:bodyPr>
          <a:lstStyle/>
          <a:p>
            <a:pPr algn="r">
              <a:lnSpc>
                <a:spcPct val="115000"/>
              </a:lnSpc>
              <a:spcBef>
                <a:spcPts val="0"/>
              </a:spcBef>
              <a:spcAft>
                <a:spcPts val="0"/>
              </a:spcAft>
            </a:pPr>
            <a:r>
              <a:rPr sz="1200" b="0" i="0">
                <a:solidFill>
                  <a:srgbClr val="C9D1E8"/>
                </a:solidFill>
                <a:latin typeface="DM Sans"/>
              </a:rPr>
              <a:t>un seul appel, protégé par jeton</a:t>
            </a:r>
          </a:p>
        </p:txBody>
      </p:sp>
      <p:sp>
        <p:nvSpPr>
          <p:cNvPr id="280" name="Rounded Rectangle 279"/>
          <p:cNvSpPr/>
          <p:nvPr/>
        </p:nvSpPr>
        <p:spPr>
          <a:xfrm>
            <a:off x="694944" y="4114800"/>
            <a:ext cx="10799064" cy="2011680"/>
          </a:xfrm>
          <a:prstGeom prst="roundRect">
            <a:avLst>
              <a:gd name="adj" fmla="val 7577"/>
            </a:avLst>
          </a:prstGeom>
          <a:solidFill>
            <a:srgbClr val="24375F"/>
          </a:solidFill>
          <a:ln>
            <a:noFill/>
          </a:ln>
        </p:spPr>
        <p:txBody>
          <a:bodyPr rtlCol="0" anchor="ctr"/>
          <a:lstStyle/>
          <a:p>
            <a:pPr algn="ctr"/>
          </a:p>
        </p:txBody>
      </p:sp>
      <p:sp>
        <p:nvSpPr>
          <p:cNvPr id="281" name="Rectangle 280"/>
          <p:cNvSpPr/>
          <p:nvPr/>
        </p:nvSpPr>
        <p:spPr>
          <a:xfrm>
            <a:off x="694944" y="4114800"/>
            <a:ext cx="10799064" cy="2011680"/>
          </a:xfrm>
          <a:custGeom>
            <a:rect b="b" l="l" r="r" t="t"/>
            <a:pathLst>
              <a:path extrusionOk="0" h="2011680" w="10799064">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82" name="TextBox 281"/>
          <p:cNvSpPr txBox="1"/>
          <p:nvPr/>
        </p:nvSpPr>
        <p:spPr>
          <a:xfrm>
            <a:off x="950976" y="4261104"/>
            <a:ext cx="5486400" cy="237744"/>
          </a:xfrm>
          <a:prstGeom prst="rect">
            <a:avLst/>
          </a:prstGeom>
          <a:noFill/>
        </p:spPr>
        <p:txBody>
          <a:bodyPr wrap="square" lIns="0" tIns="0" rIns="0" bIns="0" anchor="t">
            <a:noAutofit/>
          </a:bodyPr>
          <a:lstStyle/>
          <a:p>
            <a:pPr algn="l">
              <a:lnSpc>
                <a:spcPct val="100000"/>
              </a:lnSpc>
              <a:spcBef>
                <a:spcPts val="0"/>
              </a:spcBef>
              <a:spcAft>
                <a:spcPts val="0"/>
              </a:spcAft>
            </a:pPr>
            <a:r>
              <a:rPr sz="1100" b="1" i="0">
                <a:solidFill>
                  <a:srgbClr val="7ACFC0"/>
                </a:solidFill>
                <a:latin typeface="Sora"/>
              </a:rPr>
              <a:t>DANS LE FLUX AGENTIC AI · GÉNÉRATION</a:t>
            </a:r>
          </a:p>
        </p:txBody>
      </p:sp>
      <p:sp>
        <p:nvSpPr>
          <p:cNvPr id="283" name="Rounded Rectangle 282"/>
          <p:cNvSpPr/>
          <p:nvPr/>
        </p:nvSpPr>
        <p:spPr>
          <a:xfrm>
            <a:off x="914400" y="4663440"/>
            <a:ext cx="2286000" cy="1234440"/>
          </a:xfrm>
          <a:prstGeom prst="roundRect">
            <a:avLst>
              <a:gd name="adj" fmla="val 7407"/>
            </a:avLst>
          </a:prstGeom>
          <a:solidFill>
            <a:srgbClr val="142040"/>
          </a:solidFill>
          <a:ln>
            <a:noFill/>
          </a:ln>
        </p:spPr>
        <p:txBody>
          <a:bodyPr rtlCol="0" anchor="ctr"/>
          <a:lstStyle/>
          <a:p>
            <a:pPr algn="ctr"/>
          </a:p>
        </p:txBody>
      </p:sp>
      <p:sp>
        <p:nvSpPr>
          <p:cNvPr id="284" name="TextBox 283"/>
          <p:cNvSpPr txBox="1"/>
          <p:nvPr/>
        </p:nvSpPr>
        <p:spPr>
          <a:xfrm>
            <a:off x="1051560" y="4773168"/>
            <a:ext cx="2011680" cy="36576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FFFFFF"/>
                </a:solidFill>
                <a:latin typeface="Sora"/>
              </a:rPr>
              <a:t>Lecture du bilan</a:t>
            </a:r>
          </a:p>
        </p:txBody>
      </p:sp>
      <p:sp>
        <p:nvSpPr>
          <p:cNvPr id="285" name="TextBox 284"/>
          <p:cNvSpPr txBox="1"/>
          <p:nvPr/>
        </p:nvSpPr>
        <p:spPr>
          <a:xfrm>
            <a:off x="1051560" y="5193792"/>
            <a:ext cx="201168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C9D1E8"/>
                </a:solidFill>
                <a:latin typeface="DM Sans"/>
              </a:rPr>
              <a:t>avec les passages du RAG</a:t>
            </a:r>
          </a:p>
        </p:txBody>
      </p:sp>
      <p:cxnSp>
        <p:nvCxnSpPr>
          <p:cNvPr id="286" name="Connector 285"/>
          <p:cNvCxnSpPr/>
          <p:nvPr/>
        </p:nvCxnSpPr>
        <p:spPr>
          <a:xfrm>
            <a:off x="3227832" y="5276088"/>
            <a:ext cx="310896" cy="0"/>
          </a:xfrm>
          <a:prstGeom prst="line">
            <a:avLst/>
          </a:prstGeom>
          <a:ln w="22225">
            <a:solidFill>
              <a:srgbClr val="7ACFC0"/>
            </a:solidFill>
            <a:tailEnd type="triangle" w="med" len="med"/>
          </a:ln>
        </p:spPr>
      </p:cxnSp>
      <p:sp>
        <p:nvSpPr>
          <p:cNvPr id="287" name="Rounded Rectangle 286"/>
          <p:cNvSpPr/>
          <p:nvPr/>
        </p:nvSpPr>
        <p:spPr>
          <a:xfrm>
            <a:off x="3566160" y="4663440"/>
            <a:ext cx="2286000" cy="1234440"/>
          </a:xfrm>
          <a:prstGeom prst="roundRect">
            <a:avLst>
              <a:gd name="adj" fmla="val 7407"/>
            </a:avLst>
          </a:prstGeom>
          <a:solidFill>
            <a:srgbClr val="142040"/>
          </a:solidFill>
          <a:ln>
            <a:noFill/>
          </a:ln>
        </p:spPr>
        <p:txBody>
          <a:bodyPr rtlCol="0" anchor="ctr"/>
          <a:lstStyle/>
          <a:p>
            <a:pPr algn="ctr"/>
          </a:p>
        </p:txBody>
      </p:sp>
      <p:sp>
        <p:nvSpPr>
          <p:cNvPr id="288" name="TextBox 287"/>
          <p:cNvSpPr txBox="1"/>
          <p:nvPr/>
        </p:nvSpPr>
        <p:spPr>
          <a:xfrm>
            <a:off x="3703320" y="4773168"/>
            <a:ext cx="2011680" cy="36576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FFFFFF"/>
                </a:solidFill>
                <a:latin typeface="Sora"/>
              </a:rPr>
              <a:t>Agent Analyste</a:t>
            </a:r>
          </a:p>
        </p:txBody>
      </p:sp>
      <p:sp>
        <p:nvSpPr>
          <p:cNvPr id="289" name="TextBox 288"/>
          <p:cNvSpPr txBox="1"/>
          <p:nvPr/>
        </p:nvSpPr>
        <p:spPr>
          <a:xfrm>
            <a:off x="3703320" y="5193792"/>
            <a:ext cx="201168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C9D1E8"/>
                </a:solidFill>
                <a:latin typeface="DM Sans"/>
              </a:rPr>
              <a:t>gravité, cause, action, source</a:t>
            </a:r>
          </a:p>
        </p:txBody>
      </p:sp>
      <p:cxnSp>
        <p:nvCxnSpPr>
          <p:cNvPr id="290" name="Connector 289"/>
          <p:cNvCxnSpPr/>
          <p:nvPr/>
        </p:nvCxnSpPr>
        <p:spPr>
          <a:xfrm>
            <a:off x="5879592" y="5276088"/>
            <a:ext cx="310896" cy="0"/>
          </a:xfrm>
          <a:prstGeom prst="line">
            <a:avLst/>
          </a:prstGeom>
          <a:ln w="22225">
            <a:solidFill>
              <a:srgbClr val="7ACFC0"/>
            </a:solidFill>
            <a:tailEnd type="triangle" w="med" len="med"/>
          </a:ln>
        </p:spPr>
      </p:cxnSp>
      <p:sp>
        <p:nvSpPr>
          <p:cNvPr id="291" name="Rounded Rectangle 290"/>
          <p:cNvSpPr/>
          <p:nvPr/>
        </p:nvSpPr>
        <p:spPr>
          <a:xfrm>
            <a:off x="6217920" y="4663440"/>
            <a:ext cx="2286000" cy="1234440"/>
          </a:xfrm>
          <a:prstGeom prst="roundRect">
            <a:avLst>
              <a:gd name="adj" fmla="val 7407"/>
            </a:avLst>
          </a:prstGeom>
          <a:solidFill>
            <a:srgbClr val="142040"/>
          </a:solidFill>
          <a:ln>
            <a:noFill/>
          </a:ln>
        </p:spPr>
        <p:txBody>
          <a:bodyPr rtlCol="0" anchor="ctr"/>
          <a:lstStyle/>
          <a:p>
            <a:pPr algn="ctr"/>
          </a:p>
        </p:txBody>
      </p:sp>
      <p:sp>
        <p:nvSpPr>
          <p:cNvPr id="292" name="TextBox 291"/>
          <p:cNvSpPr txBox="1"/>
          <p:nvPr/>
        </p:nvSpPr>
        <p:spPr>
          <a:xfrm>
            <a:off x="6355080" y="4773168"/>
            <a:ext cx="2011680" cy="36576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FFFFFF"/>
                </a:solidFill>
                <a:latin typeface="Sora"/>
              </a:rPr>
              <a:t>Agent Rédacteur</a:t>
            </a:r>
          </a:p>
        </p:txBody>
      </p:sp>
      <p:sp>
        <p:nvSpPr>
          <p:cNvPr id="293" name="TextBox 292"/>
          <p:cNvSpPr txBox="1"/>
          <p:nvPr/>
        </p:nvSpPr>
        <p:spPr>
          <a:xfrm>
            <a:off x="6355080" y="5193792"/>
            <a:ext cx="201168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C9D1E8"/>
                </a:solidFill>
                <a:latin typeface="DM Sans"/>
              </a:rPr>
              <a:t>message du matin, 120 mots</a:t>
            </a:r>
          </a:p>
        </p:txBody>
      </p:sp>
      <p:cxnSp>
        <p:nvCxnSpPr>
          <p:cNvPr id="294" name="Connector 293"/>
          <p:cNvCxnSpPr/>
          <p:nvPr/>
        </p:nvCxnSpPr>
        <p:spPr>
          <a:xfrm>
            <a:off x="8531352" y="5276088"/>
            <a:ext cx="310896" cy="0"/>
          </a:xfrm>
          <a:prstGeom prst="line">
            <a:avLst/>
          </a:prstGeom>
          <a:ln w="22225">
            <a:solidFill>
              <a:srgbClr val="7ACFC0"/>
            </a:solidFill>
            <a:tailEnd type="triangle" w="med" len="med"/>
          </a:ln>
        </p:spPr>
      </p:cxnSp>
      <p:sp>
        <p:nvSpPr>
          <p:cNvPr id="295" name="Rounded Rectangle 294"/>
          <p:cNvSpPr/>
          <p:nvPr/>
        </p:nvSpPr>
        <p:spPr>
          <a:xfrm>
            <a:off x="8869680" y="4663440"/>
            <a:ext cx="2286000" cy="1234440"/>
          </a:xfrm>
          <a:prstGeom prst="roundRect">
            <a:avLst>
              <a:gd name="adj" fmla="val 7407"/>
            </a:avLst>
          </a:prstGeom>
          <a:solidFill>
            <a:srgbClr val="142040"/>
          </a:solidFill>
          <a:ln>
            <a:noFill/>
          </a:ln>
        </p:spPr>
        <p:txBody>
          <a:bodyPr rtlCol="0" anchor="ctr"/>
          <a:lstStyle/>
          <a:p>
            <a:pPr algn="ctr"/>
          </a:p>
        </p:txBody>
      </p:sp>
      <p:sp>
        <p:nvSpPr>
          <p:cNvPr id="296" name="TextBox 295"/>
          <p:cNvSpPr txBox="1"/>
          <p:nvPr/>
        </p:nvSpPr>
        <p:spPr>
          <a:xfrm>
            <a:off x="9006840" y="4773168"/>
            <a:ext cx="2011680" cy="36576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FFFFFF"/>
                </a:solidFill>
                <a:latin typeface="Sora"/>
              </a:rPr>
              <a:t>Slack</a:t>
            </a:r>
          </a:p>
        </p:txBody>
      </p:sp>
      <p:sp>
        <p:nvSpPr>
          <p:cNvPr id="297" name="TextBox 296"/>
          <p:cNvSpPr txBox="1"/>
          <p:nvPr/>
        </p:nvSpPr>
        <p:spPr>
          <a:xfrm>
            <a:off x="9006840" y="5193792"/>
            <a:ext cx="2011680" cy="640080"/>
          </a:xfrm>
          <a:prstGeom prst="rect">
            <a:avLst/>
          </a:prstGeom>
          <a:noFill/>
        </p:spPr>
        <p:txBody>
          <a:bodyPr wrap="square" lIns="0" tIns="0" rIns="0" bIns="0" anchor="t">
            <a:noAutofit/>
          </a:bodyPr>
          <a:lstStyle/>
          <a:p>
            <a:pPr algn="l">
              <a:lnSpc>
                <a:spcPct val="110000"/>
              </a:lnSpc>
              <a:spcBef>
                <a:spcPts val="0"/>
              </a:spcBef>
              <a:spcAft>
                <a:spcPts val="0"/>
              </a:spcAft>
            </a:pPr>
            <a:r>
              <a:rPr sz="1200" b="0" i="0">
                <a:solidFill>
                  <a:srgbClr val="C9D1E8"/>
                </a:solidFill>
                <a:latin typeface="DM Sans"/>
              </a:rPr>
              <a:t>un message par matin</a:t>
            </a:r>
          </a:p>
        </p:txBody>
      </p:sp>
      <p:sp>
        <p:nvSpPr>
          <p:cNvPr id="298" name="TextBox 29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Le flux de la plateforme est inchangé ; seul l’appel au bilan demande les passages du RAG.</a:t>
            </a:r>
          </a:p>
        </p:txBody>
      </p:sp>
      <p:sp>
        <p:nvSpPr>
          <p:cNvPr id="299" name="Rectangle 298"/>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300" name="Rectangle 299"/>
          <p:cNvSpPr/>
          <p:nvPr/>
        </p:nvSpPr>
        <p:spPr>
          <a:xfrm>
            <a:off x="155448" y="6803136"/>
            <a:ext cx="9819044" cy="54864"/>
          </a:xfrm>
          <a:prstGeom prst="rect">
            <a:avLst/>
          </a:prstGeom>
          <a:solidFill>
            <a:srgbClr val="7ACFC0"/>
          </a:solidFill>
          <a:ln>
            <a:noFill/>
          </a:ln>
        </p:spPr>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987653"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4 · AGENTIC AI</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Résultats : les messages citent la cause et l’action de la base de connaissances</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32</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5312664" cy="1965960"/>
          </a:xfrm>
          <a:prstGeom prst="roundRect">
            <a:avLst>
              <a:gd name="adj" fmla="val 7753"/>
            </a:avLst>
          </a:prstGeom>
          <a:solidFill>
            <a:srgbClr val="FFFFFF"/>
          </a:solidFill>
          <a:ln>
            <a:noFill/>
          </a:ln>
        </p:spPr>
        <p:txBody>
          <a:bodyPr rtlCol="0" anchor="ctr"/>
          <a:lstStyle/>
          <a:p>
            <a:pPr algn="ctr"/>
          </a:p>
        </p:txBody>
      </p:sp>
      <p:sp>
        <p:nvSpPr>
          <p:cNvPr id="114" name="Rectangle 113"/>
          <p:cNvSpPr/>
          <p:nvPr/>
        </p:nvSpPr>
        <p:spPr>
          <a:xfrm>
            <a:off x="694944" y="1773936"/>
            <a:ext cx="5312664" cy="1965960"/>
          </a:xfrm>
          <a:custGeom>
            <a:rect b="b" l="l" r="r" t="t"/>
            <a:pathLst>
              <a:path extrusionOk="0" h="196596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15" name="Rounded Rectangle 114"/>
          <p:cNvSpPr/>
          <p:nvPr/>
        </p:nvSpPr>
        <p:spPr>
          <a:xfrm>
            <a:off x="923544" y="1993392"/>
            <a:ext cx="1188720" cy="256032"/>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SANS RAG</a:t>
            </a:r>
          </a:p>
        </p:txBody>
      </p:sp>
      <p:sp>
        <p:nvSpPr>
          <p:cNvPr id="116" name="TextBox 115"/>
          <p:cNvSpPr txBox="1"/>
          <p:nvPr/>
        </p:nvSpPr>
        <p:spPr>
          <a:xfrm>
            <a:off x="923544" y="2377440"/>
            <a:ext cx="4892040" cy="128016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 Actions requises : 1. Vérifier le planificateur de tâches ou les services d’automatisation. 2. Relancer manuellement les étapes manquantes. »</a:t>
            </a:r>
          </a:p>
        </p:txBody>
      </p:sp>
      <p:sp>
        <p:nvSpPr>
          <p:cNvPr id="117" name="Rounded Rectangle 116"/>
          <p:cNvSpPr/>
          <p:nvPr/>
        </p:nvSpPr>
        <p:spPr>
          <a:xfrm>
            <a:off x="6181344" y="1773936"/>
            <a:ext cx="5312664" cy="1965960"/>
          </a:xfrm>
          <a:prstGeom prst="roundRect">
            <a:avLst>
              <a:gd name="adj" fmla="val 7753"/>
            </a:avLst>
          </a:prstGeom>
          <a:solidFill>
            <a:srgbClr val="FFFFFF"/>
          </a:solidFill>
          <a:ln>
            <a:noFill/>
          </a:ln>
        </p:spPr>
        <p:txBody>
          <a:bodyPr rtlCol="0" anchor="ctr"/>
          <a:lstStyle/>
          <a:p>
            <a:pPr algn="ctr"/>
          </a:p>
        </p:txBody>
      </p:sp>
      <p:sp>
        <p:nvSpPr>
          <p:cNvPr id="118" name="Rectangle 117"/>
          <p:cNvSpPr/>
          <p:nvPr/>
        </p:nvSpPr>
        <p:spPr>
          <a:xfrm>
            <a:off x="6181344" y="1773936"/>
            <a:ext cx="5312664" cy="1965960"/>
          </a:xfrm>
          <a:custGeom>
            <a:rect b="b" l="l" r="r" t="t"/>
            <a:pathLst>
              <a:path extrusionOk="0" h="196596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19" name="Rounded Rectangle 118"/>
          <p:cNvSpPr/>
          <p:nvPr/>
        </p:nvSpPr>
        <p:spPr>
          <a:xfrm>
            <a:off x="6409944" y="1993392"/>
            <a:ext cx="1188720" cy="256032"/>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AVEC RAG</a:t>
            </a:r>
          </a:p>
        </p:txBody>
      </p:sp>
      <p:sp>
        <p:nvSpPr>
          <p:cNvPr id="120" name="TextBox 119"/>
          <p:cNvSpPr txBox="1"/>
          <p:nvPr/>
        </p:nvSpPr>
        <p:spPr>
          <a:xfrm>
            <a:off x="6409944" y="2377440"/>
            <a:ext cx="4892040" cy="128016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 Cause probable : le PC était éteint ou en veille à 00:30 UTC, ou le planificateur était arrêté. Action : relancer le planificateur, puis exécuter la chaîne manquante. »</a:t>
            </a:r>
          </a:p>
        </p:txBody>
      </p:sp>
      <p:sp>
        <p:nvSpPr>
          <p:cNvPr id="121" name="TextBox 120"/>
          <p:cNvSpPr txBox="1"/>
          <p:nvPr/>
        </p:nvSpPr>
        <p:spPr>
          <a:xfrm>
            <a:off x="694944" y="3858768"/>
            <a:ext cx="10789920" cy="256032"/>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Même situation : nuit incomplète.</a:t>
            </a:r>
          </a:p>
        </p:txBody>
      </p:sp>
      <p:sp>
        <p:nvSpPr>
          <p:cNvPr id="122" name="Rounded Rectangle 121"/>
          <p:cNvSpPr/>
          <p:nvPr/>
        </p:nvSpPr>
        <p:spPr>
          <a:xfrm>
            <a:off x="694944" y="4251960"/>
            <a:ext cx="3483864" cy="1828800"/>
          </a:xfrm>
          <a:prstGeom prst="roundRect">
            <a:avLst>
              <a:gd name="adj" fmla="val 8335"/>
            </a:avLst>
          </a:prstGeom>
          <a:solidFill>
            <a:srgbClr val="FFFFFF"/>
          </a:solidFill>
          <a:ln>
            <a:noFill/>
          </a:ln>
        </p:spPr>
        <p:txBody>
          <a:bodyPr rtlCol="0" anchor="ctr"/>
          <a:lstStyle/>
          <a:p>
            <a:pPr algn="ctr"/>
          </a:p>
        </p:txBody>
      </p:sp>
      <p:sp>
        <p:nvSpPr>
          <p:cNvPr id="123" name="Rectangle 122"/>
          <p:cNvSpPr/>
          <p:nvPr/>
        </p:nvSpPr>
        <p:spPr>
          <a:xfrm>
            <a:off x="6949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24" name="TextBox 123"/>
          <p:cNvSpPr txBox="1"/>
          <p:nvPr/>
        </p:nvSpPr>
        <p:spPr>
          <a:xfrm>
            <a:off x="8961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Panne simulée de la sauvegarde</a:t>
            </a:r>
          </a:p>
        </p:txBody>
      </p:sp>
      <p:sp>
        <p:nvSpPr>
          <p:cNvPr id="125" name="Rounded Rectangle 124"/>
          <p:cNvSpPr/>
          <p:nvPr/>
        </p:nvSpPr>
        <p:spPr>
          <a:xfrm>
            <a:off x="8961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critique</a:t>
            </a:r>
          </a:p>
        </p:txBody>
      </p:sp>
      <p:sp>
        <p:nvSpPr>
          <p:cNvPr id="126" name="TextBox 125"/>
          <p:cNvSpPr txBox="1"/>
          <p:nvPr/>
        </p:nvSpPr>
        <p:spPr>
          <a:xfrm>
            <a:off x="8961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L’outil de sauvegarde est introuvable : installer les outils PostgreSQL ou indiquer leur emplacement.</a:t>
            </a:r>
          </a:p>
        </p:txBody>
      </p:sp>
      <p:sp>
        <p:nvSpPr>
          <p:cNvPr id="127" name="Rounded Rectangle 126"/>
          <p:cNvSpPr/>
          <p:nvPr/>
        </p:nvSpPr>
        <p:spPr>
          <a:xfrm>
            <a:off x="4352544" y="4251960"/>
            <a:ext cx="3483864" cy="1828800"/>
          </a:xfrm>
          <a:prstGeom prst="roundRect">
            <a:avLst>
              <a:gd name="adj" fmla="val 8335"/>
            </a:avLst>
          </a:prstGeom>
          <a:solidFill>
            <a:srgbClr val="FFFFFF"/>
          </a:solidFill>
          <a:ln>
            <a:noFill/>
          </a:ln>
        </p:spPr>
        <p:txBody>
          <a:bodyPr rtlCol="0" anchor="ctr"/>
          <a:lstStyle/>
          <a:p>
            <a:pPr algn="ctr"/>
          </a:p>
        </p:txBody>
      </p:sp>
      <p:sp>
        <p:nvSpPr>
          <p:cNvPr id="128" name="Rectangle 127"/>
          <p:cNvSpPr/>
          <p:nvPr/>
        </p:nvSpPr>
        <p:spPr>
          <a:xfrm>
            <a:off x="43525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29" name="TextBox 128"/>
          <p:cNvSpPr txBox="1"/>
          <p:nvPr/>
        </p:nvSpPr>
        <p:spPr>
          <a:xfrm>
            <a:off x="45537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Nuit non exécutée (PC éteint)</a:t>
            </a:r>
          </a:p>
        </p:txBody>
      </p:sp>
      <p:sp>
        <p:nvSpPr>
          <p:cNvPr id="130" name="Rounded Rectangle 129"/>
          <p:cNvSpPr/>
          <p:nvPr/>
        </p:nvSpPr>
        <p:spPr>
          <a:xfrm>
            <a:off x="45537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attention</a:t>
            </a:r>
          </a:p>
        </p:txBody>
      </p:sp>
      <p:sp>
        <p:nvSpPr>
          <p:cNvPr id="131" name="TextBox 130"/>
          <p:cNvSpPr txBox="1"/>
          <p:nvPr/>
        </p:nvSpPr>
        <p:spPr>
          <a:xfrm>
            <a:off x="45537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Relancer le planificateur, puis exécuter la chaîne manquante.</a:t>
            </a:r>
          </a:p>
        </p:txBody>
      </p:sp>
      <p:sp>
        <p:nvSpPr>
          <p:cNvPr id="132" name="Rounded Rectangle 131"/>
          <p:cNvSpPr/>
          <p:nvPr/>
        </p:nvSpPr>
        <p:spPr>
          <a:xfrm>
            <a:off x="8010144" y="4251960"/>
            <a:ext cx="3483864" cy="1828800"/>
          </a:xfrm>
          <a:prstGeom prst="roundRect">
            <a:avLst>
              <a:gd name="adj" fmla="val 8335"/>
            </a:avLst>
          </a:prstGeom>
          <a:solidFill>
            <a:srgbClr val="FFFFFF"/>
          </a:solidFill>
          <a:ln>
            <a:noFill/>
          </a:ln>
        </p:spPr>
        <p:txBody>
          <a:bodyPr rtlCol="0" anchor="ctr"/>
          <a:lstStyle/>
          <a:p>
            <a:pPr algn="ctr"/>
          </a:p>
        </p:txBody>
      </p:sp>
      <p:sp>
        <p:nvSpPr>
          <p:cNvPr id="133" name="Rectangle 132"/>
          <p:cNvSpPr/>
          <p:nvPr/>
        </p:nvSpPr>
        <p:spPr>
          <a:xfrm>
            <a:off x="80101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34" name="TextBox 133"/>
          <p:cNvSpPr txBox="1"/>
          <p:nvPr/>
        </p:nvSpPr>
        <p:spPr>
          <a:xfrm>
            <a:off x="82113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Nuit réussie</a:t>
            </a:r>
          </a:p>
        </p:txBody>
      </p:sp>
      <p:sp>
        <p:nvSpPr>
          <p:cNvPr id="135" name="Rounded Rectangle 134"/>
          <p:cNvSpPr/>
          <p:nvPr/>
        </p:nvSpPr>
        <p:spPr>
          <a:xfrm>
            <a:off x="82113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ok</a:t>
            </a:r>
          </a:p>
        </p:txBody>
      </p:sp>
      <p:sp>
        <p:nvSpPr>
          <p:cNvPr id="136" name="TextBox 135"/>
          <p:cNvSpPr txBox="1"/>
          <p:nvPr/>
        </p:nvSpPr>
        <p:spPr>
          <a:xfrm>
            <a:off x="82113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Situation nominale : aucune action corrective requise.</a:t>
            </a:r>
          </a:p>
        </p:txBody>
      </p:sp>
      <p:sp>
        <p:nvSpPr>
          <p:cNvPr id="137" name="TextBox 136"/>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exécutions réelles du flux Agentic AI, octobre 2026.</a:t>
            </a:r>
          </a:p>
        </p:txBody>
      </p:sp>
      <p:sp>
        <p:nvSpPr>
          <p:cNvPr id="138" name="Rectangle 137"/>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39" name="Rectangle 138"/>
          <p:cNvSpPr/>
          <p:nvPr/>
        </p:nvSpPr>
        <p:spPr>
          <a:xfrm>
            <a:off x="155448" y="6803136"/>
            <a:ext cx="10135787" cy="54864"/>
          </a:xfrm>
          <a:prstGeom prst="rect">
            <a:avLst/>
          </a:prstGeom>
          <a:solidFill>
            <a:srgbClr val="6B3FA0"/>
          </a:solidFill>
          <a:ln>
            <a:noFill/>
          </a:ln>
        </p:spPr>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26937"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BILAN</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Bilan du livrable 3 : ce que nous avons atteint</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36</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73936"/>
            <a:ext cx="3483864" cy="2011680"/>
          </a:xfrm>
          <a:prstGeom prst="roundRect">
            <a:avLst>
              <a:gd name="adj" fmla="val 7577"/>
            </a:avLst>
          </a:prstGeom>
          <a:solidFill>
            <a:srgbClr val="24375F"/>
          </a:solidFill>
          <a:ln>
            <a:noFill/>
          </a:ln>
        </p:spPr>
        <p:txBody>
          <a:bodyPr rtlCol="0" anchor="ctr"/>
          <a:lstStyle/>
          <a:p>
            <a:pPr algn="ctr"/>
          </a:p>
        </p:txBody>
      </p:sp>
      <p:sp>
        <p:nvSpPr>
          <p:cNvPr id="253" name="Rectangle 252"/>
          <p:cNvSpPr/>
          <p:nvPr/>
        </p:nvSpPr>
        <p:spPr>
          <a:xfrm>
            <a:off x="694944" y="177393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54" name="TextBox 253"/>
          <p:cNvSpPr txBox="1"/>
          <p:nvPr/>
        </p:nvSpPr>
        <p:spPr>
          <a:xfrm>
            <a:off x="923544" y="200253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4A9BE0"/>
                </a:solidFill>
                <a:latin typeface="Sora"/>
              </a:rPr>
              <a:t>MODÈLES</a:t>
            </a:r>
          </a:p>
        </p:txBody>
      </p:sp>
      <p:sp>
        <p:nvSpPr>
          <p:cNvPr id="255" name="TextBox 254"/>
          <p:cNvSpPr txBox="1"/>
          <p:nvPr/>
        </p:nvSpPr>
        <p:spPr>
          <a:xfrm>
            <a:off x="923544" y="234086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3 modèles comparés</a:t>
            </a:r>
          </a:p>
        </p:txBody>
      </p:sp>
      <p:sp>
        <p:nvSpPr>
          <p:cNvPr id="256" name="TextBox 255"/>
          <p:cNvSpPr txBox="1"/>
          <p:nvPr/>
        </p:nvSpPr>
        <p:spPr>
          <a:xfrm>
            <a:off x="923544" y="296265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Régression linéaire, réseau de neurones et gradient boosting, retenu et intégré à l’application.</a:t>
            </a:r>
          </a:p>
        </p:txBody>
      </p:sp>
      <p:sp>
        <p:nvSpPr>
          <p:cNvPr id="257" name="Rounded Rectangle 256"/>
          <p:cNvSpPr/>
          <p:nvPr/>
        </p:nvSpPr>
        <p:spPr>
          <a:xfrm>
            <a:off x="4334256" y="1773936"/>
            <a:ext cx="3483864" cy="2011680"/>
          </a:xfrm>
          <a:prstGeom prst="roundRect">
            <a:avLst>
              <a:gd name="adj" fmla="val 7577"/>
            </a:avLst>
          </a:prstGeom>
          <a:solidFill>
            <a:srgbClr val="24375F"/>
          </a:solidFill>
          <a:ln>
            <a:noFill/>
          </a:ln>
        </p:spPr>
        <p:txBody>
          <a:bodyPr rtlCol="0" anchor="ctr"/>
          <a:lstStyle/>
          <a:p>
            <a:pPr algn="ctr"/>
          </a:p>
        </p:txBody>
      </p:sp>
      <p:sp>
        <p:nvSpPr>
          <p:cNvPr id="258" name="Rectangle 257"/>
          <p:cNvSpPr/>
          <p:nvPr/>
        </p:nvSpPr>
        <p:spPr>
          <a:xfrm>
            <a:off x="4334256" y="177393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59" name="TextBox 258"/>
          <p:cNvSpPr txBox="1"/>
          <p:nvPr/>
        </p:nvSpPr>
        <p:spPr>
          <a:xfrm>
            <a:off x="4562856" y="200253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AUTOMATISATION</a:t>
            </a:r>
          </a:p>
        </p:txBody>
      </p:sp>
      <p:sp>
        <p:nvSpPr>
          <p:cNvPr id="260" name="TextBox 259"/>
          <p:cNvSpPr txBox="1"/>
          <p:nvPr/>
        </p:nvSpPr>
        <p:spPr>
          <a:xfrm>
            <a:off x="4562856" y="234086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12 tâches planifiées</a:t>
            </a:r>
          </a:p>
        </p:txBody>
      </p:sp>
      <p:sp>
        <p:nvSpPr>
          <p:cNvPr id="261" name="TextBox 260"/>
          <p:cNvSpPr txBox="1"/>
          <p:nvPr/>
        </p:nvSpPr>
        <p:spPr>
          <a:xfrm>
            <a:off x="4562856" y="296265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Huit étapes chaque nuit à 00:30 UTC, sans interface graphique.</a:t>
            </a:r>
          </a:p>
        </p:txBody>
      </p:sp>
      <p:sp>
        <p:nvSpPr>
          <p:cNvPr id="262" name="Rounded Rectangle 261"/>
          <p:cNvSpPr/>
          <p:nvPr/>
        </p:nvSpPr>
        <p:spPr>
          <a:xfrm>
            <a:off x="7973568" y="1773936"/>
            <a:ext cx="3483864" cy="2011680"/>
          </a:xfrm>
          <a:prstGeom prst="roundRect">
            <a:avLst>
              <a:gd name="adj" fmla="val 7577"/>
            </a:avLst>
          </a:prstGeom>
          <a:solidFill>
            <a:srgbClr val="24375F"/>
          </a:solidFill>
          <a:ln>
            <a:noFill/>
          </a:ln>
        </p:spPr>
        <p:txBody>
          <a:bodyPr rtlCol="0" anchor="ctr"/>
          <a:lstStyle/>
          <a:p>
            <a:pPr algn="ctr"/>
          </a:p>
        </p:txBody>
      </p:sp>
      <p:sp>
        <p:nvSpPr>
          <p:cNvPr id="263" name="Rectangle 262"/>
          <p:cNvSpPr/>
          <p:nvPr/>
        </p:nvSpPr>
        <p:spPr>
          <a:xfrm>
            <a:off x="7973568" y="177393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64" name="TextBox 263"/>
          <p:cNvSpPr txBox="1"/>
          <p:nvPr/>
        </p:nvSpPr>
        <p:spPr>
          <a:xfrm>
            <a:off x="8202168" y="200253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B39DDB"/>
                </a:solidFill>
                <a:latin typeface="Sora"/>
              </a:rPr>
              <a:t>BOTTOM LINE</a:t>
            </a:r>
          </a:p>
        </p:txBody>
      </p:sp>
      <p:sp>
        <p:nvSpPr>
          <p:cNvPr id="265" name="TextBox 264"/>
          <p:cNvSpPr txBox="1"/>
          <p:nvPr/>
        </p:nvSpPr>
        <p:spPr>
          <a:xfrm>
            <a:off x="8202168" y="234086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+15 113 MAD de gain net</a:t>
            </a:r>
          </a:p>
        </p:txBody>
      </p:sp>
      <p:sp>
        <p:nvSpPr>
          <p:cNvPr id="266" name="TextBox 265"/>
          <p:cNvSpPr txBox="1"/>
          <p:nvPr/>
        </p:nvSpPr>
        <p:spPr>
          <a:xfrm>
            <a:off x="8202168" y="296265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Soit 183 874 MAD par an ; taux de service de 94,6 % à 99,9 % (simulation sur données de démonstration).</a:t>
            </a:r>
          </a:p>
        </p:txBody>
      </p:sp>
      <p:sp>
        <p:nvSpPr>
          <p:cNvPr id="267" name="Rounded Rectangle 266"/>
          <p:cNvSpPr/>
          <p:nvPr/>
        </p:nvSpPr>
        <p:spPr>
          <a:xfrm>
            <a:off x="694944" y="3968496"/>
            <a:ext cx="3483864" cy="2011680"/>
          </a:xfrm>
          <a:prstGeom prst="roundRect">
            <a:avLst>
              <a:gd name="adj" fmla="val 7577"/>
            </a:avLst>
          </a:prstGeom>
          <a:solidFill>
            <a:srgbClr val="24375F"/>
          </a:solidFill>
          <a:ln>
            <a:noFill/>
          </a:ln>
        </p:spPr>
        <p:txBody>
          <a:bodyPr rtlCol="0" anchor="ctr"/>
          <a:lstStyle/>
          <a:p>
            <a:pPr algn="ctr"/>
          </a:p>
        </p:txBody>
      </p:sp>
      <p:sp>
        <p:nvSpPr>
          <p:cNvPr id="268" name="Rectangle 267"/>
          <p:cNvSpPr/>
          <p:nvPr/>
        </p:nvSpPr>
        <p:spPr>
          <a:xfrm>
            <a:off x="694944" y="396849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269" name="TextBox 268"/>
          <p:cNvSpPr txBox="1"/>
          <p:nvPr/>
        </p:nvSpPr>
        <p:spPr>
          <a:xfrm>
            <a:off x="923544" y="419709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3FA0"/>
                </a:solidFill>
                <a:latin typeface="Sora"/>
              </a:rPr>
              <a:t>SUPERVISION</a:t>
            </a:r>
          </a:p>
        </p:txBody>
      </p:sp>
      <p:sp>
        <p:nvSpPr>
          <p:cNvPr id="270" name="TextBox 269"/>
          <p:cNvSpPr txBox="1"/>
          <p:nvPr/>
        </p:nvSpPr>
        <p:spPr>
          <a:xfrm>
            <a:off x="923544" y="453542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Un message Slack chaque matin</a:t>
            </a:r>
          </a:p>
        </p:txBody>
      </p:sp>
      <p:sp>
        <p:nvSpPr>
          <p:cNvPr id="271" name="TextBox 270"/>
          <p:cNvSpPr txBox="1"/>
          <p:nvPr/>
        </p:nvSpPr>
        <p:spPr>
          <a:xfrm>
            <a:off x="923544" y="515721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Bilan en trois statuts, analysé par deux agents IA, lancé par un Cron à 06:00.</a:t>
            </a:r>
          </a:p>
        </p:txBody>
      </p:sp>
      <p:sp>
        <p:nvSpPr>
          <p:cNvPr id="272" name="Rounded Rectangle 271"/>
          <p:cNvSpPr/>
          <p:nvPr/>
        </p:nvSpPr>
        <p:spPr>
          <a:xfrm>
            <a:off x="4334256" y="3968496"/>
            <a:ext cx="3483864" cy="2011680"/>
          </a:xfrm>
          <a:prstGeom prst="roundRect">
            <a:avLst>
              <a:gd name="adj" fmla="val 7577"/>
            </a:avLst>
          </a:prstGeom>
          <a:solidFill>
            <a:srgbClr val="24375F"/>
          </a:solidFill>
          <a:ln>
            <a:noFill/>
          </a:ln>
        </p:spPr>
        <p:txBody>
          <a:bodyPr rtlCol="0" anchor="ctr"/>
          <a:lstStyle/>
          <a:p>
            <a:pPr algn="ctr"/>
          </a:p>
        </p:txBody>
      </p:sp>
      <p:sp>
        <p:nvSpPr>
          <p:cNvPr id="273" name="Rectangle 272"/>
          <p:cNvSpPr/>
          <p:nvPr/>
        </p:nvSpPr>
        <p:spPr>
          <a:xfrm>
            <a:off x="4334256" y="396849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74" name="TextBox 273"/>
          <p:cNvSpPr txBox="1"/>
          <p:nvPr/>
        </p:nvSpPr>
        <p:spPr>
          <a:xfrm>
            <a:off x="4562856" y="419709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RAG</a:t>
            </a:r>
          </a:p>
        </p:txBody>
      </p:sp>
      <p:sp>
        <p:nvSpPr>
          <p:cNvPr id="275" name="TextBox 274"/>
          <p:cNvSpPr txBox="1"/>
          <p:nvPr/>
        </p:nvSpPr>
        <p:spPr>
          <a:xfrm>
            <a:off x="4562856" y="453542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27 sections de connaissances</a:t>
            </a:r>
          </a:p>
        </p:txBody>
      </p:sp>
      <p:sp>
        <p:nvSpPr>
          <p:cNvPr id="276" name="TextBox 275"/>
          <p:cNvSpPr txBox="1"/>
          <p:nvPr/>
        </p:nvSpPr>
        <p:spPr>
          <a:xfrm>
            <a:off x="4562856" y="515721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Les agents expliquent la panne et citent leur source.</a:t>
            </a:r>
          </a:p>
        </p:txBody>
      </p:sp>
      <p:sp>
        <p:nvSpPr>
          <p:cNvPr id="277" name="Rounded Rectangle 276"/>
          <p:cNvSpPr/>
          <p:nvPr/>
        </p:nvSpPr>
        <p:spPr>
          <a:xfrm>
            <a:off x="7973568" y="3968496"/>
            <a:ext cx="3483864" cy="2011680"/>
          </a:xfrm>
          <a:prstGeom prst="roundRect">
            <a:avLst>
              <a:gd name="adj" fmla="val 7577"/>
            </a:avLst>
          </a:prstGeom>
          <a:solidFill>
            <a:srgbClr val="24375F"/>
          </a:solidFill>
          <a:ln>
            <a:noFill/>
          </a:ln>
        </p:spPr>
        <p:txBody>
          <a:bodyPr rtlCol="0" anchor="ctr"/>
          <a:lstStyle/>
          <a:p>
            <a:pPr algn="ctr"/>
          </a:p>
        </p:txBody>
      </p:sp>
      <p:sp>
        <p:nvSpPr>
          <p:cNvPr id="278" name="Rectangle 277"/>
          <p:cNvSpPr/>
          <p:nvPr/>
        </p:nvSpPr>
        <p:spPr>
          <a:xfrm>
            <a:off x="7973568" y="396849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79" name="TextBox 278"/>
          <p:cNvSpPr txBox="1"/>
          <p:nvPr/>
        </p:nvSpPr>
        <p:spPr>
          <a:xfrm>
            <a:off x="8202168" y="419709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4A9BE0"/>
                </a:solidFill>
                <a:latin typeface="Sora"/>
              </a:rPr>
              <a:t>ODOO</a:t>
            </a:r>
          </a:p>
        </p:txBody>
      </p:sp>
      <p:sp>
        <p:nvSpPr>
          <p:cNvPr id="280" name="TextBox 279"/>
          <p:cNvSpPr txBox="1"/>
          <p:nvPr/>
        </p:nvSpPr>
        <p:spPr>
          <a:xfrm>
            <a:off x="8202168" y="453542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Connexion testée</a:t>
            </a:r>
          </a:p>
        </p:txBody>
      </p:sp>
      <p:sp>
        <p:nvSpPr>
          <p:cNvPr id="281" name="TextBox 280"/>
          <p:cNvSpPr txBox="1"/>
          <p:nvPr/>
        </p:nvSpPr>
        <p:spPr>
          <a:xfrm>
            <a:off x="8202168" y="515721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Workly atteint Odoo ; l’import des volumes reste à brancher.</a:t>
            </a:r>
          </a:p>
        </p:txBody>
      </p:sp>
      <p:sp>
        <p:nvSpPr>
          <p:cNvPr id="282" name="TextBox 281"/>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Valeurs : application Workly et exécutions réelles du livrable 3 ; gains issus du jeu de données de démonstration.</a:t>
            </a:r>
          </a:p>
        </p:txBody>
      </p:sp>
      <p:sp>
        <p:nvSpPr>
          <p:cNvPr id="283" name="Rectangle 282"/>
          <p:cNvSpPr/>
          <p:nvPr/>
        </p:nvSpPr>
        <p:spPr>
          <a:xfrm>
            <a:off x="155448" y="6803136"/>
            <a:ext cx="12036247" cy="54864"/>
          </a:xfrm>
          <a:prstGeom prst="rect">
            <a:avLst/>
          </a:prstGeom>
          <a:solidFill>
            <a:srgbClr val="2F4270"/>
          </a:solidFill>
          <a:ln>
            <a:noFill/>
          </a:ln>
        </p:spPr>
        <p:txBody>
          <a:bodyPr rtlCol="0" anchor="ctr"/>
          <a:lstStyle/>
          <a:p>
            <a:pPr algn="ctr"/>
          </a:p>
        </p:txBody>
      </p:sp>
      <p:sp>
        <p:nvSpPr>
          <p:cNvPr id="284" name="Rectangle 283"/>
          <p:cNvSpPr/>
          <p:nvPr/>
        </p:nvSpPr>
        <p:spPr>
          <a:xfrm>
            <a:off x="155448" y="6803136"/>
            <a:ext cx="11402761" cy="54864"/>
          </a:xfrm>
          <a:prstGeom prst="rect">
            <a:avLst/>
          </a:prstGeom>
          <a:solidFill>
            <a:srgbClr val="7ACFC0"/>
          </a:solidFill>
          <a:ln>
            <a:noFill/>
          </a:ln>
        </p:spPr>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30" name="Google Shape;30;p1"/>
          <p:cNvSpPr/>
          <p:nvPr/>
        </p:nvSpPr>
        <p:spPr>
          <a:xfrm>
            <a:off x="8778240" y="5114544"/>
            <a:ext cx="609600" cy="1743456"/>
          </a:xfrm>
          <a:prstGeom prst="rect">
            <a:avLst/>
          </a:prstGeom>
          <a:solidFill>
            <a:srgbClr val="4A9BE0"/>
          </a:solidFill>
          <a:ln w="12700" cap="flat" cmpd="sng">
            <a:solidFill>
              <a:srgbClr val="4A9B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1" name="Google Shape;31;p1"/>
          <p:cNvSpPr/>
          <p:nvPr/>
        </p:nvSpPr>
        <p:spPr>
          <a:xfrm>
            <a:off x="9485376" y="4322064"/>
            <a:ext cx="609600" cy="2535936"/>
          </a:xfrm>
          <a:prstGeom prst="rect">
            <a:avLst/>
          </a:prstGeom>
          <a:solidFill>
            <a:srgbClr val="B39DDB"/>
          </a:solidFill>
          <a:ln w="12700" cap="flat" cmpd="sng">
            <a:solidFill>
              <a:srgbClr val="B39D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2" name="Google Shape;32;p1"/>
          <p:cNvSpPr/>
          <p:nvPr/>
        </p:nvSpPr>
        <p:spPr>
          <a:xfrm>
            <a:off x="10192512" y="4639056"/>
            <a:ext cx="609600" cy="2218944"/>
          </a:xfrm>
          <a:prstGeom prst="rect">
            <a:avLst/>
          </a:prstGeom>
          <a:solidFill>
            <a:srgbClr val="7ACFC0"/>
          </a:solidFill>
          <a:ln w="12700" cap="flat" cmpd="sng">
            <a:solidFill>
              <a:srgbClr val="7ACF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3" name="Google Shape;33;p1"/>
          <p:cNvSpPr/>
          <p:nvPr/>
        </p:nvSpPr>
        <p:spPr>
          <a:xfrm>
            <a:off x="10899648" y="3846576"/>
            <a:ext cx="609600" cy="3011424"/>
          </a:xfrm>
          <a:prstGeom prst="rect">
            <a:avLst/>
          </a:prstGeom>
          <a:solidFill>
            <a:srgbClr val="6B3FA0"/>
          </a:solidFill>
          <a:ln w="12700" cap="flat" cmpd="sng">
            <a:solidFill>
              <a:srgbClr val="6B3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4" name="Google Shape;34;p1"/>
          <p:cNvSpPr/>
          <p:nvPr/>
        </p:nvSpPr>
        <p:spPr>
          <a:xfrm>
            <a:off x="11606784" y="4480560"/>
            <a:ext cx="609600" cy="2377440"/>
          </a:xfrm>
          <a:prstGeom prst="rect">
            <a:avLst/>
          </a:prstGeom>
          <a:solidFill>
            <a:srgbClr val="4A9BE0"/>
          </a:solidFill>
          <a:ln w="12700" cap="flat" cmpd="sng">
            <a:solidFill>
              <a:srgbClr val="4A9B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5" name="Google Shape;35;p1"/>
          <p:cNvSpPr/>
          <p:nvPr/>
        </p:nvSpPr>
        <p:spPr>
          <a:xfrm>
            <a:off x="0" y="0"/>
            <a:ext cx="219456" cy="6858000"/>
          </a:xfrm>
          <a:prstGeom prst="rect">
            <a:avLst/>
          </a:prstGeom>
          <a:solidFill>
            <a:srgbClr val="7ACFC0"/>
          </a:solidFill>
          <a:ln w="12700" cap="flat" cmpd="sng">
            <a:solidFill>
              <a:srgbClr val="7ACF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6" name="Google Shape;36;p1"/>
          <p:cNvSpPr/>
          <p:nvPr/>
        </p:nvSpPr>
        <p:spPr>
          <a:xfrm>
            <a:off x="731520" y="487680"/>
            <a:ext cx="1755648" cy="799795"/>
          </a:xfrm>
          <a:prstGeom prst="roundRect">
            <a:avLst>
              <a:gd name="adj" fmla="val 12195"/>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pic>
        <p:nvPicPr>
          <p:cNvPr id="37" name="Google Shape;37;p1" descr="logo.png"/>
          <p:cNvPicPr preferRelativeResize="0"/>
          <p:nvPr/>
        </p:nvPicPr>
        <p:blipFill rotWithShape="1">
          <a:blip r:embed="rId2">
            <a:alphaModFix/>
          </a:blip>
          <a:srcRect/>
          <a:stretch/>
        </p:blipFill>
        <p:spPr>
          <a:xfrm>
            <a:off x="914400" y="609600"/>
            <a:ext cx="1389888" cy="555955"/>
          </a:xfrm>
          <a:prstGeom prst="rect">
            <a:avLst/>
          </a:prstGeom>
          <a:noFill/>
          <a:ln>
            <a:noFill/>
          </a:ln>
        </p:spPr>
      </p:pic>
      <p:sp>
        <p:nvSpPr>
          <p:cNvPr id="38" name="Google Shape;38;p1"/>
          <p:cNvSpPr/>
          <p:nvPr/>
        </p:nvSpPr>
        <p:spPr>
          <a:xfrm>
            <a:off x="9022080" y="548640"/>
            <a:ext cx="2560320" cy="414528"/>
          </a:xfrm>
          <a:prstGeom prst="rect">
            <a:avLst/>
          </a:prstGeom>
          <a:solidFill>
            <a:srgbClr val="6B3FA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67" b="1" i="0" u="none" strike="noStrike" cap="none">
                <a:solidFill>
                  <a:srgbClr val="FFFFFF"/>
                </a:solidFill>
                <a:latin typeface="Calibri"/>
                <a:ea typeface="Calibri"/>
                <a:cs typeface="Calibri"/>
                <a:sym typeface="Calibri"/>
              </a:rPr>
              <a:t>LIVRABLE 3</a:t>
            </a:r>
            <a:endParaRPr sz="1467" b="0" i="0" u="none" strike="noStrike" cap="none">
              <a:solidFill>
                <a:srgbClr val="000000"/>
              </a:solidFill>
              <a:latin typeface="Calibri"/>
              <a:ea typeface="Calibri"/>
              <a:cs typeface="Calibri"/>
              <a:sym typeface="Calibri"/>
            </a:endParaRPr>
          </a:p>
        </p:txBody>
      </p:sp>
      <p:sp>
        <p:nvSpPr>
          <p:cNvPr id="39" name="Google Shape;39;p1"/>
          <p:cNvSpPr/>
          <p:nvPr/>
        </p:nvSpPr>
        <p:spPr>
          <a:xfrm>
            <a:off x="682752" y="1575816"/>
            <a:ext cx="9753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67" b="1" i="0" u="none" strike="noStrike" cap="none">
                <a:solidFill>
                  <a:srgbClr val="B39DDB"/>
                </a:solidFill>
                <a:latin typeface="Calibri"/>
                <a:ea typeface="Calibri"/>
                <a:cs typeface="Calibri"/>
                <a:sym typeface="Calibri"/>
              </a:rPr>
              <a:t> ANNÉE UNIVERSITAIRE 2026/2027</a:t>
            </a:r>
            <a:endParaRPr sz="1467" b="0" i="0" u="none" strike="noStrike" cap="none">
              <a:solidFill>
                <a:srgbClr val="000000"/>
              </a:solidFill>
              <a:latin typeface="Calibri"/>
              <a:ea typeface="Calibri"/>
              <a:cs typeface="Calibri"/>
              <a:sym typeface="Calibri"/>
            </a:endParaRPr>
          </a:p>
        </p:txBody>
      </p:sp>
      <p:sp>
        <p:nvSpPr>
          <p:cNvPr id="40" name="Google Shape;40;p1"/>
          <p:cNvSpPr/>
          <p:nvPr/>
        </p:nvSpPr>
        <p:spPr>
          <a:xfrm>
            <a:off x="731520" y="2072640"/>
            <a:ext cx="9997440" cy="182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867" b="1" i="0" u="none" strike="noStrike" cap="none" dirty="0">
                <a:solidFill>
                  <a:srgbClr val="7ACFC0"/>
                </a:solidFill>
                <a:latin typeface="Calibri"/>
                <a:ea typeface="Calibri"/>
                <a:cs typeface="Calibri"/>
                <a:sym typeface="Calibri"/>
              </a:rPr>
              <a:t>MERCI</a:t>
            </a:r>
            <a:endParaRPr sz="5867"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3733" b="0" i="0" u="none" strike="noStrike" cap="none" dirty="0" err="1">
                <a:solidFill>
                  <a:srgbClr val="FFFFFF"/>
                </a:solidFill>
                <a:latin typeface="Calibri"/>
                <a:ea typeface="Calibri"/>
                <a:cs typeface="Calibri"/>
                <a:sym typeface="Calibri"/>
              </a:rPr>
              <a:t>Des questions ?</a:t>
            </a:r>
            <a:endParaRPr sz="5867" b="0" i="0" u="none" strike="noStrike" cap="none" dirty="0">
              <a:solidFill>
                <a:srgbClr val="000000"/>
              </a:solidFill>
              <a:latin typeface="Calibri"/>
              <a:ea typeface="Calibri"/>
              <a:cs typeface="Calibri"/>
              <a:sym typeface="Calibri"/>
            </a:endParaRPr>
          </a:p>
        </p:txBody>
      </p:sp>
      <p:sp>
        <p:nvSpPr>
          <p:cNvPr id="41" name="Google Shape;41;p1"/>
          <p:cNvSpPr/>
          <p:nvPr/>
        </p:nvSpPr>
        <p:spPr>
          <a:xfrm>
            <a:off x="731520" y="3962400"/>
            <a:ext cx="7802880" cy="4267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67" b="0" i="0" u="none" strike="noStrike" cap="none" dirty="0">
                <a:solidFill>
                  <a:srgbClr val="C9D1E0"/>
                </a:solidFill>
                <a:latin typeface="Calibri"/>
                <a:ea typeface="Calibri"/>
                <a:cs typeface="Calibri"/>
                <a:sym typeface="Calibri"/>
              </a:rPr>
              <a:t>Planification des </a:t>
            </a:r>
            <a:r>
              <a:rPr lang="en-US" sz="1867" b="0" i="0" u="none" strike="noStrike" cap="none" dirty="0" err="1">
                <a:solidFill>
                  <a:srgbClr val="C9D1E0"/>
                </a:solidFill>
                <a:latin typeface="Calibri"/>
                <a:ea typeface="Calibri"/>
                <a:cs typeface="Calibri"/>
                <a:sym typeface="Calibri"/>
              </a:rPr>
              <a:t>ressources</a:t>
            </a:r>
            <a:r>
              <a:rPr lang="en-US" sz="1867" b="0" i="0" u="none" strike="noStrike" cap="none" dirty="0">
                <a:solidFill>
                  <a:srgbClr val="C9D1E0"/>
                </a:solidFill>
                <a:latin typeface="Calibri"/>
                <a:ea typeface="Calibri"/>
                <a:cs typeface="Calibri"/>
                <a:sym typeface="Calibri"/>
              </a:rPr>
              <a:t> </a:t>
            </a:r>
            <a:r>
              <a:rPr lang="en-US" sz="1867" b="0" i="0" u="none" strike="noStrike" cap="none" dirty="0" err="1">
                <a:solidFill>
                  <a:srgbClr val="C9D1E0"/>
                </a:solidFill>
                <a:latin typeface="Calibri"/>
                <a:ea typeface="Calibri"/>
                <a:cs typeface="Calibri"/>
                <a:sym typeface="Calibri"/>
              </a:rPr>
              <a:t>humaines</a:t>
            </a:r>
            <a:r>
              <a:rPr lang="en-US" sz="1867" b="0" i="0" u="none" strike="noStrike" cap="none" dirty="0">
                <a:solidFill>
                  <a:srgbClr val="C9D1E0"/>
                </a:solidFill>
                <a:latin typeface="Calibri"/>
                <a:ea typeface="Calibri"/>
                <a:cs typeface="Calibri"/>
                <a:sym typeface="Calibri"/>
              </a:rPr>
              <a:t> et </a:t>
            </a:r>
            <a:r>
              <a:rPr lang="en-US" sz="1867" b="0" i="0" u="none" strike="noStrike" cap="none" dirty="0" err="1">
                <a:solidFill>
                  <a:srgbClr val="C9D1E0"/>
                </a:solidFill>
                <a:latin typeface="Calibri"/>
                <a:ea typeface="Calibri"/>
                <a:cs typeface="Calibri"/>
                <a:sym typeface="Calibri"/>
              </a:rPr>
              <a:t>équipements</a:t>
            </a:r>
            <a:r>
              <a:rPr lang="en-US" sz="1867" b="0" i="0" u="none" strike="noStrike" cap="none" dirty="0">
                <a:solidFill>
                  <a:srgbClr val="C9D1E0"/>
                </a:solidFill>
                <a:latin typeface="Calibri"/>
                <a:ea typeface="Calibri"/>
                <a:cs typeface="Calibri"/>
                <a:sym typeface="Calibri"/>
              </a:rPr>
              <a:t>, sous-processus</a:t>
            </a:r>
            <a:endParaRPr sz="1867" b="0" i="0" u="none" strike="noStrike" cap="none" dirty="0">
              <a:solidFill>
                <a:srgbClr val="000000"/>
              </a:solidFill>
              <a:latin typeface="Calibri"/>
              <a:ea typeface="Calibri"/>
              <a:cs typeface="Calibri"/>
              <a:sym typeface="Calibri"/>
            </a:endParaRPr>
          </a:p>
        </p:txBody>
      </p:sp>
      <p:cxnSp>
        <p:nvCxnSpPr>
          <p:cNvPr id="42" name="Google Shape;42;p1"/>
          <p:cNvCxnSpPr/>
          <p:nvPr/>
        </p:nvCxnSpPr>
        <p:spPr>
          <a:xfrm>
            <a:off x="731520" y="4632960"/>
            <a:ext cx="7559040" cy="0"/>
          </a:xfrm>
          <a:prstGeom prst="straightConnector1">
            <a:avLst/>
          </a:prstGeom>
          <a:noFill/>
          <a:ln w="12700" cap="flat" cmpd="sng">
            <a:solidFill>
              <a:srgbClr val="3A4A6E"/>
            </a:solidFill>
            <a:prstDash val="solid"/>
            <a:round/>
            <a:headEnd type="none" w="sm" len="sm"/>
            <a:tailEnd type="none" w="sm" len="sm"/>
          </a:ln>
        </p:spPr>
      </p:cxnSp>
      <p:sp>
        <p:nvSpPr>
          <p:cNvPr id="43" name="Google Shape;43;p1"/>
          <p:cNvSpPr/>
          <p:nvPr/>
        </p:nvSpPr>
        <p:spPr>
          <a:xfrm>
            <a:off x="731520" y="4815840"/>
            <a:ext cx="3657600" cy="304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33" b="1" i="0" u="none" strike="noStrike" cap="none">
                <a:solidFill>
                  <a:srgbClr val="7ACFC0"/>
                </a:solidFill>
                <a:latin typeface="Calibri"/>
                <a:ea typeface="Calibri"/>
                <a:cs typeface="Calibri"/>
                <a:sym typeface="Calibri"/>
              </a:rPr>
              <a:t>ÉQUIPE 15</a:t>
            </a:r>
            <a:endParaRPr sz="1333" b="0" i="0" u="none" strike="noStrike" cap="none">
              <a:solidFill>
                <a:srgbClr val="000000"/>
              </a:solidFill>
              <a:latin typeface="Calibri"/>
              <a:ea typeface="Calibri"/>
              <a:cs typeface="Calibri"/>
              <a:sym typeface="Calibri"/>
            </a:endParaRPr>
          </a:p>
        </p:txBody>
      </p:sp>
      <p:sp>
        <p:nvSpPr>
          <p:cNvPr id="44" name="Google Shape;44;p1"/>
          <p:cNvSpPr/>
          <p:nvPr/>
        </p:nvSpPr>
        <p:spPr>
          <a:xfrm>
            <a:off x="731520" y="5181600"/>
            <a:ext cx="4023360" cy="1158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EL WARDI </a:t>
            </a:r>
            <a:r>
              <a:rPr lang="en-US" sz="1867" b="0" i="0" u="none" strike="noStrike" cap="none" dirty="0" err="1">
                <a:solidFill>
                  <a:srgbClr val="FFFFFF"/>
                </a:solidFill>
                <a:latin typeface="Calibri"/>
                <a:ea typeface="Calibri"/>
                <a:cs typeface="Calibri"/>
                <a:sym typeface="Calibri"/>
              </a:rPr>
              <a:t>Noha</a:t>
            </a:r>
            <a:endParaRPr sz="1867"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BENYAACOUB Ibrahim</a:t>
            </a:r>
            <a:endParaRPr sz="1867" b="0" i="0" u="none" strike="noStrike" cap="none" dirty="0">
              <a:solidFill>
                <a:srgbClr val="000000"/>
              </a:solidFill>
              <a:latin typeface="Calibri"/>
              <a:ea typeface="Calibri"/>
              <a:cs typeface="Calibri"/>
              <a:sym typeface="Calibri"/>
            </a:endParaRPr>
          </a:p>
        </p:txBody>
      </p:sp>
      <p:sp>
        <p:nvSpPr>
          <p:cNvPr id="45" name="Google Shape;45;p1"/>
          <p:cNvSpPr/>
          <p:nvPr/>
        </p:nvSpPr>
        <p:spPr>
          <a:xfrm>
            <a:off x="5120640" y="4815840"/>
            <a:ext cx="3169920" cy="304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33" b="1" i="0" u="none" strike="noStrike" cap="none">
                <a:solidFill>
                  <a:srgbClr val="7ACFC0"/>
                </a:solidFill>
                <a:latin typeface="Calibri"/>
                <a:ea typeface="Calibri"/>
                <a:cs typeface="Calibri"/>
                <a:sym typeface="Calibri"/>
              </a:rPr>
              <a:t>ENCADRANT</a:t>
            </a:r>
            <a:endParaRPr sz="1333" b="0" i="0" u="none" strike="noStrike" cap="none">
              <a:solidFill>
                <a:srgbClr val="000000"/>
              </a:solidFill>
              <a:latin typeface="Calibri"/>
              <a:ea typeface="Calibri"/>
              <a:cs typeface="Calibri"/>
              <a:sym typeface="Calibri"/>
            </a:endParaRPr>
          </a:p>
        </p:txBody>
      </p:sp>
      <p:sp>
        <p:nvSpPr>
          <p:cNvPr id="46" name="Google Shape;46;p1"/>
          <p:cNvSpPr/>
          <p:nvPr/>
        </p:nvSpPr>
        <p:spPr>
          <a:xfrm>
            <a:off x="5120640" y="5181600"/>
            <a:ext cx="3169920" cy="4267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Monsieur BELKHAYAT Najib</a:t>
            </a:r>
            <a:endParaRPr sz="1867"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781836"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PLAN</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Plan de la présentation</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55648"/>
            <a:ext cx="868680" cy="768096"/>
          </a:xfrm>
          <a:prstGeom prst="roundRect">
            <a:avLst>
              <a:gd name="adj" fmla="val 14285"/>
            </a:avLst>
          </a:prstGeom>
          <a:solidFill>
            <a:srgbClr val="6B7390"/>
          </a:solidFill>
          <a:ln>
            <a:noFill/>
          </a:ln>
        </p:spPr>
        <p:txBody>
          <a:bodyPr rtlCol="0" anchor="ctr"/>
          <a:lstStyle/>
          <a:p>
            <a:pPr algn="ctr"/>
          </a:p>
        </p:txBody>
      </p:sp>
      <p:sp>
        <p:nvSpPr>
          <p:cNvPr id="114" name="TextBox 113"/>
          <p:cNvSpPr txBox="1"/>
          <p:nvPr/>
        </p:nvSpPr>
        <p:spPr>
          <a:xfrm>
            <a:off x="694944" y="1755648"/>
            <a:ext cx="868680" cy="768096"/>
          </a:xfrm>
          <a:prstGeom prst="rect">
            <a:avLst/>
          </a:prstGeom>
          <a:noFill/>
        </p:spPr>
        <p:txBody>
          <a:bodyPr wrap="square" lIns="0" tIns="0" rIns="0" bIns="0" anchor="ctr">
            <a:noAutofit/>
          </a:bodyPr>
          <a:lstStyle/>
          <a:p>
            <a:pPr algn="ctr">
              <a:lnSpc>
                <a:spcPct val="115000"/>
              </a:lnSpc>
              <a:spcBef>
                <a:spcPts val="0"/>
              </a:spcBef>
              <a:spcAft>
                <a:spcPts val="0"/>
              </a:spcAft>
            </a:pPr>
            <a:r>
              <a:rPr sz="2800" b="1" i="0">
                <a:solidFill>
                  <a:srgbClr val="FFFFFF"/>
                </a:solidFill>
                <a:latin typeface="Sora"/>
              </a:rPr>
              <a:t>0</a:t>
            </a:r>
          </a:p>
        </p:txBody>
      </p:sp>
      <p:sp>
        <p:nvSpPr>
          <p:cNvPr id="115" name="Rounded Rectangle 114"/>
          <p:cNvSpPr/>
          <p:nvPr/>
        </p:nvSpPr>
        <p:spPr>
          <a:xfrm>
            <a:off x="1645920" y="1755648"/>
            <a:ext cx="9848088" cy="768096"/>
          </a:xfrm>
          <a:prstGeom prst="roundRect">
            <a:avLst>
              <a:gd name="adj" fmla="val 19845"/>
            </a:avLst>
          </a:prstGeom>
          <a:solidFill>
            <a:srgbClr val="FFFFFF"/>
          </a:solidFill>
          <a:ln>
            <a:noFill/>
          </a:ln>
        </p:spPr>
        <p:txBody>
          <a:bodyPr rtlCol="0" anchor="ctr"/>
          <a:lstStyle/>
          <a:p>
            <a:pPr algn="ctr"/>
          </a:p>
        </p:txBody>
      </p:sp>
      <p:sp>
        <p:nvSpPr>
          <p:cNvPr id="116" name="TextBox 115"/>
          <p:cNvSpPr txBox="1"/>
          <p:nvPr/>
        </p:nvSpPr>
        <p:spPr>
          <a:xfrm>
            <a:off x="1920240" y="1847088"/>
            <a:ext cx="67665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CONTEXTE</a:t>
            </a:r>
          </a:p>
        </p:txBody>
      </p:sp>
      <p:sp>
        <p:nvSpPr>
          <p:cNvPr id="117" name="TextBox 116"/>
          <p:cNvSpPr txBox="1"/>
          <p:nvPr/>
        </p:nvSpPr>
        <p:spPr>
          <a:xfrm>
            <a:off x="1920240" y="2176272"/>
            <a:ext cx="676656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Supply chain, processus, objectifs et cas d’utilisation</a:t>
            </a:r>
          </a:p>
        </p:txBody>
      </p:sp>
      <p:sp>
        <p:nvSpPr>
          <p:cNvPr id="118" name="Rounded Rectangle 117"/>
          <p:cNvSpPr/>
          <p:nvPr/>
        </p:nvSpPr>
        <p:spPr>
          <a:xfrm>
            <a:off x="9235440" y="1993392"/>
            <a:ext cx="2057400" cy="292608"/>
          </a:xfrm>
          <a:prstGeom prst="roundRect">
            <a:avLst>
              <a:gd name="adj" fmla="val 50000"/>
            </a:avLst>
          </a:prstGeom>
          <a:solidFill>
            <a:srgbClr val="F4F6FB"/>
          </a:solidFill>
          <a:ln>
            <a:noFill/>
          </a:ln>
        </p:spPr>
        <p:txBody>
          <a:bodyPr rtlCol="0" anchor="ctr" wrap="square" lIns="36576" tIns="0" rIns="36576" bIns="0">
            <a:noAutofit/>
          </a:bodyPr>
          <a:lstStyle/>
          <a:p>
            <a:pPr algn="ctr">
              <a:lnSpc>
                <a:spcPct val="100000"/>
              </a:lnSpc>
              <a:spcBef>
                <a:spcPts val="0"/>
              </a:spcBef>
              <a:spcAft>
                <a:spcPts val="0"/>
              </a:spcAft>
            </a:pPr>
            <a:r>
              <a:rPr sz="1150" b="1" i="0">
                <a:solidFill>
                  <a:srgbClr val="1B2A4A"/>
                </a:solidFill>
                <a:latin typeface="DM Sans"/>
              </a:rPr>
              <a:t>Diapositives 3 à 12</a:t>
            </a:r>
          </a:p>
        </p:txBody>
      </p:sp>
      <p:sp>
        <p:nvSpPr>
          <p:cNvPr id="119" name="Rounded Rectangle 118"/>
          <p:cNvSpPr/>
          <p:nvPr/>
        </p:nvSpPr>
        <p:spPr>
          <a:xfrm>
            <a:off x="694944" y="2633472"/>
            <a:ext cx="868680" cy="768096"/>
          </a:xfrm>
          <a:prstGeom prst="roundRect">
            <a:avLst>
              <a:gd name="adj" fmla="val 14285"/>
            </a:avLst>
          </a:prstGeom>
          <a:solidFill>
            <a:srgbClr val="4A9BE0"/>
          </a:solidFill>
          <a:ln>
            <a:noFill/>
          </a:ln>
        </p:spPr>
        <p:txBody>
          <a:bodyPr rtlCol="0" anchor="ctr"/>
          <a:lstStyle/>
          <a:p>
            <a:pPr algn="ctr"/>
          </a:p>
        </p:txBody>
      </p:sp>
      <p:sp>
        <p:nvSpPr>
          <p:cNvPr id="120" name="TextBox 119"/>
          <p:cNvSpPr txBox="1"/>
          <p:nvPr/>
        </p:nvSpPr>
        <p:spPr>
          <a:xfrm>
            <a:off x="694944" y="2633472"/>
            <a:ext cx="868680" cy="768096"/>
          </a:xfrm>
          <a:prstGeom prst="rect">
            <a:avLst/>
          </a:prstGeom>
          <a:noFill/>
        </p:spPr>
        <p:txBody>
          <a:bodyPr wrap="square" lIns="0" tIns="0" rIns="0" bIns="0" anchor="ctr">
            <a:noAutofit/>
          </a:bodyPr>
          <a:lstStyle/>
          <a:p>
            <a:pPr algn="ctr">
              <a:lnSpc>
                <a:spcPct val="115000"/>
              </a:lnSpc>
              <a:spcBef>
                <a:spcPts val="0"/>
              </a:spcBef>
              <a:spcAft>
                <a:spcPts val="0"/>
              </a:spcAft>
            </a:pPr>
            <a:r>
              <a:rPr sz="2800" b="1" i="0">
                <a:solidFill>
                  <a:srgbClr val="1B2A4A"/>
                </a:solidFill>
                <a:latin typeface="Sora"/>
              </a:rPr>
              <a:t>1</a:t>
            </a:r>
          </a:p>
        </p:txBody>
      </p:sp>
      <p:sp>
        <p:nvSpPr>
          <p:cNvPr id="121" name="Rounded Rectangle 120"/>
          <p:cNvSpPr/>
          <p:nvPr/>
        </p:nvSpPr>
        <p:spPr>
          <a:xfrm>
            <a:off x="1645920" y="2633472"/>
            <a:ext cx="9848088" cy="768096"/>
          </a:xfrm>
          <a:prstGeom prst="roundRect">
            <a:avLst>
              <a:gd name="adj" fmla="val 19845"/>
            </a:avLst>
          </a:prstGeom>
          <a:solidFill>
            <a:srgbClr val="FFFFFF"/>
          </a:solidFill>
          <a:ln>
            <a:noFill/>
          </a:ln>
        </p:spPr>
        <p:txBody>
          <a:bodyPr rtlCol="0" anchor="ctr"/>
          <a:lstStyle/>
          <a:p>
            <a:pPr algn="ctr"/>
          </a:p>
        </p:txBody>
      </p:sp>
      <p:sp>
        <p:nvSpPr>
          <p:cNvPr id="122" name="TextBox 121"/>
          <p:cNvSpPr txBox="1"/>
          <p:nvPr/>
        </p:nvSpPr>
        <p:spPr>
          <a:xfrm>
            <a:off x="1920240" y="2724912"/>
            <a:ext cx="67665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MODÈLES</a:t>
            </a:r>
          </a:p>
        </p:txBody>
      </p:sp>
      <p:sp>
        <p:nvSpPr>
          <p:cNvPr id="123" name="TextBox 122"/>
          <p:cNvSpPr txBox="1"/>
          <p:nvPr/>
        </p:nvSpPr>
        <p:spPr>
          <a:xfrm>
            <a:off x="1920240" y="3054096"/>
            <a:ext cx="676656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Comparaison des modèles et choix du gradient boosting</a:t>
            </a:r>
          </a:p>
        </p:txBody>
      </p:sp>
      <p:sp>
        <p:nvSpPr>
          <p:cNvPr id="124" name="Rounded Rectangle 123"/>
          <p:cNvSpPr/>
          <p:nvPr/>
        </p:nvSpPr>
        <p:spPr>
          <a:xfrm>
            <a:off x="9235440" y="2871216"/>
            <a:ext cx="2057400" cy="292608"/>
          </a:xfrm>
          <a:prstGeom prst="roundRect">
            <a:avLst>
              <a:gd name="adj" fmla="val 50000"/>
            </a:avLst>
          </a:prstGeom>
          <a:solidFill>
            <a:srgbClr val="F4F6FB"/>
          </a:solidFill>
          <a:ln>
            <a:noFill/>
          </a:ln>
        </p:spPr>
        <p:txBody>
          <a:bodyPr rtlCol="0" anchor="ctr" wrap="square" lIns="36576" tIns="0" rIns="36576" bIns="0">
            <a:noAutofit/>
          </a:bodyPr>
          <a:lstStyle/>
          <a:p>
            <a:pPr algn="ctr">
              <a:lnSpc>
                <a:spcPct val="100000"/>
              </a:lnSpc>
              <a:spcBef>
                <a:spcPts val="0"/>
              </a:spcBef>
              <a:spcAft>
                <a:spcPts val="0"/>
              </a:spcAft>
            </a:pPr>
            <a:r>
              <a:rPr sz="1150" b="1" i="0">
                <a:solidFill>
                  <a:srgbClr val="1B2A4A"/>
                </a:solidFill>
                <a:latin typeface="DM Sans"/>
              </a:rPr>
              <a:t>Diapositives 13 à 14</a:t>
            </a:r>
          </a:p>
        </p:txBody>
      </p:sp>
      <p:sp>
        <p:nvSpPr>
          <p:cNvPr id="125" name="Rounded Rectangle 124"/>
          <p:cNvSpPr/>
          <p:nvPr/>
        </p:nvSpPr>
        <p:spPr>
          <a:xfrm>
            <a:off x="694944" y="3511296"/>
            <a:ext cx="868680" cy="768096"/>
          </a:xfrm>
          <a:prstGeom prst="roundRect">
            <a:avLst>
              <a:gd name="adj" fmla="val 14285"/>
            </a:avLst>
          </a:prstGeom>
          <a:solidFill>
            <a:srgbClr val="7ACFC0"/>
          </a:solidFill>
          <a:ln>
            <a:noFill/>
          </a:ln>
        </p:spPr>
        <p:txBody>
          <a:bodyPr rtlCol="0" anchor="ctr"/>
          <a:lstStyle/>
          <a:p>
            <a:pPr algn="ctr"/>
          </a:p>
        </p:txBody>
      </p:sp>
      <p:sp>
        <p:nvSpPr>
          <p:cNvPr id="126" name="TextBox 125"/>
          <p:cNvSpPr txBox="1"/>
          <p:nvPr/>
        </p:nvSpPr>
        <p:spPr>
          <a:xfrm>
            <a:off x="694944" y="3511296"/>
            <a:ext cx="868680" cy="768096"/>
          </a:xfrm>
          <a:prstGeom prst="rect">
            <a:avLst/>
          </a:prstGeom>
          <a:noFill/>
        </p:spPr>
        <p:txBody>
          <a:bodyPr wrap="square" lIns="0" tIns="0" rIns="0" bIns="0" anchor="ctr">
            <a:noAutofit/>
          </a:bodyPr>
          <a:lstStyle/>
          <a:p>
            <a:pPr algn="ctr">
              <a:lnSpc>
                <a:spcPct val="115000"/>
              </a:lnSpc>
              <a:spcBef>
                <a:spcPts val="0"/>
              </a:spcBef>
              <a:spcAft>
                <a:spcPts val="0"/>
              </a:spcAft>
            </a:pPr>
            <a:r>
              <a:rPr sz="2800" b="1" i="0">
                <a:solidFill>
                  <a:srgbClr val="1B2A4A"/>
                </a:solidFill>
                <a:latin typeface="Sora"/>
              </a:rPr>
              <a:t>2</a:t>
            </a:r>
          </a:p>
        </p:txBody>
      </p:sp>
      <p:sp>
        <p:nvSpPr>
          <p:cNvPr id="127" name="Rounded Rectangle 126"/>
          <p:cNvSpPr/>
          <p:nvPr/>
        </p:nvSpPr>
        <p:spPr>
          <a:xfrm>
            <a:off x="1645920" y="3511296"/>
            <a:ext cx="9848088" cy="768096"/>
          </a:xfrm>
          <a:prstGeom prst="roundRect">
            <a:avLst>
              <a:gd name="adj" fmla="val 19845"/>
            </a:avLst>
          </a:prstGeom>
          <a:solidFill>
            <a:srgbClr val="FFFFFF"/>
          </a:solidFill>
          <a:ln>
            <a:noFill/>
          </a:ln>
        </p:spPr>
        <p:txBody>
          <a:bodyPr rtlCol="0" anchor="ctr"/>
          <a:lstStyle/>
          <a:p>
            <a:pPr algn="ctr"/>
          </a:p>
        </p:txBody>
      </p:sp>
      <p:sp>
        <p:nvSpPr>
          <p:cNvPr id="128" name="TextBox 127"/>
          <p:cNvSpPr txBox="1"/>
          <p:nvPr/>
        </p:nvSpPr>
        <p:spPr>
          <a:xfrm>
            <a:off x="1920240" y="3602736"/>
            <a:ext cx="67665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AUTOMATISATION</a:t>
            </a:r>
          </a:p>
        </p:txBody>
      </p:sp>
      <p:sp>
        <p:nvSpPr>
          <p:cNvPr id="129" name="TextBox 128"/>
          <p:cNvSpPr txBox="1"/>
          <p:nvPr/>
        </p:nvSpPr>
        <p:spPr>
          <a:xfrm>
            <a:off x="1920240" y="3931920"/>
            <a:ext cx="676656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Douze tâches planifiées et workflow BPMN</a:t>
            </a:r>
          </a:p>
        </p:txBody>
      </p:sp>
      <p:sp>
        <p:nvSpPr>
          <p:cNvPr id="130" name="Rounded Rectangle 129"/>
          <p:cNvSpPr/>
          <p:nvPr/>
        </p:nvSpPr>
        <p:spPr>
          <a:xfrm>
            <a:off x="9235440" y="3749040"/>
            <a:ext cx="2057400" cy="292608"/>
          </a:xfrm>
          <a:prstGeom prst="roundRect">
            <a:avLst>
              <a:gd name="adj" fmla="val 50000"/>
            </a:avLst>
          </a:prstGeom>
          <a:solidFill>
            <a:srgbClr val="F4F6FB"/>
          </a:solidFill>
          <a:ln>
            <a:noFill/>
          </a:ln>
        </p:spPr>
        <p:txBody>
          <a:bodyPr rtlCol="0" anchor="ctr" wrap="square" lIns="36576" tIns="0" rIns="36576" bIns="0">
            <a:noAutofit/>
          </a:bodyPr>
          <a:lstStyle/>
          <a:p>
            <a:pPr algn="ctr">
              <a:lnSpc>
                <a:spcPct val="100000"/>
              </a:lnSpc>
              <a:spcBef>
                <a:spcPts val="0"/>
              </a:spcBef>
              <a:spcAft>
                <a:spcPts val="0"/>
              </a:spcAft>
            </a:pPr>
            <a:r>
              <a:rPr sz="1150" b="1" i="0">
                <a:solidFill>
                  <a:srgbClr val="1B2A4A"/>
                </a:solidFill>
                <a:latin typeface="DM Sans"/>
              </a:rPr>
              <a:t>Diapositives 15 à 19</a:t>
            </a:r>
          </a:p>
        </p:txBody>
      </p:sp>
      <p:sp>
        <p:nvSpPr>
          <p:cNvPr id="131" name="Rounded Rectangle 130"/>
          <p:cNvSpPr/>
          <p:nvPr/>
        </p:nvSpPr>
        <p:spPr>
          <a:xfrm>
            <a:off x="694944" y="4389120"/>
            <a:ext cx="868680" cy="768096"/>
          </a:xfrm>
          <a:prstGeom prst="roundRect">
            <a:avLst>
              <a:gd name="adj" fmla="val 14285"/>
            </a:avLst>
          </a:prstGeom>
          <a:solidFill>
            <a:srgbClr val="B39DDB"/>
          </a:solidFill>
          <a:ln>
            <a:noFill/>
          </a:ln>
        </p:spPr>
        <p:txBody>
          <a:bodyPr rtlCol="0" anchor="ctr"/>
          <a:lstStyle/>
          <a:p>
            <a:pPr algn="ctr"/>
          </a:p>
        </p:txBody>
      </p:sp>
      <p:sp>
        <p:nvSpPr>
          <p:cNvPr id="132" name="TextBox 131"/>
          <p:cNvSpPr txBox="1"/>
          <p:nvPr/>
        </p:nvSpPr>
        <p:spPr>
          <a:xfrm>
            <a:off x="694944" y="4389120"/>
            <a:ext cx="868680" cy="768096"/>
          </a:xfrm>
          <a:prstGeom prst="rect">
            <a:avLst/>
          </a:prstGeom>
          <a:noFill/>
        </p:spPr>
        <p:txBody>
          <a:bodyPr wrap="square" lIns="0" tIns="0" rIns="0" bIns="0" anchor="ctr">
            <a:noAutofit/>
          </a:bodyPr>
          <a:lstStyle/>
          <a:p>
            <a:pPr algn="ctr">
              <a:lnSpc>
                <a:spcPct val="115000"/>
              </a:lnSpc>
              <a:spcBef>
                <a:spcPts val="0"/>
              </a:spcBef>
              <a:spcAft>
                <a:spcPts val="0"/>
              </a:spcAft>
            </a:pPr>
            <a:r>
              <a:rPr sz="2800" b="1" i="0">
                <a:solidFill>
                  <a:srgbClr val="1B2A4A"/>
                </a:solidFill>
                <a:latin typeface="Sora"/>
              </a:rPr>
              <a:t>3</a:t>
            </a:r>
          </a:p>
        </p:txBody>
      </p:sp>
      <p:sp>
        <p:nvSpPr>
          <p:cNvPr id="133" name="Rounded Rectangle 132"/>
          <p:cNvSpPr/>
          <p:nvPr/>
        </p:nvSpPr>
        <p:spPr>
          <a:xfrm>
            <a:off x="1645920" y="4389120"/>
            <a:ext cx="9848088" cy="768096"/>
          </a:xfrm>
          <a:prstGeom prst="roundRect">
            <a:avLst>
              <a:gd name="adj" fmla="val 19845"/>
            </a:avLst>
          </a:prstGeom>
          <a:solidFill>
            <a:srgbClr val="FFFFFF"/>
          </a:solidFill>
          <a:ln>
            <a:noFill/>
          </a:ln>
        </p:spPr>
        <p:txBody>
          <a:bodyPr rtlCol="0" anchor="ctr"/>
          <a:lstStyle/>
          <a:p>
            <a:pPr algn="ctr"/>
          </a:p>
        </p:txBody>
      </p:sp>
      <p:sp>
        <p:nvSpPr>
          <p:cNvPr id="134" name="TextBox 133"/>
          <p:cNvSpPr txBox="1"/>
          <p:nvPr/>
        </p:nvSpPr>
        <p:spPr>
          <a:xfrm>
            <a:off x="1920240" y="4480560"/>
            <a:ext cx="67665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BOTTOM LINE</a:t>
            </a:r>
          </a:p>
        </p:txBody>
      </p:sp>
      <p:sp>
        <p:nvSpPr>
          <p:cNvPr id="135" name="TextBox 134"/>
          <p:cNvSpPr txBox="1"/>
          <p:nvPr/>
        </p:nvSpPr>
        <p:spPr>
          <a:xfrm>
            <a:off x="1920240" y="4809744"/>
            <a:ext cx="676656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Impact mesuré face à un planning reconduit chaque semaine</a:t>
            </a:r>
          </a:p>
        </p:txBody>
      </p:sp>
      <p:sp>
        <p:nvSpPr>
          <p:cNvPr id="136" name="Rounded Rectangle 135"/>
          <p:cNvSpPr/>
          <p:nvPr/>
        </p:nvSpPr>
        <p:spPr>
          <a:xfrm>
            <a:off x="9235440" y="4626864"/>
            <a:ext cx="2057400" cy="292608"/>
          </a:xfrm>
          <a:prstGeom prst="roundRect">
            <a:avLst>
              <a:gd name="adj" fmla="val 50000"/>
            </a:avLst>
          </a:prstGeom>
          <a:solidFill>
            <a:srgbClr val="F4F6FB"/>
          </a:solidFill>
          <a:ln>
            <a:noFill/>
          </a:ln>
        </p:spPr>
        <p:txBody>
          <a:bodyPr rtlCol="0" anchor="ctr" wrap="square" lIns="36576" tIns="0" rIns="36576" bIns="0">
            <a:noAutofit/>
          </a:bodyPr>
          <a:lstStyle/>
          <a:p>
            <a:pPr algn="ctr">
              <a:lnSpc>
                <a:spcPct val="100000"/>
              </a:lnSpc>
              <a:spcBef>
                <a:spcPts val="0"/>
              </a:spcBef>
              <a:spcAft>
                <a:spcPts val="0"/>
              </a:spcAft>
            </a:pPr>
            <a:r>
              <a:rPr sz="1150" b="1" i="0">
                <a:solidFill>
                  <a:srgbClr val="1B2A4A"/>
                </a:solidFill>
                <a:latin typeface="DM Sans"/>
              </a:rPr>
              <a:t>Diapositives 20 à 21</a:t>
            </a:r>
          </a:p>
        </p:txBody>
      </p:sp>
      <p:sp>
        <p:nvSpPr>
          <p:cNvPr id="137" name="Rounded Rectangle 136"/>
          <p:cNvSpPr/>
          <p:nvPr/>
        </p:nvSpPr>
        <p:spPr>
          <a:xfrm>
            <a:off x="694944" y="5266944"/>
            <a:ext cx="868680" cy="768096"/>
          </a:xfrm>
          <a:prstGeom prst="roundRect">
            <a:avLst>
              <a:gd name="adj" fmla="val 14285"/>
            </a:avLst>
          </a:prstGeom>
          <a:solidFill>
            <a:srgbClr val="6B3FA0"/>
          </a:solidFill>
          <a:ln>
            <a:noFill/>
          </a:ln>
        </p:spPr>
        <p:txBody>
          <a:bodyPr rtlCol="0" anchor="ctr"/>
          <a:lstStyle/>
          <a:p>
            <a:pPr algn="ctr"/>
          </a:p>
        </p:txBody>
      </p:sp>
      <p:sp>
        <p:nvSpPr>
          <p:cNvPr id="138" name="TextBox 137"/>
          <p:cNvSpPr txBox="1"/>
          <p:nvPr/>
        </p:nvSpPr>
        <p:spPr>
          <a:xfrm>
            <a:off x="694944" y="5266944"/>
            <a:ext cx="868680" cy="768096"/>
          </a:xfrm>
          <a:prstGeom prst="rect">
            <a:avLst/>
          </a:prstGeom>
          <a:noFill/>
        </p:spPr>
        <p:txBody>
          <a:bodyPr wrap="square" lIns="0" tIns="0" rIns="0" bIns="0" anchor="ctr">
            <a:noAutofit/>
          </a:bodyPr>
          <a:lstStyle/>
          <a:p>
            <a:pPr algn="ctr">
              <a:lnSpc>
                <a:spcPct val="115000"/>
              </a:lnSpc>
              <a:spcBef>
                <a:spcPts val="0"/>
              </a:spcBef>
              <a:spcAft>
                <a:spcPts val="0"/>
              </a:spcAft>
            </a:pPr>
            <a:r>
              <a:rPr sz="2800" b="1" i="0">
                <a:solidFill>
                  <a:srgbClr val="FFFFFF"/>
                </a:solidFill>
                <a:latin typeface="Sora"/>
              </a:rPr>
              <a:t>4</a:t>
            </a:r>
          </a:p>
        </p:txBody>
      </p:sp>
      <p:sp>
        <p:nvSpPr>
          <p:cNvPr id="139" name="Rounded Rectangle 138"/>
          <p:cNvSpPr/>
          <p:nvPr/>
        </p:nvSpPr>
        <p:spPr>
          <a:xfrm>
            <a:off x="1645920" y="5266944"/>
            <a:ext cx="9848088" cy="768096"/>
          </a:xfrm>
          <a:prstGeom prst="roundRect">
            <a:avLst>
              <a:gd name="adj" fmla="val 19845"/>
            </a:avLst>
          </a:prstGeom>
          <a:solidFill>
            <a:srgbClr val="FFFFFF"/>
          </a:solidFill>
          <a:ln>
            <a:noFill/>
          </a:ln>
        </p:spPr>
        <p:txBody>
          <a:bodyPr rtlCol="0" anchor="ctr"/>
          <a:lstStyle/>
          <a:p>
            <a:pPr algn="ctr"/>
          </a:p>
        </p:txBody>
      </p:sp>
      <p:sp>
        <p:nvSpPr>
          <p:cNvPr id="140" name="TextBox 139"/>
          <p:cNvSpPr txBox="1"/>
          <p:nvPr/>
        </p:nvSpPr>
        <p:spPr>
          <a:xfrm>
            <a:off x="1920240" y="5358384"/>
            <a:ext cx="67665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AGENTIC AI</a:t>
            </a:r>
          </a:p>
        </p:txBody>
      </p:sp>
      <p:sp>
        <p:nvSpPr>
          <p:cNvPr id="141" name="TextBox 140"/>
          <p:cNvSpPr txBox="1"/>
          <p:nvPr/>
        </p:nvSpPr>
        <p:spPr>
          <a:xfrm>
            <a:off x="1920240" y="5687568"/>
            <a:ext cx="676656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Planificateur autonome, bilan, agents IA, outil RAG et message Slack</a:t>
            </a:r>
          </a:p>
        </p:txBody>
      </p:sp>
      <p:sp>
        <p:nvSpPr>
          <p:cNvPr id="142" name="Rounded Rectangle 141"/>
          <p:cNvSpPr/>
          <p:nvPr/>
        </p:nvSpPr>
        <p:spPr>
          <a:xfrm>
            <a:off x="9235440" y="5504688"/>
            <a:ext cx="2057400" cy="292608"/>
          </a:xfrm>
          <a:prstGeom prst="roundRect">
            <a:avLst>
              <a:gd name="adj" fmla="val 50000"/>
            </a:avLst>
          </a:prstGeom>
          <a:solidFill>
            <a:srgbClr val="F4F6FB"/>
          </a:solidFill>
          <a:ln>
            <a:noFill/>
          </a:ln>
        </p:spPr>
        <p:txBody>
          <a:bodyPr rtlCol="0" anchor="ctr" wrap="square" lIns="36576" tIns="0" rIns="36576" bIns="0">
            <a:noAutofit/>
          </a:bodyPr>
          <a:lstStyle/>
          <a:p>
            <a:pPr algn="ctr">
              <a:lnSpc>
                <a:spcPct val="100000"/>
              </a:lnSpc>
              <a:spcBef>
                <a:spcPts val="0"/>
              </a:spcBef>
              <a:spcAft>
                <a:spcPts val="0"/>
              </a:spcAft>
            </a:pPr>
            <a:r>
              <a:rPr sz="1150" b="1" i="0">
                <a:solidFill>
                  <a:srgbClr val="1B2A4A"/>
                </a:solidFill>
                <a:latin typeface="DM Sans"/>
              </a:rPr>
              <a:t>Diapositives 22 à 35</a:t>
            </a:r>
          </a:p>
        </p:txBody>
      </p:sp>
      <p:sp>
        <p:nvSpPr>
          <p:cNvPr id="143" name="Rectangle 142"/>
          <p:cNvSpPr/>
          <p:nvPr/>
        </p:nvSpPr>
        <p:spPr>
          <a:xfrm>
            <a:off x="694944" y="6199632"/>
            <a:ext cx="10799064" cy="18288"/>
          </a:xfrm>
          <a:prstGeom prst="rect">
            <a:avLst/>
          </a:prstGeom>
          <a:solidFill>
            <a:srgbClr val="D5DAE8"/>
          </a:solidFill>
          <a:ln>
            <a:noFill/>
          </a:ln>
        </p:spPr>
        <p:txBody>
          <a:bodyPr rtlCol="0" anchor="ctr"/>
          <a:lstStyle/>
          <a:p>
            <a:pPr algn="ctr"/>
          </a:p>
        </p:txBody>
      </p:sp>
      <p:sp>
        <p:nvSpPr>
          <p:cNvPr id="144" name="TextBox 143"/>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Le bilan (diapositives 36 et 37) reprend ce qui est atteint, les limites et les prochaines étapes.</a:t>
            </a:r>
          </a:p>
        </p:txBody>
      </p:sp>
      <p:sp>
        <p:nvSpPr>
          <p:cNvPr id="145" name="Rectangle 144"/>
          <p:cNvSpPr/>
          <p:nvPr/>
        </p:nvSpPr>
        <p:spPr>
          <a:xfrm>
            <a:off x="155448" y="6803136"/>
            <a:ext cx="12036247" cy="54864"/>
          </a:xfrm>
          <a:prstGeom prst="rect">
            <a:avLst/>
          </a:prstGeom>
          <a:solidFill>
            <a:srgbClr val="E1E6F2"/>
          </a:solidFill>
          <a:ln>
            <a:noFill/>
          </a:ln>
        </p:spPr>
        <p:txBody>
          <a:bodyPr rtlCol="0" anchor="ctr"/>
          <a:lstStyle/>
          <a:p>
            <a:pPr algn="ctr"/>
          </a:p>
        </p:txBody>
      </p:sp>
      <p:sp>
        <p:nvSpPr>
          <p:cNvPr id="146" name="Rectangle 145"/>
          <p:cNvSpPr/>
          <p:nvPr/>
        </p:nvSpPr>
        <p:spPr>
          <a:xfrm>
            <a:off x="155448" y="6803136"/>
            <a:ext cx="633487" cy="54864"/>
          </a:xfrm>
          <a:prstGeom prst="rect">
            <a:avLst/>
          </a:prstGeom>
          <a:solidFill>
            <a:srgbClr val="6B3FA0"/>
          </a:solidFill>
          <a:ln>
            <a:noFill/>
          </a:ln>
        </p:spPr>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ORKLY : Modèles de prévision, validité et automatisation (2.3.3)">
  <a:themeElements>
    <a:clrScheme name="WORKLY : Modèles de prévision, validité et automatisation (2.3.3)">
      <a:dk1>
        <a:srgbClr val="1B2A4A"/>
      </a:dk1>
      <a:lt1>
        <a:srgbClr val="F4F6FB"/>
      </a:lt1>
      <a:dk2>
        <a:srgbClr val="515D76"/>
      </a:dk2>
      <a:lt2>
        <a:srgbClr val="DEE2E9"/>
      </a:lt2>
      <a:accent1>
        <a:srgbClr val="7ACFC0"/>
      </a:accent1>
      <a:accent2>
        <a:srgbClr val="6B3FA0"/>
      </a:accent2>
      <a:accent3>
        <a:srgbClr val="4A9BE0"/>
      </a:accent3>
      <a:accent4>
        <a:srgbClr val="B39DDB"/>
      </a:accent4>
      <a:accent5>
        <a:srgbClr val="A9B4D0"/>
      </a:accent5>
      <a:accent6>
        <a:srgbClr val="6B739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TotalTime>
  <Words>5322</Words>
  <Application>Microsoft Office PowerPoint</Application>
  <PresentationFormat>Grand écran</PresentationFormat>
  <Paragraphs>545</Paragraphs>
  <Slides>29</Slides>
  <Notes>27</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29</vt:i4>
      </vt:variant>
    </vt:vector>
  </HeadingPairs>
  <TitlesOfParts>
    <vt:vector size="37" baseType="lpstr">
      <vt:lpstr>Calibri</vt:lpstr>
      <vt:lpstr>Consolas</vt:lpstr>
      <vt:lpstr>DM Sans</vt:lpstr>
      <vt:lpstr>Arial</vt:lpstr>
      <vt:lpstr>Sora</vt:lpstr>
      <vt:lpstr>Source Sans 3</vt:lpstr>
      <vt:lpstr>Office Theme</vt:lpstr>
      <vt:lpstr>WORKLY : Modèles de prévision, validité et automatisation (2.3.3)</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Gradient Boosting est retenu car il répond à la congestion non linéaire sans modifier l’architecture</vt:lpstr>
      <vt:lpstr>Douze tâches planifiées automatisent les calculs ; les décisions engageantes restent humaines</vt:lpstr>
      <vt:lpstr>Les calculs sont automatiques et les choix de gestion restent manuels</vt:lpstr>
      <vt:lpstr>Les indicateurs et les alertes sont calculés ; la validation et la clôture restent manuelles</vt:lpstr>
      <vt:lpstr>Le processus automatise les calculs et réserve les décisions engageantes à un responsable</vt:lpstr>
      <vt:lpstr>Le processus automatise les calculs et réserve les décisions engageantes à un responsable</vt:lpstr>
      <vt:lpstr>Le Bottom line mesure l’impact de Workly face à un planning reconduit chaque semaine</vt:lpstr>
      <vt:lpstr>Use case : superviser la chaîne de nuit pour détecter une panne avant la journée de travail</vt:lpstr>
      <vt:lpstr>Le pilotage s’inverse : Workly planifie sa nuit, la plateforme la surveille et en rend compte</vt:lpstr>
      <vt:lpstr>Une chaîne complète de bout en bout : Cron, flux Agentic AI, deux agents et message Slack</vt:lpstr>
      <vt:lpstr>Le planificateur démarre sans interface graphique et exécute seul la chaîne de nuit</vt:lpstr>
      <vt:lpstr>L’écran Tâches de Workly montre l’état de chaque tâche et ouvre le journal d’exécution</vt:lpstr>
      <vt:lpstr>La route GET /bilan résume l’état des automatisations en un statut : succès, incomplet ou échec</vt:lpstr>
      <vt:lpstr>Le flux Agentic AI lit le bilan, le fait analyser puis rédiger, et l’envoie sur Slack</vt:lpstr>
      <vt:lpstr>Deux agents aux rôles séparés : l’un analyse en JSON, l’autre rédige le message</vt:lpstr>
      <vt:lpstr>Un Cron Fusion déclenche le flux chaque matin à 06:00  par un simple nœud HTTP</vt:lpstr>
      <vt:lpstr>Le message du matin change selon l’état de la nuit</vt:lpstr>
      <vt:lpstr>Cinq obstacles levés ; le plus structurant : Gemini refuse les outils de Composio</vt:lpstr>
      <vt:lpstr>Workly se connecte à Odoo par son API externe ; l’import des volumes reste à brancher</vt:lpstr>
      <vt:lpstr>Limites et prochaines étapes : signaler une panne, puis fiabiliser l’hébergement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EL WARDI HABIB</cp:lastModifiedBy>
  <cp:revision>16</cp:revision>
  <dcterms:created xsi:type="dcterms:W3CDTF">2026-10-02T20:17:43Z</dcterms:created>
  <dcterms:modified xsi:type="dcterms:W3CDTF">2026-10-09T21:54:51Z</dcterms:modified>
</cp:coreProperties>
</file>