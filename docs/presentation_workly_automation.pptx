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9cf308e-e9f7-6843-d855-6e6dc57ca178}">
          <p14:sldIdLst>
            <p14:sldId id="256"/>
          </p14:sldIdLst>
        </p14:section>
        <p14:section name="Contexte" id="{99a5bdc4-b9bc-fe58-6c9f-64246aa92030}">
          <p14:sldIdLst>
            <p14:sldId id="257"/>
            <p14:sldId id="258"/>
          </p14:sldIdLst>
        </p14:section>
        <p14:section name="Réalisation" id="{2fb24458-a904-0f15-660b-ac478a96c0bf}">
          <p14:sldIdLst>
            <p14:sldId id="259"/>
            <p14:sldId id="260"/>
            <p14:sldId id="261"/>
          </p14:sldIdLst>
        </p14:section>
        <p14:section name="Comparaison" id="{cba0a1a2-ae75-1924-5f35-07e0a10cdb27}">
          <p14:sldIdLst>
            <p14:sldId id="262"/>
            <p14:sldId id="263"/>
            <p14:sldId id="264"/>
            <p14:sldId id="265"/>
          </p14:sldIdLst>
        </p14:section>
        <p14:section name="Limites et suite" id="{5517fec7-c790-3c83-a62c-585b43ea3de8}">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Critères</c:v>
                </c:pt>
              </c:strCache>
            </c:strRef>
          </c:tx>
          <c:spPr>
            <a:solidFill>
              <a:srgbClr val="D9531E"/>
            </a:solidFill>
            <a:effectLst/>
          </c:spPr>
          <c:invertIfNegative val="0"/>
          <c:dLbls>
            <c:numFmt formatCode="#,##0" sourceLinked="0"/>
            <c:txPr>
              <a:bodyPr/>
              <a:lstStyle/>
              <a:p>
                <a:pPr>
                  <a:defRPr b="1" i="0" strike="noStrike" sz="2000" u="none">
                    <a:solidFill>
                      <a:srgbClr val="0E2A47"/>
                    </a:solidFill>
                    <a:latin typeface="+mn-lt"/>
                  </a:defRPr>
                </a:pPr>
              </a:p>
            </c:txPr>
            <c:showLegendKey val="0"/>
            <c:showVal val="1"/>
            <c:showCatName val="0"/>
            <c:showSerName val="0"/>
            <c:showPercent val="0"/>
            <c:showBubbleSize val="0"/>
            <c:showLeaderLines val="0"/>
          </c:dLbls>
          <c:dPt>
            <c:idx val="0"/>
            <c:invertIfNegative val="0"/>
            <c:bubble3D val="0"/>
            <c:spPr>
              <a:solidFill>
                <a:srgbClr val="D9531E"/>
              </a:solidFill>
              <a:effectLst/>
            </c:spPr>
          </c:dPt>
          <c:dPt>
            <c:idx val="1"/>
            <c:invertIfNegative val="0"/>
            <c:bubble3D val="0"/>
            <c:spPr>
              <a:solidFill>
                <a:srgbClr val="2B5FD9"/>
              </a:solidFill>
              <a:effectLst/>
            </c:spPr>
          </c:dPt>
          <c:dPt>
            <c:idx val="2"/>
            <c:invertIfNegative val="0"/>
            <c:bubble3D val="0"/>
            <c:spPr>
              <a:solidFill>
                <a:srgbClr val="5B6875"/>
              </a:solidFill>
              <a:effectLst/>
            </c:spPr>
          </c:dPt>
          <c:cat>
            <c:multiLvlStrRef>
              <c:f>Sheet1!$A$2:$A$4</c:f>
              <c:multiLvlStrCache>
                <c:ptCount val="3"/>
                <c:lvl>
                  <c:pt idx="0">
                    <c:v>n8n fait mieux</c:v>
                  </c:pt>
                  <c:pt idx="1">
                    <c:v>Fusion fait mieux</c:v>
                  </c:pt>
                  <c:pt idx="2">
                    <c:v>Égalité</c:v>
                  </c:pt>
                </c:lvl>
              </c:multiLvlStrCache>
            </c:multiLvlStrRef>
          </c:cat>
          <c:val>
            <c:numRef>
              <c:f>Sheet1!$B$2:$B$4</c:f>
              <c:numCache>
                <c:formatCode>General</c:formatCode>
                <c:ptCount val="3"/>
                <c:pt idx="0">
                  <c:v>6</c:v>
                </c:pt>
                <c:pt idx="1">
                  <c:v>3</c:v>
                </c:pt>
                <c:pt idx="2">
                  <c:v>4</c:v>
                </c:pt>
              </c:numCache>
            </c:numRef>
          </c:val>
        </c:ser>
        <c:dLbls>
          <c:numFmt formatCode="#,##0" sourceLinked="0"/>
          <c:txPr>
            <a:bodyPr/>
            <a:lstStyle/>
            <a:p>
              <a:pPr>
                <a:defRPr b="1" i="0" strike="noStrike" sz="2000" u="none">
                  <a:solidFill>
                    <a:srgbClr val="0E2A4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E2A47"/>
                </a:solidFill>
                <a:latin typeface="+mn-lt"/>
              </a:defRPr>
            </a:pPr>
            <a:endParaRPr lang="en-US"/>
          </a:p>
        </c:txPr>
        <c:crossAx val="2094734552"/>
        <c:crosses val="autoZero"/>
        <c:auto val="1"/>
        <c:lblAlgn val="ctr"/>
        <c:noMultiLvlLbl val="1"/>
      </c:catAx>
      <c:valAx>
        <c:axId val="2094734552"/>
        <c:scaling>
          <c:orientation val="minMax"/>
          <c:max val="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présenter le travail que j'ai fait pour automatiser Workly, l'application de planification RH et d'équipements. J'ai construit le même pipeline sur deux outils d'automatisation, Fusion AI Automation puis n8n, pour pouvoir les comparer sur des critères que j'ai vécus et pas seulement lus dans une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point de départ : Workly sait faire tous ces calculs, mais il faut que quelqu'un les lance. J'ai compté douze tâches planifiables, dont sept s'enchaînent chaque nuit. Le risque que je voulais éviter, c'est une erreur silencieuse : le planificateur du lendemain matin travaillerait sur des chiffres faux sans le savoir.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suis passé par trois étapes. D'abord rendre Workly appelable de l'extérieur. Ensuite construire le pipeline sur Fusion. Enfin le refaire sur n8n. J'ai gardé le même serveur Workly pour les deux, de façon à ce que les différences viennent bien des outils et pas de ma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L'orchestrateur, Fusion ou n8n, appelle une adresse HTTPS fixe fournie par ngrok. Ngrok redirige vers le serveur Workly qui tourne sur mon PC, et ce serveur exécute la tâche sur la base PostgreSQL. Trois règles de conception : un jeton secret, un verrou pour ne lancer qu'une tâche à la fois, et des horaires en UTC.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Workly, j'ai fait quatre ajouts, chacun avec ses tests automatiques. Le plus important est le point d'accès sécurisé. J'ai aussi ajouté trois tâches, dont la sauvegarde, des alertes par e-mail, et des scripts Windows. Un exemple de difficulté : l'e-mail ne partait pas sur le port habituel 587, et j'ai trouvé que le port 465 fonctionnait.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pipeline, qui est identique sur les deux outils. Un déclencheur, un test de santé, puis neuf appels HTTP en chaîne. La dernière étape, Tâches du jour, laisse Workly lancer selon la date l'hebdomadaire le lundi, le mensuel le premier du mois et l'annuel le premier janvier, sans jamais les lancer en parallèle. Chaque étape a une alerte en cas d'échec.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Fusion, le plus gênant a été le token : il faut le saisir dans chaque nœud. J'ai aussi appris qu'un Cron est actif dès qu'on enregistre, et que l'erreur affichée ne montre pas le message du serveur, ce qui m'a obligé à lire le journal de Workly pour comprendre un 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n8n, le token n'est saisi qu'une fois et l'erreur contient le message du serveur : le diagnostic est bien plus rapide. Mes difficultés ont été différentes : la sortie d'erreur à activer, la différence entre exécuter un nœud et tout le workflow, et un conflit d'enregistrement parce que j'avais deux onglets ouverts.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comparé quatorze critères que j'ai observés. n8n fait mieux sur six, Fusion sur trois, et quatre sont à égalité. Le critère à tester, l'e-mail intégré de n8n, et cinq autres, comme la fiabilité sur plusieurs nuits ou le coût, ne sont pas encore mesurables : je ne les ai donc pas comptés. Je ne prétends pas que n8n est meilleur en général, seulement sur ce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quatre différences que j'ai le plus ressenties. Sur le token et sur le message d'erreur, n8n m'a fait gagner du temps. Sur la planification, n8n offre plus de réglages. Sur le chemin d'échec, Fusion est plus direct, car la sortie rouge est là par défaut.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faible, qui est le même pour les deux outils, c'est mon propre PC. Aucun des deux orchestrateurs ne le résout, parce que le serveur Workly tourne chez moi. Ma priorité suivante est donc un hébergement permanent, et une alerte de panne qui ne dépende pas de Workly.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trancher, il me faut des mesures sur plusieurs nuits. Les deux workflows tourneront en décalé, à 00:30 et 03:30 UTC, pour ne pas se gêner dans Workly. Chaque matin je relèverai si le Cron est parti, si la chaîne est restée verte, et si les alertes sont arrivées. Je mesurerai aussi le temps de construction, le coût et la conservation de l'historique.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construire deux fois le même pipeline m'a montré des différences concrètes. Mon résultat provisoire est que n8n m'a fait gagner du temps sur le diagnostic, mais que la vraie fiabilité dépend de l'hébergement, pas de l'outil. Merci de votre attention, je suis prêt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0E2A4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58368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931920"/>
            <a:ext cx="6400800" cy="10058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0515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LUSION">
    <p:bg>
      <p:bgPr>
        <a:solidFill>
          <a:srgbClr val="0E2A4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9144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583680" cy="1737360"/>
          </a:xfrm>
          <a:prstGeom prst="rect">
            <a:avLst/>
          </a:prstGeom>
          <a:noFill/>
          <a:ln/>
        </p:spPr>
        <p:txBody>
          <a:bodyPr wrap="square" lIns="0" tIns="0" rIns="0" bIns="0" rtlCol="0" anchor="t"/>
          <a:lstStyle/>
          <a:p>
            <a:pPr algn="l" indent="0" marL="0">
              <a:buNone/>
            </a:pPr>
            <a:r>
              <a:rPr lang="en-US" sz="4800" b="1" dirty="0">
                <a:solidFill>
                  <a:schemeClr val="bg1"/>
                </a:solidFill>
              </a:rPr>
              <a:t>Automatiser Workly</a:t>
            </a:r>
            <a:endParaRPr lang="en-US" sz="4800" dirty="0"/>
          </a:p>
        </p:txBody>
      </p:sp>
      <p:sp>
        <p:nvSpPr>
          <p:cNvPr id="3" name="Text 0"/>
          <p:cNvSpPr/>
          <p:nvPr>
            <p:ph idx="101" type="body" hasCustomPrompt="1"/>
          </p:nvPr>
        </p:nvSpPr>
        <p:spPr>
          <a:xfrm>
            <a:off x="548640" y="3931920"/>
            <a:ext cx="6400800" cy="1005840"/>
          </a:xfrm>
          <a:prstGeom prst="rect">
            <a:avLst/>
          </a:prstGeom>
          <a:noFill/>
          <a:ln/>
        </p:spPr>
        <p:txBody>
          <a:bodyPr wrap="square" lIns="0" tIns="0" rIns="0" bIns="0" rtlCol="0" anchor="t"/>
          <a:lstStyle/>
          <a:p>
            <a:pPr indent="0" marL="0">
              <a:buNone/>
            </a:pPr>
            <a:r>
              <a:rPr lang="en-US" sz="2000" dirty="0">
                <a:solidFill>
                  <a:schemeClr val="bg2"/>
                </a:solidFill>
              </a:rPr>
              <a:t>Un même pipeline sur Fusion AI Automation et sur n8n, puis une comparaison</a:t>
            </a:r>
            <a:endParaRPr lang="en-US" sz="2000" dirty="0"/>
          </a:p>
        </p:txBody>
      </p:sp>
      <p:sp>
        <p:nvSpPr>
          <p:cNvPr id="4" name="Text 2"/>
          <p:cNvSpPr txBox="1"/>
          <p:nvPr/>
        </p:nvSpPr>
        <p:spPr>
          <a:xfrm>
            <a:off x="548640" y="5989320"/>
            <a:ext cx="6400800" cy="365760"/>
          </a:xfrm>
          <a:prstGeom prst="rect">
            <a:avLst/>
          </a:prstGeom>
          <a:noFill/>
          <a:ln/>
        </p:spPr>
        <p:txBody>
          <a:bodyPr wrap="square" lIns="0" tIns="0" rIns="0" bIns="0" rtlCol="0" anchor="t"/>
          <a:lstStyle/>
          <a:p>
            <a:pPr indent="0" marL="0">
              <a:buNone/>
            </a:pPr>
            <a:r>
              <a:rPr lang="en-US" sz="1400" dirty="0">
                <a:solidFill>
                  <a:schemeClr val="bg2"/>
                </a:solidFill>
              </a:rPr>
              <a:t>Exposé de projet  ·  2 octobre 2026</a:t>
            </a:r>
            <a:endParaRPr lang="en-US" sz="1400" dirty="0"/>
          </a:p>
        </p:txBody>
      </p:sp>
      <p:sp>
        <p:nvSpPr>
          <p:cNvPr id="5" name="lien 1"/>
          <p:cNvSpPr/>
          <p:nvPr/>
        </p:nvSpPr>
        <p:spPr>
          <a:xfrm>
            <a:off x="7909560" y="2194560"/>
            <a:ext cx="1737360" cy="1005840"/>
          </a:xfrm>
          <a:prstGeom prst="line">
            <a:avLst/>
          </a:prstGeom>
          <a:noFill/>
          <a:ln w="25400">
            <a:solidFill>
              <a:schemeClr val="accent4"/>
            </a:solidFill>
            <a:prstDash val="solid"/>
            <a:tailEnd type="triangle"/>
          </a:ln>
        </p:spPr>
      </p:sp>
      <p:sp>
        <p:nvSpPr>
          <p:cNvPr id="6" name="lien 2"/>
          <p:cNvSpPr/>
          <p:nvPr/>
        </p:nvSpPr>
        <p:spPr>
          <a:xfrm flipH="1">
            <a:off x="8366760" y="3200400"/>
            <a:ext cx="1280160" cy="1005840"/>
          </a:xfrm>
          <a:prstGeom prst="line">
            <a:avLst/>
          </a:prstGeom>
          <a:noFill/>
          <a:ln w="25400">
            <a:solidFill>
              <a:schemeClr val="accent4"/>
            </a:solidFill>
            <a:prstDash val="solid"/>
            <a:tailEnd type="triangle"/>
          </a:ln>
        </p:spPr>
      </p:sp>
      <p:sp>
        <p:nvSpPr>
          <p:cNvPr id="7" name="lien 3"/>
          <p:cNvSpPr/>
          <p:nvPr/>
        </p:nvSpPr>
        <p:spPr>
          <a:xfrm>
            <a:off x="8366760" y="4206240"/>
            <a:ext cx="1828800" cy="914400"/>
          </a:xfrm>
          <a:prstGeom prst="line">
            <a:avLst/>
          </a:prstGeom>
          <a:noFill/>
          <a:ln w="25400">
            <a:solidFill>
              <a:schemeClr val="accent4"/>
            </a:solidFill>
            <a:prstDash val="solid"/>
            <a:tailEnd type="triangle"/>
          </a:ln>
        </p:spPr>
      </p:sp>
      <p:sp>
        <p:nvSpPr>
          <p:cNvPr id="8" name="noeud 1 fond"/>
          <p:cNvSpPr/>
          <p:nvPr/>
        </p:nvSpPr>
        <p:spPr>
          <a:xfrm>
            <a:off x="7589520" y="1874520"/>
            <a:ext cx="640080" cy="640080"/>
          </a:xfrm>
          <a:prstGeom prst="ellipse">
            <a:avLst/>
          </a:prstGeom>
          <a:solidFill>
            <a:srgbClr val="2B5FD9"/>
          </a:solidFill>
          <a:ln/>
        </p:spPr>
      </p:sp>
      <p:pic>
        <p:nvPicPr>
          <p:cNvPr id="9" name="noeud 1" descr="preencoded.png">    </p:cNvPr>
          <p:cNvPicPr>
            <a:picLocks noChangeAspect="1"/>
          </p:cNvPicPr>
          <p:nvPr/>
        </p:nvPicPr>
        <p:blipFill>
          <a:blip r:embed="rId1"/>
          <a:stretch>
            <a:fillRect/>
          </a:stretch>
        </p:blipFill>
        <p:spPr>
          <a:xfrm>
            <a:off x="7762342" y="2047342"/>
            <a:ext cx="294437" cy="294437"/>
          </a:xfrm>
          <a:prstGeom prst="rect">
            <a:avLst/>
          </a:prstGeom>
        </p:spPr>
      </p:pic>
      <p:sp>
        <p:nvSpPr>
          <p:cNvPr id="10" name="noeud 2 fond"/>
          <p:cNvSpPr/>
          <p:nvPr/>
        </p:nvSpPr>
        <p:spPr>
          <a:xfrm>
            <a:off x="9326880" y="2880360"/>
            <a:ext cx="640080" cy="640080"/>
          </a:xfrm>
          <a:prstGeom prst="ellipse">
            <a:avLst/>
          </a:prstGeom>
          <a:solidFill>
            <a:srgbClr val="D9531E"/>
          </a:solidFill>
          <a:ln/>
        </p:spPr>
      </p:sp>
      <p:pic>
        <p:nvPicPr>
          <p:cNvPr id="11" name="noeud 2" descr="preencoded.png">    </p:cNvPr>
          <p:cNvPicPr>
            <a:picLocks noChangeAspect="1"/>
          </p:cNvPicPr>
          <p:nvPr/>
        </p:nvPicPr>
        <p:blipFill>
          <a:blip r:embed="rId2"/>
          <a:stretch>
            <a:fillRect/>
          </a:stretch>
        </p:blipFill>
        <p:spPr>
          <a:xfrm>
            <a:off x="9499702" y="3053182"/>
            <a:ext cx="294437" cy="294437"/>
          </a:xfrm>
          <a:prstGeom prst="rect">
            <a:avLst/>
          </a:prstGeom>
        </p:spPr>
      </p:pic>
      <p:sp>
        <p:nvSpPr>
          <p:cNvPr id="12" name="noeud 3 fond"/>
          <p:cNvSpPr/>
          <p:nvPr/>
        </p:nvSpPr>
        <p:spPr>
          <a:xfrm>
            <a:off x="8046720" y="3886200"/>
            <a:ext cx="640080" cy="640080"/>
          </a:xfrm>
          <a:prstGeom prst="ellipse">
            <a:avLst/>
          </a:prstGeom>
          <a:solidFill>
            <a:srgbClr val="1F8F7F"/>
          </a:solidFill>
          <a:ln/>
        </p:spPr>
      </p:sp>
      <p:pic>
        <p:nvPicPr>
          <p:cNvPr id="13" name="noeud 3" descr="preencoded.png">    </p:cNvPr>
          <p:cNvPicPr>
            <a:picLocks noChangeAspect="1"/>
          </p:cNvPicPr>
          <p:nvPr/>
        </p:nvPicPr>
        <p:blipFill>
          <a:blip r:embed="rId3"/>
          <a:stretch>
            <a:fillRect/>
          </a:stretch>
        </p:blipFill>
        <p:spPr>
          <a:xfrm>
            <a:off x="8219542" y="4059022"/>
            <a:ext cx="294437" cy="294437"/>
          </a:xfrm>
          <a:prstGeom prst="rect">
            <a:avLst/>
          </a:prstGeom>
        </p:spPr>
      </p:pic>
      <p:sp>
        <p:nvSpPr>
          <p:cNvPr id="14" name="noeud 4 fond"/>
          <p:cNvSpPr/>
          <p:nvPr/>
        </p:nvSpPr>
        <p:spPr>
          <a:xfrm>
            <a:off x="9875520" y="4800600"/>
            <a:ext cx="640080" cy="640080"/>
          </a:xfrm>
          <a:prstGeom prst="ellipse">
            <a:avLst/>
          </a:prstGeom>
          <a:solidFill>
            <a:srgbClr val="EEF2F7"/>
          </a:solidFill>
          <a:ln/>
        </p:spPr>
      </p:sp>
      <p:pic>
        <p:nvPicPr>
          <p:cNvPr id="15" name="noeud 4" descr="preencoded.png">    </p:cNvPr>
          <p:cNvPicPr>
            <a:picLocks noChangeAspect="1"/>
          </p:cNvPicPr>
          <p:nvPr/>
        </p:nvPicPr>
        <p:blipFill>
          <a:blip r:embed="rId4"/>
          <a:stretch>
            <a:fillRect/>
          </a:stretch>
        </p:blipFill>
        <p:spPr>
          <a:xfrm>
            <a:off x="10048342" y="4973422"/>
            <a:ext cx="294437" cy="2944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051560"/>
          </a:xfrm>
          <a:prstGeom prst="rect">
            <a:avLst/>
          </a:prstGeom>
          <a:noFill/>
          <a:ln/>
        </p:spPr>
        <p:txBody>
          <a:bodyPr wrap="square" lIns="0" tIns="0" rIns="0" bIns="0" rtlCol="0" anchor="ctr"/>
          <a:lstStyle/>
          <a:p>
            <a:pPr algn="l" indent="0" marL="0">
              <a:buNone/>
            </a:pPr>
            <a:r>
              <a:rPr lang="en-US" sz="3400" b="1" dirty="0">
                <a:solidFill>
                  <a:schemeClr val="tx2"/>
                </a:solidFill>
              </a:rPr>
              <a:t>Le problème : Workly doit travailler seul toute la nuit</a:t>
            </a:r>
            <a:endParaRPr lang="en-US" sz="3400" dirty="0"/>
          </a:p>
        </p:txBody>
      </p:sp>
      <p:sp>
        <p:nvSpPr>
          <p:cNvPr id="3" name="carte chiffre 1"/>
          <p:cNvSpPr/>
          <p:nvPr/>
        </p:nvSpPr>
        <p:spPr>
          <a:xfrm>
            <a:off x="548640" y="1783080"/>
            <a:ext cx="4206240" cy="1280160"/>
          </a:xfrm>
          <a:prstGeom prst="roundRect">
            <a:avLst>
              <a:gd name="adj" fmla="val 8571"/>
            </a:avLst>
          </a:prstGeom>
          <a:solidFill>
            <a:schemeClr val="bg2"/>
          </a:solidFill>
          <a:ln/>
        </p:spPr>
      </p:sp>
      <p:sp>
        <p:nvSpPr>
          <p:cNvPr id="4" name="Text 2"/>
          <p:cNvSpPr txBox="1"/>
          <p:nvPr/>
        </p:nvSpPr>
        <p:spPr>
          <a:xfrm>
            <a:off x="822960" y="1892808"/>
            <a:ext cx="1371600" cy="1060704"/>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12</a:t>
            </a:r>
            <a:endParaRPr lang="en-US" sz="5400" dirty="0"/>
          </a:p>
        </p:txBody>
      </p:sp>
      <p:sp>
        <p:nvSpPr>
          <p:cNvPr id="5" name="Text 3"/>
          <p:cNvSpPr txBox="1"/>
          <p:nvPr/>
        </p:nvSpPr>
        <p:spPr>
          <a:xfrm>
            <a:off x="2286000" y="1892808"/>
            <a:ext cx="2286000" cy="1060704"/>
          </a:xfrm>
          <a:prstGeom prst="rect">
            <a:avLst/>
          </a:prstGeom>
          <a:noFill/>
          <a:ln/>
        </p:spPr>
        <p:txBody>
          <a:bodyPr wrap="square" lIns="0" tIns="0" rIns="0" bIns="0" rtlCol="0" anchor="ctr"/>
          <a:lstStyle/>
          <a:p>
            <a:pPr indent="0" marL="0">
              <a:buNone/>
            </a:pPr>
            <a:r>
              <a:rPr lang="en-US" sz="1700" dirty="0">
                <a:solidFill>
                  <a:schemeClr val="tx1"/>
                </a:solidFill>
              </a:rPr>
              <a:t>tâches automatiques à planifier</a:t>
            </a:r>
            <a:endParaRPr lang="en-US" sz="1700" dirty="0"/>
          </a:p>
        </p:txBody>
      </p:sp>
      <p:sp>
        <p:nvSpPr>
          <p:cNvPr id="6" name="carte chiffre 2"/>
          <p:cNvSpPr/>
          <p:nvPr/>
        </p:nvSpPr>
        <p:spPr>
          <a:xfrm>
            <a:off x="548640" y="3246120"/>
            <a:ext cx="4206240" cy="1280160"/>
          </a:xfrm>
          <a:prstGeom prst="roundRect">
            <a:avLst>
              <a:gd name="adj" fmla="val 8571"/>
            </a:avLst>
          </a:prstGeom>
          <a:solidFill>
            <a:schemeClr val="bg2"/>
          </a:solidFill>
          <a:ln/>
        </p:spPr>
      </p:sp>
      <p:sp>
        <p:nvSpPr>
          <p:cNvPr id="7" name="Text 5"/>
          <p:cNvSpPr txBox="1"/>
          <p:nvPr/>
        </p:nvSpPr>
        <p:spPr>
          <a:xfrm>
            <a:off x="822960" y="3355848"/>
            <a:ext cx="1371600" cy="1060704"/>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7</a:t>
            </a:r>
            <a:endParaRPr lang="en-US" sz="5400" dirty="0"/>
          </a:p>
        </p:txBody>
      </p:sp>
      <p:sp>
        <p:nvSpPr>
          <p:cNvPr id="8" name="Text 6"/>
          <p:cNvSpPr txBox="1"/>
          <p:nvPr/>
        </p:nvSpPr>
        <p:spPr>
          <a:xfrm>
            <a:off x="2286000" y="3355848"/>
            <a:ext cx="2286000" cy="1060704"/>
          </a:xfrm>
          <a:prstGeom prst="rect">
            <a:avLst/>
          </a:prstGeom>
          <a:noFill/>
          <a:ln/>
        </p:spPr>
        <p:txBody>
          <a:bodyPr wrap="square" lIns="0" tIns="0" rIns="0" bIns="0" rtlCol="0" anchor="ctr"/>
          <a:lstStyle/>
          <a:p>
            <a:pPr indent="0" marL="0">
              <a:buNone/>
            </a:pPr>
            <a:r>
              <a:rPr lang="en-US" sz="1700" dirty="0">
                <a:solidFill>
                  <a:schemeClr val="tx1"/>
                </a:solidFill>
              </a:rPr>
              <a:t>étapes enchaînées chaque nuit</a:t>
            </a:r>
            <a:endParaRPr lang="en-US" sz="1700" dirty="0"/>
          </a:p>
        </p:txBody>
      </p:sp>
      <p:sp>
        <p:nvSpPr>
          <p:cNvPr id="9" name="carte chiffre 3"/>
          <p:cNvSpPr/>
          <p:nvPr/>
        </p:nvSpPr>
        <p:spPr>
          <a:xfrm>
            <a:off x="548640" y="4709160"/>
            <a:ext cx="4206240" cy="1280160"/>
          </a:xfrm>
          <a:prstGeom prst="roundRect">
            <a:avLst>
              <a:gd name="adj" fmla="val 8571"/>
            </a:avLst>
          </a:prstGeom>
          <a:solidFill>
            <a:schemeClr val="bg2"/>
          </a:solidFill>
          <a:ln/>
        </p:spPr>
      </p:sp>
      <p:sp>
        <p:nvSpPr>
          <p:cNvPr id="10" name="Text 8"/>
          <p:cNvSpPr txBox="1"/>
          <p:nvPr/>
        </p:nvSpPr>
        <p:spPr>
          <a:xfrm>
            <a:off x="822960" y="4818888"/>
            <a:ext cx="1371600" cy="1060704"/>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14</a:t>
            </a:r>
            <a:endParaRPr lang="en-US" sz="5400" dirty="0"/>
          </a:p>
        </p:txBody>
      </p:sp>
      <p:sp>
        <p:nvSpPr>
          <p:cNvPr id="11" name="Text 9"/>
          <p:cNvSpPr txBox="1"/>
          <p:nvPr/>
        </p:nvSpPr>
        <p:spPr>
          <a:xfrm>
            <a:off x="2286000" y="4818888"/>
            <a:ext cx="2286000" cy="1060704"/>
          </a:xfrm>
          <a:prstGeom prst="rect">
            <a:avLst/>
          </a:prstGeom>
          <a:noFill/>
          <a:ln/>
        </p:spPr>
        <p:txBody>
          <a:bodyPr wrap="square" lIns="0" tIns="0" rIns="0" bIns="0" rtlCol="0" anchor="ctr"/>
          <a:lstStyle/>
          <a:p>
            <a:pPr indent="0" marL="0">
              <a:buNone/>
            </a:pPr>
            <a:r>
              <a:rPr lang="en-US" sz="1700" dirty="0">
                <a:solidFill>
                  <a:schemeClr val="tx1"/>
                </a:solidFill>
              </a:rPr>
              <a:t>sauvegardes de la base conservées</a:t>
            </a:r>
            <a:endParaRPr lang="en-US" sz="1700" dirty="0"/>
          </a:p>
        </p:txBody>
      </p:sp>
      <p:sp>
        <p:nvSpPr>
          <p:cNvPr id="12" name="Text 10"/>
          <p:cNvSpPr txBox="1"/>
          <p:nvPr/>
        </p:nvSpPr>
        <p:spPr>
          <a:xfrm>
            <a:off x="5303520" y="1783080"/>
            <a:ext cx="6309360" cy="822960"/>
          </a:xfrm>
          <a:prstGeom prst="rect">
            <a:avLst/>
          </a:prstGeom>
          <a:noFill/>
          <a:ln/>
        </p:spPr>
        <p:txBody>
          <a:bodyPr wrap="square" lIns="0" tIns="0" rIns="0" bIns="0" rtlCol="0" anchor="t"/>
          <a:lstStyle/>
          <a:p>
            <a:pPr indent="0" marL="0">
              <a:buNone/>
            </a:pPr>
            <a:r>
              <a:rPr lang="en-US" sz="2000" b="1" dirty="0">
                <a:solidFill>
                  <a:schemeClr val="tx2"/>
                </a:solidFill>
              </a:rPr>
              <a:t>Workly est une application de planification RH et d'équipements.</a:t>
            </a:r>
            <a:endParaRPr lang="en-US" sz="2000" dirty="0"/>
          </a:p>
        </p:txBody>
      </p:sp>
      <p:sp>
        <p:nvSpPr>
          <p:cNvPr id="13" name="Text 11"/>
          <p:cNvSpPr txBox="1"/>
          <p:nvPr/>
        </p:nvSpPr>
        <p:spPr>
          <a:xfrm>
            <a:off x="5303520" y="2697480"/>
            <a:ext cx="6309360" cy="3291840"/>
          </a:xfrm>
          <a:prstGeom prst="rect">
            <a:avLst/>
          </a:prstGeom>
          <a:noFill/>
          <a:ln/>
        </p:spPr>
        <p:txBody>
          <a:bodyPr wrap="square" lIns="0" tIns="0" rIns="0" bIns="0" rtlCol="0" anchor="t"/>
          <a:lstStyle/>
          <a:p>
            <a:pPr indent="0" marL="0">
              <a:spcAft>
                <a:spcPts val="1200"/>
              </a:spcAft>
              <a:buNone/>
            </a:pPr>
            <a:r>
              <a:rPr lang="en-US" sz="1800" dirty="0">
                <a:solidFill>
                  <a:schemeClr val="tx1"/>
                </a:solidFill>
              </a:rPr>
              <a:t>Elle prévoit la charge, propose un plan de charge, émet des alertes de capacité, calcule des KPI et produit des rapports PDF et Excel.</a:t>
            </a:r>
            <a:endParaRPr lang="en-US" sz="1800" dirty="0"/>
          </a:p>
          <a:p>
            <a:pPr indent="0" marL="0">
              <a:spcAft>
                <a:spcPts val="1200"/>
              </a:spcAft>
              <a:buNone/>
            </a:pPr>
            <a:r>
              <a:rPr lang="en-US" sz="1800" dirty="0">
                <a:solidFill>
                  <a:schemeClr val="tx1"/>
                </a:solidFill>
              </a:rPr>
              <a:t>Ces calculs doivent tourner chaque nuit, dans le bon ordre, sans que personne ne clique.</a:t>
            </a:r>
            <a:endParaRPr lang="en-US" sz="1800" dirty="0"/>
          </a:p>
          <a:p>
            <a:pPr indent="0" marL="0">
              <a:buNone/>
            </a:pPr>
            <a:r>
              <a:rPr lang="en-US" sz="1800" dirty="0">
                <a:solidFill>
                  <a:schemeClr val="tx1"/>
                </a:solidFill>
              </a:rPr>
              <a:t>Un oubli ou une erreur silencieuse, et le planificateur travaille le lendemain sur des données périmées.</a:t>
            </a:r>
            <a:endParaRPr lang="en-US" sz="18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051560"/>
          </a:xfrm>
          <a:prstGeom prst="rect">
            <a:avLst/>
          </a:prstGeom>
          <a:noFill/>
          <a:ln/>
        </p:spPr>
        <p:txBody>
          <a:bodyPr wrap="square" lIns="0" tIns="0" rIns="0" bIns="0" rtlCol="0" anchor="ctr"/>
          <a:lstStyle/>
          <a:p>
            <a:pPr algn="l" indent="0" marL="0">
              <a:buNone/>
            </a:pPr>
            <a:r>
              <a:rPr lang="en-US" sz="3400" b="1" dirty="0">
                <a:solidFill>
                  <a:schemeClr val="tx2"/>
                </a:solidFill>
              </a:rPr>
              <a:t>Ma démarche : un pipeline, deux outils, une comparaison</a:t>
            </a:r>
            <a:endParaRPr lang="en-US" sz="3400" dirty="0"/>
          </a:p>
        </p:txBody>
      </p:sp>
      <p:sp>
        <p:nvSpPr>
          <p:cNvPr id="3" name="carte étape 1"/>
          <p:cNvSpPr/>
          <p:nvPr/>
        </p:nvSpPr>
        <p:spPr>
          <a:xfrm>
            <a:off x="548640" y="1783080"/>
            <a:ext cx="3515258" cy="4206240"/>
          </a:xfrm>
          <a:prstGeom prst="roundRect">
            <a:avLst>
              <a:gd name="adj" fmla="val 3121"/>
            </a:avLst>
          </a:prstGeom>
          <a:solidFill>
            <a:schemeClr val="bg2"/>
          </a:solidFill>
          <a:ln/>
        </p:spPr>
      </p:sp>
      <p:sp>
        <p:nvSpPr>
          <p:cNvPr id="4" name="icône étape 1 fond"/>
          <p:cNvSpPr/>
          <p:nvPr/>
        </p:nvSpPr>
        <p:spPr>
          <a:xfrm>
            <a:off x="868680" y="2103120"/>
            <a:ext cx="822960" cy="822960"/>
          </a:xfrm>
          <a:prstGeom prst="ellipse">
            <a:avLst/>
          </a:prstGeom>
          <a:solidFill>
            <a:srgbClr val="2B5FD9"/>
          </a:solidFill>
          <a:ln/>
        </p:spPr>
      </p:sp>
      <p:pic>
        <p:nvPicPr>
          <p:cNvPr id="5" name="icône étape 1" descr="preencoded.png">    </p:cNvPr>
          <p:cNvPicPr>
            <a:picLocks noChangeAspect="1"/>
          </p:cNvPicPr>
          <p:nvPr/>
        </p:nvPicPr>
        <p:blipFill>
          <a:blip r:embed="rId1"/>
          <a:stretch>
            <a:fillRect/>
          </a:stretch>
        </p:blipFill>
        <p:spPr>
          <a:xfrm>
            <a:off x="1090879" y="2325319"/>
            <a:ext cx="378562" cy="378562"/>
          </a:xfrm>
          <a:prstGeom prst="rect">
            <a:avLst/>
          </a:prstGeom>
        </p:spPr>
      </p:pic>
      <p:sp>
        <p:nvSpPr>
          <p:cNvPr id="6" name="Text 3"/>
          <p:cNvSpPr txBox="1"/>
          <p:nvPr/>
        </p:nvSpPr>
        <p:spPr>
          <a:xfrm>
            <a:off x="868680" y="3154680"/>
            <a:ext cx="2875178" cy="868680"/>
          </a:xfrm>
          <a:prstGeom prst="rect">
            <a:avLst/>
          </a:prstGeom>
          <a:noFill/>
          <a:ln/>
        </p:spPr>
        <p:txBody>
          <a:bodyPr wrap="square" lIns="0" tIns="0" rIns="0" bIns="0" rtlCol="0" anchor="t"/>
          <a:lstStyle/>
          <a:p>
            <a:pPr indent="0" marL="0">
              <a:buNone/>
            </a:pPr>
            <a:r>
              <a:rPr lang="en-US" sz="2100" b="1" dirty="0">
                <a:solidFill>
                  <a:schemeClr val="tx2"/>
                </a:solidFill>
              </a:rPr>
              <a:t>Exposer Workly</a:t>
            </a:r>
            <a:endParaRPr lang="en-US" sz="2100" dirty="0"/>
          </a:p>
        </p:txBody>
      </p:sp>
      <p:sp>
        <p:nvSpPr>
          <p:cNvPr id="7" name="Text 4"/>
          <p:cNvSpPr txBox="1"/>
          <p:nvPr/>
        </p:nvSpPr>
        <p:spPr>
          <a:xfrm>
            <a:off x="868680" y="4114800"/>
            <a:ext cx="2875178" cy="1737360"/>
          </a:xfrm>
          <a:prstGeom prst="rect">
            <a:avLst/>
          </a:prstGeom>
          <a:noFill/>
          <a:ln/>
        </p:spPr>
        <p:txBody>
          <a:bodyPr wrap="square" lIns="0" tIns="0" rIns="0" bIns="0" rtlCol="0" anchor="t"/>
          <a:lstStyle/>
          <a:p>
            <a:pPr indent="0" marL="0">
              <a:buNone/>
            </a:pPr>
            <a:r>
              <a:rPr lang="en-US" sz="1600" dirty="0">
                <a:solidFill>
                  <a:schemeClr val="tx1"/>
                </a:solidFill>
              </a:rPr>
              <a:t>J'ai ajouté un point d'accès HTTP sécurisé : chaque tâche devient une adresse que n'importe quel outil peut appeler.</a:t>
            </a:r>
            <a:endParaRPr lang="en-US" sz="1600" dirty="0"/>
          </a:p>
        </p:txBody>
      </p:sp>
      <p:sp>
        <p:nvSpPr>
          <p:cNvPr id="8" name="carte étape 2"/>
          <p:cNvSpPr/>
          <p:nvPr/>
        </p:nvSpPr>
        <p:spPr>
          <a:xfrm>
            <a:off x="4338218" y="1783080"/>
            <a:ext cx="3515258" cy="4206240"/>
          </a:xfrm>
          <a:prstGeom prst="roundRect">
            <a:avLst>
              <a:gd name="adj" fmla="val 3121"/>
            </a:avLst>
          </a:prstGeom>
          <a:solidFill>
            <a:schemeClr val="bg2"/>
          </a:solidFill>
          <a:ln/>
        </p:spPr>
      </p:sp>
      <p:sp>
        <p:nvSpPr>
          <p:cNvPr id="9" name="icône étape 2 fond"/>
          <p:cNvSpPr/>
          <p:nvPr/>
        </p:nvSpPr>
        <p:spPr>
          <a:xfrm>
            <a:off x="4658258" y="2103120"/>
            <a:ext cx="822960" cy="822960"/>
          </a:xfrm>
          <a:prstGeom prst="ellipse">
            <a:avLst/>
          </a:prstGeom>
          <a:solidFill>
            <a:srgbClr val="2B5FD9"/>
          </a:solidFill>
          <a:ln/>
        </p:spPr>
      </p:sp>
      <p:pic>
        <p:nvPicPr>
          <p:cNvPr id="10" name="icône étape 2" descr="preencoded.png">    </p:cNvPr>
          <p:cNvPicPr>
            <a:picLocks noChangeAspect="1"/>
          </p:cNvPicPr>
          <p:nvPr/>
        </p:nvPicPr>
        <p:blipFill>
          <a:blip r:embed="rId2"/>
          <a:stretch>
            <a:fillRect/>
          </a:stretch>
        </p:blipFill>
        <p:spPr>
          <a:xfrm>
            <a:off x="4880458" y="2325319"/>
            <a:ext cx="378562" cy="378562"/>
          </a:xfrm>
          <a:prstGeom prst="rect">
            <a:avLst/>
          </a:prstGeom>
        </p:spPr>
      </p:pic>
      <p:sp>
        <p:nvSpPr>
          <p:cNvPr id="11" name="Text 7"/>
          <p:cNvSpPr txBox="1"/>
          <p:nvPr/>
        </p:nvSpPr>
        <p:spPr>
          <a:xfrm>
            <a:off x="4658258" y="3154680"/>
            <a:ext cx="2875178" cy="868680"/>
          </a:xfrm>
          <a:prstGeom prst="rect">
            <a:avLst/>
          </a:prstGeom>
          <a:noFill/>
          <a:ln/>
        </p:spPr>
        <p:txBody>
          <a:bodyPr wrap="square" lIns="0" tIns="0" rIns="0" bIns="0" rtlCol="0" anchor="t"/>
          <a:lstStyle/>
          <a:p>
            <a:pPr indent="0" marL="0">
              <a:buNone/>
            </a:pPr>
            <a:r>
              <a:rPr lang="en-US" sz="2100" b="1" dirty="0">
                <a:solidFill>
                  <a:schemeClr val="tx2"/>
                </a:solidFill>
              </a:rPr>
              <a:t>Construire sur Fusion</a:t>
            </a:r>
            <a:endParaRPr lang="en-US" sz="2100" dirty="0"/>
          </a:p>
        </p:txBody>
      </p:sp>
      <p:sp>
        <p:nvSpPr>
          <p:cNvPr id="12" name="Text 8"/>
          <p:cNvSpPr txBox="1"/>
          <p:nvPr/>
        </p:nvSpPr>
        <p:spPr>
          <a:xfrm>
            <a:off x="4658258" y="4114800"/>
            <a:ext cx="2875178" cy="1737360"/>
          </a:xfrm>
          <a:prstGeom prst="rect">
            <a:avLst/>
          </a:prstGeom>
          <a:noFill/>
          <a:ln/>
        </p:spPr>
        <p:txBody>
          <a:bodyPr wrap="square" lIns="0" tIns="0" rIns="0" bIns="0" rtlCol="0" anchor="t"/>
          <a:lstStyle/>
          <a:p>
            <a:pPr indent="0" marL="0">
              <a:buNone/>
            </a:pPr>
            <a:r>
              <a:rPr lang="en-US" sz="1600" dirty="0">
                <a:solidFill>
                  <a:schemeClr val="tx1"/>
                </a:solidFill>
              </a:rPr>
              <a:t>J'ai monté le pipeline complet sur la plateforme Fusion AI Automation, nœud par nœud.</a:t>
            </a:r>
            <a:endParaRPr lang="en-US" sz="1600" dirty="0"/>
          </a:p>
        </p:txBody>
      </p:sp>
      <p:sp>
        <p:nvSpPr>
          <p:cNvPr id="13" name="carte étape 3"/>
          <p:cNvSpPr/>
          <p:nvPr/>
        </p:nvSpPr>
        <p:spPr>
          <a:xfrm>
            <a:off x="8127797" y="1783080"/>
            <a:ext cx="3515258" cy="4206240"/>
          </a:xfrm>
          <a:prstGeom prst="roundRect">
            <a:avLst>
              <a:gd name="adj" fmla="val 3121"/>
            </a:avLst>
          </a:prstGeom>
          <a:solidFill>
            <a:schemeClr val="bg2"/>
          </a:solidFill>
          <a:ln/>
        </p:spPr>
      </p:sp>
      <p:sp>
        <p:nvSpPr>
          <p:cNvPr id="14" name="icône étape 3 fond"/>
          <p:cNvSpPr/>
          <p:nvPr/>
        </p:nvSpPr>
        <p:spPr>
          <a:xfrm>
            <a:off x="8447837" y="2103120"/>
            <a:ext cx="822960" cy="822960"/>
          </a:xfrm>
          <a:prstGeom prst="ellipse">
            <a:avLst/>
          </a:prstGeom>
          <a:solidFill>
            <a:srgbClr val="D9531E"/>
          </a:solidFill>
          <a:ln/>
        </p:spPr>
      </p:sp>
      <p:pic>
        <p:nvPicPr>
          <p:cNvPr id="15" name="icône étape 3" descr="preencoded.png">    </p:cNvPr>
          <p:cNvPicPr>
            <a:picLocks noChangeAspect="1"/>
          </p:cNvPicPr>
          <p:nvPr/>
        </p:nvPicPr>
        <p:blipFill>
          <a:blip r:embed="rId3"/>
          <a:stretch>
            <a:fillRect/>
          </a:stretch>
        </p:blipFill>
        <p:spPr>
          <a:xfrm>
            <a:off x="8670036" y="2325319"/>
            <a:ext cx="378562" cy="378562"/>
          </a:xfrm>
          <a:prstGeom prst="rect">
            <a:avLst/>
          </a:prstGeom>
        </p:spPr>
      </p:pic>
      <p:sp>
        <p:nvSpPr>
          <p:cNvPr id="16" name="Text 11"/>
          <p:cNvSpPr txBox="1"/>
          <p:nvPr/>
        </p:nvSpPr>
        <p:spPr>
          <a:xfrm>
            <a:off x="8447837" y="3154680"/>
            <a:ext cx="2875178" cy="868680"/>
          </a:xfrm>
          <a:prstGeom prst="rect">
            <a:avLst/>
          </a:prstGeom>
          <a:noFill/>
          <a:ln/>
        </p:spPr>
        <p:txBody>
          <a:bodyPr wrap="square" lIns="0" tIns="0" rIns="0" bIns="0" rtlCol="0" anchor="t"/>
          <a:lstStyle/>
          <a:p>
            <a:pPr indent="0" marL="0">
              <a:buNone/>
            </a:pPr>
            <a:r>
              <a:rPr lang="en-US" sz="2100" b="1" dirty="0">
                <a:solidFill>
                  <a:schemeClr val="tx2"/>
                </a:solidFill>
              </a:rPr>
              <a:t>Reproduire sur n8n</a:t>
            </a:r>
            <a:endParaRPr lang="en-US" sz="2100" dirty="0"/>
          </a:p>
        </p:txBody>
      </p:sp>
      <p:sp>
        <p:nvSpPr>
          <p:cNvPr id="17" name="Text 12"/>
          <p:cNvSpPr txBox="1"/>
          <p:nvPr/>
        </p:nvSpPr>
        <p:spPr>
          <a:xfrm>
            <a:off x="8447837" y="4114800"/>
            <a:ext cx="2875178" cy="1737360"/>
          </a:xfrm>
          <a:prstGeom prst="rect">
            <a:avLst/>
          </a:prstGeom>
          <a:noFill/>
          <a:ln/>
        </p:spPr>
        <p:txBody>
          <a:bodyPr wrap="square" lIns="0" tIns="0" rIns="0" bIns="0" rtlCol="0" anchor="t"/>
          <a:lstStyle/>
          <a:p>
            <a:pPr indent="0" marL="0">
              <a:buNone/>
            </a:pPr>
            <a:r>
              <a:rPr lang="en-US" sz="1600" dirty="0">
                <a:solidFill>
                  <a:schemeClr val="tx1"/>
                </a:solidFill>
              </a:rPr>
              <a:t>J'ai refait le même pipeline sur n8n, avec le même serveur Workly, pour comparer à périmètre égal.</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051560"/>
          </a:xfrm>
          <a:prstGeom prst="rect">
            <a:avLst/>
          </a:prstGeom>
          <a:noFill/>
          <a:ln/>
        </p:spPr>
        <p:txBody>
          <a:bodyPr wrap="square" lIns="0" tIns="0" rIns="0" bIns="0" rtlCol="0" anchor="ctr"/>
          <a:lstStyle/>
          <a:p>
            <a:pPr algn="l" indent="0" marL="0">
              <a:buNone/>
            </a:pPr>
            <a:r>
              <a:rPr lang="en-US" sz="3400" b="1" dirty="0">
                <a:solidFill>
                  <a:schemeClr val="tx2"/>
                </a:solidFill>
              </a:rPr>
              <a:t>L'architecture : l'orchestrateur appelle Workly en HTTPS</a:t>
            </a:r>
            <a:endParaRPr lang="en-US" sz="3400" dirty="0"/>
          </a:p>
        </p:txBody>
      </p:sp>
      <p:sp>
        <p:nvSpPr>
          <p:cNvPr id="3" name="bloc Orchestrateur"/>
          <p:cNvSpPr/>
          <p:nvPr/>
        </p:nvSpPr>
        <p:spPr>
          <a:xfrm>
            <a:off x="548640" y="1828800"/>
            <a:ext cx="2103120" cy="1920240"/>
          </a:xfrm>
          <a:prstGeom prst="roundRect">
            <a:avLst>
              <a:gd name="adj" fmla="val 5714"/>
            </a:avLst>
          </a:prstGeom>
          <a:solidFill>
            <a:schemeClr val="bg2"/>
          </a:solidFill>
          <a:ln/>
        </p:spPr>
      </p:sp>
      <p:sp>
        <p:nvSpPr>
          <p:cNvPr id="4" name="icône Orchestrateur fond"/>
          <p:cNvSpPr/>
          <p:nvPr/>
        </p:nvSpPr>
        <p:spPr>
          <a:xfrm>
            <a:off x="822960" y="2057400"/>
            <a:ext cx="640080" cy="640080"/>
          </a:xfrm>
          <a:prstGeom prst="ellipse">
            <a:avLst/>
          </a:prstGeom>
          <a:solidFill>
            <a:srgbClr val="2B5FD9"/>
          </a:solidFill>
          <a:ln/>
        </p:spPr>
      </p:sp>
      <p:pic>
        <p:nvPicPr>
          <p:cNvPr id="5" name="icône Orchestrateur" descr="preencoded.png">    </p:cNvPr>
          <p:cNvPicPr>
            <a:picLocks noChangeAspect="1"/>
          </p:cNvPicPr>
          <p:nvPr/>
        </p:nvPicPr>
        <p:blipFill>
          <a:blip r:embed="rId1"/>
          <a:stretch>
            <a:fillRect/>
          </a:stretch>
        </p:blipFill>
        <p:spPr>
          <a:xfrm>
            <a:off x="995782" y="2230222"/>
            <a:ext cx="294437" cy="294437"/>
          </a:xfrm>
          <a:prstGeom prst="rect">
            <a:avLst/>
          </a:prstGeom>
        </p:spPr>
      </p:pic>
      <p:sp>
        <p:nvSpPr>
          <p:cNvPr id="6" name="Text 3"/>
          <p:cNvSpPr txBox="1"/>
          <p:nvPr/>
        </p:nvSpPr>
        <p:spPr>
          <a:xfrm>
            <a:off x="822960" y="2834640"/>
            <a:ext cx="1737360" cy="365760"/>
          </a:xfrm>
          <a:prstGeom prst="rect">
            <a:avLst/>
          </a:prstGeom>
          <a:noFill/>
          <a:ln/>
        </p:spPr>
        <p:txBody>
          <a:bodyPr wrap="square" lIns="0" tIns="0" rIns="0" bIns="0" rtlCol="0" anchor="t"/>
          <a:lstStyle/>
          <a:p>
            <a:pPr indent="0" marL="0">
              <a:buNone/>
            </a:pPr>
            <a:r>
              <a:rPr lang="en-US" sz="1700" b="1" dirty="0">
                <a:solidFill>
                  <a:schemeClr val="tx2"/>
                </a:solidFill>
              </a:rPr>
              <a:t>Orchestrateur</a:t>
            </a:r>
            <a:endParaRPr lang="en-US" sz="1700" dirty="0"/>
          </a:p>
        </p:txBody>
      </p:sp>
      <p:sp>
        <p:nvSpPr>
          <p:cNvPr id="7" name="Text 4"/>
          <p:cNvSpPr txBox="1"/>
          <p:nvPr/>
        </p:nvSpPr>
        <p:spPr>
          <a:xfrm>
            <a:off x="822960" y="3200400"/>
            <a:ext cx="1737360" cy="411480"/>
          </a:xfrm>
          <a:prstGeom prst="rect">
            <a:avLst/>
          </a:prstGeom>
          <a:noFill/>
          <a:ln/>
        </p:spPr>
        <p:txBody>
          <a:bodyPr wrap="square" lIns="0" tIns="0" rIns="0" bIns="0" rtlCol="0" anchor="t"/>
          <a:lstStyle/>
          <a:p>
            <a:pPr indent="0" marL="0">
              <a:buNone/>
            </a:pPr>
            <a:r>
              <a:rPr lang="en-US" sz="1300" dirty="0">
                <a:solidFill>
                  <a:schemeClr val="accent4"/>
                </a:solidFill>
              </a:rPr>
              <a:t>Fusion ou n8n</a:t>
            </a:r>
            <a:endParaRPr lang="en-US" sz="1300" dirty="0"/>
          </a:p>
        </p:txBody>
      </p:sp>
      <p:sp>
        <p:nvSpPr>
          <p:cNvPr id="8" name="flèche 1"/>
          <p:cNvSpPr/>
          <p:nvPr/>
        </p:nvSpPr>
        <p:spPr>
          <a:xfrm>
            <a:off x="2724912" y="2788920"/>
            <a:ext cx="747674" cy="0"/>
          </a:xfrm>
          <a:prstGeom prst="line">
            <a:avLst/>
          </a:prstGeom>
          <a:noFill/>
          <a:ln w="25400">
            <a:solidFill>
              <a:schemeClr val="accent4"/>
            </a:solidFill>
            <a:prstDash val="solid"/>
            <a:tailEnd type="triangle"/>
          </a:ln>
        </p:spPr>
      </p:sp>
      <p:sp>
        <p:nvSpPr>
          <p:cNvPr id="9" name="bloc Tunnel ngrok"/>
          <p:cNvSpPr/>
          <p:nvPr/>
        </p:nvSpPr>
        <p:spPr>
          <a:xfrm>
            <a:off x="3545738" y="1828800"/>
            <a:ext cx="2103120" cy="1920240"/>
          </a:xfrm>
          <a:prstGeom prst="roundRect">
            <a:avLst>
              <a:gd name="adj" fmla="val 5714"/>
            </a:avLst>
          </a:prstGeom>
          <a:solidFill>
            <a:schemeClr val="bg2"/>
          </a:solidFill>
          <a:ln/>
        </p:spPr>
      </p:sp>
      <p:sp>
        <p:nvSpPr>
          <p:cNvPr id="10" name="icône Tunnel ngrok fond"/>
          <p:cNvSpPr/>
          <p:nvPr/>
        </p:nvSpPr>
        <p:spPr>
          <a:xfrm>
            <a:off x="3820058" y="2057400"/>
            <a:ext cx="640080" cy="640080"/>
          </a:xfrm>
          <a:prstGeom prst="ellipse">
            <a:avLst/>
          </a:prstGeom>
          <a:solidFill>
            <a:srgbClr val="D9531E"/>
          </a:solidFill>
          <a:ln/>
        </p:spPr>
      </p:sp>
      <p:pic>
        <p:nvPicPr>
          <p:cNvPr id="11" name="icône Tunnel ngrok" descr="preencoded.png">    </p:cNvPr>
          <p:cNvPicPr>
            <a:picLocks noChangeAspect="1"/>
          </p:cNvPicPr>
          <p:nvPr/>
        </p:nvPicPr>
        <p:blipFill>
          <a:blip r:embed="rId2"/>
          <a:stretch>
            <a:fillRect/>
          </a:stretch>
        </p:blipFill>
        <p:spPr>
          <a:xfrm>
            <a:off x="3992880" y="2230222"/>
            <a:ext cx="294437" cy="294437"/>
          </a:xfrm>
          <a:prstGeom prst="rect">
            <a:avLst/>
          </a:prstGeom>
        </p:spPr>
      </p:pic>
      <p:sp>
        <p:nvSpPr>
          <p:cNvPr id="12" name="Text 8"/>
          <p:cNvSpPr txBox="1"/>
          <p:nvPr/>
        </p:nvSpPr>
        <p:spPr>
          <a:xfrm>
            <a:off x="3820058" y="2834640"/>
            <a:ext cx="1737360" cy="365760"/>
          </a:xfrm>
          <a:prstGeom prst="rect">
            <a:avLst/>
          </a:prstGeom>
          <a:noFill/>
          <a:ln/>
        </p:spPr>
        <p:txBody>
          <a:bodyPr wrap="square" lIns="0" tIns="0" rIns="0" bIns="0" rtlCol="0" anchor="t"/>
          <a:lstStyle/>
          <a:p>
            <a:pPr indent="0" marL="0">
              <a:buNone/>
            </a:pPr>
            <a:r>
              <a:rPr lang="en-US" sz="1700" b="1" dirty="0">
                <a:solidFill>
                  <a:schemeClr val="tx2"/>
                </a:solidFill>
              </a:rPr>
              <a:t>Tunnel ngrok</a:t>
            </a:r>
            <a:endParaRPr lang="en-US" sz="1700" dirty="0"/>
          </a:p>
        </p:txBody>
      </p:sp>
      <p:sp>
        <p:nvSpPr>
          <p:cNvPr id="13" name="Text 9"/>
          <p:cNvSpPr txBox="1"/>
          <p:nvPr/>
        </p:nvSpPr>
        <p:spPr>
          <a:xfrm>
            <a:off x="3820058" y="3200400"/>
            <a:ext cx="1737360" cy="411480"/>
          </a:xfrm>
          <a:prstGeom prst="rect">
            <a:avLst/>
          </a:prstGeom>
          <a:noFill/>
          <a:ln/>
        </p:spPr>
        <p:txBody>
          <a:bodyPr wrap="square" lIns="0" tIns="0" rIns="0" bIns="0" rtlCol="0" anchor="t"/>
          <a:lstStyle/>
          <a:p>
            <a:pPr indent="0" marL="0">
              <a:buNone/>
            </a:pPr>
            <a:r>
              <a:rPr lang="en-US" sz="1300" dirty="0">
                <a:solidFill>
                  <a:schemeClr val="accent4"/>
                </a:solidFill>
              </a:rPr>
              <a:t>adresse HTTPS fixe</a:t>
            </a:r>
            <a:endParaRPr lang="en-US" sz="1300" dirty="0"/>
          </a:p>
        </p:txBody>
      </p:sp>
      <p:sp>
        <p:nvSpPr>
          <p:cNvPr id="14" name="flèche 2"/>
          <p:cNvSpPr/>
          <p:nvPr/>
        </p:nvSpPr>
        <p:spPr>
          <a:xfrm>
            <a:off x="5722010" y="2788920"/>
            <a:ext cx="747674" cy="0"/>
          </a:xfrm>
          <a:prstGeom prst="line">
            <a:avLst/>
          </a:prstGeom>
          <a:noFill/>
          <a:ln w="25400">
            <a:solidFill>
              <a:schemeClr val="accent4"/>
            </a:solidFill>
            <a:prstDash val="solid"/>
            <a:tailEnd type="triangle"/>
          </a:ln>
        </p:spPr>
      </p:sp>
      <p:sp>
        <p:nvSpPr>
          <p:cNvPr id="15" name="bloc Workly"/>
          <p:cNvSpPr/>
          <p:nvPr/>
        </p:nvSpPr>
        <p:spPr>
          <a:xfrm>
            <a:off x="6542837" y="1828800"/>
            <a:ext cx="2103120" cy="1920240"/>
          </a:xfrm>
          <a:prstGeom prst="roundRect">
            <a:avLst>
              <a:gd name="adj" fmla="val 5714"/>
            </a:avLst>
          </a:prstGeom>
          <a:solidFill>
            <a:schemeClr val="bg2"/>
          </a:solidFill>
          <a:ln/>
        </p:spPr>
      </p:sp>
      <p:sp>
        <p:nvSpPr>
          <p:cNvPr id="16" name="icône Workly fond"/>
          <p:cNvSpPr/>
          <p:nvPr/>
        </p:nvSpPr>
        <p:spPr>
          <a:xfrm>
            <a:off x="6817157" y="2057400"/>
            <a:ext cx="640080" cy="640080"/>
          </a:xfrm>
          <a:prstGeom prst="ellipse">
            <a:avLst/>
          </a:prstGeom>
          <a:solidFill>
            <a:srgbClr val="1F8F7F"/>
          </a:solidFill>
          <a:ln/>
        </p:spPr>
      </p:sp>
      <p:pic>
        <p:nvPicPr>
          <p:cNvPr id="17" name="icône Workly" descr="preencoded.png">    </p:cNvPr>
          <p:cNvPicPr>
            <a:picLocks noChangeAspect="1"/>
          </p:cNvPicPr>
          <p:nvPr/>
        </p:nvPicPr>
        <p:blipFill>
          <a:blip r:embed="rId3"/>
          <a:stretch>
            <a:fillRect/>
          </a:stretch>
        </p:blipFill>
        <p:spPr>
          <a:xfrm>
            <a:off x="6989978" y="2230222"/>
            <a:ext cx="294437" cy="294437"/>
          </a:xfrm>
          <a:prstGeom prst="rect">
            <a:avLst/>
          </a:prstGeom>
        </p:spPr>
      </p:pic>
      <p:sp>
        <p:nvSpPr>
          <p:cNvPr id="18" name="Text 13"/>
          <p:cNvSpPr txBox="1"/>
          <p:nvPr/>
        </p:nvSpPr>
        <p:spPr>
          <a:xfrm>
            <a:off x="6817157" y="2834640"/>
            <a:ext cx="1737360" cy="365760"/>
          </a:xfrm>
          <a:prstGeom prst="rect">
            <a:avLst/>
          </a:prstGeom>
          <a:noFill/>
          <a:ln/>
        </p:spPr>
        <p:txBody>
          <a:bodyPr wrap="square" lIns="0" tIns="0" rIns="0" bIns="0" rtlCol="0" anchor="t"/>
          <a:lstStyle/>
          <a:p>
            <a:pPr indent="0" marL="0">
              <a:buNone/>
            </a:pPr>
            <a:r>
              <a:rPr lang="en-US" sz="1700" b="1" dirty="0">
                <a:solidFill>
                  <a:schemeClr val="tx2"/>
                </a:solidFill>
              </a:rPr>
              <a:t>Workly</a:t>
            </a:r>
            <a:endParaRPr lang="en-US" sz="1700" dirty="0"/>
          </a:p>
        </p:txBody>
      </p:sp>
      <p:sp>
        <p:nvSpPr>
          <p:cNvPr id="19" name="Text 14"/>
          <p:cNvSpPr txBox="1"/>
          <p:nvPr/>
        </p:nvSpPr>
        <p:spPr>
          <a:xfrm>
            <a:off x="6817157" y="3200400"/>
            <a:ext cx="1737360" cy="411480"/>
          </a:xfrm>
          <a:prstGeom prst="rect">
            <a:avLst/>
          </a:prstGeom>
          <a:noFill/>
          <a:ln/>
        </p:spPr>
        <p:txBody>
          <a:bodyPr wrap="square" lIns="0" tIns="0" rIns="0" bIns="0" rtlCol="0" anchor="t"/>
          <a:lstStyle/>
          <a:p>
            <a:pPr indent="0" marL="0">
              <a:buNone/>
            </a:pPr>
            <a:r>
              <a:rPr lang="en-US" sz="1300" dirty="0">
                <a:solidFill>
                  <a:schemeClr val="accent4"/>
                </a:solidFill>
              </a:rPr>
              <a:t>serveur sur mon PC</a:t>
            </a:r>
            <a:endParaRPr lang="en-US" sz="1300" dirty="0"/>
          </a:p>
        </p:txBody>
      </p:sp>
      <p:sp>
        <p:nvSpPr>
          <p:cNvPr id="20" name="flèche 3"/>
          <p:cNvSpPr/>
          <p:nvPr/>
        </p:nvSpPr>
        <p:spPr>
          <a:xfrm>
            <a:off x="8719109" y="2788920"/>
            <a:ext cx="747674" cy="0"/>
          </a:xfrm>
          <a:prstGeom prst="line">
            <a:avLst/>
          </a:prstGeom>
          <a:noFill/>
          <a:ln w="25400">
            <a:solidFill>
              <a:schemeClr val="accent4"/>
            </a:solidFill>
            <a:prstDash val="solid"/>
            <a:tailEnd type="triangle"/>
          </a:ln>
        </p:spPr>
      </p:sp>
      <p:sp>
        <p:nvSpPr>
          <p:cNvPr id="21" name="bloc PostgreSQL"/>
          <p:cNvSpPr/>
          <p:nvPr/>
        </p:nvSpPr>
        <p:spPr>
          <a:xfrm>
            <a:off x="9539935" y="1828800"/>
            <a:ext cx="2103120" cy="1920240"/>
          </a:xfrm>
          <a:prstGeom prst="roundRect">
            <a:avLst>
              <a:gd name="adj" fmla="val 5714"/>
            </a:avLst>
          </a:prstGeom>
          <a:solidFill>
            <a:schemeClr val="bg2"/>
          </a:solidFill>
          <a:ln/>
        </p:spPr>
      </p:sp>
      <p:sp>
        <p:nvSpPr>
          <p:cNvPr id="22" name="icône PostgreSQL fond"/>
          <p:cNvSpPr/>
          <p:nvPr/>
        </p:nvSpPr>
        <p:spPr>
          <a:xfrm>
            <a:off x="9814255" y="2057400"/>
            <a:ext cx="640080" cy="640080"/>
          </a:xfrm>
          <a:prstGeom prst="ellipse">
            <a:avLst/>
          </a:prstGeom>
          <a:solidFill>
            <a:srgbClr val="0E2A47"/>
          </a:solidFill>
          <a:ln/>
        </p:spPr>
      </p:sp>
      <p:pic>
        <p:nvPicPr>
          <p:cNvPr id="23" name="icône PostgreSQL" descr="preencoded.png">    </p:cNvPr>
          <p:cNvPicPr>
            <a:picLocks noChangeAspect="1"/>
          </p:cNvPicPr>
          <p:nvPr/>
        </p:nvPicPr>
        <p:blipFill>
          <a:blip r:embed="rId4"/>
          <a:stretch>
            <a:fillRect/>
          </a:stretch>
        </p:blipFill>
        <p:spPr>
          <a:xfrm>
            <a:off x="9987077" y="2230222"/>
            <a:ext cx="294437" cy="294437"/>
          </a:xfrm>
          <a:prstGeom prst="rect">
            <a:avLst/>
          </a:prstGeom>
        </p:spPr>
      </p:pic>
      <p:sp>
        <p:nvSpPr>
          <p:cNvPr id="24" name="Text 18"/>
          <p:cNvSpPr txBox="1"/>
          <p:nvPr/>
        </p:nvSpPr>
        <p:spPr>
          <a:xfrm>
            <a:off x="9814255" y="2834640"/>
            <a:ext cx="1737360" cy="365760"/>
          </a:xfrm>
          <a:prstGeom prst="rect">
            <a:avLst/>
          </a:prstGeom>
          <a:noFill/>
          <a:ln/>
        </p:spPr>
        <p:txBody>
          <a:bodyPr wrap="square" lIns="0" tIns="0" rIns="0" bIns="0" rtlCol="0" anchor="t"/>
          <a:lstStyle/>
          <a:p>
            <a:pPr indent="0" marL="0">
              <a:buNone/>
            </a:pPr>
            <a:r>
              <a:rPr lang="en-US" sz="1700" b="1" dirty="0">
                <a:solidFill>
                  <a:schemeClr val="tx2"/>
                </a:solidFill>
              </a:rPr>
              <a:t>PostgreSQL</a:t>
            </a:r>
            <a:endParaRPr lang="en-US" sz="1700" dirty="0"/>
          </a:p>
        </p:txBody>
      </p:sp>
      <p:sp>
        <p:nvSpPr>
          <p:cNvPr id="25" name="Text 19"/>
          <p:cNvSpPr txBox="1"/>
          <p:nvPr/>
        </p:nvSpPr>
        <p:spPr>
          <a:xfrm>
            <a:off x="9814255" y="3200400"/>
            <a:ext cx="1737360" cy="411480"/>
          </a:xfrm>
          <a:prstGeom prst="rect">
            <a:avLst/>
          </a:prstGeom>
          <a:noFill/>
          <a:ln/>
        </p:spPr>
        <p:txBody>
          <a:bodyPr wrap="square" lIns="0" tIns="0" rIns="0" bIns="0" rtlCol="0" anchor="t"/>
          <a:lstStyle/>
          <a:p>
            <a:pPr indent="0" marL="0">
              <a:buNone/>
            </a:pPr>
            <a:r>
              <a:rPr lang="en-US" sz="1300" dirty="0">
                <a:solidFill>
                  <a:schemeClr val="accent4"/>
                </a:solidFill>
              </a:rPr>
              <a:t>données de Workly</a:t>
            </a:r>
            <a:endParaRPr lang="en-US" sz="1300" dirty="0"/>
          </a:p>
        </p:txBody>
      </p:sp>
      <p:sp>
        <p:nvSpPr>
          <p:cNvPr id="26" name="Text 20"/>
          <p:cNvSpPr txBox="1"/>
          <p:nvPr/>
        </p:nvSpPr>
        <p:spPr>
          <a:xfrm>
            <a:off x="2651760" y="2441448"/>
            <a:ext cx="893978" cy="274320"/>
          </a:xfrm>
          <a:prstGeom prst="rect">
            <a:avLst/>
          </a:prstGeom>
          <a:noFill/>
          <a:ln/>
        </p:spPr>
        <p:txBody>
          <a:bodyPr wrap="square" lIns="0" tIns="0" rIns="0" bIns="0" rtlCol="0" anchor="t"/>
          <a:lstStyle/>
          <a:p>
            <a:pPr algn="ctr" indent="0" marL="0">
              <a:buNone/>
            </a:pPr>
            <a:r>
              <a:rPr lang="en-US" sz="1100" dirty="0">
                <a:solidFill>
                  <a:schemeClr val="accent4"/>
                </a:solidFill>
              </a:rPr>
              <a:t>HTTPS + jeton</a:t>
            </a:r>
            <a:endParaRPr lang="en-US" sz="1100" dirty="0"/>
          </a:p>
        </p:txBody>
      </p:sp>
      <p:sp>
        <p:nvSpPr>
          <p:cNvPr id="27" name="Text 21"/>
          <p:cNvSpPr txBox="1"/>
          <p:nvPr/>
        </p:nvSpPr>
        <p:spPr>
          <a:xfrm>
            <a:off x="548640" y="4114800"/>
            <a:ext cx="3515258" cy="411480"/>
          </a:xfrm>
          <a:prstGeom prst="rect">
            <a:avLst/>
          </a:prstGeom>
          <a:noFill/>
          <a:ln/>
        </p:spPr>
        <p:txBody>
          <a:bodyPr wrap="square" lIns="0" tIns="0" rIns="0" bIns="0" rtlCol="0" anchor="t"/>
          <a:lstStyle/>
          <a:p>
            <a:pPr indent="0" marL="0">
              <a:buNone/>
            </a:pPr>
            <a:r>
              <a:rPr lang="en-US" sz="1900" b="1" dirty="0">
                <a:solidFill>
                  <a:schemeClr val="tx2"/>
                </a:solidFill>
              </a:rPr>
              <a:t>Un jeton secret</a:t>
            </a:r>
            <a:endParaRPr lang="en-US" sz="1900" dirty="0"/>
          </a:p>
        </p:txBody>
      </p:sp>
      <p:sp>
        <p:nvSpPr>
          <p:cNvPr id="28" name="Text 22"/>
          <p:cNvSpPr txBox="1"/>
          <p:nvPr/>
        </p:nvSpPr>
        <p:spPr>
          <a:xfrm>
            <a:off x="548640" y="4617720"/>
            <a:ext cx="3515258" cy="1463040"/>
          </a:xfrm>
          <a:prstGeom prst="rect">
            <a:avLst/>
          </a:prstGeom>
          <a:noFill/>
          <a:ln/>
        </p:spPr>
        <p:txBody>
          <a:bodyPr wrap="square" lIns="0" tIns="0" rIns="0" bIns="0" rtlCol="0" anchor="t"/>
          <a:lstStyle/>
          <a:p>
            <a:pPr indent="0" marL="0">
              <a:buNone/>
            </a:pPr>
            <a:r>
              <a:rPr lang="en-US" sz="1600" dirty="0">
                <a:solidFill>
                  <a:schemeClr val="tx1"/>
                </a:solidFill>
              </a:rPr>
              <a:t>Chaque appel porte l'en-tête Authorization: Bearer. Sans lui, Workly répond 401.</a:t>
            </a:r>
            <a:endParaRPr lang="en-US" sz="1600" dirty="0"/>
          </a:p>
        </p:txBody>
      </p:sp>
      <p:sp>
        <p:nvSpPr>
          <p:cNvPr id="29" name="Text 23"/>
          <p:cNvSpPr txBox="1"/>
          <p:nvPr/>
        </p:nvSpPr>
        <p:spPr>
          <a:xfrm>
            <a:off x="4338218" y="4114800"/>
            <a:ext cx="3515258" cy="411480"/>
          </a:xfrm>
          <a:prstGeom prst="rect">
            <a:avLst/>
          </a:prstGeom>
          <a:noFill/>
          <a:ln/>
        </p:spPr>
        <p:txBody>
          <a:bodyPr wrap="square" lIns="0" tIns="0" rIns="0" bIns="0" rtlCol="0" anchor="t"/>
          <a:lstStyle/>
          <a:p>
            <a:pPr indent="0" marL="0">
              <a:buNone/>
            </a:pPr>
            <a:r>
              <a:rPr lang="en-US" sz="1900" b="1" dirty="0">
                <a:solidFill>
                  <a:schemeClr val="tx2"/>
                </a:solidFill>
              </a:rPr>
              <a:t>Une tâche à la fois</a:t>
            </a:r>
            <a:endParaRPr lang="en-US" sz="1900" dirty="0"/>
          </a:p>
        </p:txBody>
      </p:sp>
      <p:sp>
        <p:nvSpPr>
          <p:cNvPr id="30" name="Text 24"/>
          <p:cNvSpPr txBox="1"/>
          <p:nvPr/>
        </p:nvSpPr>
        <p:spPr>
          <a:xfrm>
            <a:off x="4338218" y="4617720"/>
            <a:ext cx="3515258" cy="1463040"/>
          </a:xfrm>
          <a:prstGeom prst="rect">
            <a:avLst/>
          </a:prstGeom>
          <a:noFill/>
          <a:ln/>
        </p:spPr>
        <p:txBody>
          <a:bodyPr wrap="square" lIns="0" tIns="0" rIns="0" bIns="0" rtlCol="0" anchor="t"/>
          <a:lstStyle/>
          <a:p>
            <a:pPr indent="0" marL="0">
              <a:buNone/>
            </a:pPr>
            <a:r>
              <a:rPr lang="en-US" sz="1600" dirty="0">
                <a:solidFill>
                  <a:schemeClr val="tx1"/>
                </a:solidFill>
              </a:rPr>
              <a:t>Un verrou refuse un second appel avec un 409 : jamais deux calculs en parallèle.</a:t>
            </a:r>
            <a:endParaRPr lang="en-US" sz="1600" dirty="0"/>
          </a:p>
        </p:txBody>
      </p:sp>
      <p:sp>
        <p:nvSpPr>
          <p:cNvPr id="31" name="Text 25"/>
          <p:cNvSpPr txBox="1"/>
          <p:nvPr/>
        </p:nvSpPr>
        <p:spPr>
          <a:xfrm>
            <a:off x="8127797" y="4114800"/>
            <a:ext cx="3515258" cy="411480"/>
          </a:xfrm>
          <a:prstGeom prst="rect">
            <a:avLst/>
          </a:prstGeom>
          <a:noFill/>
          <a:ln/>
        </p:spPr>
        <p:txBody>
          <a:bodyPr wrap="square" lIns="0" tIns="0" rIns="0" bIns="0" rtlCol="0" anchor="t"/>
          <a:lstStyle/>
          <a:p>
            <a:pPr indent="0" marL="0">
              <a:buNone/>
            </a:pPr>
            <a:r>
              <a:rPr lang="en-US" sz="1900" b="1" dirty="0">
                <a:solidFill>
                  <a:schemeClr val="tx2"/>
                </a:solidFill>
              </a:rPr>
              <a:t>Horaires en UTC</a:t>
            </a:r>
            <a:endParaRPr lang="en-US" sz="1900" dirty="0"/>
          </a:p>
        </p:txBody>
      </p:sp>
      <p:sp>
        <p:nvSpPr>
          <p:cNvPr id="32" name="Text 26"/>
          <p:cNvSpPr txBox="1"/>
          <p:nvPr/>
        </p:nvSpPr>
        <p:spPr>
          <a:xfrm>
            <a:off x="8127797" y="4617720"/>
            <a:ext cx="3515258" cy="1463040"/>
          </a:xfrm>
          <a:prstGeom prst="rect">
            <a:avLst/>
          </a:prstGeom>
          <a:noFill/>
          <a:ln/>
        </p:spPr>
        <p:txBody>
          <a:bodyPr wrap="square" lIns="0" tIns="0" rIns="0" bIns="0" rtlCol="0" anchor="t"/>
          <a:lstStyle/>
          <a:p>
            <a:pPr indent="0" marL="0">
              <a:buNone/>
            </a:pPr>
            <a:r>
              <a:rPr lang="en-US" sz="1600" dirty="0">
                <a:solidFill>
                  <a:schemeClr val="tx1"/>
                </a:solidFill>
              </a:rPr>
              <a:t>Le Maroc est à UTC+1 : un Cron à 00:30 UTC part à 01:30 chez moi.</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051560"/>
          </a:xfrm>
          <a:prstGeom prst="rect">
            <a:avLst/>
          </a:prstGeom>
          <a:noFill/>
          <a:ln/>
        </p:spPr>
        <p:txBody>
          <a:bodyPr wrap="square" lIns="0" tIns="0" rIns="0" bIns="0" rtlCol="0" anchor="ctr"/>
          <a:lstStyle/>
          <a:p>
            <a:pPr algn="l" indent="0" marL="0">
              <a:buNone/>
            </a:pPr>
            <a:r>
              <a:rPr lang="en-US" sz="3400" b="1" dirty="0">
                <a:solidFill>
                  <a:schemeClr val="tx2"/>
                </a:solidFill>
              </a:rPr>
              <a:t>Ce que j'ai ajouté à Workly pour l'automatiser</a:t>
            </a:r>
            <a:endParaRPr lang="en-US" sz="3400" dirty="0"/>
          </a:p>
        </p:txBody>
      </p:sp>
      <p:sp>
        <p:nvSpPr>
          <p:cNvPr id="3" name="carte ajout 1"/>
          <p:cNvSpPr/>
          <p:nvPr/>
        </p:nvSpPr>
        <p:spPr>
          <a:xfrm>
            <a:off x="548640" y="1783080"/>
            <a:ext cx="5364328" cy="2011680"/>
          </a:xfrm>
          <a:prstGeom prst="roundRect">
            <a:avLst>
              <a:gd name="adj" fmla="val 5455"/>
            </a:avLst>
          </a:prstGeom>
          <a:solidFill>
            <a:schemeClr val="bg2"/>
          </a:solidFill>
          <a:ln/>
        </p:spPr>
      </p:sp>
      <p:sp>
        <p:nvSpPr>
          <p:cNvPr id="4" name="icône ajout 1 fond"/>
          <p:cNvSpPr/>
          <p:nvPr/>
        </p:nvSpPr>
        <p:spPr>
          <a:xfrm>
            <a:off x="822960" y="2103120"/>
            <a:ext cx="731520" cy="731520"/>
          </a:xfrm>
          <a:prstGeom prst="ellipse">
            <a:avLst/>
          </a:prstGeom>
          <a:solidFill>
            <a:srgbClr val="2B5FD9"/>
          </a:solidFill>
          <a:ln/>
        </p:spPr>
      </p:sp>
      <p:pic>
        <p:nvPicPr>
          <p:cNvPr id="5" name="icône ajout 1" descr="preencoded.png">    </p:cNvPr>
          <p:cNvPicPr>
            <a:picLocks noChangeAspect="1"/>
          </p:cNvPicPr>
          <p:nvPr/>
        </p:nvPicPr>
        <p:blipFill>
          <a:blip r:embed="rId1"/>
          <a:stretch>
            <a:fillRect/>
          </a:stretch>
        </p:blipFill>
        <p:spPr>
          <a:xfrm>
            <a:off x="1020470" y="2300630"/>
            <a:ext cx="336499" cy="336499"/>
          </a:xfrm>
          <a:prstGeom prst="rect">
            <a:avLst/>
          </a:prstGeom>
        </p:spPr>
      </p:pic>
      <p:sp>
        <p:nvSpPr>
          <p:cNvPr id="6" name="Text 3"/>
          <p:cNvSpPr txBox="1"/>
          <p:nvPr/>
        </p:nvSpPr>
        <p:spPr>
          <a:xfrm>
            <a:off x="1737360" y="2057400"/>
            <a:ext cx="3901288" cy="457200"/>
          </a:xfrm>
          <a:prstGeom prst="rect">
            <a:avLst/>
          </a:prstGeom>
          <a:noFill/>
          <a:ln/>
        </p:spPr>
        <p:txBody>
          <a:bodyPr wrap="square" lIns="0" tIns="0" rIns="0" bIns="0" rtlCol="0" anchor="t"/>
          <a:lstStyle/>
          <a:p>
            <a:pPr indent="0" marL="0">
              <a:buNone/>
            </a:pPr>
            <a:r>
              <a:rPr lang="en-US" sz="1900" b="1" dirty="0">
                <a:solidFill>
                  <a:schemeClr val="tx2"/>
                </a:solidFill>
              </a:rPr>
              <a:t>Un accès HTTP sécurisé</a:t>
            </a:r>
            <a:endParaRPr lang="en-US" sz="1900" dirty="0"/>
          </a:p>
        </p:txBody>
      </p:sp>
      <p:sp>
        <p:nvSpPr>
          <p:cNvPr id="7" name="Text 4"/>
          <p:cNvSpPr txBox="1"/>
          <p:nvPr/>
        </p:nvSpPr>
        <p:spPr>
          <a:xfrm>
            <a:off x="1737360" y="2606040"/>
            <a:ext cx="3901288" cy="1097280"/>
          </a:xfrm>
          <a:prstGeom prst="rect">
            <a:avLst/>
          </a:prstGeom>
          <a:noFill/>
          <a:ln/>
        </p:spPr>
        <p:txBody>
          <a:bodyPr wrap="square" lIns="0" tIns="0" rIns="0" bIns="0" rtlCol="0" anchor="t"/>
          <a:lstStyle/>
          <a:p>
            <a:pPr indent="0" marL="0">
              <a:buNone/>
            </a:pPr>
            <a:r>
              <a:rPr lang="en-US" sz="1500" dirty="0">
                <a:solidFill>
                  <a:schemeClr val="tx1"/>
                </a:solidFill>
              </a:rPr>
              <a:t>Jeton obligatoire, verrou 409, routes /sante, /taches, /alerte et /taches-du-jour.</a:t>
            </a:r>
            <a:endParaRPr lang="en-US" sz="1500" dirty="0"/>
          </a:p>
        </p:txBody>
      </p:sp>
      <p:sp>
        <p:nvSpPr>
          <p:cNvPr id="8" name="carte ajout 2"/>
          <p:cNvSpPr/>
          <p:nvPr/>
        </p:nvSpPr>
        <p:spPr>
          <a:xfrm>
            <a:off x="6278728" y="1783080"/>
            <a:ext cx="5364328" cy="2011680"/>
          </a:xfrm>
          <a:prstGeom prst="roundRect">
            <a:avLst>
              <a:gd name="adj" fmla="val 5455"/>
            </a:avLst>
          </a:prstGeom>
          <a:solidFill>
            <a:schemeClr val="bg2"/>
          </a:solidFill>
          <a:ln/>
        </p:spPr>
      </p:sp>
      <p:sp>
        <p:nvSpPr>
          <p:cNvPr id="9" name="icône ajout 2 fond"/>
          <p:cNvSpPr/>
          <p:nvPr/>
        </p:nvSpPr>
        <p:spPr>
          <a:xfrm>
            <a:off x="6553048" y="2103120"/>
            <a:ext cx="731520" cy="731520"/>
          </a:xfrm>
          <a:prstGeom prst="ellipse">
            <a:avLst/>
          </a:prstGeom>
          <a:solidFill>
            <a:srgbClr val="1F8F7F"/>
          </a:solidFill>
          <a:ln/>
        </p:spPr>
      </p:sp>
      <p:pic>
        <p:nvPicPr>
          <p:cNvPr id="10" name="icône ajout 2" descr="preencoded.png">    </p:cNvPr>
          <p:cNvPicPr>
            <a:picLocks noChangeAspect="1"/>
          </p:cNvPicPr>
          <p:nvPr/>
        </p:nvPicPr>
        <p:blipFill>
          <a:blip r:embed="rId2"/>
          <a:stretch>
            <a:fillRect/>
          </a:stretch>
        </p:blipFill>
        <p:spPr>
          <a:xfrm>
            <a:off x="6750558" y="2300630"/>
            <a:ext cx="336499" cy="336499"/>
          </a:xfrm>
          <a:prstGeom prst="rect">
            <a:avLst/>
          </a:prstGeom>
        </p:spPr>
      </p:pic>
      <p:sp>
        <p:nvSpPr>
          <p:cNvPr id="11" name="Text 7"/>
          <p:cNvSpPr txBox="1"/>
          <p:nvPr/>
        </p:nvSpPr>
        <p:spPr>
          <a:xfrm>
            <a:off x="7467448" y="2057400"/>
            <a:ext cx="3901288" cy="457200"/>
          </a:xfrm>
          <a:prstGeom prst="rect">
            <a:avLst/>
          </a:prstGeom>
          <a:noFill/>
          <a:ln/>
        </p:spPr>
        <p:txBody>
          <a:bodyPr wrap="square" lIns="0" tIns="0" rIns="0" bIns="0" rtlCol="0" anchor="t"/>
          <a:lstStyle/>
          <a:p>
            <a:pPr indent="0" marL="0">
              <a:buNone/>
            </a:pPr>
            <a:r>
              <a:rPr lang="en-US" sz="1900" b="1" dirty="0">
                <a:solidFill>
                  <a:schemeClr val="tx2"/>
                </a:solidFill>
              </a:rPr>
              <a:t>Trois nouvelles tâches</a:t>
            </a:r>
            <a:endParaRPr lang="en-US" sz="1900" dirty="0"/>
          </a:p>
        </p:txBody>
      </p:sp>
      <p:sp>
        <p:nvSpPr>
          <p:cNvPr id="12" name="Text 8"/>
          <p:cNvSpPr txBox="1"/>
          <p:nvPr/>
        </p:nvSpPr>
        <p:spPr>
          <a:xfrm>
            <a:off x="7467448" y="2606040"/>
            <a:ext cx="3901288" cy="1097280"/>
          </a:xfrm>
          <a:prstGeom prst="rect">
            <a:avLst/>
          </a:prstGeom>
          <a:noFill/>
          <a:ln/>
        </p:spPr>
        <p:txBody>
          <a:bodyPr wrap="square" lIns="0" tIns="0" rIns="0" bIns="0" rtlCol="0" anchor="t"/>
          <a:lstStyle/>
          <a:p>
            <a:pPr indent="0" marL="0">
              <a:buNone/>
            </a:pPr>
            <a:r>
              <a:rPr lang="en-US" sz="1500" dirty="0">
                <a:solidFill>
                  <a:schemeClr val="tx1"/>
                </a:solidFill>
              </a:rPr>
              <a:t>Import des prévisions de volume, reconduction des capacités du dimanche, sauvegarde quotidienne de la base.</a:t>
            </a:r>
            <a:endParaRPr lang="en-US" sz="1500" dirty="0"/>
          </a:p>
        </p:txBody>
      </p:sp>
      <p:sp>
        <p:nvSpPr>
          <p:cNvPr id="13" name="carte ajout 3"/>
          <p:cNvSpPr/>
          <p:nvPr/>
        </p:nvSpPr>
        <p:spPr>
          <a:xfrm>
            <a:off x="548640" y="4023360"/>
            <a:ext cx="5364328" cy="2011680"/>
          </a:xfrm>
          <a:prstGeom prst="roundRect">
            <a:avLst>
              <a:gd name="adj" fmla="val 5455"/>
            </a:avLst>
          </a:prstGeom>
          <a:solidFill>
            <a:schemeClr val="bg2"/>
          </a:solidFill>
          <a:ln/>
        </p:spPr>
      </p:sp>
      <p:sp>
        <p:nvSpPr>
          <p:cNvPr id="14" name="icône ajout 3 fond"/>
          <p:cNvSpPr/>
          <p:nvPr/>
        </p:nvSpPr>
        <p:spPr>
          <a:xfrm>
            <a:off x="822960" y="4343400"/>
            <a:ext cx="731520" cy="731520"/>
          </a:xfrm>
          <a:prstGeom prst="ellipse">
            <a:avLst/>
          </a:prstGeom>
          <a:solidFill>
            <a:srgbClr val="D9531E"/>
          </a:solidFill>
          <a:ln/>
        </p:spPr>
      </p:sp>
      <p:pic>
        <p:nvPicPr>
          <p:cNvPr id="15" name="icône ajout 3" descr="preencoded.png">    </p:cNvPr>
          <p:cNvPicPr>
            <a:picLocks noChangeAspect="1"/>
          </p:cNvPicPr>
          <p:nvPr/>
        </p:nvPicPr>
        <p:blipFill>
          <a:blip r:embed="rId3"/>
          <a:stretch>
            <a:fillRect/>
          </a:stretch>
        </p:blipFill>
        <p:spPr>
          <a:xfrm>
            <a:off x="1020470" y="4540910"/>
            <a:ext cx="336499" cy="336499"/>
          </a:xfrm>
          <a:prstGeom prst="rect">
            <a:avLst/>
          </a:prstGeom>
        </p:spPr>
      </p:pic>
      <p:sp>
        <p:nvSpPr>
          <p:cNvPr id="16" name="Text 11"/>
          <p:cNvSpPr txBox="1"/>
          <p:nvPr/>
        </p:nvSpPr>
        <p:spPr>
          <a:xfrm>
            <a:off x="1737360" y="4297680"/>
            <a:ext cx="3901288" cy="457200"/>
          </a:xfrm>
          <a:prstGeom prst="rect">
            <a:avLst/>
          </a:prstGeom>
          <a:noFill/>
          <a:ln/>
        </p:spPr>
        <p:txBody>
          <a:bodyPr wrap="square" lIns="0" tIns="0" rIns="0" bIns="0" rtlCol="0" anchor="t"/>
          <a:lstStyle/>
          <a:p>
            <a:pPr indent="0" marL="0">
              <a:buNone/>
            </a:pPr>
            <a:r>
              <a:rPr lang="en-US" sz="1900" b="1" dirty="0">
                <a:solidFill>
                  <a:schemeClr val="tx2"/>
                </a:solidFill>
              </a:rPr>
              <a:t>Des alertes par e-mail</a:t>
            </a:r>
            <a:endParaRPr lang="en-US" sz="1900" dirty="0"/>
          </a:p>
        </p:txBody>
      </p:sp>
      <p:sp>
        <p:nvSpPr>
          <p:cNvPr id="17" name="Text 12"/>
          <p:cNvSpPr txBox="1"/>
          <p:nvPr/>
        </p:nvSpPr>
        <p:spPr>
          <a:xfrm>
            <a:off x="1737360" y="4846320"/>
            <a:ext cx="3901288" cy="1097280"/>
          </a:xfrm>
          <a:prstGeom prst="rect">
            <a:avLst/>
          </a:prstGeom>
          <a:noFill/>
          <a:ln/>
        </p:spPr>
        <p:txBody>
          <a:bodyPr wrap="square" lIns="0" tIns="0" rIns="0" bIns="0" rtlCol="0" anchor="t"/>
          <a:lstStyle/>
          <a:p>
            <a:pPr indent="0" marL="0">
              <a:buNone/>
            </a:pPr>
            <a:r>
              <a:rPr lang="en-US" sz="1500" dirty="0">
                <a:solidFill>
                  <a:schemeClr val="tx1"/>
                </a:solidFill>
              </a:rPr>
              <a:t>Workly écrit lui-même quand une étape échoue. J'ai dû passer en SSL sur le port 465 car le 587 était coupé.</a:t>
            </a:r>
            <a:endParaRPr lang="en-US" sz="1500" dirty="0"/>
          </a:p>
        </p:txBody>
      </p:sp>
      <p:sp>
        <p:nvSpPr>
          <p:cNvPr id="18" name="carte ajout 4"/>
          <p:cNvSpPr/>
          <p:nvPr/>
        </p:nvSpPr>
        <p:spPr>
          <a:xfrm>
            <a:off x="6278728" y="4023360"/>
            <a:ext cx="5364328" cy="2011680"/>
          </a:xfrm>
          <a:prstGeom prst="roundRect">
            <a:avLst>
              <a:gd name="adj" fmla="val 5455"/>
            </a:avLst>
          </a:prstGeom>
          <a:solidFill>
            <a:schemeClr val="bg2"/>
          </a:solidFill>
          <a:ln/>
        </p:spPr>
      </p:sp>
      <p:sp>
        <p:nvSpPr>
          <p:cNvPr id="19" name="icône ajout 4 fond"/>
          <p:cNvSpPr/>
          <p:nvPr/>
        </p:nvSpPr>
        <p:spPr>
          <a:xfrm>
            <a:off x="6553048" y="4343400"/>
            <a:ext cx="731520" cy="731520"/>
          </a:xfrm>
          <a:prstGeom prst="ellipse">
            <a:avLst/>
          </a:prstGeom>
          <a:solidFill>
            <a:srgbClr val="0E2A47"/>
          </a:solidFill>
          <a:ln/>
        </p:spPr>
      </p:sp>
      <p:pic>
        <p:nvPicPr>
          <p:cNvPr id="20" name="icône ajout 4" descr="preencoded.png">    </p:cNvPr>
          <p:cNvPicPr>
            <a:picLocks noChangeAspect="1"/>
          </p:cNvPicPr>
          <p:nvPr/>
        </p:nvPicPr>
        <p:blipFill>
          <a:blip r:embed="rId4"/>
          <a:stretch>
            <a:fillRect/>
          </a:stretch>
        </p:blipFill>
        <p:spPr>
          <a:xfrm>
            <a:off x="6750558" y="4540910"/>
            <a:ext cx="336499" cy="336499"/>
          </a:xfrm>
          <a:prstGeom prst="rect">
            <a:avLst/>
          </a:prstGeom>
        </p:spPr>
      </p:pic>
      <p:sp>
        <p:nvSpPr>
          <p:cNvPr id="21" name="Text 15"/>
          <p:cNvSpPr txBox="1"/>
          <p:nvPr/>
        </p:nvSpPr>
        <p:spPr>
          <a:xfrm>
            <a:off x="7467448" y="4297680"/>
            <a:ext cx="3901288" cy="457200"/>
          </a:xfrm>
          <a:prstGeom prst="rect">
            <a:avLst/>
          </a:prstGeom>
          <a:noFill/>
          <a:ln/>
        </p:spPr>
        <p:txBody>
          <a:bodyPr wrap="square" lIns="0" tIns="0" rIns="0" bIns="0" rtlCol="0" anchor="t"/>
          <a:lstStyle/>
          <a:p>
            <a:pPr indent="0" marL="0">
              <a:buNone/>
            </a:pPr>
            <a:r>
              <a:rPr lang="en-US" sz="1900" b="1" dirty="0">
                <a:solidFill>
                  <a:schemeClr val="tx2"/>
                </a:solidFill>
              </a:rPr>
              <a:t>Scripts Windows</a:t>
            </a:r>
            <a:endParaRPr lang="en-US" sz="1900" dirty="0"/>
          </a:p>
        </p:txBody>
      </p:sp>
      <p:sp>
        <p:nvSpPr>
          <p:cNvPr id="22" name="Text 16"/>
          <p:cNvSpPr txBox="1"/>
          <p:nvPr/>
        </p:nvSpPr>
        <p:spPr>
          <a:xfrm>
            <a:off x="7467448" y="4846320"/>
            <a:ext cx="3901288" cy="1097280"/>
          </a:xfrm>
          <a:prstGeom prst="rect">
            <a:avLst/>
          </a:prstGeom>
          <a:noFill/>
          <a:ln/>
        </p:spPr>
        <p:txBody>
          <a:bodyPr wrap="square" lIns="0" tIns="0" rIns="0" bIns="0" rtlCol="0" anchor="t"/>
          <a:lstStyle/>
          <a:p>
            <a:pPr indent="0" marL="0">
              <a:buNone/>
            </a:pPr>
            <a:r>
              <a:rPr lang="en-US" sz="1500" dirty="0">
                <a:solidFill>
                  <a:schemeClr val="tx1"/>
                </a:solidFill>
              </a:rPr>
              <a:t>Un script lance serveur et tunnel ; un autre les relance à l'ouverture de session.</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051560"/>
          </a:xfrm>
          <a:prstGeom prst="rect">
            <a:avLst/>
          </a:prstGeom>
          <a:noFill/>
          <a:ln/>
        </p:spPr>
        <p:txBody>
          <a:bodyPr wrap="square" lIns="0" tIns="0" rIns="0" bIns="0" rtlCol="0" anchor="ctr"/>
          <a:lstStyle/>
          <a:p>
            <a:pPr algn="l" indent="0" marL="0">
              <a:buNone/>
            </a:pPr>
            <a:r>
              <a:rPr lang="en-US" sz="3400" b="1" dirty="0">
                <a:solidFill>
                  <a:schemeClr val="tx2"/>
                </a:solidFill>
              </a:rPr>
              <a:t>Le pipeline : neuf étapes, chacune avec son alerte</a:t>
            </a:r>
            <a:endParaRPr lang="en-US" sz="3400" dirty="0"/>
          </a:p>
        </p:txBody>
      </p:sp>
      <p:sp>
        <p:nvSpPr>
          <p:cNvPr id="3" name="déclencheurs"/>
          <p:cNvSpPr/>
          <p:nvPr/>
        </p:nvSpPr>
        <p:spPr>
          <a:xfrm>
            <a:off x="548640" y="1691640"/>
            <a:ext cx="11094415" cy="822960"/>
          </a:xfrm>
          <a:prstGeom prst="roundRect">
            <a:avLst>
              <a:gd name="adj" fmla="val 13333"/>
            </a:avLst>
          </a:prstGeom>
          <a:solidFill>
            <a:srgbClr val="EEF2F7"/>
          </a:solidFill>
          <a:ln/>
        </p:spPr>
      </p:sp>
      <p:sp>
        <p:nvSpPr>
          <p:cNvPr id="4" name="Text 2"/>
          <p:cNvSpPr txBox="1"/>
          <p:nvPr/>
        </p:nvSpPr>
        <p:spPr>
          <a:xfrm>
            <a:off x="822960" y="1691640"/>
            <a:ext cx="10545775" cy="822960"/>
          </a:xfrm>
          <a:prstGeom prst="rect">
            <a:avLst/>
          </a:prstGeom>
          <a:noFill/>
          <a:ln/>
        </p:spPr>
        <p:txBody>
          <a:bodyPr wrap="square" lIns="0" tIns="0" rIns="0" bIns="0" rtlCol="0" anchor="ctr"/>
          <a:lstStyle/>
          <a:p>
            <a:pPr indent="0" marL="0">
              <a:buNone/>
            </a:pPr>
            <a:r>
              <a:rPr lang="en-US" sz="1700" b="1" dirty="0">
                <a:solidFill>
                  <a:schemeClr val="tx1"/>
                </a:solidFill>
              </a:rPr>
              <a:t>Cron à 00:30 UTC </a:t>
            </a:r>
            <a:pPr indent="0" marL="0">
              <a:buNone/>
            </a:pPr>
            <a:r>
              <a:rPr lang="en-US" sz="1700" dirty="0">
                <a:solidFill>
                  <a:schemeClr val="tx1"/>
                </a:solidFill>
              </a:rPr>
              <a:t>ou bouton manuel, puis test de santé de Workly. Si Workly ne répond pas, le pipeline s'arrête.</a:t>
            </a:r>
            <a:endParaRPr lang="en-US" sz="1700" dirty="0"/>
          </a:p>
        </p:txBody>
      </p:sp>
      <p:sp>
        <p:nvSpPr>
          <p:cNvPr id="5" name="étape P1"/>
          <p:cNvSpPr/>
          <p:nvPr/>
        </p:nvSpPr>
        <p:spPr>
          <a:xfrm>
            <a:off x="548640" y="2971800"/>
            <a:ext cx="1143000" cy="1417320"/>
          </a:xfrm>
          <a:prstGeom prst="roundRect">
            <a:avLst>
              <a:gd name="adj" fmla="val 8000"/>
            </a:avLst>
          </a:prstGeom>
          <a:solidFill>
            <a:schemeClr val="accent3"/>
          </a:solidFill>
          <a:ln/>
        </p:spPr>
      </p:sp>
      <p:sp>
        <p:nvSpPr>
          <p:cNvPr id="6" name="Text 4"/>
          <p:cNvSpPr txBox="1"/>
          <p:nvPr/>
        </p:nvSpPr>
        <p:spPr>
          <a:xfrm>
            <a:off x="548640" y="3063240"/>
            <a:ext cx="1143000" cy="365760"/>
          </a:xfrm>
          <a:prstGeom prst="rect">
            <a:avLst/>
          </a:prstGeom>
          <a:noFill/>
          <a:ln/>
        </p:spPr>
        <p:txBody>
          <a:bodyPr wrap="square" lIns="0" tIns="0" rIns="0" bIns="0" rtlCol="0" anchor="t"/>
          <a:lstStyle/>
          <a:p>
            <a:pPr algn="ctr" indent="0" marL="0">
              <a:buNone/>
            </a:pPr>
            <a:r>
              <a:rPr lang="en-US" sz="1300" b="1" dirty="0">
                <a:solidFill>
                  <a:schemeClr val="bg1"/>
                </a:solidFill>
              </a:rPr>
              <a:t>P1</a:t>
            </a:r>
            <a:endParaRPr lang="en-US" sz="1300" dirty="0"/>
          </a:p>
        </p:txBody>
      </p:sp>
      <p:sp>
        <p:nvSpPr>
          <p:cNvPr id="7" name="Text 5"/>
          <p:cNvSpPr txBox="1"/>
          <p:nvPr/>
        </p:nvSpPr>
        <p:spPr>
          <a:xfrm>
            <a:off x="585216" y="3456432"/>
            <a:ext cx="1069848" cy="868680"/>
          </a:xfrm>
          <a:prstGeom prst="rect">
            <a:avLst/>
          </a:prstGeom>
          <a:noFill/>
          <a:ln/>
        </p:spPr>
        <p:txBody>
          <a:bodyPr wrap="square" lIns="0" tIns="0" rIns="0" bIns="0" rtlCol="0" anchor="t"/>
          <a:lstStyle/>
          <a:p>
            <a:pPr algn="ctr" indent="0" marL="0">
              <a:buNone/>
            </a:pPr>
            <a:r>
              <a:rPr lang="en-US" sz="1200" b="1" dirty="0">
                <a:solidFill>
                  <a:schemeClr val="bg1"/>
                </a:solidFill>
              </a:rPr>
              <a:t>Sauvegarde</a:t>
            </a:r>
            <a:endParaRPr lang="en-US" sz="1200" dirty="0"/>
          </a:p>
        </p:txBody>
      </p:sp>
      <p:sp>
        <p:nvSpPr>
          <p:cNvPr id="8" name="lien P1"/>
          <p:cNvSpPr/>
          <p:nvPr/>
        </p:nvSpPr>
        <p:spPr>
          <a:xfrm>
            <a:off x="1691640" y="3675888"/>
            <a:ext cx="100927" cy="0"/>
          </a:xfrm>
          <a:prstGeom prst="line">
            <a:avLst/>
          </a:prstGeom>
          <a:noFill/>
          <a:ln w="19050">
            <a:solidFill>
              <a:schemeClr val="accent4"/>
            </a:solidFill>
            <a:prstDash val="solid"/>
            <a:tailEnd type="triangle"/>
          </a:ln>
        </p:spPr>
      </p:sp>
      <p:sp>
        <p:nvSpPr>
          <p:cNvPr id="9" name="échec P1"/>
          <p:cNvSpPr/>
          <p:nvPr/>
        </p:nvSpPr>
        <p:spPr>
          <a:xfrm>
            <a:off x="1120140" y="4389120"/>
            <a:ext cx="0" cy="411480"/>
          </a:xfrm>
          <a:prstGeom prst="line">
            <a:avLst/>
          </a:prstGeom>
          <a:noFill/>
          <a:ln w="19050">
            <a:solidFill>
              <a:schemeClr val="accent5"/>
            </a:solidFill>
            <a:prstDash val="dash"/>
            <a:tailEnd type="triangle"/>
          </a:ln>
        </p:spPr>
      </p:sp>
      <p:sp>
        <p:nvSpPr>
          <p:cNvPr id="10" name="étape P2"/>
          <p:cNvSpPr/>
          <p:nvPr/>
        </p:nvSpPr>
        <p:spPr>
          <a:xfrm>
            <a:off x="1792567" y="2971800"/>
            <a:ext cx="1143000" cy="1417320"/>
          </a:xfrm>
          <a:prstGeom prst="roundRect">
            <a:avLst>
              <a:gd name="adj" fmla="val 8000"/>
            </a:avLst>
          </a:prstGeom>
          <a:solidFill>
            <a:schemeClr val="accent1"/>
          </a:solidFill>
          <a:ln/>
        </p:spPr>
      </p:sp>
      <p:sp>
        <p:nvSpPr>
          <p:cNvPr id="11" name="Text 9"/>
          <p:cNvSpPr txBox="1"/>
          <p:nvPr/>
        </p:nvSpPr>
        <p:spPr>
          <a:xfrm>
            <a:off x="1792567" y="3063240"/>
            <a:ext cx="1143000" cy="365760"/>
          </a:xfrm>
          <a:prstGeom prst="rect">
            <a:avLst/>
          </a:prstGeom>
          <a:noFill/>
          <a:ln/>
        </p:spPr>
        <p:txBody>
          <a:bodyPr wrap="square" lIns="0" tIns="0" rIns="0" bIns="0" rtlCol="0" anchor="t"/>
          <a:lstStyle/>
          <a:p>
            <a:pPr algn="ctr" indent="0" marL="0">
              <a:buNone/>
            </a:pPr>
            <a:r>
              <a:rPr lang="en-US" sz="1300" b="1" dirty="0">
                <a:solidFill>
                  <a:schemeClr val="bg1"/>
                </a:solidFill>
              </a:rPr>
              <a:t>P2</a:t>
            </a:r>
            <a:endParaRPr lang="en-US" sz="1300" dirty="0"/>
          </a:p>
        </p:txBody>
      </p:sp>
      <p:sp>
        <p:nvSpPr>
          <p:cNvPr id="12" name="Text 10"/>
          <p:cNvSpPr txBox="1"/>
          <p:nvPr/>
        </p:nvSpPr>
        <p:spPr>
          <a:xfrm>
            <a:off x="1829143" y="3456432"/>
            <a:ext cx="1069848" cy="868680"/>
          </a:xfrm>
          <a:prstGeom prst="rect">
            <a:avLst/>
          </a:prstGeom>
          <a:noFill/>
          <a:ln/>
        </p:spPr>
        <p:txBody>
          <a:bodyPr wrap="square" lIns="0" tIns="0" rIns="0" bIns="0" rtlCol="0" anchor="t"/>
          <a:lstStyle/>
          <a:p>
            <a:pPr algn="ctr" indent="0" marL="0">
              <a:buNone/>
            </a:pPr>
            <a:r>
              <a:rPr lang="en-US" sz="1200" b="1" dirty="0">
                <a:solidFill>
                  <a:schemeClr val="bg1"/>
                </a:solidFill>
              </a:rPr>
              <a:t>Import historique</a:t>
            </a:r>
            <a:endParaRPr lang="en-US" sz="1200" dirty="0"/>
          </a:p>
        </p:txBody>
      </p:sp>
      <p:sp>
        <p:nvSpPr>
          <p:cNvPr id="13" name="lien P2"/>
          <p:cNvSpPr/>
          <p:nvPr/>
        </p:nvSpPr>
        <p:spPr>
          <a:xfrm>
            <a:off x="2935567" y="3675888"/>
            <a:ext cx="100927" cy="0"/>
          </a:xfrm>
          <a:prstGeom prst="line">
            <a:avLst/>
          </a:prstGeom>
          <a:noFill/>
          <a:ln w="19050">
            <a:solidFill>
              <a:schemeClr val="accent4"/>
            </a:solidFill>
            <a:prstDash val="solid"/>
            <a:tailEnd type="triangle"/>
          </a:ln>
        </p:spPr>
      </p:sp>
      <p:sp>
        <p:nvSpPr>
          <p:cNvPr id="14" name="échec P2"/>
          <p:cNvSpPr/>
          <p:nvPr/>
        </p:nvSpPr>
        <p:spPr>
          <a:xfrm>
            <a:off x="2364067" y="4389120"/>
            <a:ext cx="0" cy="411480"/>
          </a:xfrm>
          <a:prstGeom prst="line">
            <a:avLst/>
          </a:prstGeom>
          <a:noFill/>
          <a:ln w="19050">
            <a:solidFill>
              <a:schemeClr val="accent5"/>
            </a:solidFill>
            <a:prstDash val="dash"/>
            <a:tailEnd type="triangle"/>
          </a:ln>
        </p:spPr>
      </p:sp>
      <p:sp>
        <p:nvSpPr>
          <p:cNvPr id="15" name="étape P3"/>
          <p:cNvSpPr/>
          <p:nvPr/>
        </p:nvSpPr>
        <p:spPr>
          <a:xfrm>
            <a:off x="3036494" y="2971800"/>
            <a:ext cx="1143000" cy="1417320"/>
          </a:xfrm>
          <a:prstGeom prst="roundRect">
            <a:avLst>
              <a:gd name="adj" fmla="val 8000"/>
            </a:avLst>
          </a:prstGeom>
          <a:solidFill>
            <a:schemeClr val="accent1"/>
          </a:solidFill>
          <a:ln/>
        </p:spPr>
      </p:sp>
      <p:sp>
        <p:nvSpPr>
          <p:cNvPr id="16" name="Text 14"/>
          <p:cNvSpPr txBox="1"/>
          <p:nvPr/>
        </p:nvSpPr>
        <p:spPr>
          <a:xfrm>
            <a:off x="3036494" y="3063240"/>
            <a:ext cx="1143000" cy="365760"/>
          </a:xfrm>
          <a:prstGeom prst="rect">
            <a:avLst/>
          </a:prstGeom>
          <a:noFill/>
          <a:ln/>
        </p:spPr>
        <p:txBody>
          <a:bodyPr wrap="square" lIns="0" tIns="0" rIns="0" bIns="0" rtlCol="0" anchor="t"/>
          <a:lstStyle/>
          <a:p>
            <a:pPr algn="ctr" indent="0" marL="0">
              <a:buNone/>
            </a:pPr>
            <a:r>
              <a:rPr lang="en-US" sz="1300" b="1" dirty="0">
                <a:solidFill>
                  <a:schemeClr val="bg1"/>
                </a:solidFill>
              </a:rPr>
              <a:t>P3</a:t>
            </a:r>
            <a:endParaRPr lang="en-US" sz="1300" dirty="0"/>
          </a:p>
        </p:txBody>
      </p:sp>
      <p:sp>
        <p:nvSpPr>
          <p:cNvPr id="17" name="Text 15"/>
          <p:cNvSpPr txBox="1"/>
          <p:nvPr/>
        </p:nvSpPr>
        <p:spPr>
          <a:xfrm>
            <a:off x="3073070" y="3456432"/>
            <a:ext cx="1069848" cy="868680"/>
          </a:xfrm>
          <a:prstGeom prst="rect">
            <a:avLst/>
          </a:prstGeom>
          <a:noFill/>
          <a:ln/>
        </p:spPr>
        <p:txBody>
          <a:bodyPr wrap="square" lIns="0" tIns="0" rIns="0" bIns="0" rtlCol="0" anchor="t"/>
          <a:lstStyle/>
          <a:p>
            <a:pPr algn="ctr" indent="0" marL="0">
              <a:buNone/>
            </a:pPr>
            <a:r>
              <a:rPr lang="en-US" sz="1200" b="1" dirty="0">
                <a:solidFill>
                  <a:schemeClr val="bg1"/>
                </a:solidFill>
              </a:rPr>
              <a:t>Import prévisions</a:t>
            </a:r>
            <a:endParaRPr lang="en-US" sz="1200" dirty="0"/>
          </a:p>
        </p:txBody>
      </p:sp>
      <p:sp>
        <p:nvSpPr>
          <p:cNvPr id="18" name="lien P3"/>
          <p:cNvSpPr/>
          <p:nvPr/>
        </p:nvSpPr>
        <p:spPr>
          <a:xfrm>
            <a:off x="4179494" y="3675888"/>
            <a:ext cx="100927" cy="0"/>
          </a:xfrm>
          <a:prstGeom prst="line">
            <a:avLst/>
          </a:prstGeom>
          <a:noFill/>
          <a:ln w="19050">
            <a:solidFill>
              <a:schemeClr val="accent4"/>
            </a:solidFill>
            <a:prstDash val="solid"/>
            <a:tailEnd type="triangle"/>
          </a:ln>
        </p:spPr>
      </p:sp>
      <p:sp>
        <p:nvSpPr>
          <p:cNvPr id="19" name="échec P3"/>
          <p:cNvSpPr/>
          <p:nvPr/>
        </p:nvSpPr>
        <p:spPr>
          <a:xfrm>
            <a:off x="3607994" y="4389120"/>
            <a:ext cx="0" cy="411480"/>
          </a:xfrm>
          <a:prstGeom prst="line">
            <a:avLst/>
          </a:prstGeom>
          <a:noFill/>
          <a:ln w="19050">
            <a:solidFill>
              <a:schemeClr val="accent5"/>
            </a:solidFill>
            <a:prstDash val="dash"/>
            <a:tailEnd type="triangle"/>
          </a:ln>
        </p:spPr>
      </p:sp>
      <p:sp>
        <p:nvSpPr>
          <p:cNvPr id="20" name="étape P4"/>
          <p:cNvSpPr/>
          <p:nvPr/>
        </p:nvSpPr>
        <p:spPr>
          <a:xfrm>
            <a:off x="4280421" y="2971800"/>
            <a:ext cx="1143000" cy="1417320"/>
          </a:xfrm>
          <a:prstGeom prst="roundRect">
            <a:avLst>
              <a:gd name="adj" fmla="val 8000"/>
            </a:avLst>
          </a:prstGeom>
          <a:solidFill>
            <a:schemeClr val="accent1"/>
          </a:solidFill>
          <a:ln/>
        </p:spPr>
      </p:sp>
      <p:sp>
        <p:nvSpPr>
          <p:cNvPr id="21" name="Text 19"/>
          <p:cNvSpPr txBox="1"/>
          <p:nvPr/>
        </p:nvSpPr>
        <p:spPr>
          <a:xfrm>
            <a:off x="4280421" y="3063240"/>
            <a:ext cx="1143000" cy="365760"/>
          </a:xfrm>
          <a:prstGeom prst="rect">
            <a:avLst/>
          </a:prstGeom>
          <a:noFill/>
          <a:ln/>
        </p:spPr>
        <p:txBody>
          <a:bodyPr wrap="square" lIns="0" tIns="0" rIns="0" bIns="0" rtlCol="0" anchor="t"/>
          <a:lstStyle/>
          <a:p>
            <a:pPr algn="ctr" indent="0" marL="0">
              <a:buNone/>
            </a:pPr>
            <a:r>
              <a:rPr lang="en-US" sz="1300" b="1" dirty="0">
                <a:solidFill>
                  <a:schemeClr val="bg1"/>
                </a:solidFill>
              </a:rPr>
              <a:t>P4</a:t>
            </a:r>
            <a:endParaRPr lang="en-US" sz="1300" dirty="0"/>
          </a:p>
        </p:txBody>
      </p:sp>
      <p:sp>
        <p:nvSpPr>
          <p:cNvPr id="22" name="Text 20"/>
          <p:cNvSpPr txBox="1"/>
          <p:nvPr/>
        </p:nvSpPr>
        <p:spPr>
          <a:xfrm>
            <a:off x="4316997" y="3456432"/>
            <a:ext cx="1069848" cy="868680"/>
          </a:xfrm>
          <a:prstGeom prst="rect">
            <a:avLst/>
          </a:prstGeom>
          <a:noFill/>
          <a:ln/>
        </p:spPr>
        <p:txBody>
          <a:bodyPr wrap="square" lIns="0" tIns="0" rIns="0" bIns="0" rtlCol="0" anchor="t"/>
          <a:lstStyle/>
          <a:p>
            <a:pPr algn="ctr" indent="0" marL="0">
              <a:buNone/>
            </a:pPr>
            <a:r>
              <a:rPr lang="en-US" sz="1200" b="1" dirty="0">
                <a:solidFill>
                  <a:schemeClr val="bg1"/>
                </a:solidFill>
              </a:rPr>
              <a:t>Réel / prévu</a:t>
            </a:r>
            <a:endParaRPr lang="en-US" sz="1200" dirty="0"/>
          </a:p>
        </p:txBody>
      </p:sp>
      <p:sp>
        <p:nvSpPr>
          <p:cNvPr id="23" name="lien P4"/>
          <p:cNvSpPr/>
          <p:nvPr/>
        </p:nvSpPr>
        <p:spPr>
          <a:xfrm>
            <a:off x="5423421" y="3675888"/>
            <a:ext cx="100927" cy="0"/>
          </a:xfrm>
          <a:prstGeom prst="line">
            <a:avLst/>
          </a:prstGeom>
          <a:noFill/>
          <a:ln w="19050">
            <a:solidFill>
              <a:schemeClr val="accent4"/>
            </a:solidFill>
            <a:prstDash val="solid"/>
            <a:tailEnd type="triangle"/>
          </a:ln>
        </p:spPr>
      </p:sp>
      <p:sp>
        <p:nvSpPr>
          <p:cNvPr id="24" name="échec P4"/>
          <p:cNvSpPr/>
          <p:nvPr/>
        </p:nvSpPr>
        <p:spPr>
          <a:xfrm>
            <a:off x="4851921" y="4389120"/>
            <a:ext cx="0" cy="411480"/>
          </a:xfrm>
          <a:prstGeom prst="line">
            <a:avLst/>
          </a:prstGeom>
          <a:noFill/>
          <a:ln w="19050">
            <a:solidFill>
              <a:schemeClr val="accent5"/>
            </a:solidFill>
            <a:prstDash val="dash"/>
            <a:tailEnd type="triangle"/>
          </a:ln>
        </p:spPr>
      </p:sp>
      <p:sp>
        <p:nvSpPr>
          <p:cNvPr id="25" name="étape P5"/>
          <p:cNvSpPr/>
          <p:nvPr/>
        </p:nvSpPr>
        <p:spPr>
          <a:xfrm>
            <a:off x="5524348" y="2971800"/>
            <a:ext cx="1143000" cy="1417320"/>
          </a:xfrm>
          <a:prstGeom prst="roundRect">
            <a:avLst>
              <a:gd name="adj" fmla="val 8000"/>
            </a:avLst>
          </a:prstGeom>
          <a:solidFill>
            <a:schemeClr val="accent1"/>
          </a:solidFill>
          <a:ln/>
        </p:spPr>
      </p:sp>
      <p:sp>
        <p:nvSpPr>
          <p:cNvPr id="26" name="Text 24"/>
          <p:cNvSpPr txBox="1"/>
          <p:nvPr/>
        </p:nvSpPr>
        <p:spPr>
          <a:xfrm>
            <a:off x="5524348" y="3063240"/>
            <a:ext cx="1143000" cy="365760"/>
          </a:xfrm>
          <a:prstGeom prst="rect">
            <a:avLst/>
          </a:prstGeom>
          <a:noFill/>
          <a:ln/>
        </p:spPr>
        <p:txBody>
          <a:bodyPr wrap="square" lIns="0" tIns="0" rIns="0" bIns="0" rtlCol="0" anchor="t"/>
          <a:lstStyle/>
          <a:p>
            <a:pPr algn="ctr" indent="0" marL="0">
              <a:buNone/>
            </a:pPr>
            <a:r>
              <a:rPr lang="en-US" sz="1300" b="1" dirty="0">
                <a:solidFill>
                  <a:schemeClr val="bg1"/>
                </a:solidFill>
              </a:rPr>
              <a:t>P5</a:t>
            </a:r>
            <a:endParaRPr lang="en-US" sz="1300" dirty="0"/>
          </a:p>
        </p:txBody>
      </p:sp>
      <p:sp>
        <p:nvSpPr>
          <p:cNvPr id="27" name="Text 25"/>
          <p:cNvSpPr txBox="1"/>
          <p:nvPr/>
        </p:nvSpPr>
        <p:spPr>
          <a:xfrm>
            <a:off x="5560924" y="3456432"/>
            <a:ext cx="1069848" cy="868680"/>
          </a:xfrm>
          <a:prstGeom prst="rect">
            <a:avLst/>
          </a:prstGeom>
          <a:noFill/>
          <a:ln/>
        </p:spPr>
        <p:txBody>
          <a:bodyPr wrap="square" lIns="0" tIns="0" rIns="0" bIns="0" rtlCol="0" anchor="t"/>
          <a:lstStyle/>
          <a:p>
            <a:pPr algn="ctr" indent="0" marL="0">
              <a:buNone/>
            </a:pPr>
            <a:r>
              <a:rPr lang="en-US" sz="1200" b="1" dirty="0">
                <a:solidFill>
                  <a:schemeClr val="bg1"/>
                </a:solidFill>
              </a:rPr>
              <a:t>KPI du jour</a:t>
            </a:r>
            <a:endParaRPr lang="en-US" sz="1200" dirty="0"/>
          </a:p>
        </p:txBody>
      </p:sp>
      <p:sp>
        <p:nvSpPr>
          <p:cNvPr id="28" name="lien P5"/>
          <p:cNvSpPr/>
          <p:nvPr/>
        </p:nvSpPr>
        <p:spPr>
          <a:xfrm>
            <a:off x="6667348" y="3675888"/>
            <a:ext cx="100927" cy="0"/>
          </a:xfrm>
          <a:prstGeom prst="line">
            <a:avLst/>
          </a:prstGeom>
          <a:noFill/>
          <a:ln w="19050">
            <a:solidFill>
              <a:schemeClr val="accent4"/>
            </a:solidFill>
            <a:prstDash val="solid"/>
            <a:tailEnd type="triangle"/>
          </a:ln>
        </p:spPr>
      </p:sp>
      <p:sp>
        <p:nvSpPr>
          <p:cNvPr id="29" name="échec P5"/>
          <p:cNvSpPr/>
          <p:nvPr/>
        </p:nvSpPr>
        <p:spPr>
          <a:xfrm>
            <a:off x="6095848" y="4389120"/>
            <a:ext cx="0" cy="411480"/>
          </a:xfrm>
          <a:prstGeom prst="line">
            <a:avLst/>
          </a:prstGeom>
          <a:noFill/>
          <a:ln w="19050">
            <a:solidFill>
              <a:schemeClr val="accent5"/>
            </a:solidFill>
            <a:prstDash val="dash"/>
            <a:tailEnd type="triangle"/>
          </a:ln>
        </p:spPr>
      </p:sp>
      <p:sp>
        <p:nvSpPr>
          <p:cNvPr id="30" name="étape P6"/>
          <p:cNvSpPr/>
          <p:nvPr/>
        </p:nvSpPr>
        <p:spPr>
          <a:xfrm>
            <a:off x="6768275" y="2971800"/>
            <a:ext cx="1143000" cy="1417320"/>
          </a:xfrm>
          <a:prstGeom prst="roundRect">
            <a:avLst>
              <a:gd name="adj" fmla="val 8000"/>
            </a:avLst>
          </a:prstGeom>
          <a:solidFill>
            <a:schemeClr val="accent1"/>
          </a:solidFill>
          <a:ln/>
        </p:spPr>
      </p:sp>
      <p:sp>
        <p:nvSpPr>
          <p:cNvPr id="31" name="Text 29"/>
          <p:cNvSpPr txBox="1"/>
          <p:nvPr/>
        </p:nvSpPr>
        <p:spPr>
          <a:xfrm>
            <a:off x="6768275" y="3063240"/>
            <a:ext cx="1143000" cy="365760"/>
          </a:xfrm>
          <a:prstGeom prst="rect">
            <a:avLst/>
          </a:prstGeom>
          <a:noFill/>
          <a:ln/>
        </p:spPr>
        <p:txBody>
          <a:bodyPr wrap="square" lIns="0" tIns="0" rIns="0" bIns="0" rtlCol="0" anchor="t"/>
          <a:lstStyle/>
          <a:p>
            <a:pPr algn="ctr" indent="0" marL="0">
              <a:buNone/>
            </a:pPr>
            <a:r>
              <a:rPr lang="en-US" sz="1300" b="1" dirty="0">
                <a:solidFill>
                  <a:schemeClr val="bg1"/>
                </a:solidFill>
              </a:rPr>
              <a:t>P6</a:t>
            </a:r>
            <a:endParaRPr lang="en-US" sz="1300" dirty="0"/>
          </a:p>
        </p:txBody>
      </p:sp>
      <p:sp>
        <p:nvSpPr>
          <p:cNvPr id="32" name="Text 30"/>
          <p:cNvSpPr txBox="1"/>
          <p:nvPr/>
        </p:nvSpPr>
        <p:spPr>
          <a:xfrm>
            <a:off x="6804851" y="3456432"/>
            <a:ext cx="1069848" cy="868680"/>
          </a:xfrm>
          <a:prstGeom prst="rect">
            <a:avLst/>
          </a:prstGeom>
          <a:noFill/>
          <a:ln/>
        </p:spPr>
        <p:txBody>
          <a:bodyPr wrap="square" lIns="0" tIns="0" rIns="0" bIns="0" rtlCol="0" anchor="t"/>
          <a:lstStyle/>
          <a:p>
            <a:pPr algn="ctr" indent="0" marL="0">
              <a:buNone/>
            </a:pPr>
            <a:r>
              <a:rPr lang="en-US" sz="1200" b="1" dirty="0">
                <a:solidFill>
                  <a:schemeClr val="bg1"/>
                </a:solidFill>
              </a:rPr>
              <a:t>Alertes capacité</a:t>
            </a:r>
            <a:endParaRPr lang="en-US" sz="1200" dirty="0"/>
          </a:p>
        </p:txBody>
      </p:sp>
      <p:sp>
        <p:nvSpPr>
          <p:cNvPr id="33" name="lien P6"/>
          <p:cNvSpPr/>
          <p:nvPr/>
        </p:nvSpPr>
        <p:spPr>
          <a:xfrm>
            <a:off x="7911275" y="3675888"/>
            <a:ext cx="100927" cy="0"/>
          </a:xfrm>
          <a:prstGeom prst="line">
            <a:avLst/>
          </a:prstGeom>
          <a:noFill/>
          <a:ln w="19050">
            <a:solidFill>
              <a:schemeClr val="accent4"/>
            </a:solidFill>
            <a:prstDash val="solid"/>
            <a:tailEnd type="triangle"/>
          </a:ln>
        </p:spPr>
      </p:sp>
      <p:sp>
        <p:nvSpPr>
          <p:cNvPr id="34" name="échec P6"/>
          <p:cNvSpPr/>
          <p:nvPr/>
        </p:nvSpPr>
        <p:spPr>
          <a:xfrm>
            <a:off x="7339775" y="4389120"/>
            <a:ext cx="0" cy="411480"/>
          </a:xfrm>
          <a:prstGeom prst="line">
            <a:avLst/>
          </a:prstGeom>
          <a:noFill/>
          <a:ln w="19050">
            <a:solidFill>
              <a:schemeClr val="accent5"/>
            </a:solidFill>
            <a:prstDash val="dash"/>
            <a:tailEnd type="triangle"/>
          </a:ln>
        </p:spPr>
      </p:sp>
      <p:sp>
        <p:nvSpPr>
          <p:cNvPr id="35" name="étape P7"/>
          <p:cNvSpPr/>
          <p:nvPr/>
        </p:nvSpPr>
        <p:spPr>
          <a:xfrm>
            <a:off x="8012201" y="2971800"/>
            <a:ext cx="1143000" cy="1417320"/>
          </a:xfrm>
          <a:prstGeom prst="roundRect">
            <a:avLst>
              <a:gd name="adj" fmla="val 8000"/>
            </a:avLst>
          </a:prstGeom>
          <a:solidFill>
            <a:schemeClr val="accent1"/>
          </a:solidFill>
          <a:ln/>
        </p:spPr>
      </p:sp>
      <p:sp>
        <p:nvSpPr>
          <p:cNvPr id="36" name="Text 34"/>
          <p:cNvSpPr txBox="1"/>
          <p:nvPr/>
        </p:nvSpPr>
        <p:spPr>
          <a:xfrm>
            <a:off x="8012201" y="3063240"/>
            <a:ext cx="1143000" cy="365760"/>
          </a:xfrm>
          <a:prstGeom prst="rect">
            <a:avLst/>
          </a:prstGeom>
          <a:noFill/>
          <a:ln/>
        </p:spPr>
        <p:txBody>
          <a:bodyPr wrap="square" lIns="0" tIns="0" rIns="0" bIns="0" rtlCol="0" anchor="t"/>
          <a:lstStyle/>
          <a:p>
            <a:pPr algn="ctr" indent="0" marL="0">
              <a:buNone/>
            </a:pPr>
            <a:r>
              <a:rPr lang="en-US" sz="1300" b="1" dirty="0">
                <a:solidFill>
                  <a:schemeClr val="bg1"/>
                </a:solidFill>
              </a:rPr>
              <a:t>P7</a:t>
            </a:r>
            <a:endParaRPr lang="en-US" sz="1300" dirty="0"/>
          </a:p>
        </p:txBody>
      </p:sp>
      <p:sp>
        <p:nvSpPr>
          <p:cNvPr id="37" name="Text 35"/>
          <p:cNvSpPr txBox="1"/>
          <p:nvPr/>
        </p:nvSpPr>
        <p:spPr>
          <a:xfrm>
            <a:off x="8048777" y="3456432"/>
            <a:ext cx="1069848" cy="868680"/>
          </a:xfrm>
          <a:prstGeom prst="rect">
            <a:avLst/>
          </a:prstGeom>
          <a:noFill/>
          <a:ln/>
        </p:spPr>
        <p:txBody>
          <a:bodyPr wrap="square" lIns="0" tIns="0" rIns="0" bIns="0" rtlCol="0" anchor="t"/>
          <a:lstStyle/>
          <a:p>
            <a:pPr algn="ctr" indent="0" marL="0">
              <a:buNone/>
            </a:pPr>
            <a:r>
              <a:rPr lang="en-US" sz="1200" b="1" dirty="0">
                <a:solidFill>
                  <a:schemeClr val="bg1"/>
                </a:solidFill>
              </a:rPr>
              <a:t>Prévisions J+14</a:t>
            </a:r>
            <a:endParaRPr lang="en-US" sz="1200" dirty="0"/>
          </a:p>
        </p:txBody>
      </p:sp>
      <p:sp>
        <p:nvSpPr>
          <p:cNvPr id="38" name="lien P7"/>
          <p:cNvSpPr/>
          <p:nvPr/>
        </p:nvSpPr>
        <p:spPr>
          <a:xfrm>
            <a:off x="9155201" y="3675888"/>
            <a:ext cx="100927" cy="0"/>
          </a:xfrm>
          <a:prstGeom prst="line">
            <a:avLst/>
          </a:prstGeom>
          <a:noFill/>
          <a:ln w="19050">
            <a:solidFill>
              <a:schemeClr val="accent4"/>
            </a:solidFill>
            <a:prstDash val="solid"/>
            <a:tailEnd type="triangle"/>
          </a:ln>
        </p:spPr>
      </p:sp>
      <p:sp>
        <p:nvSpPr>
          <p:cNvPr id="39" name="échec P7"/>
          <p:cNvSpPr/>
          <p:nvPr/>
        </p:nvSpPr>
        <p:spPr>
          <a:xfrm>
            <a:off x="8583701" y="4389120"/>
            <a:ext cx="0" cy="411480"/>
          </a:xfrm>
          <a:prstGeom prst="line">
            <a:avLst/>
          </a:prstGeom>
          <a:noFill/>
          <a:ln w="19050">
            <a:solidFill>
              <a:schemeClr val="accent5"/>
            </a:solidFill>
            <a:prstDash val="dash"/>
            <a:tailEnd type="triangle"/>
          </a:ln>
        </p:spPr>
      </p:sp>
      <p:sp>
        <p:nvSpPr>
          <p:cNvPr id="40" name="étape P8"/>
          <p:cNvSpPr/>
          <p:nvPr/>
        </p:nvSpPr>
        <p:spPr>
          <a:xfrm>
            <a:off x="9256128" y="2971800"/>
            <a:ext cx="1143000" cy="1417320"/>
          </a:xfrm>
          <a:prstGeom prst="roundRect">
            <a:avLst>
              <a:gd name="adj" fmla="val 8000"/>
            </a:avLst>
          </a:prstGeom>
          <a:solidFill>
            <a:schemeClr val="accent1"/>
          </a:solidFill>
          <a:ln/>
        </p:spPr>
      </p:sp>
      <p:sp>
        <p:nvSpPr>
          <p:cNvPr id="41" name="Text 39"/>
          <p:cNvSpPr txBox="1"/>
          <p:nvPr/>
        </p:nvSpPr>
        <p:spPr>
          <a:xfrm>
            <a:off x="9256128" y="3063240"/>
            <a:ext cx="1143000" cy="365760"/>
          </a:xfrm>
          <a:prstGeom prst="rect">
            <a:avLst/>
          </a:prstGeom>
          <a:noFill/>
          <a:ln/>
        </p:spPr>
        <p:txBody>
          <a:bodyPr wrap="square" lIns="0" tIns="0" rIns="0" bIns="0" rtlCol="0" anchor="t"/>
          <a:lstStyle/>
          <a:p>
            <a:pPr algn="ctr" indent="0" marL="0">
              <a:buNone/>
            </a:pPr>
            <a:r>
              <a:rPr lang="en-US" sz="1300" b="1" dirty="0">
                <a:solidFill>
                  <a:schemeClr val="bg1"/>
                </a:solidFill>
              </a:rPr>
              <a:t>P8</a:t>
            </a:r>
            <a:endParaRPr lang="en-US" sz="1300" dirty="0"/>
          </a:p>
        </p:txBody>
      </p:sp>
      <p:sp>
        <p:nvSpPr>
          <p:cNvPr id="42" name="Text 40"/>
          <p:cNvSpPr txBox="1"/>
          <p:nvPr/>
        </p:nvSpPr>
        <p:spPr>
          <a:xfrm>
            <a:off x="9292704" y="3456432"/>
            <a:ext cx="1069848" cy="868680"/>
          </a:xfrm>
          <a:prstGeom prst="rect">
            <a:avLst/>
          </a:prstGeom>
          <a:noFill/>
          <a:ln/>
        </p:spPr>
        <p:txBody>
          <a:bodyPr wrap="square" lIns="0" tIns="0" rIns="0" bIns="0" rtlCol="0" anchor="t"/>
          <a:lstStyle/>
          <a:p>
            <a:pPr algn="ctr" indent="0" marL="0">
              <a:buNone/>
            </a:pPr>
            <a:r>
              <a:rPr lang="en-US" sz="1200" b="1" dirty="0">
                <a:solidFill>
                  <a:schemeClr val="bg1"/>
                </a:solidFill>
              </a:rPr>
              <a:t>Rapport du jour</a:t>
            </a:r>
            <a:endParaRPr lang="en-US" sz="1200" dirty="0"/>
          </a:p>
        </p:txBody>
      </p:sp>
      <p:sp>
        <p:nvSpPr>
          <p:cNvPr id="43" name="lien P8"/>
          <p:cNvSpPr/>
          <p:nvPr/>
        </p:nvSpPr>
        <p:spPr>
          <a:xfrm>
            <a:off x="10399128" y="3675888"/>
            <a:ext cx="100927" cy="0"/>
          </a:xfrm>
          <a:prstGeom prst="line">
            <a:avLst/>
          </a:prstGeom>
          <a:noFill/>
          <a:ln w="19050">
            <a:solidFill>
              <a:schemeClr val="accent4"/>
            </a:solidFill>
            <a:prstDash val="solid"/>
            <a:tailEnd type="triangle"/>
          </a:ln>
        </p:spPr>
      </p:sp>
      <p:sp>
        <p:nvSpPr>
          <p:cNvPr id="44" name="échec P8"/>
          <p:cNvSpPr/>
          <p:nvPr/>
        </p:nvSpPr>
        <p:spPr>
          <a:xfrm>
            <a:off x="9827628" y="4389120"/>
            <a:ext cx="0" cy="411480"/>
          </a:xfrm>
          <a:prstGeom prst="line">
            <a:avLst/>
          </a:prstGeom>
          <a:noFill/>
          <a:ln w="19050">
            <a:solidFill>
              <a:schemeClr val="accent5"/>
            </a:solidFill>
            <a:prstDash val="dash"/>
            <a:tailEnd type="triangle"/>
          </a:ln>
        </p:spPr>
      </p:sp>
      <p:sp>
        <p:nvSpPr>
          <p:cNvPr id="45" name="étape P9"/>
          <p:cNvSpPr/>
          <p:nvPr/>
        </p:nvSpPr>
        <p:spPr>
          <a:xfrm>
            <a:off x="10500055" y="2971800"/>
            <a:ext cx="1143000" cy="1417320"/>
          </a:xfrm>
          <a:prstGeom prst="roundRect">
            <a:avLst>
              <a:gd name="adj" fmla="val 8000"/>
            </a:avLst>
          </a:prstGeom>
          <a:solidFill>
            <a:schemeClr val="accent1"/>
          </a:solidFill>
          <a:ln/>
        </p:spPr>
      </p:sp>
      <p:sp>
        <p:nvSpPr>
          <p:cNvPr id="46" name="Text 44"/>
          <p:cNvSpPr txBox="1"/>
          <p:nvPr/>
        </p:nvSpPr>
        <p:spPr>
          <a:xfrm>
            <a:off x="10500055" y="3063240"/>
            <a:ext cx="1143000" cy="365760"/>
          </a:xfrm>
          <a:prstGeom prst="rect">
            <a:avLst/>
          </a:prstGeom>
          <a:noFill/>
          <a:ln/>
        </p:spPr>
        <p:txBody>
          <a:bodyPr wrap="square" lIns="0" tIns="0" rIns="0" bIns="0" rtlCol="0" anchor="t"/>
          <a:lstStyle/>
          <a:p>
            <a:pPr algn="ctr" indent="0" marL="0">
              <a:buNone/>
            </a:pPr>
            <a:r>
              <a:rPr lang="en-US" sz="1300" b="1" dirty="0">
                <a:solidFill>
                  <a:schemeClr val="bg1"/>
                </a:solidFill>
              </a:rPr>
              <a:t>P9</a:t>
            </a:r>
            <a:endParaRPr lang="en-US" sz="1300" dirty="0"/>
          </a:p>
        </p:txBody>
      </p:sp>
      <p:sp>
        <p:nvSpPr>
          <p:cNvPr id="47" name="Text 45"/>
          <p:cNvSpPr txBox="1"/>
          <p:nvPr/>
        </p:nvSpPr>
        <p:spPr>
          <a:xfrm>
            <a:off x="10536631" y="3456432"/>
            <a:ext cx="1069848" cy="868680"/>
          </a:xfrm>
          <a:prstGeom prst="rect">
            <a:avLst/>
          </a:prstGeom>
          <a:noFill/>
          <a:ln/>
        </p:spPr>
        <p:txBody>
          <a:bodyPr wrap="square" lIns="0" tIns="0" rIns="0" bIns="0" rtlCol="0" anchor="t"/>
          <a:lstStyle/>
          <a:p>
            <a:pPr algn="ctr" indent="0" marL="0">
              <a:buNone/>
            </a:pPr>
            <a:r>
              <a:rPr lang="en-US" sz="1200" b="1" dirty="0">
                <a:solidFill>
                  <a:schemeClr val="bg1"/>
                </a:solidFill>
              </a:rPr>
              <a:t>Tâches du jour</a:t>
            </a:r>
            <a:endParaRPr lang="en-US" sz="1200" dirty="0"/>
          </a:p>
        </p:txBody>
      </p:sp>
      <p:sp>
        <p:nvSpPr>
          <p:cNvPr id="48" name="échec P9"/>
          <p:cNvSpPr/>
          <p:nvPr/>
        </p:nvSpPr>
        <p:spPr>
          <a:xfrm>
            <a:off x="11071555" y="4389120"/>
            <a:ext cx="0" cy="411480"/>
          </a:xfrm>
          <a:prstGeom prst="line">
            <a:avLst/>
          </a:prstGeom>
          <a:noFill/>
          <a:ln w="19050">
            <a:solidFill>
              <a:schemeClr val="accent5"/>
            </a:solidFill>
            <a:prstDash val="dash"/>
            <a:tailEnd type="triangle"/>
          </a:ln>
        </p:spPr>
      </p:sp>
      <p:sp>
        <p:nvSpPr>
          <p:cNvPr id="49" name="alerte"/>
          <p:cNvSpPr/>
          <p:nvPr/>
        </p:nvSpPr>
        <p:spPr>
          <a:xfrm>
            <a:off x="548640" y="4846320"/>
            <a:ext cx="11094415" cy="1005840"/>
          </a:xfrm>
          <a:prstGeom prst="roundRect">
            <a:avLst>
              <a:gd name="adj" fmla="val 10909"/>
            </a:avLst>
          </a:prstGeom>
          <a:solidFill>
            <a:srgbClr val="F8E4E1"/>
          </a:solidFill>
          <a:ln/>
        </p:spPr>
      </p:sp>
      <p:sp>
        <p:nvSpPr>
          <p:cNvPr id="50" name="Text 48"/>
          <p:cNvSpPr txBox="1"/>
          <p:nvPr/>
        </p:nvSpPr>
        <p:spPr>
          <a:xfrm>
            <a:off x="822960" y="4846320"/>
            <a:ext cx="10545775" cy="1005840"/>
          </a:xfrm>
          <a:prstGeom prst="rect">
            <a:avLst/>
          </a:prstGeom>
          <a:noFill/>
          <a:ln/>
        </p:spPr>
        <p:txBody>
          <a:bodyPr wrap="square" lIns="0" tIns="0" rIns="0" bIns="0" rtlCol="0" anchor="ctr"/>
          <a:lstStyle/>
          <a:p>
            <a:pPr indent="0" marL="0">
              <a:buNone/>
            </a:pPr>
            <a:r>
              <a:rPr lang="en-US" sz="1700" b="1" dirty="0">
                <a:solidFill>
                  <a:schemeClr val="accent5"/>
                </a:solidFill>
              </a:rPr>
              <a:t>Si une étape échoue : </a:t>
            </a:r>
            <a:pPr indent="0" marL="0">
              <a:buNone/>
            </a:pPr>
            <a:r>
              <a:rPr lang="en-US" sz="1700" dirty="0">
                <a:solidFill>
                  <a:schemeClr val="tx1"/>
                </a:solidFill>
              </a:rPr>
              <a:t>Workly envoie un e-mail « échec de l'étape » et le pipeline s'arrête. Seule la sauvegarde laisse la suite continuer.</a:t>
            </a:r>
            <a:endParaRPr lang="en-US" sz="17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051560"/>
          </a:xfrm>
          <a:prstGeom prst="rect">
            <a:avLst/>
          </a:prstGeom>
          <a:noFill/>
          <a:ln/>
        </p:spPr>
        <p:txBody>
          <a:bodyPr wrap="square" lIns="0" tIns="0" rIns="0" bIns="0" rtlCol="0" anchor="ctr"/>
          <a:lstStyle/>
          <a:p>
            <a:pPr algn="l" indent="0" marL="0">
              <a:buNone/>
            </a:pPr>
            <a:r>
              <a:rPr lang="en-US" sz="3400" b="1" dirty="0">
                <a:solidFill>
                  <a:schemeClr val="tx2"/>
                </a:solidFill>
              </a:rPr>
              <a:t>Sur Fusion : ce qui a marché, ce qui m'a coûté</a:t>
            </a:r>
            <a:endParaRPr lang="en-US" sz="3400" dirty="0"/>
          </a:p>
        </p:txBody>
      </p:sp>
      <p:sp>
        <p:nvSpPr>
          <p:cNvPr id="3" name="colonne Ce qui a bien marché"/>
          <p:cNvSpPr/>
          <p:nvPr/>
        </p:nvSpPr>
        <p:spPr>
          <a:xfrm>
            <a:off x="548640" y="1783080"/>
            <a:ext cx="5364328" cy="4160520"/>
          </a:xfrm>
          <a:prstGeom prst="roundRect">
            <a:avLst>
              <a:gd name="adj" fmla="val 2637"/>
            </a:avLst>
          </a:prstGeom>
          <a:solidFill>
            <a:schemeClr val="bg2"/>
          </a:solidFill>
          <a:ln/>
        </p:spPr>
      </p:sp>
      <p:sp>
        <p:nvSpPr>
          <p:cNvPr id="4" name="icône Ce qui a bien marché fond"/>
          <p:cNvSpPr/>
          <p:nvPr/>
        </p:nvSpPr>
        <p:spPr>
          <a:xfrm>
            <a:off x="822960" y="2011680"/>
            <a:ext cx="548640" cy="548640"/>
          </a:xfrm>
          <a:prstGeom prst="ellipse">
            <a:avLst/>
          </a:prstGeom>
          <a:solidFill>
            <a:srgbClr val="1F8F7F"/>
          </a:solidFill>
          <a:ln/>
        </p:spPr>
      </p:sp>
      <p:pic>
        <p:nvPicPr>
          <p:cNvPr id="5" name="icône Ce qui a bien marché" descr="preencoded.png">    </p:cNvPr>
          <p:cNvPicPr>
            <a:picLocks noChangeAspect="1"/>
          </p:cNvPicPr>
          <p:nvPr/>
        </p:nvPicPr>
        <p:blipFill>
          <a:blip r:embed="rId1"/>
          <a:stretch>
            <a:fillRect/>
          </a:stretch>
        </p:blipFill>
        <p:spPr>
          <a:xfrm>
            <a:off x="971093" y="2159813"/>
            <a:ext cx="252374" cy="252374"/>
          </a:xfrm>
          <a:prstGeom prst="rect">
            <a:avLst/>
          </a:prstGeom>
        </p:spPr>
      </p:pic>
      <p:sp>
        <p:nvSpPr>
          <p:cNvPr id="6" name="Text 3"/>
          <p:cNvSpPr txBox="1"/>
          <p:nvPr/>
        </p:nvSpPr>
        <p:spPr>
          <a:xfrm>
            <a:off x="1508760" y="2011680"/>
            <a:ext cx="4175608" cy="548640"/>
          </a:xfrm>
          <a:prstGeom prst="rect">
            <a:avLst/>
          </a:prstGeom>
          <a:noFill/>
          <a:ln/>
        </p:spPr>
        <p:txBody>
          <a:bodyPr wrap="square" lIns="0" tIns="0" rIns="0" bIns="0" rtlCol="0" anchor="ctr"/>
          <a:lstStyle/>
          <a:p>
            <a:pPr indent="0" marL="0">
              <a:buNone/>
            </a:pPr>
            <a:r>
              <a:rPr lang="en-US" sz="2000" b="1" dirty="0">
                <a:solidFill>
                  <a:schemeClr val="tx2"/>
                </a:solidFill>
              </a:rPr>
              <a:t>Ce qui a bien marché</a:t>
            </a:r>
            <a:endParaRPr lang="en-US" sz="2000" dirty="0"/>
          </a:p>
        </p:txBody>
      </p:sp>
      <p:sp>
        <p:nvSpPr>
          <p:cNvPr id="7" name="Text 4"/>
          <p:cNvSpPr txBox="1"/>
          <p:nvPr/>
        </p:nvSpPr>
        <p:spPr>
          <a:xfrm>
            <a:off x="822960" y="2834640"/>
            <a:ext cx="4815688" cy="2926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Chaque nœud a une sortie d'échec, sans aucun réglage.</a:t>
            </a:r>
            <a:endParaRPr lang="en-US" sz="1600" dirty="0"/>
          </a:p>
          <a:p>
            <a:pPr marL="342900" indent="-342900">
              <a:spcAft>
                <a:spcPts val="1000"/>
              </a:spcAft>
              <a:buSzPct val="100000"/>
              <a:buChar char="•"/>
            </a:pPr>
            <a:r>
              <a:rPr lang="en-US" sz="1600" dirty="0">
                <a:solidFill>
                  <a:schemeClr val="tx1"/>
                </a:solidFill>
              </a:rPr>
              <a:t>La plateforme refuse de démarrer si un Cron est invalide, et le signale.</a:t>
            </a:r>
            <a:endParaRPr lang="en-US" sz="1600" dirty="0"/>
          </a:p>
          <a:p>
            <a:pPr marL="342900" indent="-342900">
              <a:spcAft>
                <a:spcPts val="1000"/>
              </a:spcAft>
              <a:buSzPct val="100000"/>
              <a:buChar char="•"/>
            </a:pPr>
            <a:r>
              <a:rPr lang="en-US" sz="1600" dirty="0">
                <a:solidFill>
                  <a:schemeClr val="tx1"/>
                </a:solidFill>
              </a:rPr>
              <a:t>Un Cron est actif dès l'enregistrement du workflow.</a:t>
            </a:r>
            <a:endParaRPr lang="en-US" sz="1600" dirty="0"/>
          </a:p>
        </p:txBody>
      </p:sp>
      <p:sp>
        <p:nvSpPr>
          <p:cNvPr id="8" name="colonne Ce qui m'a coûté du temps"/>
          <p:cNvSpPr/>
          <p:nvPr/>
        </p:nvSpPr>
        <p:spPr>
          <a:xfrm>
            <a:off x="6278728" y="1783080"/>
            <a:ext cx="5364328" cy="4160520"/>
          </a:xfrm>
          <a:prstGeom prst="roundRect">
            <a:avLst>
              <a:gd name="adj" fmla="val 2637"/>
            </a:avLst>
          </a:prstGeom>
          <a:solidFill>
            <a:schemeClr val="bg2"/>
          </a:solidFill>
          <a:ln/>
        </p:spPr>
      </p:sp>
      <p:sp>
        <p:nvSpPr>
          <p:cNvPr id="9" name="icône Ce qui m'a coûté du temps fond"/>
          <p:cNvSpPr/>
          <p:nvPr/>
        </p:nvSpPr>
        <p:spPr>
          <a:xfrm>
            <a:off x="6553048" y="2011680"/>
            <a:ext cx="548640" cy="548640"/>
          </a:xfrm>
          <a:prstGeom prst="ellipse">
            <a:avLst/>
          </a:prstGeom>
          <a:solidFill>
            <a:srgbClr val="B3261E"/>
          </a:solidFill>
          <a:ln/>
        </p:spPr>
      </p:sp>
      <p:pic>
        <p:nvPicPr>
          <p:cNvPr id="10" name="icône Ce qui m'a coûté du temps" descr="preencoded.png">    </p:cNvPr>
          <p:cNvPicPr>
            <a:picLocks noChangeAspect="1"/>
          </p:cNvPicPr>
          <p:nvPr/>
        </p:nvPicPr>
        <p:blipFill>
          <a:blip r:embed="rId2"/>
          <a:stretch>
            <a:fillRect/>
          </a:stretch>
        </p:blipFill>
        <p:spPr>
          <a:xfrm>
            <a:off x="6701180" y="2159813"/>
            <a:ext cx="252374" cy="252374"/>
          </a:xfrm>
          <a:prstGeom prst="rect">
            <a:avLst/>
          </a:prstGeom>
        </p:spPr>
      </p:pic>
      <p:sp>
        <p:nvSpPr>
          <p:cNvPr id="11" name="Text 7"/>
          <p:cNvSpPr txBox="1"/>
          <p:nvPr/>
        </p:nvSpPr>
        <p:spPr>
          <a:xfrm>
            <a:off x="7238848" y="2011680"/>
            <a:ext cx="4175608" cy="548640"/>
          </a:xfrm>
          <a:prstGeom prst="rect">
            <a:avLst/>
          </a:prstGeom>
          <a:noFill/>
          <a:ln/>
        </p:spPr>
        <p:txBody>
          <a:bodyPr wrap="square" lIns="0" tIns="0" rIns="0" bIns="0" rtlCol="0" anchor="ctr"/>
          <a:lstStyle/>
          <a:p>
            <a:pPr indent="0" marL="0">
              <a:buNone/>
            </a:pPr>
            <a:r>
              <a:rPr lang="en-US" sz="2000" b="1" dirty="0">
                <a:solidFill>
                  <a:schemeClr val="tx2"/>
                </a:solidFill>
              </a:rPr>
              <a:t>Ce qui m'a coûté du temps</a:t>
            </a:r>
            <a:endParaRPr lang="en-US" sz="2000" dirty="0"/>
          </a:p>
        </p:txBody>
      </p:sp>
      <p:sp>
        <p:nvSpPr>
          <p:cNvPr id="12" name="Text 8"/>
          <p:cNvSpPr txBox="1"/>
          <p:nvPr/>
        </p:nvSpPr>
        <p:spPr>
          <a:xfrm>
            <a:off x="6553048" y="2834640"/>
            <a:ext cx="4815688" cy="2926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Le token à saisir dans chaque nœud : dix-sept nœuds, et des erreurs 401 sur ceux que j'avais copiés d'un nœud sans token.</a:t>
            </a:r>
            <a:endParaRPr lang="en-US" sz="1600" dirty="0"/>
          </a:p>
          <a:p>
            <a:pPr marL="342900" indent="-342900">
              <a:spcAft>
                <a:spcPts val="1000"/>
              </a:spcAft>
              <a:buSzPct val="100000"/>
              <a:buChar char="•"/>
            </a:pPr>
            <a:r>
              <a:rPr lang="en-US" sz="1600" dirty="0">
                <a:solidFill>
                  <a:schemeClr val="tx1"/>
                </a:solidFill>
              </a:rPr>
              <a:t>Un chemin d'URL doublé, « /taches//taches/… », qui répondait 404.</a:t>
            </a:r>
            <a:endParaRPr lang="en-US" sz="1600" dirty="0"/>
          </a:p>
          <a:p>
            <a:pPr marL="342900" indent="-342900">
              <a:spcAft>
                <a:spcPts val="1000"/>
              </a:spcAft>
              <a:buSzPct val="100000"/>
              <a:buChar char="•"/>
            </a:pPr>
            <a:r>
              <a:rPr lang="en-US" sz="1600" dirty="0">
                <a:solidFill>
                  <a:schemeClr val="tx1"/>
                </a:solidFill>
              </a:rPr>
              <a:t>Un Cron écrit « 30 0 *** » sans espaces, qui bloquait tout le workflow.</a:t>
            </a:r>
            <a:endParaRPr lang="en-US" sz="1600" dirty="0"/>
          </a:p>
          <a:p>
            <a:pPr marL="342900" indent="-342900">
              <a:spcAft>
                <a:spcPts val="1000"/>
              </a:spcAft>
              <a:buSzPct val="100000"/>
              <a:buChar char="•"/>
            </a:pPr>
            <a:r>
              <a:rPr lang="en-US" sz="1600" dirty="0">
                <a:solidFill>
                  <a:schemeClr val="tx1"/>
                </a:solidFill>
              </a:rPr>
              <a:t>L'erreur n'affiche que « code 404 », pas le message de Workly.</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051560"/>
          </a:xfrm>
          <a:prstGeom prst="rect">
            <a:avLst/>
          </a:prstGeom>
          <a:noFill/>
          <a:ln/>
        </p:spPr>
        <p:txBody>
          <a:bodyPr wrap="square" lIns="0" tIns="0" rIns="0" bIns="0" rtlCol="0" anchor="ctr"/>
          <a:lstStyle/>
          <a:p>
            <a:pPr algn="l" indent="0" marL="0">
              <a:buNone/>
            </a:pPr>
            <a:r>
              <a:rPr lang="en-US" sz="3400" b="1" dirty="0">
                <a:solidFill>
                  <a:schemeClr val="tx2"/>
                </a:solidFill>
              </a:rPr>
              <a:t>Sur n8n : ce qui a marché, ce qui m'a coûté</a:t>
            </a:r>
            <a:endParaRPr lang="en-US" sz="3400" dirty="0"/>
          </a:p>
        </p:txBody>
      </p:sp>
      <p:sp>
        <p:nvSpPr>
          <p:cNvPr id="3" name="colonne Ce qui a bien marché"/>
          <p:cNvSpPr/>
          <p:nvPr/>
        </p:nvSpPr>
        <p:spPr>
          <a:xfrm>
            <a:off x="548640" y="1783080"/>
            <a:ext cx="5364328" cy="4160520"/>
          </a:xfrm>
          <a:prstGeom prst="roundRect">
            <a:avLst>
              <a:gd name="adj" fmla="val 2637"/>
            </a:avLst>
          </a:prstGeom>
          <a:solidFill>
            <a:schemeClr val="bg2"/>
          </a:solidFill>
          <a:ln/>
        </p:spPr>
      </p:sp>
      <p:sp>
        <p:nvSpPr>
          <p:cNvPr id="4" name="icône Ce qui a bien marché fond"/>
          <p:cNvSpPr/>
          <p:nvPr/>
        </p:nvSpPr>
        <p:spPr>
          <a:xfrm>
            <a:off x="822960" y="2011680"/>
            <a:ext cx="548640" cy="548640"/>
          </a:xfrm>
          <a:prstGeom prst="ellipse">
            <a:avLst/>
          </a:prstGeom>
          <a:solidFill>
            <a:srgbClr val="1F8F7F"/>
          </a:solidFill>
          <a:ln/>
        </p:spPr>
      </p:sp>
      <p:pic>
        <p:nvPicPr>
          <p:cNvPr id="5" name="icône Ce qui a bien marché" descr="preencoded.png">    </p:cNvPr>
          <p:cNvPicPr>
            <a:picLocks noChangeAspect="1"/>
          </p:cNvPicPr>
          <p:nvPr/>
        </p:nvPicPr>
        <p:blipFill>
          <a:blip r:embed="rId1"/>
          <a:stretch>
            <a:fillRect/>
          </a:stretch>
        </p:blipFill>
        <p:spPr>
          <a:xfrm>
            <a:off x="971093" y="2159813"/>
            <a:ext cx="252374" cy="252374"/>
          </a:xfrm>
          <a:prstGeom prst="rect">
            <a:avLst/>
          </a:prstGeom>
        </p:spPr>
      </p:pic>
      <p:sp>
        <p:nvSpPr>
          <p:cNvPr id="6" name="Text 3"/>
          <p:cNvSpPr txBox="1"/>
          <p:nvPr/>
        </p:nvSpPr>
        <p:spPr>
          <a:xfrm>
            <a:off x="1508760" y="2011680"/>
            <a:ext cx="4175608" cy="548640"/>
          </a:xfrm>
          <a:prstGeom prst="rect">
            <a:avLst/>
          </a:prstGeom>
          <a:noFill/>
          <a:ln/>
        </p:spPr>
        <p:txBody>
          <a:bodyPr wrap="square" lIns="0" tIns="0" rIns="0" bIns="0" rtlCol="0" anchor="ctr"/>
          <a:lstStyle/>
          <a:p>
            <a:pPr indent="0" marL="0">
              <a:buNone/>
            </a:pPr>
            <a:r>
              <a:rPr lang="en-US" sz="2000" b="1" dirty="0">
                <a:solidFill>
                  <a:schemeClr val="tx2"/>
                </a:solidFill>
              </a:rPr>
              <a:t>Ce qui a bien marché</a:t>
            </a:r>
            <a:endParaRPr lang="en-US" sz="2000" dirty="0"/>
          </a:p>
        </p:txBody>
      </p:sp>
      <p:sp>
        <p:nvSpPr>
          <p:cNvPr id="7" name="Text 4"/>
          <p:cNvSpPr txBox="1"/>
          <p:nvPr/>
        </p:nvSpPr>
        <p:spPr>
          <a:xfrm>
            <a:off x="822960" y="2834640"/>
            <a:ext cx="4815688" cy="2926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Un seul credential pour le token, réutilisé dans tous les nœuds.</a:t>
            </a:r>
            <a:endParaRPr lang="en-US" sz="1600" dirty="0"/>
          </a:p>
          <a:p>
            <a:pPr marL="342900" indent="-342900">
              <a:spcAft>
                <a:spcPts val="1000"/>
              </a:spcAft>
              <a:buSzPct val="100000"/>
              <a:buChar char="•"/>
            </a:pPr>
            <a:r>
              <a:rPr lang="en-US" sz="1600" dirty="0">
                <a:solidFill>
                  <a:schemeClr val="tx1"/>
                </a:solidFill>
              </a:rPr>
              <a:t>L'erreur contient le corps de la réponse : « Tâche inconnue : taches-du-jour ».</a:t>
            </a:r>
            <a:endParaRPr lang="en-US" sz="1600" dirty="0"/>
          </a:p>
          <a:p>
            <a:pPr marL="342900" indent="-342900">
              <a:spcAft>
                <a:spcPts val="1000"/>
              </a:spcAft>
              <a:buSzPct val="100000"/>
              <a:buChar char="•"/>
            </a:pPr>
            <a:r>
              <a:rPr lang="en-US" sz="1600" dirty="0">
                <a:solidFill>
                  <a:schemeClr val="tx1"/>
                </a:solidFill>
              </a:rPr>
              <a:t>Le fuseau horaire se règle, et l'interrupteur Active est explicite.</a:t>
            </a:r>
            <a:endParaRPr lang="en-US" sz="1600" dirty="0"/>
          </a:p>
        </p:txBody>
      </p:sp>
      <p:sp>
        <p:nvSpPr>
          <p:cNvPr id="8" name="colonne Ce qui m'a coûté du temps"/>
          <p:cNvSpPr/>
          <p:nvPr/>
        </p:nvSpPr>
        <p:spPr>
          <a:xfrm>
            <a:off x="6278728" y="1783080"/>
            <a:ext cx="5364328" cy="4160520"/>
          </a:xfrm>
          <a:prstGeom prst="roundRect">
            <a:avLst>
              <a:gd name="adj" fmla="val 2637"/>
            </a:avLst>
          </a:prstGeom>
          <a:solidFill>
            <a:schemeClr val="bg2"/>
          </a:solidFill>
          <a:ln/>
        </p:spPr>
      </p:sp>
      <p:sp>
        <p:nvSpPr>
          <p:cNvPr id="9" name="icône Ce qui m'a coûté du temps fond"/>
          <p:cNvSpPr/>
          <p:nvPr/>
        </p:nvSpPr>
        <p:spPr>
          <a:xfrm>
            <a:off x="6553048" y="2011680"/>
            <a:ext cx="548640" cy="548640"/>
          </a:xfrm>
          <a:prstGeom prst="ellipse">
            <a:avLst/>
          </a:prstGeom>
          <a:solidFill>
            <a:srgbClr val="B3261E"/>
          </a:solidFill>
          <a:ln/>
        </p:spPr>
      </p:sp>
      <p:pic>
        <p:nvPicPr>
          <p:cNvPr id="10" name="icône Ce qui m'a coûté du temps" descr="preencoded.png">    </p:cNvPr>
          <p:cNvPicPr>
            <a:picLocks noChangeAspect="1"/>
          </p:cNvPicPr>
          <p:nvPr/>
        </p:nvPicPr>
        <p:blipFill>
          <a:blip r:embed="rId2"/>
          <a:stretch>
            <a:fillRect/>
          </a:stretch>
        </p:blipFill>
        <p:spPr>
          <a:xfrm>
            <a:off x="6701180" y="2159813"/>
            <a:ext cx="252374" cy="252374"/>
          </a:xfrm>
          <a:prstGeom prst="rect">
            <a:avLst/>
          </a:prstGeom>
        </p:spPr>
      </p:pic>
      <p:sp>
        <p:nvSpPr>
          <p:cNvPr id="11" name="Text 7"/>
          <p:cNvSpPr txBox="1"/>
          <p:nvPr/>
        </p:nvSpPr>
        <p:spPr>
          <a:xfrm>
            <a:off x="7238848" y="2011680"/>
            <a:ext cx="4175608" cy="548640"/>
          </a:xfrm>
          <a:prstGeom prst="rect">
            <a:avLst/>
          </a:prstGeom>
          <a:noFill/>
          <a:ln/>
        </p:spPr>
        <p:txBody>
          <a:bodyPr wrap="square" lIns="0" tIns="0" rIns="0" bIns="0" rtlCol="0" anchor="ctr"/>
          <a:lstStyle/>
          <a:p>
            <a:pPr indent="0" marL="0">
              <a:buNone/>
            </a:pPr>
            <a:r>
              <a:rPr lang="en-US" sz="2000" b="1" dirty="0">
                <a:solidFill>
                  <a:schemeClr val="tx2"/>
                </a:solidFill>
              </a:rPr>
              <a:t>Ce qui m'a coûté du temps</a:t>
            </a:r>
            <a:endParaRPr lang="en-US" sz="2000" dirty="0"/>
          </a:p>
        </p:txBody>
      </p:sp>
      <p:sp>
        <p:nvSpPr>
          <p:cNvPr id="12" name="Text 8"/>
          <p:cNvSpPr txBox="1"/>
          <p:nvPr/>
        </p:nvSpPr>
        <p:spPr>
          <a:xfrm>
            <a:off x="6553048" y="2834640"/>
            <a:ext cx="4815688" cy="2926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La sortie d'erreur est à activer nœud par nœud, dans Settings.</a:t>
            </a:r>
            <a:endParaRPr lang="en-US" sz="1600" dirty="0"/>
          </a:p>
          <a:p>
            <a:pPr marL="342900" indent="-342900">
              <a:spcAft>
                <a:spcPts val="1000"/>
              </a:spcAft>
              <a:buSzPct val="100000"/>
              <a:buChar char="•"/>
            </a:pPr>
            <a:r>
              <a:rPr lang="en-US" sz="1600" dirty="0">
                <a:solidFill>
                  <a:schemeClr val="tx1"/>
                </a:solidFill>
              </a:rPr>
              <a:t>« Execute step » et « Execute workflow » ne se comportent pas pareil : j'ai cru que P6 bloquait alors qu'il n'était pas appelé.</a:t>
            </a:r>
            <a:endParaRPr lang="en-US" sz="1600" dirty="0"/>
          </a:p>
          <a:p>
            <a:pPr marL="342900" indent="-342900">
              <a:spcAft>
                <a:spcPts val="1000"/>
              </a:spcAft>
              <a:buSzPct val="100000"/>
              <a:buChar char="•"/>
            </a:pPr>
            <a:r>
              <a:rPr lang="en-US" sz="1600" dirty="0">
                <a:solidFill>
                  <a:schemeClr val="tx1"/>
                </a:solidFill>
              </a:rPr>
              <a:t>Un conflit d'enregistrement quand le workflow est ouvert dans deux onglets.</a:t>
            </a:r>
            <a:endParaRPr lang="en-US" sz="1600" dirty="0"/>
          </a:p>
          <a:p>
            <a:pPr marL="342900" indent="-342900">
              <a:spcAft>
                <a:spcPts val="1000"/>
              </a:spcAft>
              <a:buSzPct val="100000"/>
              <a:buChar char="•"/>
            </a:pPr>
            <a:r>
              <a:rPr lang="en-US" sz="1600" dirty="0">
                <a:solidFill>
                  <a:schemeClr val="tx1"/>
                </a:solidFill>
              </a:rPr>
              <a:t>Les mêmes erreurs de chemin d'URL que sur Fusion.</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051560"/>
          </a:xfrm>
          <a:prstGeom prst="rect">
            <a:avLst/>
          </a:prstGeom>
          <a:noFill/>
          <a:ln/>
        </p:spPr>
        <p:txBody>
          <a:bodyPr wrap="square" lIns="0" tIns="0" rIns="0" bIns="0" rtlCol="0" anchor="ctr"/>
          <a:lstStyle/>
          <a:p>
            <a:pPr algn="l" indent="0" marL="0">
              <a:buNone/>
            </a:pPr>
            <a:r>
              <a:rPr lang="en-US" sz="3400" b="1" dirty="0">
                <a:solidFill>
                  <a:schemeClr val="tx2"/>
                </a:solidFill>
              </a:rPr>
              <a:t>Bilan : 6 critères pour n8n, 3 pour Fusion</a:t>
            </a:r>
            <a:endParaRPr lang="en-US" sz="3400" dirty="0"/>
          </a:p>
        </p:txBody>
      </p:sp>
      <p:graphicFrame>
        <p:nvGraphicFramePr>
          <p:cNvPr id="3" name="Chart 0" descr=""/>
          <p:cNvGraphicFramePr/>
          <p:nvPr/>
        </p:nvGraphicFramePr>
        <p:xfrm>
          <a:off x="548640" y="1737360"/>
          <a:ext cx="6766560" cy="4297680"/>
        </p:xfrm>
        <a:graphic xmlns:a="http://schemas.openxmlformats.org/drawingml/2006/main">
          <a:graphicData uri="http://schemas.openxmlformats.org/drawingml/2006/chart">
            <c:chart xmlns:c="http://schemas.openxmlformats.org/drawingml/2006/chart" r:id="rId1"/>
          </a:graphicData>
        </a:graphic>
      </p:graphicFrame>
      <p:sp>
        <p:nvSpPr>
          <p:cNvPr id="4" name="synthèse"/>
          <p:cNvSpPr/>
          <p:nvPr/>
        </p:nvSpPr>
        <p:spPr>
          <a:xfrm>
            <a:off x="7680960" y="1737360"/>
            <a:ext cx="3962095" cy="4297680"/>
          </a:xfrm>
          <a:prstGeom prst="roundRect">
            <a:avLst>
              <a:gd name="adj" fmla="val 2769"/>
            </a:avLst>
          </a:prstGeom>
          <a:solidFill>
            <a:schemeClr val="bg2"/>
          </a:solidFill>
          <a:ln/>
        </p:spPr>
      </p:sp>
      <p:sp>
        <p:nvSpPr>
          <p:cNvPr id="5" name="Text 2"/>
          <p:cNvSpPr txBox="1"/>
          <p:nvPr/>
        </p:nvSpPr>
        <p:spPr>
          <a:xfrm>
            <a:off x="7955280" y="1965960"/>
            <a:ext cx="3413455" cy="457200"/>
          </a:xfrm>
          <a:prstGeom prst="rect">
            <a:avLst/>
          </a:prstGeom>
          <a:noFill/>
          <a:ln/>
        </p:spPr>
        <p:txBody>
          <a:bodyPr wrap="square" lIns="0" tIns="0" rIns="0" bIns="0" rtlCol="0" anchor="t"/>
          <a:lstStyle/>
          <a:p>
            <a:pPr indent="0" marL="0">
              <a:buNone/>
            </a:pPr>
            <a:r>
              <a:rPr lang="en-US" sz="2000" b="1" dirty="0">
                <a:solidFill>
                  <a:schemeClr val="tx2"/>
                </a:solidFill>
              </a:rPr>
              <a:t>Ce que je retiens</a:t>
            </a:r>
            <a:endParaRPr lang="en-US" sz="2000" dirty="0"/>
          </a:p>
        </p:txBody>
      </p:sp>
      <p:sp>
        <p:nvSpPr>
          <p:cNvPr id="6" name="Text 3"/>
          <p:cNvSpPr txBox="1"/>
          <p:nvPr/>
        </p:nvSpPr>
        <p:spPr>
          <a:xfrm>
            <a:off x="7955280" y="2560320"/>
            <a:ext cx="3413455"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n8n gagne là où j'ai perdu du temps : token unique, erreurs détaillées, fuseau réglable.</a:t>
            </a:r>
            <a:endParaRPr lang="en-US" sz="1600" dirty="0"/>
          </a:p>
          <a:p>
            <a:pPr marL="342900" indent="-342900">
              <a:spcAft>
                <a:spcPts val="1000"/>
              </a:spcAft>
              <a:buSzPct val="100000"/>
              <a:buChar char="•"/>
            </a:pPr>
            <a:r>
              <a:rPr lang="en-US" sz="1600" dirty="0">
                <a:solidFill>
                  <a:schemeClr val="tx1"/>
                </a:solidFill>
              </a:rPr>
              <a:t>Fusion gagne sur la simplicité d'un Cron et sur sa validation.</a:t>
            </a:r>
            <a:endParaRPr lang="en-US" sz="1600" dirty="0"/>
          </a:p>
          <a:p>
            <a:pPr marL="342900" indent="-342900">
              <a:buSzPct val="100000"/>
              <a:buChar char="•"/>
            </a:pPr>
            <a:r>
              <a:rPr lang="en-US" sz="1600" dirty="0">
                <a:solidFill>
                  <a:schemeClr val="tx1"/>
                </a:solidFill>
              </a:rPr>
              <a:t>Six autres critères restent à mesurer sur plusieurs nuits.</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051560"/>
          </a:xfrm>
          <a:prstGeom prst="rect">
            <a:avLst/>
          </a:prstGeom>
          <a:noFill/>
          <a:ln/>
        </p:spPr>
        <p:txBody>
          <a:bodyPr wrap="square" lIns="0" tIns="0" rIns="0" bIns="0" rtlCol="0" anchor="ctr"/>
          <a:lstStyle/>
          <a:p>
            <a:pPr algn="l" indent="0" marL="0">
              <a:buNone/>
            </a:pPr>
            <a:r>
              <a:rPr lang="en-US" sz="3400" b="1" dirty="0">
                <a:solidFill>
                  <a:schemeClr val="tx2"/>
                </a:solidFill>
              </a:rPr>
              <a:t>Les quatre différences qui comptent le plus</a:t>
            </a:r>
            <a:endParaRPr lang="en-US" sz="3400" dirty="0"/>
          </a:p>
        </p:txBody>
      </p:sp>
      <p:graphicFrame>
        <p:nvGraphicFramePr>
          <p:cNvPr id="11" name="tableau comparatif"/>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377440"/>
                <a:gridCol w="4343400"/>
                <a:gridCol w="4370832"/>
              </a:tblGrid>
              <a:tr h="502920">
                <a:tc>
                  <a:txBody>
                    <a:bodyPr/>
                    <a:lstStyle/>
                    <a:p>
                      <a:pPr algn="l" indent="0" marL="0">
                        <a:buNone/>
                      </a:pPr>
                      <a:r>
                        <a:rPr lang="en-US" sz="1500" b="1" dirty="0">
                          <a:solidFill>
                            <a:schemeClr val="bg1"/>
                          </a:solidFill>
                        </a:rPr>
                        <a:t>Critère</a:t>
                      </a:r>
                      <a:endParaRPr lang="en-US" sz="15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0E2A47"/>
                    </a:solidFill>
                  </a:tcPr>
                </a:tc>
                <a:tc>
                  <a:txBody>
                    <a:bodyPr/>
                    <a:lstStyle/>
                    <a:p>
                      <a:pPr algn="l" indent="0" marL="0">
                        <a:buNone/>
                      </a:pPr>
                      <a:r>
                        <a:rPr lang="en-US" sz="1500" b="1" dirty="0">
                          <a:solidFill>
                            <a:schemeClr val="bg1"/>
                          </a:solidFill>
                        </a:rPr>
                        <a:t>Fusion AI Automation</a:t>
                      </a:r>
                      <a:endParaRPr lang="en-US" sz="15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2B5FD9"/>
                    </a:solidFill>
                  </a:tcPr>
                </a:tc>
                <a:tc>
                  <a:txBody>
                    <a:bodyPr/>
                    <a:lstStyle/>
                    <a:p>
                      <a:pPr algn="l" indent="0" marL="0">
                        <a:buNone/>
                      </a:pPr>
                      <a:r>
                        <a:rPr lang="en-US" sz="1500" b="1" dirty="0">
                          <a:solidFill>
                            <a:schemeClr val="bg1"/>
                          </a:solidFill>
                        </a:rPr>
                        <a:t>n8n</a:t>
                      </a:r>
                      <a:endParaRPr lang="en-US" sz="15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D9531E"/>
                    </a:solidFill>
                  </a:tcPr>
                </a:tc>
              </a:tr>
              <a:tr h="822960">
                <a:tc>
                  <a:txBody>
                    <a:bodyPr/>
                    <a:lstStyle/>
                    <a:p>
                      <a:pPr indent="0" marL="0">
                        <a:buNone/>
                      </a:pPr>
                      <a:r>
                        <a:rPr lang="en-US" sz="1400" b="1" dirty="0">
                          <a:solidFill>
                            <a:schemeClr val="tx1"/>
                          </a:solidFill>
                        </a:rPr>
                        <a:t>Token</a:t>
                      </a:r>
                      <a:endParaRPr lang="en-US" sz="14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À saisir dans chaque nœud (17)</a:t>
                      </a:r>
                      <a:endParaRPr lang="en-US" sz="14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Un credential réutilisé</a:t>
                      </a:r>
                      <a:endParaRPr lang="en-US" sz="14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FFFFFF"/>
                    </a:solidFill>
                  </a:tcPr>
                </a:tc>
              </a:tr>
              <a:tr h="822960">
                <a:tc>
                  <a:txBody>
                    <a:bodyPr/>
                    <a:lstStyle/>
                    <a:p>
                      <a:pPr indent="0" marL="0">
                        <a:buNone/>
                      </a:pPr>
                      <a:r>
                        <a:rPr lang="en-US" sz="1400" b="1" dirty="0">
                          <a:solidFill>
                            <a:schemeClr val="tx1"/>
                          </a:solidFill>
                        </a:rPr>
                        <a:t>Message d'erreur</a:t>
                      </a:r>
                      <a:endParaRPr lang="en-US" sz="14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Code et statut, sans le corps de la réponse</a:t>
                      </a:r>
                      <a:endParaRPr lang="en-US" sz="14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Code, statut et corps de la réponse</a:t>
                      </a:r>
                      <a:endParaRPr lang="en-US" sz="14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FFFFFF"/>
                    </a:solidFill>
                  </a:tcPr>
                </a:tc>
              </a:tr>
              <a:tr h="822960">
                <a:tc>
                  <a:txBody>
                    <a:bodyPr/>
                    <a:lstStyle/>
                    <a:p>
                      <a:pPr indent="0" marL="0">
                        <a:buNone/>
                      </a:pPr>
                      <a:r>
                        <a:rPr lang="en-US" sz="1400" b="1" dirty="0">
                          <a:solidFill>
                            <a:schemeClr val="tx1"/>
                          </a:solidFill>
                        </a:rPr>
                        <a:t>Planification</a:t>
                      </a:r>
                      <a:endParaRPr lang="en-US" sz="14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Cron sans choix de fuseau, actif à l'enregistrement</a:t>
                      </a:r>
                      <a:endParaRPr lang="en-US" sz="14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Cron avec fuseau réglable, interrupteur Active</a:t>
                      </a:r>
                      <a:endParaRPr lang="en-US" sz="14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FFFFFF"/>
                    </a:solidFill>
                  </a:tcPr>
                </a:tc>
              </a:tr>
              <a:tr h="822960">
                <a:tc>
                  <a:txBody>
                    <a:bodyPr/>
                    <a:lstStyle/>
                    <a:p>
                      <a:pPr indent="0" marL="0">
                        <a:buNone/>
                      </a:pPr>
                      <a:r>
                        <a:rPr lang="en-US" sz="1400" b="1" dirty="0">
                          <a:solidFill>
                            <a:schemeClr val="tx1"/>
                          </a:solidFill>
                        </a:rPr>
                        <a:t>Chemin d'échec</a:t>
                      </a:r>
                      <a:endParaRPr lang="en-US" sz="14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Sortie rouge native sur chaque nœud</a:t>
                      </a:r>
                      <a:endParaRPr lang="en-US" sz="14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À activer nœud par nœud</a:t>
                      </a:r>
                      <a:endParaRPr lang="en-US" sz="1400" dirty="0"/>
                    </a:p>
                  </a:txBody>
                  <a:tcPr marL="137160" marR="137160" marT="45720" marB="45720" anchor="ctr">
                    <a:lnL w="9525" cap="flat" cmpd="sng" algn="ctr">
                      <a:solidFill>
                        <a:srgbClr val="C7D0D8"/>
                      </a:solidFill>
                      <a:prstDash val="solid"/>
                      <a:round/>
                      <a:headEnd type="none" w="med" len="med"/>
                      <a:tailEnd type="none" w="med" len="med"/>
                    </a:lnL>
                    <a:lnR w="9525" cap="flat" cmpd="sng" algn="ctr">
                      <a:solidFill>
                        <a:srgbClr val="C7D0D8"/>
                      </a:solidFill>
                      <a:prstDash val="solid"/>
                      <a:round/>
                      <a:headEnd type="none" w="med" len="med"/>
                      <a:tailEnd type="none" w="med" len="med"/>
                    </a:lnR>
                    <a:lnT w="9525" cap="flat" cmpd="sng" algn="ctr">
                      <a:solidFill>
                        <a:srgbClr val="C7D0D8"/>
                      </a:solidFill>
                      <a:prstDash val="solid"/>
                      <a:round/>
                      <a:headEnd type="none" w="med" len="med"/>
                      <a:tailEnd type="none" w="med" len="med"/>
                    </a:lnT>
                    <a:lnB w="9525" cap="flat" cmpd="sng" algn="ctr">
                      <a:solidFill>
                        <a:srgbClr val="C7D0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989320"/>
            <a:ext cx="11094415" cy="365760"/>
          </a:xfrm>
          <a:prstGeom prst="rect">
            <a:avLst/>
          </a:prstGeom>
          <a:noFill/>
          <a:ln/>
        </p:spPr>
        <p:txBody>
          <a:bodyPr wrap="square" lIns="0" tIns="0" rIns="0" bIns="0" rtlCol="0" anchor="t"/>
          <a:lstStyle/>
          <a:p>
            <a:pPr indent="0" marL="0">
              <a:buNone/>
            </a:pPr>
            <a:r>
              <a:rPr lang="en-US" sz="1400" dirty="0">
                <a:solidFill>
                  <a:schemeClr val="accent4"/>
                </a:solidFill>
              </a:rPr>
              <a:t>Le dernier point est la seule ligne où Fusion fait mieux dans ce tableau.</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051560"/>
          </a:xfrm>
          <a:prstGeom prst="rect">
            <a:avLst/>
          </a:prstGeom>
          <a:noFill/>
          <a:ln/>
        </p:spPr>
        <p:txBody>
          <a:bodyPr wrap="square" lIns="0" tIns="0" rIns="0" bIns="0" rtlCol="0" anchor="ctr"/>
          <a:lstStyle/>
          <a:p>
            <a:pPr algn="l" indent="0" marL="0">
              <a:buNone/>
            </a:pPr>
            <a:r>
              <a:rPr lang="en-US" sz="3400" b="1" dirty="0">
                <a:solidFill>
                  <a:schemeClr val="tx2"/>
                </a:solidFill>
              </a:rPr>
              <a:t>Le point faible commun : mon propre PC</a:t>
            </a:r>
            <a:endParaRPr lang="en-US" sz="3400" dirty="0"/>
          </a:p>
        </p:txBody>
      </p:sp>
      <p:sp>
        <p:nvSpPr>
          <p:cNvPr id="3" name="Text 1"/>
          <p:cNvSpPr txBox="1"/>
          <p:nvPr/>
        </p:nvSpPr>
        <p:spPr>
          <a:xfrm>
            <a:off x="548640" y="1783080"/>
            <a:ext cx="5852160" cy="1188720"/>
          </a:xfrm>
          <a:prstGeom prst="rect">
            <a:avLst/>
          </a:prstGeom>
          <a:noFill/>
          <a:ln/>
        </p:spPr>
        <p:txBody>
          <a:bodyPr wrap="square" lIns="0" tIns="0" rIns="0" bIns="0" rtlCol="0" anchor="t"/>
          <a:lstStyle/>
          <a:p>
            <a:pPr indent="0" marL="0">
              <a:buNone/>
            </a:pPr>
            <a:r>
              <a:rPr lang="en-US" sz="2200" b="1" dirty="0">
                <a:solidFill>
                  <a:schemeClr val="tx2"/>
                </a:solidFill>
              </a:rPr>
              <a:t>Si le PC s'éteint, se met en veille ou perd sa connexion, les deux outils échouent de la même façon.</a:t>
            </a:r>
            <a:endParaRPr lang="en-US" sz="2200" dirty="0"/>
          </a:p>
        </p:txBody>
      </p:sp>
      <p:sp>
        <p:nvSpPr>
          <p:cNvPr id="4" name="icône limite 1 fond"/>
          <p:cNvSpPr/>
          <p:nvPr/>
        </p:nvSpPr>
        <p:spPr>
          <a:xfrm>
            <a:off x="548640" y="3200400"/>
            <a:ext cx="640080" cy="640080"/>
          </a:xfrm>
          <a:prstGeom prst="ellipse">
            <a:avLst/>
          </a:prstGeom>
          <a:solidFill>
            <a:srgbClr val="D9531E"/>
          </a:solidFill>
          <a:ln/>
        </p:spPr>
      </p:sp>
      <p:pic>
        <p:nvPicPr>
          <p:cNvPr id="5" name="icône limite 1" descr="preencoded.png">    </p:cNvPr>
          <p:cNvPicPr>
            <a:picLocks noChangeAspect="1"/>
          </p:cNvPicPr>
          <p:nvPr/>
        </p:nvPicPr>
        <p:blipFill>
          <a:blip r:embed="rId1"/>
          <a:stretch>
            <a:fillRect/>
          </a:stretch>
        </p:blipFill>
        <p:spPr>
          <a:xfrm>
            <a:off x="721462" y="3373222"/>
            <a:ext cx="294437" cy="294437"/>
          </a:xfrm>
          <a:prstGeom prst="rect">
            <a:avLst/>
          </a:prstGeom>
        </p:spPr>
      </p:pic>
      <p:sp>
        <p:nvSpPr>
          <p:cNvPr id="6" name="Text 3"/>
          <p:cNvSpPr txBox="1"/>
          <p:nvPr/>
        </p:nvSpPr>
        <p:spPr>
          <a:xfrm>
            <a:off x="1417320" y="3200400"/>
            <a:ext cx="5029200" cy="640080"/>
          </a:xfrm>
          <a:prstGeom prst="rect">
            <a:avLst/>
          </a:prstGeom>
          <a:noFill/>
          <a:ln/>
        </p:spPr>
        <p:txBody>
          <a:bodyPr wrap="square" lIns="0" tIns="0" rIns="0" bIns="0" rtlCol="0" anchor="ctr"/>
          <a:lstStyle/>
          <a:p>
            <a:pPr indent="0" marL="0">
              <a:buNone/>
            </a:pPr>
            <a:r>
              <a:rPr lang="en-US" sz="1600" dirty="0">
                <a:solidFill>
                  <a:schemeClr val="tx1"/>
                </a:solidFill>
              </a:rPr>
              <a:t>Le serveur Workly et ngrok tournent dans ma session Windows.</a:t>
            </a:r>
            <a:endParaRPr lang="en-US" sz="1600" dirty="0"/>
          </a:p>
        </p:txBody>
      </p:sp>
      <p:sp>
        <p:nvSpPr>
          <p:cNvPr id="7" name="icône limite 2 fond"/>
          <p:cNvSpPr/>
          <p:nvPr/>
        </p:nvSpPr>
        <p:spPr>
          <a:xfrm>
            <a:off x="548640" y="4160520"/>
            <a:ext cx="640080" cy="640080"/>
          </a:xfrm>
          <a:prstGeom prst="ellipse">
            <a:avLst/>
          </a:prstGeom>
          <a:solidFill>
            <a:srgbClr val="B3261E"/>
          </a:solidFill>
          <a:ln/>
        </p:spPr>
      </p:sp>
      <p:pic>
        <p:nvPicPr>
          <p:cNvPr id="8" name="icône limite 2" descr="preencoded.png">    </p:cNvPr>
          <p:cNvPicPr>
            <a:picLocks noChangeAspect="1"/>
          </p:cNvPicPr>
          <p:nvPr/>
        </p:nvPicPr>
        <p:blipFill>
          <a:blip r:embed="rId2"/>
          <a:stretch>
            <a:fillRect/>
          </a:stretch>
        </p:blipFill>
        <p:spPr>
          <a:xfrm>
            <a:off x="721462" y="4333342"/>
            <a:ext cx="294437" cy="294437"/>
          </a:xfrm>
          <a:prstGeom prst="rect">
            <a:avLst/>
          </a:prstGeom>
        </p:spPr>
      </p:pic>
      <p:sp>
        <p:nvSpPr>
          <p:cNvPr id="9" name="Text 5"/>
          <p:cNvSpPr txBox="1"/>
          <p:nvPr/>
        </p:nvSpPr>
        <p:spPr>
          <a:xfrm>
            <a:off x="1417320" y="4160520"/>
            <a:ext cx="5029200" cy="640080"/>
          </a:xfrm>
          <a:prstGeom prst="rect">
            <a:avLst/>
          </a:prstGeom>
          <a:noFill/>
          <a:ln/>
        </p:spPr>
        <p:txBody>
          <a:bodyPr wrap="square" lIns="0" tIns="0" rIns="0" bIns="0" rtlCol="0" anchor="ctr"/>
          <a:lstStyle/>
          <a:p>
            <a:pPr indent="0" marL="0">
              <a:buNone/>
            </a:pPr>
            <a:r>
              <a:rPr lang="en-US" sz="1600" dirty="0">
                <a:solidFill>
                  <a:schemeClr val="tx1"/>
                </a:solidFill>
              </a:rPr>
              <a:t>Une coupure réseau pendant la nuit fait échouer les étapes concernées.</a:t>
            </a:r>
            <a:endParaRPr lang="en-US" sz="1600" dirty="0"/>
          </a:p>
        </p:txBody>
      </p:sp>
      <p:sp>
        <p:nvSpPr>
          <p:cNvPr id="10" name="icône limite 3 fond"/>
          <p:cNvSpPr/>
          <p:nvPr/>
        </p:nvSpPr>
        <p:spPr>
          <a:xfrm>
            <a:off x="548640" y="5120640"/>
            <a:ext cx="640080" cy="640080"/>
          </a:xfrm>
          <a:prstGeom prst="ellipse">
            <a:avLst/>
          </a:prstGeom>
          <a:solidFill>
            <a:srgbClr val="5B6875"/>
          </a:solidFill>
          <a:ln/>
        </p:spPr>
      </p:sp>
      <p:pic>
        <p:nvPicPr>
          <p:cNvPr id="11" name="icône limite 3" descr="preencoded.png">    </p:cNvPr>
          <p:cNvPicPr>
            <a:picLocks noChangeAspect="1"/>
          </p:cNvPicPr>
          <p:nvPr/>
        </p:nvPicPr>
        <p:blipFill>
          <a:blip r:embed="rId3"/>
          <a:stretch>
            <a:fillRect/>
          </a:stretch>
        </p:blipFill>
        <p:spPr>
          <a:xfrm>
            <a:off x="721462" y="5293462"/>
            <a:ext cx="294437" cy="294437"/>
          </a:xfrm>
          <a:prstGeom prst="rect">
            <a:avLst/>
          </a:prstGeom>
        </p:spPr>
      </p:pic>
      <p:sp>
        <p:nvSpPr>
          <p:cNvPr id="12" name="Text 7"/>
          <p:cNvSpPr txBox="1"/>
          <p:nvPr/>
        </p:nvSpPr>
        <p:spPr>
          <a:xfrm>
            <a:off x="1417320" y="5120640"/>
            <a:ext cx="5029200" cy="640080"/>
          </a:xfrm>
          <a:prstGeom prst="rect">
            <a:avLst/>
          </a:prstGeom>
          <a:noFill/>
          <a:ln/>
        </p:spPr>
        <p:txBody>
          <a:bodyPr wrap="square" lIns="0" tIns="0" rIns="0" bIns="0" rtlCol="0" anchor="ctr"/>
          <a:lstStyle/>
          <a:p>
            <a:pPr indent="0" marL="0">
              <a:buNone/>
            </a:pPr>
            <a:r>
              <a:rPr lang="en-US" sz="1600" dirty="0">
                <a:solidFill>
                  <a:schemeClr val="tx1"/>
                </a:solidFill>
              </a:rPr>
              <a:t>Si Workly est arrêté, il ne peut pas envoyer l'e-mail d'alerte.</a:t>
            </a:r>
            <a:endParaRPr lang="en-US" sz="1600" dirty="0"/>
          </a:p>
        </p:txBody>
      </p:sp>
      <p:sp>
        <p:nvSpPr>
          <p:cNvPr id="13" name="pistes"/>
          <p:cNvSpPr/>
          <p:nvPr/>
        </p:nvSpPr>
        <p:spPr>
          <a:xfrm>
            <a:off x="6858000" y="1783080"/>
            <a:ext cx="4785055" cy="4206240"/>
          </a:xfrm>
          <a:prstGeom prst="roundRect">
            <a:avLst>
              <a:gd name="adj" fmla="val 2609"/>
            </a:avLst>
          </a:prstGeom>
          <a:solidFill>
            <a:schemeClr val="bg2"/>
          </a:solidFill>
          <a:ln/>
        </p:spPr>
      </p:sp>
      <p:sp>
        <p:nvSpPr>
          <p:cNvPr id="14" name="Text 9"/>
          <p:cNvSpPr txBox="1"/>
          <p:nvPr/>
        </p:nvSpPr>
        <p:spPr>
          <a:xfrm>
            <a:off x="7178040" y="2011680"/>
            <a:ext cx="4144975" cy="457200"/>
          </a:xfrm>
          <a:prstGeom prst="rect">
            <a:avLst/>
          </a:prstGeom>
          <a:noFill/>
          <a:ln/>
        </p:spPr>
        <p:txBody>
          <a:bodyPr wrap="square" lIns="0" tIns="0" rIns="0" bIns="0" rtlCol="0" anchor="t"/>
          <a:lstStyle/>
          <a:p>
            <a:pPr indent="0" marL="0">
              <a:buNone/>
            </a:pPr>
            <a:r>
              <a:rPr lang="en-US" sz="2100" b="1" dirty="0">
                <a:solidFill>
                  <a:schemeClr val="tx2"/>
                </a:solidFill>
              </a:rPr>
              <a:t>Ce que je prévois</a:t>
            </a:r>
            <a:endParaRPr lang="en-US" sz="2100" dirty="0"/>
          </a:p>
        </p:txBody>
      </p:sp>
      <p:sp>
        <p:nvSpPr>
          <p:cNvPr id="15" name="Text 10"/>
          <p:cNvSpPr txBox="1"/>
          <p:nvPr/>
        </p:nvSpPr>
        <p:spPr>
          <a:xfrm>
            <a:off x="7178040" y="2651760"/>
            <a:ext cx="4144975" cy="32004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Un hébergement permanent : un petit serveur qui ne dépend d'aucun PC.</a:t>
            </a:r>
            <a:endParaRPr lang="en-US" sz="1600" dirty="0"/>
          </a:p>
          <a:p>
            <a:pPr marL="342900" indent="-342900">
              <a:spcAft>
                <a:spcPts val="1200"/>
              </a:spcAft>
              <a:buSzPct val="100000"/>
              <a:buChar char="•"/>
            </a:pPr>
            <a:r>
              <a:rPr lang="en-US" sz="1600" dirty="0">
                <a:solidFill>
                  <a:schemeClr val="tx1"/>
                </a:solidFill>
              </a:rPr>
              <a:t>Une alerte de panne indépendante de Workly, par exemple un « battement de cœur » externe.</a:t>
            </a:r>
            <a:endParaRPr lang="en-US" sz="1600" dirty="0"/>
          </a:p>
          <a:p>
            <a:pPr marL="342900" indent="-342900">
              <a:buSzPct val="100000"/>
              <a:buChar char="•"/>
            </a:pPr>
            <a:r>
              <a:rPr lang="en-US" sz="1600" dirty="0">
                <a:solidFill>
                  <a:schemeClr val="tx1"/>
                </a:solidFill>
              </a:rPr>
              <a:t>En attendant : veille désactivée et démarrage automatique des deux programmes.</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051560"/>
          </a:xfrm>
          <a:prstGeom prst="rect">
            <a:avLst/>
          </a:prstGeom>
          <a:noFill/>
          <a:ln/>
        </p:spPr>
        <p:txBody>
          <a:bodyPr wrap="square" lIns="0" tIns="0" rIns="0" bIns="0" rtlCol="0" anchor="ctr"/>
          <a:lstStyle/>
          <a:p>
            <a:pPr algn="l" indent="0" marL="0">
              <a:buNone/>
            </a:pPr>
            <a:r>
              <a:rPr lang="en-US" sz="3400" b="1" dirty="0">
                <a:solidFill>
                  <a:schemeClr val="tx2"/>
                </a:solidFill>
              </a:rPr>
              <a:t>La suite : trois nuits de mesure pour trancher</a:t>
            </a:r>
            <a:endParaRPr lang="en-US" sz="3400" dirty="0"/>
          </a:p>
        </p:txBody>
      </p:sp>
      <p:sp>
        <p:nvSpPr>
          <p:cNvPr id="3" name="carte Nuit 1"/>
          <p:cNvSpPr/>
          <p:nvPr/>
        </p:nvSpPr>
        <p:spPr>
          <a:xfrm>
            <a:off x="548640" y="1783080"/>
            <a:ext cx="3200400" cy="2011680"/>
          </a:xfrm>
          <a:prstGeom prst="roundRect">
            <a:avLst>
              <a:gd name="adj" fmla="val 5455"/>
            </a:avLst>
          </a:prstGeom>
          <a:solidFill>
            <a:schemeClr val="bg2"/>
          </a:solidFill>
          <a:ln/>
        </p:spPr>
      </p:sp>
      <p:sp>
        <p:nvSpPr>
          <p:cNvPr id="4" name="Text 2"/>
          <p:cNvSpPr txBox="1"/>
          <p:nvPr/>
        </p:nvSpPr>
        <p:spPr>
          <a:xfrm>
            <a:off x="822960" y="1965960"/>
            <a:ext cx="2651760" cy="411480"/>
          </a:xfrm>
          <a:prstGeom prst="rect">
            <a:avLst/>
          </a:prstGeom>
          <a:noFill/>
          <a:ln/>
        </p:spPr>
        <p:txBody>
          <a:bodyPr wrap="square" lIns="0" tIns="0" rIns="0" bIns="0" rtlCol="0" anchor="t"/>
          <a:lstStyle/>
          <a:p>
            <a:pPr indent="0" marL="0">
              <a:buNone/>
            </a:pPr>
            <a:r>
              <a:rPr lang="en-US" sz="2000" b="1" dirty="0">
                <a:solidFill>
                  <a:schemeClr val="tx2"/>
                </a:solidFill>
              </a:rPr>
              <a:t>Nuit 1</a:t>
            </a:r>
            <a:endParaRPr lang="en-US" sz="2000" dirty="0"/>
          </a:p>
        </p:txBody>
      </p:sp>
      <p:sp>
        <p:nvSpPr>
          <p:cNvPr id="5" name="Text 3"/>
          <p:cNvSpPr txBox="1"/>
          <p:nvPr/>
        </p:nvSpPr>
        <p:spPr>
          <a:xfrm>
            <a:off x="822960" y="2514600"/>
            <a:ext cx="2651760" cy="109728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00:30 UTC : Fusion</a:t>
            </a:r>
            <a:endParaRPr lang="en-US" sz="1700" dirty="0"/>
          </a:p>
          <a:p>
            <a:pPr indent="0" marL="0">
              <a:buNone/>
            </a:pPr>
            <a:r>
              <a:rPr lang="en-US" sz="1700" b="1" dirty="0">
                <a:solidFill>
                  <a:schemeClr val="accent2"/>
                </a:solidFill>
              </a:rPr>
              <a:t>03:30 UTC : n8n</a:t>
            </a:r>
            <a:endParaRPr lang="en-US" sz="1700" dirty="0"/>
          </a:p>
        </p:txBody>
      </p:sp>
      <p:sp>
        <p:nvSpPr>
          <p:cNvPr id="6" name="flèche nuit 1"/>
          <p:cNvSpPr/>
          <p:nvPr/>
        </p:nvSpPr>
        <p:spPr>
          <a:xfrm>
            <a:off x="3794760" y="2788920"/>
            <a:ext cx="655168" cy="0"/>
          </a:xfrm>
          <a:prstGeom prst="line">
            <a:avLst/>
          </a:prstGeom>
          <a:noFill/>
          <a:ln w="25400">
            <a:solidFill>
              <a:schemeClr val="accent4"/>
            </a:solidFill>
            <a:prstDash val="solid"/>
            <a:tailEnd type="triangle"/>
          </a:ln>
        </p:spPr>
      </p:sp>
      <p:sp>
        <p:nvSpPr>
          <p:cNvPr id="7" name="carte Nuit 2"/>
          <p:cNvSpPr/>
          <p:nvPr/>
        </p:nvSpPr>
        <p:spPr>
          <a:xfrm>
            <a:off x="4495648" y="1783080"/>
            <a:ext cx="3200400" cy="2011680"/>
          </a:xfrm>
          <a:prstGeom prst="roundRect">
            <a:avLst>
              <a:gd name="adj" fmla="val 5455"/>
            </a:avLst>
          </a:prstGeom>
          <a:solidFill>
            <a:schemeClr val="bg2"/>
          </a:solidFill>
          <a:ln/>
        </p:spPr>
      </p:sp>
      <p:sp>
        <p:nvSpPr>
          <p:cNvPr id="8" name="Text 6"/>
          <p:cNvSpPr txBox="1"/>
          <p:nvPr/>
        </p:nvSpPr>
        <p:spPr>
          <a:xfrm>
            <a:off x="4769968" y="1965960"/>
            <a:ext cx="2651760" cy="411480"/>
          </a:xfrm>
          <a:prstGeom prst="rect">
            <a:avLst/>
          </a:prstGeom>
          <a:noFill/>
          <a:ln/>
        </p:spPr>
        <p:txBody>
          <a:bodyPr wrap="square" lIns="0" tIns="0" rIns="0" bIns="0" rtlCol="0" anchor="t"/>
          <a:lstStyle/>
          <a:p>
            <a:pPr indent="0" marL="0">
              <a:buNone/>
            </a:pPr>
            <a:r>
              <a:rPr lang="en-US" sz="2000" b="1" dirty="0">
                <a:solidFill>
                  <a:schemeClr val="tx2"/>
                </a:solidFill>
              </a:rPr>
              <a:t>Nuit 2</a:t>
            </a:r>
            <a:endParaRPr lang="en-US" sz="2000" dirty="0"/>
          </a:p>
        </p:txBody>
      </p:sp>
      <p:sp>
        <p:nvSpPr>
          <p:cNvPr id="9" name="Text 7"/>
          <p:cNvSpPr txBox="1"/>
          <p:nvPr/>
        </p:nvSpPr>
        <p:spPr>
          <a:xfrm>
            <a:off x="4769968" y="2514600"/>
            <a:ext cx="2651760" cy="109728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00:30 UTC : Fusion</a:t>
            </a:r>
            <a:endParaRPr lang="en-US" sz="1700" dirty="0"/>
          </a:p>
          <a:p>
            <a:pPr indent="0" marL="0">
              <a:buNone/>
            </a:pPr>
            <a:r>
              <a:rPr lang="en-US" sz="1700" b="1" dirty="0">
                <a:solidFill>
                  <a:schemeClr val="accent2"/>
                </a:solidFill>
              </a:rPr>
              <a:t>03:30 UTC : n8n</a:t>
            </a:r>
            <a:endParaRPr lang="en-US" sz="1700" dirty="0"/>
          </a:p>
        </p:txBody>
      </p:sp>
      <p:sp>
        <p:nvSpPr>
          <p:cNvPr id="10" name="flèche nuit 2"/>
          <p:cNvSpPr/>
          <p:nvPr/>
        </p:nvSpPr>
        <p:spPr>
          <a:xfrm>
            <a:off x="7741768" y="2788920"/>
            <a:ext cx="655168" cy="0"/>
          </a:xfrm>
          <a:prstGeom prst="line">
            <a:avLst/>
          </a:prstGeom>
          <a:noFill/>
          <a:ln w="25400">
            <a:solidFill>
              <a:schemeClr val="accent4"/>
            </a:solidFill>
            <a:prstDash val="solid"/>
            <a:tailEnd type="triangle"/>
          </a:ln>
        </p:spPr>
      </p:sp>
      <p:sp>
        <p:nvSpPr>
          <p:cNvPr id="11" name="carte Nuit 3"/>
          <p:cNvSpPr/>
          <p:nvPr/>
        </p:nvSpPr>
        <p:spPr>
          <a:xfrm>
            <a:off x="8442655" y="1783080"/>
            <a:ext cx="3200400" cy="2011680"/>
          </a:xfrm>
          <a:prstGeom prst="roundRect">
            <a:avLst>
              <a:gd name="adj" fmla="val 5455"/>
            </a:avLst>
          </a:prstGeom>
          <a:solidFill>
            <a:schemeClr val="bg2"/>
          </a:solidFill>
          <a:ln/>
        </p:spPr>
      </p:sp>
      <p:sp>
        <p:nvSpPr>
          <p:cNvPr id="12" name="Text 10"/>
          <p:cNvSpPr txBox="1"/>
          <p:nvPr/>
        </p:nvSpPr>
        <p:spPr>
          <a:xfrm>
            <a:off x="8716975" y="1965960"/>
            <a:ext cx="2651760" cy="411480"/>
          </a:xfrm>
          <a:prstGeom prst="rect">
            <a:avLst/>
          </a:prstGeom>
          <a:noFill/>
          <a:ln/>
        </p:spPr>
        <p:txBody>
          <a:bodyPr wrap="square" lIns="0" tIns="0" rIns="0" bIns="0" rtlCol="0" anchor="t"/>
          <a:lstStyle/>
          <a:p>
            <a:pPr indent="0" marL="0">
              <a:buNone/>
            </a:pPr>
            <a:r>
              <a:rPr lang="en-US" sz="2000" b="1" dirty="0">
                <a:solidFill>
                  <a:schemeClr val="tx2"/>
                </a:solidFill>
              </a:rPr>
              <a:t>Nuit 3</a:t>
            </a:r>
            <a:endParaRPr lang="en-US" sz="2000" dirty="0"/>
          </a:p>
        </p:txBody>
      </p:sp>
      <p:sp>
        <p:nvSpPr>
          <p:cNvPr id="13" name="Text 11"/>
          <p:cNvSpPr txBox="1"/>
          <p:nvPr/>
        </p:nvSpPr>
        <p:spPr>
          <a:xfrm>
            <a:off x="8716975" y="2514600"/>
            <a:ext cx="2651760" cy="109728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00:30 UTC : Fusion</a:t>
            </a:r>
            <a:endParaRPr lang="en-US" sz="1700" dirty="0"/>
          </a:p>
          <a:p>
            <a:pPr indent="0" marL="0">
              <a:buNone/>
            </a:pPr>
            <a:r>
              <a:rPr lang="en-US" sz="1700" b="1" dirty="0">
                <a:solidFill>
                  <a:schemeClr val="accent2"/>
                </a:solidFill>
              </a:rPr>
              <a:t>03:30 UTC : n8n</a:t>
            </a:r>
            <a:endParaRPr lang="en-US" sz="1700" dirty="0"/>
          </a:p>
        </p:txBody>
      </p:sp>
      <p:sp>
        <p:nvSpPr>
          <p:cNvPr id="14" name="Text 12"/>
          <p:cNvSpPr txBox="1"/>
          <p:nvPr/>
        </p:nvSpPr>
        <p:spPr>
          <a:xfrm>
            <a:off x="548640" y="4114800"/>
            <a:ext cx="11094415" cy="411480"/>
          </a:xfrm>
          <a:prstGeom prst="rect">
            <a:avLst/>
          </a:prstGeom>
          <a:noFill/>
          <a:ln/>
        </p:spPr>
        <p:txBody>
          <a:bodyPr wrap="square" lIns="0" tIns="0" rIns="0" bIns="0" rtlCol="0" anchor="t"/>
          <a:lstStyle/>
          <a:p>
            <a:pPr indent="0" marL="0">
              <a:buNone/>
            </a:pPr>
            <a:r>
              <a:rPr lang="en-US" sz="2000" b="1" dirty="0">
                <a:solidFill>
                  <a:schemeClr val="tx2"/>
                </a:solidFill>
              </a:rPr>
              <a:t>Ce que je relèverai chaque matin</a:t>
            </a:r>
            <a:endParaRPr lang="en-US" sz="2000" dirty="0"/>
          </a:p>
        </p:txBody>
      </p:sp>
      <p:sp>
        <p:nvSpPr>
          <p:cNvPr id="15" name="Text 13"/>
          <p:cNvSpPr txBox="1"/>
          <p:nvPr/>
        </p:nvSpPr>
        <p:spPr>
          <a:xfrm>
            <a:off x="548640" y="4617720"/>
            <a:ext cx="6583680" cy="15544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Le Cron est-il parti à l'heure prévue ?</a:t>
            </a:r>
            <a:endParaRPr lang="en-US" sz="1600" dirty="0"/>
          </a:p>
          <a:p>
            <a:pPr marL="342900" indent="-342900">
              <a:spcAft>
                <a:spcPts val="800"/>
              </a:spcAft>
              <a:buSzPct val="100000"/>
              <a:buChar char="•"/>
            </a:pPr>
            <a:r>
              <a:rPr lang="en-US" sz="1600" dirty="0">
                <a:solidFill>
                  <a:schemeClr val="tx1"/>
                </a:solidFill>
              </a:rPr>
              <a:t>La chaîne est-elle restée verte jusqu'à l'étape P9 ?</a:t>
            </a:r>
            <a:endParaRPr lang="en-US" sz="1600" dirty="0"/>
          </a:p>
          <a:p>
            <a:pPr marL="342900" indent="-342900">
              <a:buSzPct val="100000"/>
              <a:buChar char="•"/>
            </a:pPr>
            <a:r>
              <a:rPr lang="en-US" sz="1600" dirty="0">
                <a:solidFill>
                  <a:schemeClr val="tx1"/>
                </a:solidFill>
              </a:rPr>
              <a:t>Les alertes sont-elles arrivées quand j'ai provoqué une panne ?</a:t>
            </a:r>
            <a:endParaRPr lang="en-US" sz="1600" dirty="0"/>
          </a:p>
        </p:txBody>
      </p:sp>
      <p:sp>
        <p:nvSpPr>
          <p:cNvPr id="16" name="Text 14"/>
          <p:cNvSpPr txBox="1"/>
          <p:nvPr/>
        </p:nvSpPr>
        <p:spPr>
          <a:xfrm>
            <a:off x="7498080" y="4617720"/>
            <a:ext cx="4144975" cy="1371600"/>
          </a:xfrm>
          <a:prstGeom prst="rect">
            <a:avLst/>
          </a:prstGeom>
          <a:noFill/>
          <a:ln/>
        </p:spPr>
        <p:txBody>
          <a:bodyPr wrap="square" lIns="0" tIns="0" rIns="0" bIns="0" rtlCol="0" anchor="t"/>
          <a:lstStyle/>
          <a:p>
            <a:pPr indent="0" marL="0">
              <a:buNone/>
            </a:pPr>
            <a:r>
              <a:rPr lang="en-US" sz="1600" dirty="0">
                <a:solidFill>
                  <a:schemeClr val="tx1"/>
                </a:solidFill>
              </a:rPr>
              <a:t>À mesurer aussi : temps de construction, coût, historique des exécutions.</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914400"/>
          </a:xfrm>
          <a:prstGeom prst="rect">
            <a:avLst/>
          </a:prstGeom>
          <a:noFill/>
          <a:ln/>
        </p:spPr>
        <p:txBody>
          <a:bodyPr wrap="square" lIns="0" tIns="0" rIns="0" bIns="0" rtlCol="0" anchor="ctr"/>
          <a:lstStyle/>
          <a:p>
            <a:pPr algn="l" indent="0" marL="0">
              <a:buNone/>
            </a:pPr>
            <a:r>
              <a:rPr lang="en-US" sz="3800" b="1" dirty="0">
                <a:solidFill>
                  <a:schemeClr val="bg1"/>
                </a:solidFill>
              </a:rPr>
              <a:t>Ce que je retiens</a:t>
            </a:r>
            <a:endParaRPr lang="en-US" sz="3800" dirty="0"/>
          </a:p>
        </p:txBody>
      </p:sp>
      <p:sp>
        <p:nvSpPr>
          <p:cNvPr id="3" name="carte retenue 1"/>
          <p:cNvSpPr/>
          <p:nvPr/>
        </p:nvSpPr>
        <p:spPr>
          <a:xfrm>
            <a:off x="548640" y="1737360"/>
            <a:ext cx="3515258" cy="3200400"/>
          </a:xfrm>
          <a:prstGeom prst="roundRect">
            <a:avLst>
              <a:gd name="adj" fmla="val 3429"/>
            </a:avLst>
          </a:prstGeom>
          <a:solidFill>
            <a:srgbClr val="17385E"/>
          </a:solidFill>
          <a:ln/>
        </p:spPr>
      </p:sp>
      <p:sp>
        <p:nvSpPr>
          <p:cNvPr id="4" name="Text 2"/>
          <p:cNvSpPr txBox="1"/>
          <p:nvPr/>
        </p:nvSpPr>
        <p:spPr>
          <a:xfrm>
            <a:off x="868680" y="2011680"/>
            <a:ext cx="2875178" cy="914400"/>
          </a:xfrm>
          <a:prstGeom prst="rect">
            <a:avLst/>
          </a:prstGeom>
          <a:noFill/>
          <a:ln/>
        </p:spPr>
        <p:txBody>
          <a:bodyPr wrap="square" lIns="0" tIns="0" rIns="0" bIns="0" rtlCol="0" anchor="t"/>
          <a:lstStyle/>
          <a:p>
            <a:pPr indent="0" marL="0">
              <a:buNone/>
            </a:pPr>
            <a:r>
              <a:rPr lang="en-US" sz="2100" b="1" dirty="0">
                <a:solidFill>
                  <a:schemeClr val="bg1"/>
                </a:solidFill>
              </a:rPr>
              <a:t>Un même pipeline sur deux outils</a:t>
            </a:r>
            <a:endParaRPr lang="en-US" sz="2100" dirty="0"/>
          </a:p>
        </p:txBody>
      </p:sp>
      <p:sp>
        <p:nvSpPr>
          <p:cNvPr id="5" name="Text 3"/>
          <p:cNvSpPr txBox="1"/>
          <p:nvPr/>
        </p:nvSpPr>
        <p:spPr>
          <a:xfrm>
            <a:off x="868680" y="3017520"/>
            <a:ext cx="2875178" cy="1737360"/>
          </a:xfrm>
          <a:prstGeom prst="rect">
            <a:avLst/>
          </a:prstGeom>
          <a:noFill/>
          <a:ln/>
        </p:spPr>
        <p:txBody>
          <a:bodyPr wrap="square" lIns="0" tIns="0" rIns="0" bIns="0" rtlCol="0" anchor="t"/>
          <a:lstStyle/>
          <a:p>
            <a:pPr indent="0" marL="0">
              <a:buNone/>
            </a:pPr>
            <a:r>
              <a:rPr lang="en-US" sz="1600" dirty="0">
                <a:solidFill>
                  <a:schemeClr val="bg2"/>
                </a:solidFill>
              </a:rPr>
              <a:t>En le construisant deux fois, j'ai vu des différences qu'aucune documentation ne m'aurait montrées.</a:t>
            </a:r>
            <a:endParaRPr lang="en-US" sz="1600" dirty="0"/>
          </a:p>
        </p:txBody>
      </p:sp>
      <p:sp>
        <p:nvSpPr>
          <p:cNvPr id="6" name="carte retenue 2"/>
          <p:cNvSpPr/>
          <p:nvPr/>
        </p:nvSpPr>
        <p:spPr>
          <a:xfrm>
            <a:off x="4338218" y="1737360"/>
            <a:ext cx="3515258" cy="3200400"/>
          </a:xfrm>
          <a:prstGeom prst="roundRect">
            <a:avLst>
              <a:gd name="adj" fmla="val 3429"/>
            </a:avLst>
          </a:prstGeom>
          <a:solidFill>
            <a:srgbClr val="17385E"/>
          </a:solidFill>
          <a:ln/>
        </p:spPr>
      </p:sp>
      <p:sp>
        <p:nvSpPr>
          <p:cNvPr id="7" name="Text 5"/>
          <p:cNvSpPr txBox="1"/>
          <p:nvPr/>
        </p:nvSpPr>
        <p:spPr>
          <a:xfrm>
            <a:off x="4658258" y="2011680"/>
            <a:ext cx="2875178" cy="914400"/>
          </a:xfrm>
          <a:prstGeom prst="rect">
            <a:avLst/>
          </a:prstGeom>
          <a:noFill/>
          <a:ln/>
        </p:spPr>
        <p:txBody>
          <a:bodyPr wrap="square" lIns="0" tIns="0" rIns="0" bIns="0" rtlCol="0" anchor="t"/>
          <a:lstStyle/>
          <a:p>
            <a:pPr indent="0" marL="0">
              <a:buNone/>
            </a:pPr>
            <a:r>
              <a:rPr lang="en-US" sz="2100" b="1" dirty="0">
                <a:solidFill>
                  <a:schemeClr val="bg1"/>
                </a:solidFill>
              </a:rPr>
              <a:t>Le diagnostic fait gagner du temps</a:t>
            </a:r>
            <a:endParaRPr lang="en-US" sz="2100" dirty="0"/>
          </a:p>
        </p:txBody>
      </p:sp>
      <p:sp>
        <p:nvSpPr>
          <p:cNvPr id="8" name="Text 6"/>
          <p:cNvSpPr txBox="1"/>
          <p:nvPr/>
        </p:nvSpPr>
        <p:spPr>
          <a:xfrm>
            <a:off x="4658258" y="3017520"/>
            <a:ext cx="2875178" cy="1737360"/>
          </a:xfrm>
          <a:prstGeom prst="rect">
            <a:avLst/>
          </a:prstGeom>
          <a:noFill/>
          <a:ln/>
        </p:spPr>
        <p:txBody>
          <a:bodyPr wrap="square" lIns="0" tIns="0" rIns="0" bIns="0" rtlCol="0" anchor="t"/>
          <a:lstStyle/>
          <a:p>
            <a:pPr indent="0" marL="0">
              <a:buNone/>
            </a:pPr>
            <a:r>
              <a:rPr lang="en-US" sz="1600" dirty="0">
                <a:solidFill>
                  <a:schemeClr val="bg2"/>
                </a:solidFill>
              </a:rPr>
              <a:t>Un message d'erreur qui contient la réponse du serveur m'a épargné plusieurs essais.</a:t>
            </a:r>
            <a:endParaRPr lang="en-US" sz="1600" dirty="0"/>
          </a:p>
        </p:txBody>
      </p:sp>
      <p:sp>
        <p:nvSpPr>
          <p:cNvPr id="9" name="carte retenue 3"/>
          <p:cNvSpPr/>
          <p:nvPr/>
        </p:nvSpPr>
        <p:spPr>
          <a:xfrm>
            <a:off x="8127797" y="1737360"/>
            <a:ext cx="3515258" cy="3200400"/>
          </a:xfrm>
          <a:prstGeom prst="roundRect">
            <a:avLst>
              <a:gd name="adj" fmla="val 3429"/>
            </a:avLst>
          </a:prstGeom>
          <a:solidFill>
            <a:srgbClr val="17385E"/>
          </a:solidFill>
          <a:ln/>
        </p:spPr>
      </p:sp>
      <p:sp>
        <p:nvSpPr>
          <p:cNvPr id="10" name="Text 8"/>
          <p:cNvSpPr txBox="1"/>
          <p:nvPr/>
        </p:nvSpPr>
        <p:spPr>
          <a:xfrm>
            <a:off x="8447837" y="2011680"/>
            <a:ext cx="2875178" cy="914400"/>
          </a:xfrm>
          <a:prstGeom prst="rect">
            <a:avLst/>
          </a:prstGeom>
          <a:noFill/>
          <a:ln/>
        </p:spPr>
        <p:txBody>
          <a:bodyPr wrap="square" lIns="0" tIns="0" rIns="0" bIns="0" rtlCol="0" anchor="t"/>
          <a:lstStyle/>
          <a:p>
            <a:pPr indent="0" marL="0">
              <a:buNone/>
            </a:pPr>
            <a:r>
              <a:rPr lang="en-US" sz="2100" b="1" dirty="0">
                <a:solidFill>
                  <a:schemeClr val="bg1"/>
                </a:solidFill>
              </a:rPr>
              <a:t>La fiabilité vient de l'hébergement</a:t>
            </a:r>
            <a:endParaRPr lang="en-US" sz="2100" dirty="0"/>
          </a:p>
        </p:txBody>
      </p:sp>
      <p:sp>
        <p:nvSpPr>
          <p:cNvPr id="11" name="Text 9"/>
          <p:cNvSpPr txBox="1"/>
          <p:nvPr/>
        </p:nvSpPr>
        <p:spPr>
          <a:xfrm>
            <a:off x="8447837" y="3017520"/>
            <a:ext cx="2875178" cy="1737360"/>
          </a:xfrm>
          <a:prstGeom prst="rect">
            <a:avLst/>
          </a:prstGeom>
          <a:noFill/>
          <a:ln/>
        </p:spPr>
        <p:txBody>
          <a:bodyPr wrap="square" lIns="0" tIns="0" rIns="0" bIns="0" rtlCol="0" anchor="t"/>
          <a:lstStyle/>
          <a:p>
            <a:pPr indent="0" marL="0">
              <a:buNone/>
            </a:pPr>
            <a:r>
              <a:rPr lang="en-US" sz="1600" dirty="0">
                <a:solidFill>
                  <a:schemeClr val="bg2"/>
                </a:solidFill>
              </a:rPr>
              <a:t>Le choix de l'outil compte moins que le fait que le serveur reste allumé.</a:t>
            </a:r>
            <a:endParaRPr lang="en-US" sz="1600" dirty="0"/>
          </a:p>
        </p:txBody>
      </p:sp>
      <p:sp>
        <p:nvSpPr>
          <p:cNvPr id="12" name="Text 10"/>
          <p:cNvSpPr txBox="1"/>
          <p:nvPr/>
        </p:nvSpPr>
        <p:spPr>
          <a:xfrm>
            <a:off x="548640" y="5440680"/>
            <a:ext cx="11094415" cy="548640"/>
          </a:xfrm>
          <a:prstGeom prst="rect">
            <a:avLst/>
          </a:prstGeom>
          <a:noFill/>
          <a:ln/>
        </p:spPr>
        <p:txBody>
          <a:bodyPr wrap="square" lIns="0" tIns="0" rIns="0" bIns="0" rtlCol="0" anchor="t"/>
          <a:lstStyle/>
          <a:p>
            <a:pPr indent="0" marL="0">
              <a:buNone/>
            </a:pPr>
            <a:r>
              <a:rPr lang="en-US" sz="2400" b="1" dirty="0">
                <a:solidFill>
                  <a:schemeClr val="bg1"/>
                </a:solidFill>
              </a:rPr>
              <a:t>Merci. Je suis prêt à répondre à vos questions.</a:t>
            </a:r>
            <a:endParaRPr lang="en-US" sz="2400" dirty="0"/>
          </a:p>
        </p:txBody>
      </p:sp>
    </p:spTree>
  </p:cSld>
  <p:clrMapOvr>
    <a:masterClrMapping/>
  </p:clrMapOvr>
</p:sld>
</file>

<file path=ppt/theme/theme1.xml><?xml version="1.0" encoding="utf-8"?>
<a:theme xmlns:a="http://schemas.openxmlformats.org/drawingml/2006/main" name="Workly Automation">
  <a:themeElements>
    <a:clrScheme name="Workly Automation">
      <a:dk1>
        <a:srgbClr val="14213D"/>
      </a:dk1>
      <a:lt1>
        <a:srgbClr val="FFFFFF"/>
      </a:lt1>
      <a:dk2>
        <a:srgbClr val="0E2A47"/>
      </a:dk2>
      <a:lt2>
        <a:srgbClr val="EEF2F7"/>
      </a:lt2>
      <a:accent1>
        <a:srgbClr val="2B5FD9"/>
      </a:accent1>
      <a:accent2>
        <a:srgbClr val="D9531E"/>
      </a:accent2>
      <a:accent3>
        <a:srgbClr val="1F8F7F"/>
      </a:accent3>
      <a:accent4>
        <a:srgbClr val="5B6875"/>
      </a:accent4>
      <a:accent5>
        <a:srgbClr val="B3261E"/>
      </a:accent5>
      <a:accent6>
        <a:srgbClr val="E3A81B"/>
      </a:accent6>
      <a:hlink>
        <a:srgbClr val="2B5FD9"/>
      </a:hlink>
      <a:folHlink>
        <a:srgbClr val="5B6875"/>
      </a:folHlink>
    </a:clrScheme>
    <a:fontScheme name="Workly Auto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Automatiser Workly : Fusion AI Automation contre n8n</dc:title>
  <dc:subject>PptxGenJS Presentation</dc:subject>
  <dc:creator>Exposé de projet</dc:creator>
  <cp:lastModifiedBy>Exposé de projet</cp:lastModifiedBy>
  <cp:revision>1</cp:revision>
  <dcterms:created xsi:type="dcterms:W3CDTF">2026-10-02T22:31:48Z</dcterms:created>
  <dcterms:modified xsi:type="dcterms:W3CDTF">2026-10-02T22:31:48Z</dcterms:modified>
</cp:coreProperties>
</file>